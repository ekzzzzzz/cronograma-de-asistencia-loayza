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49" r:id="rId3"/>
    <p:sldId id="363" r:id="rId4"/>
    <p:sldId id="365" r:id="rId5"/>
    <p:sldId id="351" r:id="rId6"/>
    <p:sldId id="352" r:id="rId7"/>
    <p:sldId id="344" r:id="rId8"/>
    <p:sldId id="379" r:id="rId9"/>
    <p:sldId id="380" r:id="rId10"/>
    <p:sldId id="366" r:id="rId11"/>
    <p:sldId id="378" r:id="rId12"/>
    <p:sldId id="375" r:id="rId13"/>
    <p:sldId id="381" r:id="rId14"/>
    <p:sldId id="373" r:id="rId15"/>
    <p:sldId id="376" r:id="rId16"/>
    <p:sldId id="372" r:id="rId17"/>
    <p:sldId id="353" r:id="rId18"/>
    <p:sldId id="357" r:id="rId19"/>
    <p:sldId id="358" r:id="rId20"/>
    <p:sldId id="359" r:id="rId21"/>
    <p:sldId id="360" r:id="rId22"/>
    <p:sldId id="362" r:id="rId23"/>
    <p:sldId id="273" r:id="rId24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6/08/2024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1shhx5Nvv8&amp;t=121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amazon.com/-/es/Robert-C-Martin/dp/8441532109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2210522"/>
            <a:ext cx="10363199" cy="88934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</a:t>
            </a:r>
            <a:r>
              <a:rPr lang="es-ES" sz="4800" spc="-45" dirty="0" smtClean="0">
                <a:latin typeface="CentSchbkCyrill BT" panose="02040603050705020303" pitchFamily="18" charset="-52"/>
              </a:rPr>
              <a:t>DISEÑO DE PATRONES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2781299" y="186930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PRIMERA UNIDAD DE APRENDIZAJE </a:t>
            </a:r>
            <a:r>
              <a:rPr lang="es-ES" b="1" dirty="0" smtClean="0">
                <a:solidFill>
                  <a:srgbClr val="D1052D"/>
                </a:solidFill>
              </a:rPr>
              <a:t>1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43111" y="3517911"/>
            <a:ext cx="8258176" cy="1090042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3200" b="1" spc="-25" dirty="0" smtClean="0">
                <a:solidFill>
                  <a:schemeClr val="bg1"/>
                </a:solidFill>
                <a:latin typeface="Arial"/>
                <a:cs typeface="Arial"/>
              </a:rPr>
              <a:t>5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 smtClean="0">
                <a:solidFill>
                  <a:schemeClr val="bg1"/>
                </a:solidFill>
                <a:latin typeface="Arial"/>
                <a:cs typeface="Arial"/>
              </a:rPr>
              <a:t>Repaso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</a:t>
            </a:r>
            <a:r>
              <a:rPr lang="es-PE" sz="1800" b="1" spc="-25" dirty="0" smtClean="0">
                <a:solidFill>
                  <a:srgbClr val="D1052D"/>
                </a:solidFill>
                <a:latin typeface="Arial"/>
                <a:cs typeface="Arial"/>
              </a:rPr>
              <a:t>UTP </a:t>
            </a:r>
            <a:r>
              <a:rPr lang="es-PE" b="1" spc="-25" dirty="0" smtClean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597350" y="2306383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</a:t>
            </a:r>
            <a:r>
              <a:rPr lang="es-ES" sz="3600" b="1" spc="-5" dirty="0" smtClean="0">
                <a:latin typeface="Arial"/>
                <a:cs typeface="Arial"/>
              </a:rPr>
              <a:t>cuenta:</a:t>
            </a:r>
          </a:p>
          <a:p>
            <a:pPr algn="ctr"/>
            <a:endParaRPr lang="es-ES" sz="3600" b="1" spc="-5" dirty="0">
              <a:latin typeface="Arial"/>
              <a:cs typeface="Arial"/>
            </a:endParaRPr>
          </a:p>
          <a:p>
            <a:pPr algn="ctr"/>
            <a:r>
              <a:rPr lang="es-ES" sz="3600" dirty="0">
                <a:solidFill>
                  <a:schemeClr val="tx2"/>
                </a:solidFill>
                <a:latin typeface="Arial"/>
                <a:cs typeface="Arial"/>
              </a:rPr>
              <a:t>https://www.youtube.com/watch?v=pbqbfUVD_s8</a:t>
            </a:r>
            <a:endParaRPr lang="es-ES" sz="36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3124200" y="5257800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hlinkClick r:id="rId3"/>
              </a:rPr>
              <a:t>https://www.youtube.com/watch?v=g1shhx5Nvv8&amp;t=121s</a:t>
            </a:r>
            <a:endParaRPr lang="es-PE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1447800"/>
            <a:ext cx="5915025" cy="35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1618297" y="3042791"/>
            <a:ext cx="944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</a:t>
            </a:r>
            <a:r>
              <a:rPr lang="es-ES" sz="3200" spc="-5" dirty="0" smtClean="0">
                <a:latin typeface="Arial MT"/>
                <a:cs typeface="Arial MT"/>
              </a:rPr>
              <a:t>participante identifica los principios de diseño de los patrones de software.</a:t>
            </a:r>
            <a:endParaRPr lang="es-ES" sz="3200" dirty="0">
              <a:latin typeface="Arial MT"/>
              <a:cs typeface="Arial MT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990600" y="2468935"/>
            <a:ext cx="10591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 smtClean="0">
                <a:latin typeface="Arial MT"/>
                <a:cs typeface="Arial MT"/>
              </a:rPr>
              <a:t>Es importante implementar los principios SOLID, porque nos permite tener un conjunto de reglas y mejores practicas a seguir al diseñar una estructura de clase.</a:t>
            </a:r>
            <a:endParaRPr lang="es-ES" sz="3200" spc="-5" dirty="0">
              <a:latin typeface="Arial MT"/>
              <a:cs typeface="Arial MT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966912" y="2890391"/>
            <a:ext cx="8258176" cy="584775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PE" sz="3200" dirty="0" smtClean="0">
                <a:solidFill>
                  <a:schemeClr val="bg1"/>
                </a:solidFill>
                <a:latin typeface="Arial"/>
                <a:cs typeface="Arial"/>
              </a:rPr>
              <a:t> Repaso de temas sesión 01, 02, 03 y 04.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N° </a:t>
            </a:r>
            <a:r>
              <a:rPr lang="es-PE" sz="3600" b="1" spc="-25" dirty="0" smtClean="0">
                <a:solidFill>
                  <a:srgbClr val="000000"/>
                </a:solidFill>
                <a:latin typeface="Arial"/>
                <a:cs typeface="Arial"/>
              </a:rPr>
              <a:t>5: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572000" y="592054"/>
            <a:ext cx="3627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DISEÑO DE PATRONES</a:t>
            </a:r>
            <a:endParaRPr lang="en-US" sz="2400" dirty="0"/>
          </a:p>
        </p:txBody>
      </p:sp>
      <p:sp>
        <p:nvSpPr>
          <p:cNvPr id="3" name="Rectángulo 2"/>
          <p:cNvSpPr/>
          <p:nvPr/>
        </p:nvSpPr>
        <p:spPr>
          <a:xfrm>
            <a:off x="1039091" y="1295400"/>
            <a:ext cx="5458047" cy="1767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¿ Que es un Patrón</a:t>
            </a:r>
            <a:r>
              <a:rPr lang="es-E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marL="12700" marR="5080" algn="just"/>
            <a:endParaRPr lang="es-ES" dirty="0"/>
          </a:p>
          <a:p>
            <a:pPr marL="12700" marR="5080" algn="ctr">
              <a:spcBef>
                <a:spcPts val="100"/>
              </a:spcBef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Un patrón es una solución a un problema en un contexto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1039091" y="2819400"/>
            <a:ext cx="5458047" cy="3706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¿ Que es un Patrón diseño</a:t>
            </a:r>
            <a:r>
              <a:rPr lang="es-E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marL="12700" marR="5080" algn="just"/>
            <a:endParaRPr lang="es-ES" dirty="0"/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Son soluciones reutilizables a problemas comunes en el desarrollo de software. Proporcionan una manera estandarizada de resolver problemas que se presentan frecuentemente en el diseño de sistemas, promoviendo buenas prácticas y facilitando la comunicación entre desarrolladores.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524000"/>
            <a:ext cx="48387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895600" y="762000"/>
            <a:ext cx="4879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Introducción a </a:t>
            </a:r>
            <a:r>
              <a:rPr lang="es-ES" sz="2400" b="1" dirty="0" smtClean="0">
                <a:solidFill>
                  <a:srgbClr val="244061"/>
                </a:solidFill>
                <a:latin typeface="Arial" panose="020B0604020202020204" pitchFamily="34" charset="0"/>
              </a:rPr>
              <a:t>principios SOLID</a:t>
            </a:r>
            <a:endParaRPr lang="en-US" sz="2400" dirty="0"/>
          </a:p>
        </p:txBody>
      </p:sp>
      <p:sp>
        <p:nvSpPr>
          <p:cNvPr id="3" name="Rectángulo 2"/>
          <p:cNvSpPr/>
          <p:nvPr/>
        </p:nvSpPr>
        <p:spPr>
          <a:xfrm>
            <a:off x="533400" y="1676400"/>
            <a:ext cx="10287000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/>
            <a:r>
              <a:rPr lang="es-MX" dirty="0">
                <a:solidFill>
                  <a:srgbClr val="333333"/>
                </a:solidFill>
                <a:latin typeface="DM Sans"/>
              </a:rPr>
              <a:t>Los principios SOLID nos ayudan a escribir código limpio, </a:t>
            </a:r>
            <a:r>
              <a:rPr lang="es-MX" dirty="0" err="1">
                <a:solidFill>
                  <a:srgbClr val="333333"/>
                </a:solidFill>
                <a:latin typeface="DM Sans"/>
              </a:rPr>
              <a:t>mantenible</a:t>
            </a:r>
            <a:r>
              <a:rPr lang="es-MX" dirty="0">
                <a:solidFill>
                  <a:srgbClr val="333333"/>
                </a:solidFill>
                <a:latin typeface="DM Sans"/>
              </a:rPr>
              <a:t> y escalable. Un libro muy famoso para aprender a escribir código limpio es </a:t>
            </a:r>
            <a:r>
              <a:rPr lang="es-MX" dirty="0" err="1">
                <a:solidFill>
                  <a:srgbClr val="333333"/>
                </a:solidFill>
                <a:latin typeface="DM Sans"/>
                <a:hlinkClick r:id="rId2"/>
              </a:rPr>
              <a:t>Clean</a:t>
            </a:r>
            <a:r>
              <a:rPr lang="es-MX" dirty="0">
                <a:solidFill>
                  <a:srgbClr val="333333"/>
                </a:solidFill>
                <a:latin typeface="DM Sans"/>
                <a:hlinkClick r:id="rId2"/>
              </a:rPr>
              <a:t> </a:t>
            </a:r>
            <a:r>
              <a:rPr lang="es-MX" dirty="0" err="1">
                <a:solidFill>
                  <a:srgbClr val="333333"/>
                </a:solidFill>
                <a:latin typeface="DM Sans"/>
                <a:hlinkClick r:id="rId2"/>
              </a:rPr>
              <a:t>Code</a:t>
            </a:r>
            <a:r>
              <a:rPr lang="es-MX" dirty="0">
                <a:solidFill>
                  <a:srgbClr val="333333"/>
                </a:solidFill>
                <a:latin typeface="DM Sans"/>
                <a:hlinkClick r:id="rId2"/>
              </a:rPr>
              <a:t> de Robert C Martin,</a:t>
            </a:r>
            <a:r>
              <a:rPr lang="es-MX" dirty="0">
                <a:solidFill>
                  <a:srgbClr val="333333"/>
                </a:solidFill>
                <a:latin typeface="DM Sans"/>
              </a:rPr>
              <a:t> que todo programador debería leer. Asimismo SOLID se divide en 5 principios.</a:t>
            </a:r>
            <a:endParaRPr lang="es-PE" dirty="0">
              <a:solidFill>
                <a:srgbClr val="333333"/>
              </a:solidFill>
              <a:latin typeface="DM Sans"/>
            </a:endParaRPr>
          </a:p>
          <a:p>
            <a:pPr marL="12700" marR="5080" algn="just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700" marR="5080" algn="just"/>
            <a:endParaRPr lang="es-E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55600" marR="5080" indent="-342900" algn="just">
              <a:buFont typeface="+mj-lt"/>
              <a:buAutoNum type="arabicPeriod"/>
            </a:pP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Responsabilidad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Única (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ingle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Responsibility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- SRP)</a:t>
            </a:r>
          </a:p>
          <a:p>
            <a:pPr marL="342900" marR="5080" indent="-342900" algn="just" fontAlgn="base">
              <a:spcBef>
                <a:spcPts val="100"/>
              </a:spcBef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Abierto/Cerrado (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pen/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Closed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- OCP)</a:t>
            </a:r>
          </a:p>
          <a:p>
            <a:pPr marL="342900" marR="5080" indent="-342900" algn="just" fontAlgn="base">
              <a:spcBef>
                <a:spcPts val="100"/>
              </a:spcBef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Sustitución de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Liskov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s-ES" dirty="0" err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r>
              <a:rPr lang="es-ES" dirty="0" err="1">
                <a:latin typeface="Arial" panose="020B0604020202020204" pitchFamily="34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skov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Substitution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- LSP)</a:t>
            </a:r>
          </a:p>
          <a:p>
            <a:pPr marL="342900" marR="5080" indent="-342900" algn="just" fontAlgn="base">
              <a:spcBef>
                <a:spcPts val="100"/>
              </a:spcBef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Segregación de Interfaces (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nterface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Segregation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- ISP)</a:t>
            </a:r>
          </a:p>
          <a:p>
            <a:pPr marL="342900" marR="5080" indent="-342900" algn="just" fontAlgn="base">
              <a:spcBef>
                <a:spcPts val="100"/>
              </a:spcBef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Inversión de Dependencia (</a:t>
            </a:r>
            <a:r>
              <a:rPr lang="es-ES" dirty="0" err="1">
                <a:solidFill>
                  <a:srgbClr val="FF0000"/>
                </a:solidFill>
                <a:latin typeface="Arial" panose="020B0604020202020204" pitchFamily="34" charset="0"/>
              </a:rPr>
              <a:t>D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ependency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Inversion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- DIP)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3429000"/>
            <a:ext cx="3962400" cy="289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6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38400" y="76200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Principio de sustitución de </a:t>
            </a:r>
            <a:r>
              <a:rPr lang="es-ES" sz="2400" b="1" dirty="0" err="1">
                <a:solidFill>
                  <a:srgbClr val="244061"/>
                </a:solidFill>
                <a:latin typeface="Arial" panose="020B0604020202020204" pitchFamily="34" charset="0"/>
              </a:rPr>
              <a:t>Liskov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 (LSP)</a:t>
            </a:r>
            <a:endParaRPr lang="es-ES" sz="2400" dirty="0"/>
          </a:p>
          <a:p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 </a:t>
            </a:r>
            <a:endParaRPr lang="es-ES" sz="2400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1143000" y="1447800"/>
            <a:ext cx="9829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Es el tercer principios SOLID en la programación orientada a objetos. Este principio fue formulado por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Barbara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Liskov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y establece que:</a:t>
            </a:r>
            <a:endParaRPr lang="es-ES" dirty="0"/>
          </a:p>
          <a:p>
            <a:pPr algn="ctr"/>
            <a:r>
              <a:rPr lang="es-ES" dirty="0"/>
              <a:t/>
            </a:r>
            <a:br>
              <a:rPr lang="es-ES" dirty="0"/>
            </a:b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"Los objetos de una clase derivada deben ser reemplazables por objetos de la clase base sin alterar el funcionamiento del programa.“</a:t>
            </a:r>
            <a:endParaRPr lang="es-ES" dirty="0"/>
          </a:p>
          <a:p>
            <a:pPr algn="just"/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En otras palabras, si una clase S es una subclase de T, entonces los objetos de T deben poder ser sustituidos por objetos de S sin que el comportamiento del programa se vea afectado.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9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62000" y="1447800"/>
            <a:ext cx="10058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algn="just">
              <a:lnSpc>
                <a:spcPct val="150000"/>
              </a:lnSpc>
            </a:pPr>
            <a:endParaRPr lang="es-ES" dirty="0" smtClean="0"/>
          </a:p>
          <a:p>
            <a:pPr marL="441325" algn="just">
              <a:lnSpc>
                <a:spcPct val="150000"/>
              </a:lnSpc>
            </a:pP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Las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entidades de software deben estar abiertas para su extensión, pero cerradas para modificación. Esto significa que el comportamiento de una entidad puede ser extendido sin modificar su código fuente.</a:t>
            </a:r>
            <a:endParaRPr lang="es-ES" dirty="0"/>
          </a:p>
          <a:p>
            <a:endParaRPr lang="es-ES" dirty="0"/>
          </a:p>
          <a:p>
            <a:endParaRPr lang="es-E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Ejemplo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41325" algn="just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Un sistema de pago en línea que inicialmente implementa el pago con tarjeta de crédito. Más tarde, queremos añadir la opción de pago con PayPal sin modificar el código existente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1524000" y="1143000"/>
            <a:ext cx="9410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Principio 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de 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Abierto/Cerrado 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(Open/</a:t>
            </a:r>
            <a:r>
              <a:rPr lang="es-ES" sz="2400" b="1" dirty="0" err="1">
                <a:solidFill>
                  <a:srgbClr val="244061"/>
                </a:solidFill>
                <a:latin typeface="Arial" panose="020B0604020202020204" pitchFamily="34" charset="0"/>
              </a:rPr>
              <a:t>Closed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rgbClr val="244061"/>
                </a:solidFill>
                <a:latin typeface="Arial" panose="020B0604020202020204" pitchFamily="34" charset="0"/>
              </a:rPr>
              <a:t>Principle</a:t>
            </a:r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 - OCP)</a:t>
            </a:r>
          </a:p>
          <a:p>
            <a:pPr algn="ctr"/>
            <a:endParaRPr lang="es-ES" dirty="0"/>
          </a:p>
          <a:p>
            <a:r>
              <a:rPr lang="es-ES" b="1" dirty="0">
                <a:solidFill>
                  <a:srgbClr val="244061"/>
                </a:solidFill>
                <a:latin typeface="Arial" panose="020B0604020202020204" pitchFamily="34" charset="0"/>
              </a:rPr>
              <a:t> 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77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573876" y="838200"/>
            <a:ext cx="6643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Principio de Inversión de Dependencia (DIP)</a:t>
            </a:r>
            <a:endParaRPr lang="en-US" sz="2400" dirty="0"/>
          </a:p>
        </p:txBody>
      </p:sp>
      <p:sp>
        <p:nvSpPr>
          <p:cNvPr id="3" name="Rectángulo 2"/>
          <p:cNvSpPr/>
          <p:nvPr/>
        </p:nvSpPr>
        <p:spPr>
          <a:xfrm>
            <a:off x="838200" y="1600200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En términos más simples, esto significa que las clases que realizan operaciones importantes (alto nivel) no deben estar acopladas directamente a clases que realizan tareas específicas (bajo nivel).</a:t>
            </a:r>
            <a:endParaRPr lang="es-ES" dirty="0"/>
          </a:p>
          <a:p>
            <a:pPr algn="just"/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En su lugar, ambas deberían depender de interfaces o abstracciones.</a:t>
            </a:r>
            <a:endParaRPr lang="es-ES" dirty="0"/>
          </a:p>
          <a:p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821575" y="3200400"/>
            <a:ext cx="10668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244061"/>
                </a:solidFill>
                <a:latin typeface="Arial" panose="020B0604020202020204" pitchFamily="34" charset="0"/>
              </a:rPr>
              <a:t>Importancia</a:t>
            </a:r>
            <a:endParaRPr lang="es-ES" dirty="0"/>
          </a:p>
          <a:p>
            <a:pPr algn="just" fontAlgn="base"/>
            <a:r>
              <a:rPr lang="es-ES" dirty="0"/>
              <a:t/>
            </a:r>
            <a:br>
              <a:rPr lang="es-ES" dirty="0"/>
            </a:b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Flexibilidad: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Permite cambiar las implementaciones de bajo nivel sin afectar a las de alto nivel.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/>
            <a:r>
              <a:rPr lang="es-ES" dirty="0"/>
              <a:t/>
            </a:r>
            <a:br>
              <a:rPr lang="es-ES" dirty="0"/>
            </a:b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Mantenibilidad: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Facilita la modificación del código y la corrección de errores.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/>
            <a:r>
              <a:rPr lang="es-ES" dirty="0"/>
              <a:t/>
            </a:r>
            <a:br>
              <a:rPr lang="es-ES" dirty="0"/>
            </a:br>
            <a:r>
              <a:rPr lang="es-ES" b="1" dirty="0" err="1">
                <a:solidFill>
                  <a:srgbClr val="000000"/>
                </a:solidFill>
                <a:latin typeface="Arial" panose="020B0604020202020204" pitchFamily="34" charset="0"/>
              </a:rPr>
              <a:t>Testabilidad</a:t>
            </a: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Hace que sea más sencillo realizar pruebas unitarias al permitir el uso de simulaciones (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mocks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13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573876" y="838200"/>
            <a:ext cx="5620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244061"/>
                </a:solidFill>
                <a:latin typeface="Arial" panose="020B0604020202020204" pitchFamily="34" charset="0"/>
              </a:rPr>
              <a:t>Principio </a:t>
            </a:r>
            <a:r>
              <a:rPr lang="es-ES" sz="2400" b="1" dirty="0" smtClean="0">
                <a:solidFill>
                  <a:srgbClr val="244061"/>
                </a:solidFill>
                <a:latin typeface="Arial" panose="020B0604020202020204" pitchFamily="34" charset="0"/>
              </a:rPr>
              <a:t>Segregación de Interfaces</a:t>
            </a:r>
            <a:endParaRPr lang="en-US" sz="2400" dirty="0"/>
          </a:p>
        </p:txBody>
      </p:sp>
      <p:sp>
        <p:nvSpPr>
          <p:cNvPr id="6" name="Rectángulo 5"/>
          <p:cNvSpPr/>
          <p:nvPr/>
        </p:nvSpPr>
        <p:spPr>
          <a:xfrm>
            <a:off x="685800" y="1752600"/>
            <a:ext cx="10591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En este sentido, según el Interface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Segregation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Principle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(ISP), es preferible contar con muchas interfaces que definan pocos métodos que tener una interface forzada a implementar muchos métodos a los que no dará uso</a:t>
            </a: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algn="just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Ejemplo:</a:t>
            </a:r>
          </a:p>
          <a:p>
            <a:pPr algn="just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Supongamos un sistema de impresión donde tenemos una interfaz Impresora con métodos imprimir, escanear, y faxear. No todos los dispositivos necesitan implementar todos estos métodos.</a:t>
            </a:r>
          </a:p>
          <a:p>
            <a:r>
              <a:rPr lang="es-ES" dirty="0"/>
              <a:t/>
            </a:r>
            <a:br>
              <a:rPr lang="es-ES" dirty="0"/>
            </a:b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74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133600" y="5334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244061"/>
                </a:solidFill>
                <a:latin typeface="Arial" panose="020B0604020202020204" pitchFamily="34" charset="0"/>
              </a:rPr>
              <a:t>DISEÑO DE PATRONES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1066800" y="143900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solidFill>
                  <a:srgbClr val="244061"/>
                </a:solidFill>
                <a:latin typeface="Arial" panose="020B0604020202020204" pitchFamily="34" charset="0"/>
              </a:rPr>
              <a:t>Principio de Inversión de Dependencia (DIP)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1066800" y="2337530"/>
            <a:ext cx="9220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Es uno de los cinco principios SOLID de la programación orientada a objetos. Este principio tiene como objetivo reducir la dependencia de clases de alto nivel respecto a clases de bajo nivel, promoviendo así un código más flexible y fácil de mantener.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Establece dos reglas principales</a:t>
            </a: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endParaRPr lang="es-ES" dirty="0"/>
          </a:p>
          <a:p>
            <a:pPr fontAlgn="base">
              <a:buFont typeface="+mj-lt"/>
              <a:buAutoNum type="arabicPeriod"/>
            </a:pPr>
            <a:r>
              <a:rPr lang="es-ES" dirty="0" smtClean="0"/>
              <a:t> </a:t>
            </a: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Los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módulos de alto nivel no deben depender de módulos de bajo nivel. Ambos deben depender de abstracciones.</a:t>
            </a:r>
          </a:p>
          <a:p>
            <a:pPr fontAlgn="base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Las abstracciones no deben depender de los detalles. Los detalles deben depender de abstracciones.</a:t>
            </a:r>
          </a:p>
        </p:txBody>
      </p:sp>
    </p:spTree>
    <p:extLst>
      <p:ext uri="{BB962C8B-B14F-4D97-AF65-F5344CB8AC3E}">
        <p14:creationId xmlns:p14="http://schemas.microsoft.com/office/powerpoint/2010/main" val="281746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85800" y="1582341"/>
            <a:ext cx="1074420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Introducción a los Patrones: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Los patrones de diseño son soluciones reutilizables a problemas comunes en el desarrollo de software, que mejoran la flexibilidad y mantenibilidad del código</a:t>
            </a: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</a:pPr>
            <a:endParaRPr lang="es-E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Patrones </a:t>
            </a: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Arquitectónicos vs. Patrones de Diseño:</a:t>
            </a:r>
          </a:p>
          <a:p>
            <a:pPr marL="43497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Arquitectónicos: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Definen la estructura general del sistema (ej. MVC).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3497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De Diseño: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Abordan problemas específicos dentro de un sistema (ej.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Singleton</a:t>
            </a:r>
            <a:r>
              <a:rPr lang="es-ES" dirty="0" smtClean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</a:p>
          <a:p>
            <a:pPr marL="434975" algn="just" fontAlgn="base">
              <a:lnSpc>
                <a:spcPct val="150000"/>
              </a:lnSpc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</a:rPr>
              <a:t>Patrones GOF: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Los patrones del libro "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Design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Patterns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" de los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Gang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of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</a:rPr>
              <a:t>Four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</a:rPr>
              <a:t> incluyen creacionales, estructurales y de comportamiento, ofreciendo soluciones estandarizadas a problemas recurrentes.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57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914400" y="1219200"/>
            <a:ext cx="10515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endParaRPr lang="es-ES" sz="2000" b="1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Clasificación </a:t>
            </a:r>
            <a:r>
              <a:rPr lang="es-E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según Propósito:</a:t>
            </a: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Creacionales: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Gestionan la creación de objetos (ej. Factory </a:t>
            </a:r>
            <a:r>
              <a:rPr lang="es-E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Method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endParaRPr lang="es-ES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Estructurales: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Organizan la composición de objetos (ej. </a:t>
            </a:r>
            <a:r>
              <a:rPr lang="es-E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Adapter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endParaRPr lang="es-ES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Comportamiento: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Definen la interacción entre objetos (ej. </a:t>
            </a:r>
            <a:r>
              <a:rPr lang="es-E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Observer</a:t>
            </a:r>
            <a:r>
              <a:rPr lang="es-E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Especificación de Patrones de Diseño: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Cada patrón se describe con su nombre, el problema que soluciona, la solución propuesta y ejemplos de implementación para facilitar su comprensión y uso.</a:t>
            </a:r>
            <a:endParaRPr lang="es-ES" sz="20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600200" y="1524000"/>
            <a:ext cx="8342504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sz="4000" b="1" spc="-5" dirty="0">
                <a:latin typeface="Arial"/>
                <a:cs typeface="Arial"/>
              </a:rPr>
              <a:t>¿Les parece que </a:t>
            </a:r>
            <a:r>
              <a:rPr lang="es-PE" sz="4000" b="1" spc="-5" dirty="0" smtClean="0">
                <a:latin typeface="Arial"/>
                <a:cs typeface="Arial"/>
              </a:rPr>
              <a:t>los principios SOLID son importantes para el desarrollo de una aplicación web</a:t>
            </a:r>
            <a:r>
              <a:rPr sz="4000" b="1" spc="-5" dirty="0" smtClean="0">
                <a:latin typeface="Arial"/>
                <a:cs typeface="Arial"/>
              </a:rPr>
              <a:t>?</a:t>
            </a:r>
            <a:r>
              <a:rPr sz="4000" b="1" spc="-15" dirty="0" smtClean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¿Por</a:t>
            </a:r>
            <a:r>
              <a:rPr sz="4000" b="1" spc="-10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qué?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44958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21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143000" y="1750129"/>
            <a:ext cx="1028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3600" dirty="0" smtClean="0"/>
              <a:t>Todos tiene el mismo propósito</a:t>
            </a:r>
          </a:p>
          <a:p>
            <a:pPr algn="just"/>
            <a:endParaRPr lang="es-ES" sz="3600" dirty="0" smtClean="0"/>
          </a:p>
          <a:p>
            <a:pPr algn="just"/>
            <a:r>
              <a:rPr lang="es-ES" sz="4000" i="1" dirty="0" smtClean="0">
                <a:solidFill>
                  <a:schemeClr val="tx2"/>
                </a:solidFill>
              </a:rPr>
              <a:t>"</a:t>
            </a:r>
            <a:r>
              <a:rPr lang="es-ES" sz="4000" i="1" dirty="0">
                <a:solidFill>
                  <a:schemeClr val="tx2"/>
                </a:solidFill>
              </a:rPr>
              <a:t>Para crear código comprensible, legible y comprobable en el que muchos desarrolladores puedan trabajar en colaboración."</a:t>
            </a:r>
            <a:endParaRPr lang="en-US" sz="40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1388225" y="34470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</TotalTime>
  <Words>1017</Words>
  <Application>Microsoft Office PowerPoint</Application>
  <PresentationFormat>Panorámica</PresentationFormat>
  <Paragraphs>109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CentSchbkCyrill BT</vt:lpstr>
      <vt:lpstr>DM Sans</vt:lpstr>
      <vt:lpstr>Office Theme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user</cp:lastModifiedBy>
  <cp:revision>68</cp:revision>
  <dcterms:created xsi:type="dcterms:W3CDTF">2024-06-11T03:36:57Z</dcterms:created>
  <dcterms:modified xsi:type="dcterms:W3CDTF">2024-08-07T01:51:06Z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