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4"/>
  </p:notesMasterIdLst>
  <p:sldIdLst>
    <p:sldId id="376" r:id="rId2"/>
    <p:sldId id="256" r:id="rId3"/>
    <p:sldId id="349" r:id="rId4"/>
    <p:sldId id="372" r:id="rId5"/>
    <p:sldId id="363" r:id="rId6"/>
    <p:sldId id="365" r:id="rId7"/>
    <p:sldId id="351" r:id="rId8"/>
    <p:sldId id="352" r:id="rId9"/>
    <p:sldId id="344" r:id="rId10"/>
    <p:sldId id="399" r:id="rId11"/>
    <p:sldId id="409" r:id="rId12"/>
    <p:sldId id="425" r:id="rId13"/>
    <p:sldId id="426" r:id="rId14"/>
    <p:sldId id="407" r:id="rId15"/>
    <p:sldId id="410" r:id="rId16"/>
    <p:sldId id="411" r:id="rId17"/>
    <p:sldId id="412" r:id="rId18"/>
    <p:sldId id="414" r:id="rId19"/>
    <p:sldId id="413" r:id="rId20"/>
    <p:sldId id="415" r:id="rId21"/>
    <p:sldId id="416" r:id="rId22"/>
    <p:sldId id="406" r:id="rId23"/>
    <p:sldId id="408" r:id="rId24"/>
    <p:sldId id="418" r:id="rId25"/>
    <p:sldId id="419" r:id="rId26"/>
    <p:sldId id="420" r:id="rId27"/>
    <p:sldId id="421" r:id="rId28"/>
    <p:sldId id="422" r:id="rId29"/>
    <p:sldId id="423" r:id="rId30"/>
    <p:sldId id="424" r:id="rId31"/>
    <p:sldId id="427" r:id="rId32"/>
    <p:sldId id="354" r:id="rId33"/>
    <p:sldId id="356" r:id="rId34"/>
    <p:sldId id="357" r:id="rId35"/>
    <p:sldId id="358" r:id="rId36"/>
    <p:sldId id="360" r:id="rId37"/>
    <p:sldId id="359" r:id="rId38"/>
    <p:sldId id="369" r:id="rId39"/>
    <p:sldId id="361" r:id="rId40"/>
    <p:sldId id="370" r:id="rId41"/>
    <p:sldId id="362" r:id="rId42"/>
    <p:sldId id="273" r:id="rId43"/>
  </p:sldIdLst>
  <p:sldSz cx="12192000" cy="6858000"/>
  <p:notesSz cx="12192000" cy="6858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D1052D"/>
    <a:srgbClr val="BEC30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>
      <p:cViewPr varScale="1">
        <p:scale>
          <a:sx n="67" d="100"/>
          <a:sy n="67" d="100"/>
        </p:scale>
        <p:origin x="756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9654E5-2B86-4061-BA67-8AB4A0612CCD}" type="datetimeFigureOut">
              <a:rPr lang="es-PE" smtClean="0"/>
              <a:t>6/08/2024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29008C-742E-4A65-BF8A-7341D8FA003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625883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734820" y="1015746"/>
            <a:ext cx="8722359" cy="17633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6939" y="1784350"/>
            <a:ext cx="4892675" cy="4026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660005" y="1784350"/>
            <a:ext cx="3527425" cy="4026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8/6/2024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8/6/2024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8/6/2024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939" y="609676"/>
            <a:ext cx="10358120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939" y="1793493"/>
            <a:ext cx="10358120" cy="18586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hyperlink" Target="https://www.youtube.com/watch?v=sxGwhkYLHEs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hKizhA69h2k" TargetMode="Externa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aprendearquitecturasoftware.wordpress.com/2018/10/15/anti-patrones/" TargetMode="External"/><Relationship Id="rId4" Type="http://schemas.openxmlformats.org/officeDocument/2006/relationships/hyperlink" Target="https://www.youtube.com/watch?v=Q_319F0bLEg" TargetMode="Externa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arteles de normas de clase para imprimir">
            <a:extLst>
              <a:ext uri="{FF2B5EF4-FFF2-40B4-BE49-F238E27FC236}">
                <a16:creationId xmlns:a16="http://schemas.microsoft.com/office/drawing/2014/main" id="{43E7A42F-2528-479F-BB26-0D53F669080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56" t="6806" r="9223" b="15417"/>
          <a:stretch/>
        </p:blipFill>
        <p:spPr bwMode="auto">
          <a:xfrm>
            <a:off x="2400300" y="914400"/>
            <a:ext cx="7391400" cy="533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50656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900112" y="1838144"/>
            <a:ext cx="10363199" cy="874920"/>
          </a:xfrm>
          <a:prstGeom prst="rect">
            <a:avLst/>
          </a:prstGeom>
        </p:spPr>
        <p:txBody>
          <a:bodyPr vert="horz" wrap="square" lIns="0" tIns="116205" rIns="0" bIns="0" rtlCol="0">
            <a:spAutoFit/>
          </a:bodyPr>
          <a:lstStyle/>
          <a:p>
            <a:pPr marL="85725" marR="5080" algn="ctr">
              <a:lnSpc>
                <a:spcPts val="6480"/>
              </a:lnSpc>
              <a:spcBef>
                <a:spcPts val="915"/>
              </a:spcBef>
            </a:pPr>
            <a:r>
              <a:rPr lang="es-ES" sz="4400" spc="-45" dirty="0">
                <a:latin typeface="CentSchbkCyrill BT" panose="02040603050705020303" pitchFamily="18" charset="-52"/>
              </a:rPr>
              <a:t>CURSO: DISEÑO DE PATRONES</a:t>
            </a:r>
            <a:endParaRPr sz="4400" spc="-35" dirty="0">
              <a:latin typeface="CentSchbkCyrill BT" panose="02040603050705020303" pitchFamily="18" charset="-52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985DEC5-F30D-46A1-8619-3D91E66BBC7E}"/>
              </a:ext>
            </a:extLst>
          </p:cNvPr>
          <p:cNvSpPr txBox="1"/>
          <p:nvPr/>
        </p:nvSpPr>
        <p:spPr>
          <a:xfrm>
            <a:off x="1938336" y="1644495"/>
            <a:ext cx="82867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b="1" dirty="0">
                <a:solidFill>
                  <a:srgbClr val="D1052D"/>
                </a:solidFill>
              </a:rPr>
              <a:t>CUARTA UNIDAD DE APRENDIZAJE: </a:t>
            </a:r>
            <a:r>
              <a:rPr lang="es-ES" dirty="0"/>
              <a:t>Patrones para interacción y responsabilidades</a:t>
            </a:r>
            <a:endParaRPr lang="es-PE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851E8A21-5A38-43E7-AE9D-98AA48814941}"/>
              </a:ext>
            </a:extLst>
          </p:cNvPr>
          <p:cNvSpPr txBox="1"/>
          <p:nvPr/>
        </p:nvSpPr>
        <p:spPr>
          <a:xfrm>
            <a:off x="2000250" y="2895600"/>
            <a:ext cx="8224838" cy="2605842"/>
          </a:xfrm>
          <a:prstGeom prst="rect">
            <a:avLst/>
          </a:prstGeom>
          <a:solidFill>
            <a:srgbClr val="D1052D"/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s-PE" sz="3200" b="1" spc="-25" dirty="0">
                <a:solidFill>
                  <a:schemeClr val="bg1"/>
                </a:solidFill>
                <a:latin typeface="Arial"/>
                <a:cs typeface="Arial"/>
              </a:rPr>
              <a:t>SESIÓN </a:t>
            </a:r>
            <a:r>
              <a:rPr lang="es-PE" sz="3200" b="1" spc="-25" dirty="0" err="1">
                <a:solidFill>
                  <a:schemeClr val="bg1"/>
                </a:solidFill>
                <a:latin typeface="Arial"/>
                <a:cs typeface="Arial"/>
              </a:rPr>
              <a:t>N°</a:t>
            </a:r>
            <a:r>
              <a:rPr lang="es-PE" sz="3200" b="1" spc="-25" dirty="0">
                <a:solidFill>
                  <a:schemeClr val="bg1"/>
                </a:solidFill>
                <a:latin typeface="Arial"/>
                <a:cs typeface="Arial"/>
              </a:rPr>
              <a:t> 14:</a:t>
            </a:r>
            <a:endParaRPr lang="es-PE" sz="3200" b="1" spc="85" dirty="0">
              <a:solidFill>
                <a:schemeClr val="bg1"/>
              </a:solidFill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PE" sz="3200" b="1" dirty="0" err="1">
                <a:solidFill>
                  <a:schemeClr val="bg1"/>
                </a:solidFill>
                <a:latin typeface="Arial"/>
                <a:cs typeface="Arial"/>
              </a:rPr>
              <a:t>Antipatrones</a:t>
            </a:r>
            <a:r>
              <a:rPr lang="es-PE" sz="3200" b="1" dirty="0">
                <a:solidFill>
                  <a:schemeClr val="bg1"/>
                </a:solidFill>
                <a:latin typeface="Arial"/>
                <a:cs typeface="Arial"/>
              </a:rPr>
              <a:t>: </a:t>
            </a:r>
          </a:p>
          <a:p>
            <a:pPr marL="469900" indent="-457200">
              <a:lnSpc>
                <a:spcPct val="100000"/>
              </a:lnSpc>
              <a:spcBef>
                <a:spcPts val="100"/>
              </a:spcBef>
              <a:buFontTx/>
              <a:buChar char="-"/>
            </a:pPr>
            <a:r>
              <a:rPr lang="es-PE" sz="3200" dirty="0">
                <a:solidFill>
                  <a:schemeClr val="bg1"/>
                </a:solidFill>
                <a:latin typeface="Arial"/>
                <a:cs typeface="Arial"/>
              </a:rPr>
              <a:t>Concepto, Propósito</a:t>
            </a:r>
          </a:p>
          <a:p>
            <a:pPr marL="469900" indent="-457200">
              <a:lnSpc>
                <a:spcPct val="100000"/>
              </a:lnSpc>
              <a:spcBef>
                <a:spcPts val="100"/>
              </a:spcBef>
              <a:buFontTx/>
              <a:buChar char="-"/>
            </a:pPr>
            <a:r>
              <a:rPr lang="es-ES" sz="3200" dirty="0" err="1">
                <a:solidFill>
                  <a:schemeClr val="bg1"/>
                </a:solidFill>
                <a:latin typeface="Arial"/>
                <a:cs typeface="Arial"/>
              </a:rPr>
              <a:t>Antipatrones</a:t>
            </a:r>
            <a:r>
              <a:rPr lang="es-ES" sz="3200" dirty="0">
                <a:solidFill>
                  <a:schemeClr val="bg1"/>
                </a:solidFill>
                <a:latin typeface="Arial"/>
                <a:cs typeface="Arial"/>
              </a:rPr>
              <a:t> de desarrollo de software</a:t>
            </a:r>
            <a:endParaRPr lang="es-PE" sz="3200" dirty="0">
              <a:solidFill>
                <a:schemeClr val="bg1"/>
              </a:solidFill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100"/>
              </a:spcBef>
              <a:buFontTx/>
              <a:buChar char="-"/>
            </a:pPr>
            <a:r>
              <a:rPr lang="es-PE" sz="3200" dirty="0" err="1">
                <a:solidFill>
                  <a:schemeClr val="bg1"/>
                </a:solidFill>
                <a:latin typeface="Arial"/>
                <a:cs typeface="Arial"/>
              </a:rPr>
              <a:t>Antipatrones</a:t>
            </a:r>
            <a:r>
              <a:rPr lang="es-PE" sz="3200" dirty="0">
                <a:solidFill>
                  <a:schemeClr val="bg1"/>
                </a:solidFill>
                <a:latin typeface="Arial"/>
                <a:cs typeface="Arial"/>
              </a:rPr>
              <a:t> organizacionales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679D4BDE-00D9-4634-BFF4-101BA4E8B52C}"/>
              </a:ext>
            </a:extLst>
          </p:cNvPr>
          <p:cNvSpPr txBox="1"/>
          <p:nvPr/>
        </p:nvSpPr>
        <p:spPr>
          <a:xfrm>
            <a:off x="3048000" y="5715000"/>
            <a:ext cx="6096000" cy="6591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s-PE" sz="1800" b="1" spc="-25" dirty="0">
                <a:solidFill>
                  <a:srgbClr val="D1052D"/>
                </a:solidFill>
                <a:latin typeface="Arial"/>
                <a:cs typeface="Arial"/>
              </a:rPr>
              <a:t>DOCENTES DE UTP</a:t>
            </a:r>
          </a:p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s-PE" b="1" spc="-25" dirty="0">
                <a:solidFill>
                  <a:srgbClr val="D1052D"/>
                </a:solidFill>
                <a:latin typeface="Arial"/>
                <a:cs typeface="Arial"/>
              </a:rPr>
              <a:t>SISTEMAS</a:t>
            </a:r>
            <a:endParaRPr lang="es-PE" sz="1800" dirty="0">
              <a:latin typeface="Arial"/>
              <a:cs typeface="Arial"/>
            </a:endParaRP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B5B956ED-21D5-4069-B69B-4CE9E409433F}"/>
              </a:ext>
            </a:extLst>
          </p:cNvPr>
          <p:cNvGrpSpPr/>
          <p:nvPr/>
        </p:nvGrpSpPr>
        <p:grpSpPr>
          <a:xfrm>
            <a:off x="3681788" y="152400"/>
            <a:ext cx="8281612" cy="1295400"/>
            <a:chOff x="3681788" y="152400"/>
            <a:chExt cx="8281612" cy="12954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81788" y="370720"/>
              <a:ext cx="4828423" cy="1077080"/>
            </a:xfrm>
            <a:prstGeom prst="rect">
              <a:avLst/>
            </a:prstGeom>
          </p:spPr>
        </p:pic>
        <p:sp>
          <p:nvSpPr>
            <p:cNvPr id="3" name="Rectángulo 2">
              <a:extLst>
                <a:ext uri="{FF2B5EF4-FFF2-40B4-BE49-F238E27FC236}">
                  <a16:creationId xmlns:a16="http://schemas.microsoft.com/office/drawing/2014/main" id="{EBA6524E-EDB1-4440-AE90-883F7F1FD18C}"/>
                </a:ext>
              </a:extLst>
            </p:cNvPr>
            <p:cNvSpPr/>
            <p:nvPr/>
          </p:nvSpPr>
          <p:spPr>
            <a:xfrm>
              <a:off x="9144000" y="152400"/>
              <a:ext cx="2819400" cy="76272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83D49147-6665-4E3D-899C-D582AC68A260}"/>
              </a:ext>
            </a:extLst>
          </p:cNvPr>
          <p:cNvSpPr/>
          <p:nvPr/>
        </p:nvSpPr>
        <p:spPr>
          <a:xfrm>
            <a:off x="0" y="304801"/>
            <a:ext cx="5659755" cy="5618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3237432-5409-4010-913D-63C769E0C667}"/>
              </a:ext>
            </a:extLst>
          </p:cNvPr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400" b="1" spc="-5" dirty="0">
                <a:solidFill>
                  <a:srgbClr val="FFFFFF"/>
                </a:solidFill>
                <a:latin typeface="Arial"/>
                <a:cs typeface="Arial"/>
              </a:rPr>
              <a:t>Motivación para el </a:t>
            </a:r>
            <a:r>
              <a:rPr sz="2400" b="1" spc="-5" dirty="0" err="1">
                <a:solidFill>
                  <a:srgbClr val="FFFFFF"/>
                </a:solidFill>
                <a:latin typeface="Arial"/>
                <a:cs typeface="Arial"/>
              </a:rPr>
              <a:t>aprendizaje</a:t>
            </a:r>
            <a:endParaRPr sz="2400" dirty="0">
              <a:latin typeface="Arial"/>
              <a:cs typeface="Arial"/>
            </a:endParaRPr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9328E6EB-B063-4713-BFB4-0B0FA772187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23651" y="313451"/>
            <a:ext cx="524749" cy="524749"/>
          </a:xfrm>
          <a:prstGeom prst="rect">
            <a:avLst/>
          </a:prstGeom>
        </p:spPr>
      </p:pic>
      <p:sp>
        <p:nvSpPr>
          <p:cNvPr id="8" name="object 8">
            <a:extLst>
              <a:ext uri="{FF2B5EF4-FFF2-40B4-BE49-F238E27FC236}">
                <a16:creationId xmlns:a16="http://schemas.microsoft.com/office/drawing/2014/main" id="{A814BB19-1D9E-4067-AEBA-01A9345F4FE9}"/>
              </a:ext>
            </a:extLst>
          </p:cNvPr>
          <p:cNvSpPr txBox="1"/>
          <p:nvPr/>
        </p:nvSpPr>
        <p:spPr>
          <a:xfrm>
            <a:off x="3886200" y="3581400"/>
            <a:ext cx="6476999" cy="295402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90"/>
              </a:lnSpc>
            </a:pPr>
            <a:endParaRPr sz="3200" dirty="0">
              <a:latin typeface="Arial"/>
              <a:cs typeface="Arial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4D11C75D-199E-45B8-BA8D-17CD6C160246}"/>
              </a:ext>
            </a:extLst>
          </p:cNvPr>
          <p:cNvSpPr txBox="1"/>
          <p:nvPr/>
        </p:nvSpPr>
        <p:spPr>
          <a:xfrm>
            <a:off x="2590800" y="2981235"/>
            <a:ext cx="70104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600" b="1" spc="-5" dirty="0">
                <a:latin typeface="Arial"/>
                <a:cs typeface="Arial"/>
              </a:rPr>
              <a:t>Lo que debemos tener en cuenta</a:t>
            </a:r>
            <a:endParaRPr lang="es-ES" sz="3600" dirty="0">
              <a:latin typeface="Arial"/>
              <a:cs typeface="Arial"/>
            </a:endParaRPr>
          </a:p>
        </p:txBody>
      </p:sp>
      <p:pic>
        <p:nvPicPr>
          <p:cNvPr id="11" name="object 6">
            <a:extLst>
              <a:ext uri="{FF2B5EF4-FFF2-40B4-BE49-F238E27FC236}">
                <a16:creationId xmlns:a16="http://schemas.microsoft.com/office/drawing/2014/main" id="{E52C9474-7154-4724-A72B-B537E889D3D1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753600" y="6184229"/>
            <a:ext cx="445171" cy="445171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347AE2A4-CC8F-4B06-A81C-DB8416DF06EB}"/>
              </a:ext>
            </a:extLst>
          </p:cNvPr>
          <p:cNvSpPr txBox="1"/>
          <p:nvPr/>
        </p:nvSpPr>
        <p:spPr>
          <a:xfrm>
            <a:off x="10198771" y="6222148"/>
            <a:ext cx="17646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114300">
              <a:lnSpc>
                <a:spcPct val="100000"/>
              </a:lnSpc>
              <a:spcBef>
                <a:spcPts val="1345"/>
              </a:spcBef>
            </a:pPr>
            <a:r>
              <a:rPr lang="es-PE" sz="2000" b="1" dirty="0">
                <a:latin typeface="Arial"/>
                <a:cs typeface="Arial"/>
              </a:rPr>
              <a:t>5</a:t>
            </a:r>
            <a:r>
              <a:rPr lang="es-PE" sz="2000" b="1" spc="-55" dirty="0">
                <a:latin typeface="Arial"/>
                <a:cs typeface="Arial"/>
              </a:rPr>
              <a:t> </a:t>
            </a:r>
            <a:r>
              <a:rPr lang="es-PE" sz="2000" b="1" spc="-5" dirty="0">
                <a:latin typeface="Arial"/>
                <a:cs typeface="Arial"/>
              </a:rPr>
              <a:t>minutos</a:t>
            </a:r>
            <a:endParaRPr lang="es-PE" sz="20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872436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9DF7888B-183F-4E43-9DE2-91E639C27025}"/>
              </a:ext>
            </a:extLst>
          </p:cNvPr>
          <p:cNvSpPr txBox="1"/>
          <p:nvPr/>
        </p:nvSpPr>
        <p:spPr>
          <a:xfrm>
            <a:off x="2971800" y="5602069"/>
            <a:ext cx="60936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PE" dirty="0">
                <a:hlinkClick r:id="rId2"/>
              </a:rPr>
              <a:t>https://www.youtube.com/watch?v=sxGwhkYLHEs</a:t>
            </a:r>
            <a:endParaRPr lang="es-PE" dirty="0"/>
          </a:p>
          <a:p>
            <a:pPr algn="ctr"/>
            <a:endParaRPr lang="es-PE" dirty="0"/>
          </a:p>
        </p:txBody>
      </p:sp>
      <p:pic>
        <p:nvPicPr>
          <p:cNvPr id="1026" name="Picture 2" descr="PPT - Patrones en la Naturaleza PowerPoint Presentation, free download -  ID:5378290">
            <a:extLst>
              <a:ext uri="{FF2B5EF4-FFF2-40B4-BE49-F238E27FC236}">
                <a16:creationId xmlns:a16="http://schemas.microsoft.com/office/drawing/2014/main" id="{27522D1F-019F-42C1-9FC8-003F220BC3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1066800"/>
            <a:ext cx="6248400" cy="4162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92427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83D49147-6665-4E3D-899C-D582AC68A260}"/>
              </a:ext>
            </a:extLst>
          </p:cNvPr>
          <p:cNvSpPr/>
          <p:nvPr/>
        </p:nvSpPr>
        <p:spPr>
          <a:xfrm>
            <a:off x="0" y="304801"/>
            <a:ext cx="5659755" cy="5618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3237432-5409-4010-913D-63C769E0C667}"/>
              </a:ext>
            </a:extLst>
          </p:cNvPr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Recordando</a:t>
            </a:r>
            <a:r>
              <a:rPr sz="24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los</a:t>
            </a:r>
            <a:r>
              <a:rPr sz="24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aprendizajes</a:t>
            </a:r>
            <a:endParaRPr sz="2400" dirty="0">
              <a:latin typeface="Arial"/>
              <a:cs typeface="Arial"/>
            </a:endParaRPr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9328E6EB-B063-4713-BFB4-0B0FA772187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23651" y="313451"/>
            <a:ext cx="524749" cy="524749"/>
          </a:xfrm>
          <a:prstGeom prst="rect">
            <a:avLst/>
          </a:prstGeom>
        </p:spPr>
      </p:pic>
      <p:sp>
        <p:nvSpPr>
          <p:cNvPr id="8" name="object 8">
            <a:extLst>
              <a:ext uri="{FF2B5EF4-FFF2-40B4-BE49-F238E27FC236}">
                <a16:creationId xmlns:a16="http://schemas.microsoft.com/office/drawing/2014/main" id="{A814BB19-1D9E-4067-AEBA-01A9345F4FE9}"/>
              </a:ext>
            </a:extLst>
          </p:cNvPr>
          <p:cNvSpPr txBox="1"/>
          <p:nvPr/>
        </p:nvSpPr>
        <p:spPr>
          <a:xfrm>
            <a:off x="3886200" y="3581400"/>
            <a:ext cx="6476999" cy="295402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90"/>
              </a:lnSpc>
            </a:pPr>
            <a:endParaRPr sz="3200" dirty="0">
              <a:latin typeface="Arial"/>
              <a:cs typeface="Arial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4D11C75D-199E-45B8-BA8D-17CD6C160246}"/>
              </a:ext>
            </a:extLst>
          </p:cNvPr>
          <p:cNvSpPr txBox="1"/>
          <p:nvPr/>
        </p:nvSpPr>
        <p:spPr>
          <a:xfrm>
            <a:off x="2590800" y="2981235"/>
            <a:ext cx="70104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600" b="1" spc="-5" dirty="0">
                <a:latin typeface="Arial"/>
                <a:cs typeface="Arial"/>
              </a:rPr>
              <a:t>¿Qué</a:t>
            </a:r>
            <a:r>
              <a:rPr lang="es-ES" sz="3600" b="1" spc="-20" dirty="0">
                <a:latin typeface="Arial"/>
                <a:cs typeface="Arial"/>
              </a:rPr>
              <a:t> </a:t>
            </a:r>
            <a:r>
              <a:rPr lang="es-ES" sz="3600" b="1" spc="-5" dirty="0">
                <a:latin typeface="Arial"/>
                <a:cs typeface="Arial"/>
              </a:rPr>
              <a:t>vimos</a:t>
            </a:r>
            <a:r>
              <a:rPr lang="es-ES" sz="3600" b="1" spc="-20" dirty="0">
                <a:latin typeface="Arial"/>
                <a:cs typeface="Arial"/>
              </a:rPr>
              <a:t> </a:t>
            </a:r>
            <a:r>
              <a:rPr lang="es-ES" sz="3600" b="1" spc="-5" dirty="0">
                <a:latin typeface="Arial"/>
                <a:cs typeface="Arial"/>
              </a:rPr>
              <a:t>en</a:t>
            </a:r>
            <a:r>
              <a:rPr lang="es-ES" sz="3600" b="1" spc="-20" dirty="0">
                <a:latin typeface="Arial"/>
                <a:cs typeface="Arial"/>
              </a:rPr>
              <a:t> </a:t>
            </a:r>
            <a:r>
              <a:rPr lang="es-ES" sz="3600" b="1" spc="-5" dirty="0">
                <a:latin typeface="Arial"/>
                <a:cs typeface="Arial"/>
              </a:rPr>
              <a:t>la</a:t>
            </a:r>
            <a:r>
              <a:rPr lang="es-ES" sz="3600" b="1" spc="-20" dirty="0">
                <a:latin typeface="Arial"/>
                <a:cs typeface="Arial"/>
              </a:rPr>
              <a:t> </a:t>
            </a:r>
            <a:r>
              <a:rPr lang="es-ES" sz="3600" b="1" spc="-5" dirty="0">
                <a:latin typeface="Arial"/>
                <a:cs typeface="Arial"/>
              </a:rPr>
              <a:t>sesión</a:t>
            </a:r>
            <a:r>
              <a:rPr lang="es-ES" sz="3600" b="1" spc="-20" dirty="0">
                <a:latin typeface="Arial"/>
                <a:cs typeface="Arial"/>
              </a:rPr>
              <a:t> </a:t>
            </a:r>
            <a:r>
              <a:rPr lang="es-ES" sz="3600" b="1" spc="-5" dirty="0">
                <a:latin typeface="Arial"/>
                <a:cs typeface="Arial"/>
              </a:rPr>
              <a:t>anterior?</a:t>
            </a:r>
            <a:endParaRPr lang="es-ES" sz="36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771751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83D49147-6665-4E3D-899C-D582AC68A260}"/>
              </a:ext>
            </a:extLst>
          </p:cNvPr>
          <p:cNvSpPr/>
          <p:nvPr/>
        </p:nvSpPr>
        <p:spPr>
          <a:xfrm>
            <a:off x="0" y="304801"/>
            <a:ext cx="5659755" cy="5618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3237432-5409-4010-913D-63C769E0C667}"/>
              </a:ext>
            </a:extLst>
          </p:cNvPr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Recordando</a:t>
            </a:r>
            <a:r>
              <a:rPr sz="24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los</a:t>
            </a:r>
            <a:r>
              <a:rPr sz="24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aprendizajes</a:t>
            </a:r>
            <a:endParaRPr sz="2400" dirty="0">
              <a:latin typeface="Arial"/>
              <a:cs typeface="Arial"/>
            </a:endParaRPr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9328E6EB-B063-4713-BFB4-0B0FA772187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23651" y="313451"/>
            <a:ext cx="524749" cy="524749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444C152C-A7D7-4BFD-A312-AC220D10B344}"/>
              </a:ext>
            </a:extLst>
          </p:cNvPr>
          <p:cNvSpPr txBox="1"/>
          <p:nvPr/>
        </p:nvSpPr>
        <p:spPr>
          <a:xfrm>
            <a:off x="838200" y="1137821"/>
            <a:ext cx="10439400" cy="4862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000" b="1" u="sng" dirty="0"/>
              <a:t>ESTRUCTURE Y REPRESENTE LOS PATRONES </a:t>
            </a:r>
            <a:r>
              <a:rPr lang="es-ES" sz="2000" b="1" u="sng" dirty="0" err="1"/>
              <a:t>COMMAND</a:t>
            </a:r>
            <a:r>
              <a:rPr lang="es-ES" sz="2000" b="1" u="sng" dirty="0"/>
              <a:t> Y MEMENTO</a:t>
            </a:r>
          </a:p>
          <a:p>
            <a:pPr algn="ctr"/>
            <a:endParaRPr lang="es-PE" b="1" u="sng" dirty="0"/>
          </a:p>
          <a:p>
            <a:pPr algn="just"/>
            <a:r>
              <a:rPr lang="es-PE" sz="2400" b="1" dirty="0"/>
              <a:t>Materiales Necesarios: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PE" sz="2400" dirty="0"/>
              <a:t>Hojas BON (hojas de papel grandes)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PE" sz="2400" dirty="0"/>
              <a:t>Rotuladores o bolígrafos de colores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PE" sz="2400" dirty="0"/>
              <a:t>Pizarra y tizas o marcadores</a:t>
            </a:r>
          </a:p>
          <a:p>
            <a:pPr algn="just"/>
            <a:r>
              <a:rPr lang="es-PE" sz="2400" b="1" dirty="0"/>
              <a:t>Actividades: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2400" dirty="0"/>
              <a:t>Agruparse en pares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2400" dirty="0"/>
              <a:t>Trabajar en hoja bon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2400" dirty="0"/>
              <a:t>Cada pareja de trabajo estructure y represente los </a:t>
            </a:r>
            <a:r>
              <a:rPr lang="es-ES" sz="2800" b="1" dirty="0">
                <a:solidFill>
                  <a:srgbClr val="C00000"/>
                </a:solidFill>
              </a:rPr>
              <a:t>patrones </a:t>
            </a:r>
            <a:r>
              <a:rPr lang="es-ES" sz="2800" b="1" u="sng" dirty="0" err="1"/>
              <a:t>COMMAND</a:t>
            </a:r>
            <a:r>
              <a:rPr lang="es-ES" sz="2800" b="1" u="sng" dirty="0"/>
              <a:t> Y MEMENTO</a:t>
            </a:r>
            <a:r>
              <a:rPr lang="es-ES" sz="2800" b="1" dirty="0"/>
              <a:t>.</a:t>
            </a:r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/>
              <a:t>Una vez que las parejas hayan terminado, compartir sus representaciones con el resto de la clase.</a:t>
            </a:r>
            <a:endParaRPr lang="es-PE" sz="2400" dirty="0"/>
          </a:p>
        </p:txBody>
      </p:sp>
    </p:spTree>
    <p:extLst>
      <p:ext uri="{BB962C8B-B14F-4D97-AF65-F5344CB8AC3E}">
        <p14:creationId xmlns:p14="http://schemas.microsoft.com/office/powerpoint/2010/main" val="31517277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83D49147-6665-4E3D-899C-D582AC68A260}"/>
              </a:ext>
            </a:extLst>
          </p:cNvPr>
          <p:cNvSpPr/>
          <p:nvPr/>
        </p:nvSpPr>
        <p:spPr>
          <a:xfrm>
            <a:off x="0" y="304801"/>
            <a:ext cx="5659755" cy="5618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3237432-5409-4010-913D-63C769E0C667}"/>
              </a:ext>
            </a:extLst>
          </p:cNvPr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400" b="1" spc="-5" dirty="0">
                <a:solidFill>
                  <a:srgbClr val="FFFFFF"/>
                </a:solidFill>
                <a:latin typeface="Arial"/>
                <a:cs typeface="Arial"/>
              </a:rPr>
              <a:t>Logro de la sesión</a:t>
            </a:r>
            <a:endParaRPr lang="es-PE" sz="2400" dirty="0">
              <a:latin typeface="Arial"/>
              <a:cs typeface="Arial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A814BB19-1D9E-4067-AEBA-01A9345F4FE9}"/>
              </a:ext>
            </a:extLst>
          </p:cNvPr>
          <p:cNvSpPr txBox="1"/>
          <p:nvPr/>
        </p:nvSpPr>
        <p:spPr>
          <a:xfrm>
            <a:off x="3886200" y="3581400"/>
            <a:ext cx="6476999" cy="295402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90"/>
              </a:lnSpc>
            </a:pPr>
            <a:endParaRPr sz="3200" dirty="0">
              <a:latin typeface="Arial"/>
              <a:cs typeface="Arial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2A6F3E7-9979-4364-9955-A30A48479D96}"/>
              </a:ext>
            </a:extLst>
          </p:cNvPr>
          <p:cNvSpPr txBox="1"/>
          <p:nvPr/>
        </p:nvSpPr>
        <p:spPr>
          <a:xfrm>
            <a:off x="2552700" y="2451828"/>
            <a:ext cx="708660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200" spc="-5" dirty="0">
                <a:latin typeface="Arial MT"/>
                <a:cs typeface="Arial MT"/>
              </a:rPr>
              <a:t>Al finalizar la unidad el participante aplica los patrones de comportamiento y </a:t>
            </a:r>
            <a:r>
              <a:rPr lang="es-ES" sz="3200" spc="-5" dirty="0" err="1">
                <a:latin typeface="Arial MT"/>
                <a:cs typeface="Arial MT"/>
              </a:rPr>
              <a:t>antipatrones</a:t>
            </a:r>
            <a:r>
              <a:rPr lang="es-ES" sz="3200" spc="-5" dirty="0">
                <a:latin typeface="Arial MT"/>
                <a:cs typeface="Arial MT"/>
              </a:rPr>
              <a:t> para la solución de problemas.</a:t>
            </a:r>
          </a:p>
        </p:txBody>
      </p:sp>
      <p:pic>
        <p:nvPicPr>
          <p:cNvPr id="11" name="object 6">
            <a:extLst>
              <a:ext uri="{FF2B5EF4-FFF2-40B4-BE49-F238E27FC236}">
                <a16:creationId xmlns:a16="http://schemas.microsoft.com/office/drawing/2014/main" id="{C7336562-8237-4C19-BF2E-C16CE9CE1CB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83622" y="292547"/>
            <a:ext cx="559075" cy="559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2280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83D49147-6665-4E3D-899C-D582AC68A260}"/>
              </a:ext>
            </a:extLst>
          </p:cNvPr>
          <p:cNvSpPr/>
          <p:nvPr/>
        </p:nvSpPr>
        <p:spPr>
          <a:xfrm>
            <a:off x="0" y="304801"/>
            <a:ext cx="5659755" cy="5618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3237432-5409-4010-913D-63C769E0C667}"/>
              </a:ext>
            </a:extLst>
          </p:cNvPr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400" b="1" spc="-5" dirty="0">
                <a:solidFill>
                  <a:srgbClr val="FFFFFF"/>
                </a:solidFill>
                <a:latin typeface="Arial"/>
                <a:cs typeface="Arial"/>
              </a:rPr>
              <a:t>Importancia de la sesión</a:t>
            </a:r>
            <a:endParaRPr lang="es-PE" sz="2400" dirty="0">
              <a:latin typeface="Arial"/>
              <a:cs typeface="Arial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A814BB19-1D9E-4067-AEBA-01A9345F4FE9}"/>
              </a:ext>
            </a:extLst>
          </p:cNvPr>
          <p:cNvSpPr txBox="1"/>
          <p:nvPr/>
        </p:nvSpPr>
        <p:spPr>
          <a:xfrm>
            <a:off x="3886200" y="3581400"/>
            <a:ext cx="6476999" cy="295402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90"/>
              </a:lnSpc>
            </a:pPr>
            <a:endParaRPr sz="3200" dirty="0">
              <a:latin typeface="Arial"/>
              <a:cs typeface="Arial"/>
            </a:endParaRPr>
          </a:p>
        </p:txBody>
      </p:sp>
      <p:pic>
        <p:nvPicPr>
          <p:cNvPr id="12" name="object 10">
            <a:extLst>
              <a:ext uri="{FF2B5EF4-FFF2-40B4-BE49-F238E27FC236}">
                <a16:creationId xmlns:a16="http://schemas.microsoft.com/office/drawing/2014/main" id="{BD6947E1-33EA-4945-AA08-BDC665508EC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17875" y="304800"/>
            <a:ext cx="506725" cy="561823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D2B8F5EF-2F10-4D15-8873-813A4AC722E7}"/>
              </a:ext>
            </a:extLst>
          </p:cNvPr>
          <p:cNvSpPr txBox="1"/>
          <p:nvPr/>
        </p:nvSpPr>
        <p:spPr>
          <a:xfrm>
            <a:off x="1793562" y="1688574"/>
            <a:ext cx="858392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400" dirty="0"/>
              <a:t>Comprender los </a:t>
            </a:r>
            <a:r>
              <a:rPr lang="es-ES" sz="2400" dirty="0" err="1"/>
              <a:t>antipatrones</a:t>
            </a:r>
            <a:r>
              <a:rPr lang="es-ES" sz="2400" dirty="0"/>
              <a:t>, que incluyen </a:t>
            </a:r>
            <a:r>
              <a:rPr lang="es-ES" sz="2400" dirty="0" err="1"/>
              <a:t>antipatrones</a:t>
            </a:r>
            <a:r>
              <a:rPr lang="es-ES" sz="2400" dirty="0"/>
              <a:t> de desarrollo de software y organizacionales, es esencial para los estudiantes en el ámbito laboral. Los </a:t>
            </a:r>
            <a:r>
              <a:rPr lang="es-ES" sz="2400" dirty="0" err="1"/>
              <a:t>antipatrones</a:t>
            </a:r>
            <a:r>
              <a:rPr lang="es-ES" sz="2400" dirty="0"/>
              <a:t> representan soluciones ineficaces o problemáticas que, si se aplican, pueden llevar a fallos en el software y a una gestión ineficaz del equipo. Identificarlos y evitarlos permite a los estudiantes diseñar sistemas más robustos y eficientes, además de fomentar un ambiente de trabajo más productivo y colaborativo, evitando prácticas perjudiciales y mejorando la calidad general del proyecto y del entorno laboral.</a:t>
            </a:r>
          </a:p>
        </p:txBody>
      </p:sp>
    </p:spTree>
    <p:extLst>
      <p:ext uri="{BB962C8B-B14F-4D97-AF65-F5344CB8AC3E}">
        <p14:creationId xmlns:p14="http://schemas.microsoft.com/office/powerpoint/2010/main" val="14189802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9CD923E2-6C48-4276-9BEB-1846D11A67A4}"/>
              </a:ext>
            </a:extLst>
          </p:cNvPr>
          <p:cNvSpPr txBox="1"/>
          <p:nvPr/>
        </p:nvSpPr>
        <p:spPr>
          <a:xfrm>
            <a:off x="1600200" y="2890391"/>
            <a:ext cx="8991600" cy="2100575"/>
          </a:xfrm>
          <a:prstGeom prst="rect">
            <a:avLst/>
          </a:prstGeom>
          <a:solidFill>
            <a:srgbClr val="D1052D"/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PE" sz="3200" b="1" dirty="0" err="1">
                <a:solidFill>
                  <a:schemeClr val="bg1"/>
                </a:solidFill>
                <a:latin typeface="Arial"/>
                <a:cs typeface="Arial"/>
              </a:rPr>
              <a:t>Antipatrones</a:t>
            </a:r>
            <a:r>
              <a:rPr lang="es-PE" sz="3200" b="1" dirty="0">
                <a:solidFill>
                  <a:schemeClr val="bg1"/>
                </a:solidFill>
                <a:latin typeface="Arial"/>
                <a:cs typeface="Arial"/>
              </a:rPr>
              <a:t>: </a:t>
            </a:r>
          </a:p>
          <a:p>
            <a:pPr marL="469900" indent="-457200">
              <a:lnSpc>
                <a:spcPct val="100000"/>
              </a:lnSpc>
              <a:spcBef>
                <a:spcPts val="100"/>
              </a:spcBef>
              <a:buFontTx/>
              <a:buChar char="-"/>
            </a:pPr>
            <a:r>
              <a:rPr lang="es-PE" sz="3200" dirty="0">
                <a:solidFill>
                  <a:schemeClr val="bg1"/>
                </a:solidFill>
                <a:latin typeface="Arial"/>
                <a:cs typeface="Arial"/>
              </a:rPr>
              <a:t>Concepto, Propósito</a:t>
            </a:r>
          </a:p>
          <a:p>
            <a:pPr marL="469900" indent="-457200">
              <a:lnSpc>
                <a:spcPct val="100000"/>
              </a:lnSpc>
              <a:spcBef>
                <a:spcPts val="100"/>
              </a:spcBef>
              <a:buFontTx/>
              <a:buChar char="-"/>
            </a:pPr>
            <a:r>
              <a:rPr lang="es-ES" sz="3200" dirty="0" err="1">
                <a:solidFill>
                  <a:schemeClr val="bg1"/>
                </a:solidFill>
                <a:latin typeface="Arial"/>
                <a:cs typeface="Arial"/>
              </a:rPr>
              <a:t>Antipatrones</a:t>
            </a:r>
            <a:r>
              <a:rPr lang="es-ES" sz="3200" dirty="0">
                <a:solidFill>
                  <a:schemeClr val="bg1"/>
                </a:solidFill>
                <a:latin typeface="Arial"/>
                <a:cs typeface="Arial"/>
              </a:rPr>
              <a:t> de desarrollo de software</a:t>
            </a:r>
            <a:endParaRPr lang="es-PE" sz="3200" dirty="0">
              <a:solidFill>
                <a:schemeClr val="bg1"/>
              </a:solidFill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100"/>
              </a:spcBef>
              <a:buFontTx/>
              <a:buChar char="-"/>
            </a:pPr>
            <a:r>
              <a:rPr lang="es-PE" sz="3200" dirty="0" err="1">
                <a:solidFill>
                  <a:schemeClr val="bg1"/>
                </a:solidFill>
                <a:latin typeface="Arial"/>
                <a:cs typeface="Arial"/>
              </a:rPr>
              <a:t>Antipatrones</a:t>
            </a:r>
            <a:r>
              <a:rPr lang="es-PE" sz="3200" dirty="0">
                <a:solidFill>
                  <a:schemeClr val="bg1"/>
                </a:solidFill>
                <a:latin typeface="Arial"/>
                <a:cs typeface="Arial"/>
              </a:rPr>
              <a:t> organizacionales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452D0D8-40D1-4D69-8E9B-067B07521DBF}"/>
              </a:ext>
            </a:extLst>
          </p:cNvPr>
          <p:cNvSpPr txBox="1"/>
          <p:nvPr/>
        </p:nvSpPr>
        <p:spPr>
          <a:xfrm>
            <a:off x="4076700" y="1991427"/>
            <a:ext cx="4038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s-PE" sz="3600" b="1" spc="-25" dirty="0">
                <a:solidFill>
                  <a:srgbClr val="000000"/>
                </a:solidFill>
                <a:latin typeface="Arial"/>
                <a:cs typeface="Arial"/>
              </a:rPr>
              <a:t>SESIÓN </a:t>
            </a:r>
            <a:r>
              <a:rPr lang="es-PE" sz="3600" b="1" spc="-25" dirty="0" err="1">
                <a:solidFill>
                  <a:srgbClr val="000000"/>
                </a:solidFill>
                <a:latin typeface="Arial"/>
                <a:cs typeface="Arial"/>
              </a:rPr>
              <a:t>N°</a:t>
            </a:r>
            <a:r>
              <a:rPr lang="es-PE" sz="3600" b="1" spc="-25" dirty="0">
                <a:solidFill>
                  <a:srgbClr val="000000"/>
                </a:solidFill>
                <a:latin typeface="Arial"/>
                <a:cs typeface="Arial"/>
              </a:rPr>
              <a:t> 14:</a:t>
            </a:r>
            <a:endParaRPr lang="es-PE" sz="3600" b="1" spc="85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44A62F85-1502-4D7C-93F5-FDF5EB2D1026}"/>
              </a:ext>
            </a:extLst>
          </p:cNvPr>
          <p:cNvSpPr/>
          <p:nvPr/>
        </p:nvSpPr>
        <p:spPr>
          <a:xfrm>
            <a:off x="0" y="304801"/>
            <a:ext cx="5659755" cy="5618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6">
            <a:extLst>
              <a:ext uri="{FF2B5EF4-FFF2-40B4-BE49-F238E27FC236}">
                <a16:creationId xmlns:a16="http://schemas.microsoft.com/office/drawing/2014/main" id="{31BDD320-46CF-4CF8-8ED7-B9CC2CD22623}"/>
              </a:ext>
            </a:extLst>
          </p:cNvPr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400" b="1" spc="-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lang="es-PE" sz="2400" b="1" spc="-5" dirty="0" err="1">
                <a:solidFill>
                  <a:srgbClr val="FFFFFF"/>
                </a:solidFill>
                <a:latin typeface="Arial"/>
                <a:cs typeface="Arial"/>
              </a:rPr>
              <a:t>emario</a:t>
            </a:r>
            <a:endParaRPr lang="es-PE" sz="2400" dirty="0">
              <a:latin typeface="Arial"/>
              <a:cs typeface="Arial"/>
            </a:endParaRPr>
          </a:p>
        </p:txBody>
      </p:sp>
      <p:pic>
        <p:nvPicPr>
          <p:cNvPr id="10" name="object 7">
            <a:extLst>
              <a:ext uri="{FF2B5EF4-FFF2-40B4-BE49-F238E27FC236}">
                <a16:creationId xmlns:a16="http://schemas.microsoft.com/office/drawing/2014/main" id="{229EF982-4AD6-41B4-B055-812DA365FB4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23651" y="313451"/>
            <a:ext cx="524749" cy="524749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25EB02CA-766A-4A3B-83E2-2CF011B7FD7D}"/>
              </a:ext>
            </a:extLst>
          </p:cNvPr>
          <p:cNvSpPr txBox="1"/>
          <p:nvPr/>
        </p:nvSpPr>
        <p:spPr>
          <a:xfrm>
            <a:off x="365760" y="973304"/>
            <a:ext cx="535789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b="1" spc="-5" dirty="0">
                <a:latin typeface="Arial"/>
                <a:cs typeface="Arial"/>
              </a:rPr>
              <a:t>¡Que no se te escape nada de tu clase!:</a:t>
            </a:r>
            <a:endParaRPr lang="es-ES" sz="20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0213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57F51D78-0EC8-4A7E-A2CF-BF2507CD1972}"/>
              </a:ext>
            </a:extLst>
          </p:cNvPr>
          <p:cNvSpPr txBox="1"/>
          <p:nvPr/>
        </p:nvSpPr>
        <p:spPr>
          <a:xfrm>
            <a:off x="533400" y="609600"/>
            <a:ext cx="8534400" cy="966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PE" sz="2800" b="1" dirty="0" err="1">
                <a:latin typeface="Arial"/>
                <a:cs typeface="Arial"/>
              </a:rPr>
              <a:t>Antipatrones</a:t>
            </a:r>
            <a:r>
              <a:rPr lang="es-PE" sz="2800" b="1" dirty="0">
                <a:latin typeface="Arial"/>
                <a:cs typeface="Arial"/>
              </a:rPr>
              <a:t>: </a:t>
            </a:r>
          </a:p>
          <a:p>
            <a:pPr marL="469900" indent="-457200">
              <a:lnSpc>
                <a:spcPct val="100000"/>
              </a:lnSpc>
              <a:spcBef>
                <a:spcPts val="100"/>
              </a:spcBef>
              <a:buFontTx/>
              <a:buChar char="-"/>
            </a:pPr>
            <a:r>
              <a:rPr lang="es-PE" sz="2800" dirty="0">
                <a:latin typeface="Arial"/>
                <a:cs typeface="Arial"/>
              </a:rPr>
              <a:t>Concepto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2FA2521-3A0A-40B9-A222-A1A57AF32C53}"/>
              </a:ext>
            </a:extLst>
          </p:cNvPr>
          <p:cNvSpPr txBox="1"/>
          <p:nvPr/>
        </p:nvSpPr>
        <p:spPr>
          <a:xfrm>
            <a:off x="1066800" y="1752600"/>
            <a:ext cx="57912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400" dirty="0"/>
              <a:t>Los </a:t>
            </a:r>
            <a:r>
              <a:rPr lang="es-ES" sz="2400" dirty="0" err="1"/>
              <a:t>antipatrones</a:t>
            </a:r>
            <a:r>
              <a:rPr lang="es-ES" sz="2400" dirty="0"/>
              <a:t> son soluciones a problemas de diseño que, aunque pueden parecer válidas en un principio, resultan ser ineficaces o perjudiciales a largo plazo. Son prácticas comunes que, al ser mal aplicadas, llevan a problemas en el mantenimiento, escalabilidad y comprensión del código. El término "</a:t>
            </a:r>
            <a:r>
              <a:rPr lang="es-ES" sz="2400" dirty="0" err="1"/>
              <a:t>antipatrón</a:t>
            </a:r>
            <a:r>
              <a:rPr lang="es-ES" sz="2400" dirty="0"/>
              <a:t>" es una forma de destacar que la solución propuesta es una mala práctica o una forma incorrecta de abordar un problema.</a:t>
            </a:r>
            <a:endParaRPr lang="es-PE" sz="2400" dirty="0"/>
          </a:p>
        </p:txBody>
      </p:sp>
      <p:pic>
        <p:nvPicPr>
          <p:cNvPr id="9" name="Picture 2" descr="➤ 3 Tipos de Antipatrón SCRUM que tu equipo debe evitar">
            <a:extLst>
              <a:ext uri="{FF2B5EF4-FFF2-40B4-BE49-F238E27FC236}">
                <a16:creationId xmlns:a16="http://schemas.microsoft.com/office/drawing/2014/main" id="{BB18A8C7-2B8E-4FDC-9963-7C64397F537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31" t="8889" r="24931" b="8889"/>
          <a:stretch/>
        </p:blipFill>
        <p:spPr bwMode="auto">
          <a:xfrm>
            <a:off x="7391400" y="1567006"/>
            <a:ext cx="4147751" cy="403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15572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57F51D78-0EC8-4A7E-A2CF-BF2507CD1972}"/>
              </a:ext>
            </a:extLst>
          </p:cNvPr>
          <p:cNvSpPr txBox="1"/>
          <p:nvPr/>
        </p:nvSpPr>
        <p:spPr>
          <a:xfrm>
            <a:off x="533400" y="609600"/>
            <a:ext cx="8534400" cy="966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PE" sz="2800" b="1" dirty="0" err="1">
                <a:latin typeface="Arial"/>
                <a:cs typeface="Arial"/>
              </a:rPr>
              <a:t>Antipatrones</a:t>
            </a:r>
            <a:r>
              <a:rPr lang="es-PE" sz="2800" b="1" dirty="0">
                <a:latin typeface="Arial"/>
                <a:cs typeface="Arial"/>
              </a:rPr>
              <a:t>: </a:t>
            </a:r>
          </a:p>
          <a:p>
            <a:pPr marL="469900" indent="-457200">
              <a:lnSpc>
                <a:spcPct val="100000"/>
              </a:lnSpc>
              <a:spcBef>
                <a:spcPts val="100"/>
              </a:spcBef>
              <a:buFontTx/>
              <a:buChar char="-"/>
            </a:pPr>
            <a:r>
              <a:rPr lang="es-PE" sz="2800" dirty="0">
                <a:latin typeface="Arial"/>
                <a:cs typeface="Arial"/>
              </a:rPr>
              <a:t>Propósito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2FA2521-3A0A-40B9-A222-A1A57AF32C53}"/>
              </a:ext>
            </a:extLst>
          </p:cNvPr>
          <p:cNvSpPr txBox="1"/>
          <p:nvPr/>
        </p:nvSpPr>
        <p:spPr>
          <a:xfrm>
            <a:off x="1066800" y="1752600"/>
            <a:ext cx="57912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400" dirty="0"/>
              <a:t>El propósito de estudiar </a:t>
            </a:r>
            <a:r>
              <a:rPr lang="es-ES" sz="2400" dirty="0" err="1"/>
              <a:t>antipatrones</a:t>
            </a:r>
            <a:r>
              <a:rPr lang="es-ES" sz="2400" dirty="0"/>
              <a:t> es identificar y evitar prácticas de diseño que han demostrado ser problemáticas. Al aprender sobre </a:t>
            </a:r>
            <a:r>
              <a:rPr lang="es-ES" sz="2400" dirty="0" err="1"/>
              <a:t>antipatrones</a:t>
            </a:r>
            <a:r>
              <a:rPr lang="es-ES" sz="2400" dirty="0"/>
              <a:t>, los desarrolladores pueden evitar caer en trampas comunes y aplicar soluciones más efectivas y mantenibles. Los </a:t>
            </a:r>
            <a:r>
              <a:rPr lang="es-ES" sz="2400" dirty="0" err="1"/>
              <a:t>antipatrones</a:t>
            </a:r>
            <a:r>
              <a:rPr lang="es-ES" sz="2400" dirty="0"/>
              <a:t> ayudan a mejorar la calidad del diseño al proporcionar ejemplos de lo que no se debe hacer y alentar a los desarrolladores a buscar alternativas más robustas.</a:t>
            </a:r>
            <a:endParaRPr lang="es-PE" sz="2400" dirty="0"/>
          </a:p>
        </p:txBody>
      </p:sp>
      <p:pic>
        <p:nvPicPr>
          <p:cNvPr id="3074" name="Picture 2" descr="➤ 3 Tipos de Antipatrón SCRUM que tu equipo debe evitar">
            <a:extLst>
              <a:ext uri="{FF2B5EF4-FFF2-40B4-BE49-F238E27FC236}">
                <a16:creationId xmlns:a16="http://schemas.microsoft.com/office/drawing/2014/main" id="{53B1E137-1F05-4F59-B077-3B815711BAB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31" t="8889" r="24931" b="8889"/>
          <a:stretch/>
        </p:blipFill>
        <p:spPr bwMode="auto">
          <a:xfrm>
            <a:off x="7391400" y="1567006"/>
            <a:ext cx="4147751" cy="403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4001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DC2D0BC8-5A6D-4550-8442-4B6A54D4D969}"/>
              </a:ext>
            </a:extLst>
          </p:cNvPr>
          <p:cNvSpPr txBox="1"/>
          <p:nvPr/>
        </p:nvSpPr>
        <p:spPr>
          <a:xfrm>
            <a:off x="609600" y="838200"/>
            <a:ext cx="1066800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200" b="1" i="0" dirty="0">
                <a:solidFill>
                  <a:srgbClr val="000000"/>
                </a:solidFill>
                <a:effectLst/>
                <a:latin typeface="Inter"/>
              </a:rPr>
              <a:t>Tipos de </a:t>
            </a:r>
            <a:r>
              <a:rPr lang="es-ES" sz="2200" b="1" i="0" dirty="0" err="1">
                <a:solidFill>
                  <a:srgbClr val="000000"/>
                </a:solidFill>
                <a:effectLst/>
                <a:latin typeface="Inter"/>
              </a:rPr>
              <a:t>antipatrones</a:t>
            </a:r>
            <a:r>
              <a:rPr lang="es-ES" sz="2200" b="1" i="0" dirty="0">
                <a:solidFill>
                  <a:srgbClr val="000000"/>
                </a:solidFill>
                <a:effectLst/>
                <a:latin typeface="Inter"/>
              </a:rPr>
              <a:t> de diseño</a:t>
            </a:r>
          </a:p>
          <a:p>
            <a:pPr algn="just"/>
            <a:r>
              <a:rPr lang="es-ES" sz="2200" b="0" i="0" dirty="0">
                <a:solidFill>
                  <a:srgbClr val="000000"/>
                </a:solidFill>
                <a:effectLst/>
                <a:latin typeface="Inter"/>
              </a:rPr>
              <a:t>Podemos encontrarnos con diferentes tipos de </a:t>
            </a:r>
            <a:r>
              <a:rPr lang="es-ES" sz="2200" b="0" i="0" dirty="0" err="1">
                <a:solidFill>
                  <a:srgbClr val="000000"/>
                </a:solidFill>
                <a:effectLst/>
                <a:latin typeface="Inter"/>
              </a:rPr>
              <a:t>antipatrones</a:t>
            </a:r>
            <a:r>
              <a:rPr lang="es-ES" sz="2200" b="0" i="0" dirty="0">
                <a:solidFill>
                  <a:srgbClr val="000000"/>
                </a:solidFill>
                <a:effectLst/>
                <a:latin typeface="Inter"/>
              </a:rPr>
              <a:t>:</a:t>
            </a:r>
          </a:p>
          <a:p>
            <a:pPr algn="just"/>
            <a:endParaRPr lang="es-ES" sz="2200" b="0" i="0" dirty="0">
              <a:solidFill>
                <a:srgbClr val="000000"/>
              </a:solidFill>
              <a:effectLst/>
              <a:latin typeface="Inter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200" b="1" i="0" dirty="0" err="1">
                <a:solidFill>
                  <a:srgbClr val="000000"/>
                </a:solidFill>
                <a:effectLst/>
                <a:latin typeface="Inter"/>
              </a:rPr>
              <a:t>Antipatrones</a:t>
            </a:r>
            <a:r>
              <a:rPr lang="es-ES" sz="2200" b="1" i="0" dirty="0">
                <a:solidFill>
                  <a:srgbClr val="000000"/>
                </a:solidFill>
                <a:effectLst/>
                <a:latin typeface="Inter"/>
              </a:rPr>
              <a:t> de diseño de software</a:t>
            </a:r>
            <a:r>
              <a:rPr lang="es-ES" sz="2200" b="0" i="0" dirty="0">
                <a:solidFill>
                  <a:srgbClr val="000000"/>
                </a:solidFill>
                <a:effectLst/>
                <a:latin typeface="Inter"/>
              </a:rPr>
              <a:t>, como podría ser generar una clase muy gorda, dotarla de demasiados atributos, demasiados métodos y haciéndola responsable de, por ejemplo, prácticamente toda la lógica del negocio de la aplicación que esté llevando.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200" b="1" i="0" dirty="0" err="1">
                <a:solidFill>
                  <a:srgbClr val="000000"/>
                </a:solidFill>
                <a:effectLst/>
                <a:latin typeface="Inter"/>
              </a:rPr>
              <a:t>Antipatrones</a:t>
            </a:r>
            <a:r>
              <a:rPr lang="es-ES" sz="2200" b="1" i="0" dirty="0">
                <a:solidFill>
                  <a:srgbClr val="000000"/>
                </a:solidFill>
                <a:effectLst/>
                <a:latin typeface="Inter"/>
              </a:rPr>
              <a:t> de diseño Orientado a Objetos</a:t>
            </a:r>
            <a:r>
              <a:rPr lang="es-ES" sz="2200" b="0" i="0" dirty="0">
                <a:solidFill>
                  <a:srgbClr val="000000"/>
                </a:solidFill>
                <a:effectLst/>
                <a:latin typeface="Inter"/>
              </a:rPr>
              <a:t>, como podría ser la </a:t>
            </a:r>
            <a:r>
              <a:rPr lang="es-ES" sz="2200" b="1" i="0" dirty="0" err="1">
                <a:solidFill>
                  <a:srgbClr val="000000"/>
                </a:solidFill>
                <a:effectLst/>
                <a:latin typeface="Inter"/>
              </a:rPr>
              <a:t>Singletonitis</a:t>
            </a:r>
            <a:r>
              <a:rPr lang="es-ES" sz="2200" b="0" i="0" dirty="0">
                <a:solidFill>
                  <a:srgbClr val="000000"/>
                </a:solidFill>
                <a:effectLst/>
                <a:latin typeface="Inter"/>
              </a:rPr>
              <a:t>, que es el abuso del patrón de diseño </a:t>
            </a:r>
            <a:r>
              <a:rPr lang="es-ES" sz="2200" b="0" i="0" dirty="0" err="1">
                <a:solidFill>
                  <a:srgbClr val="000000"/>
                </a:solidFill>
                <a:effectLst/>
                <a:latin typeface="Inter"/>
              </a:rPr>
              <a:t>Singleton</a:t>
            </a:r>
            <a:r>
              <a:rPr lang="es-ES" sz="2200" b="0" i="0" dirty="0">
                <a:solidFill>
                  <a:srgbClr val="000000"/>
                </a:solidFill>
                <a:effectLst/>
                <a:latin typeface="Inter"/>
              </a:rPr>
              <a:t>, y que se considera una mala práctica.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200" b="1" i="0" dirty="0" err="1">
                <a:solidFill>
                  <a:srgbClr val="000000"/>
                </a:solidFill>
                <a:effectLst/>
                <a:latin typeface="Inter"/>
              </a:rPr>
              <a:t>Antipatrones</a:t>
            </a:r>
            <a:r>
              <a:rPr lang="es-ES" sz="2200" b="1" i="0" dirty="0">
                <a:solidFill>
                  <a:srgbClr val="000000"/>
                </a:solidFill>
                <a:effectLst/>
                <a:latin typeface="Inter"/>
              </a:rPr>
              <a:t> de programación</a:t>
            </a:r>
            <a:r>
              <a:rPr lang="es-ES" sz="2200" b="0" i="0" dirty="0">
                <a:solidFill>
                  <a:srgbClr val="000000"/>
                </a:solidFill>
                <a:effectLst/>
                <a:latin typeface="Inter"/>
              </a:rPr>
              <a:t>, cómo podría ser el conocido código espagueti, que consiste en construir sistemas sin estructuras y difícilmente comprensibles.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200" b="1" i="0" dirty="0" err="1">
                <a:solidFill>
                  <a:srgbClr val="000000"/>
                </a:solidFill>
                <a:effectLst/>
                <a:latin typeface="Inter"/>
              </a:rPr>
              <a:t>Antipatrones</a:t>
            </a:r>
            <a:r>
              <a:rPr lang="es-ES" sz="2200" b="1" i="0" dirty="0">
                <a:solidFill>
                  <a:srgbClr val="000000"/>
                </a:solidFill>
                <a:effectLst/>
                <a:latin typeface="Inter"/>
              </a:rPr>
              <a:t> metodológicos</a:t>
            </a:r>
            <a:r>
              <a:rPr lang="es-ES" sz="2200" b="0" i="0" dirty="0">
                <a:solidFill>
                  <a:srgbClr val="000000"/>
                </a:solidFill>
                <a:effectLst/>
                <a:latin typeface="Inter"/>
              </a:rPr>
              <a:t>, como por ejemplo hacer programación de copiar pegar trozos de código en lugar de intentar hacer soluciones genéricas.</a:t>
            </a:r>
          </a:p>
          <a:p>
            <a:pPr algn="just"/>
            <a:r>
              <a:rPr lang="es-ES" sz="2200" b="0" i="0" dirty="0">
                <a:solidFill>
                  <a:srgbClr val="000000"/>
                </a:solidFill>
                <a:effectLst/>
                <a:latin typeface="Inter"/>
              </a:rPr>
              <a:t>Estos son solo algunos de los </a:t>
            </a:r>
            <a:r>
              <a:rPr lang="es-ES" sz="2200" b="0" i="0" dirty="0" err="1">
                <a:solidFill>
                  <a:srgbClr val="000000"/>
                </a:solidFill>
                <a:effectLst/>
                <a:latin typeface="Inter"/>
              </a:rPr>
              <a:t>antipatrones</a:t>
            </a:r>
            <a:r>
              <a:rPr lang="es-ES" sz="2200" b="0" i="0" dirty="0">
                <a:solidFill>
                  <a:srgbClr val="000000"/>
                </a:solidFill>
                <a:effectLst/>
                <a:latin typeface="Inter"/>
              </a:rPr>
              <a:t> que nos van a llevar a implementar malas soluciones.</a:t>
            </a:r>
          </a:p>
        </p:txBody>
      </p:sp>
    </p:spTree>
    <p:extLst>
      <p:ext uri="{BB962C8B-B14F-4D97-AF65-F5344CB8AC3E}">
        <p14:creationId xmlns:p14="http://schemas.microsoft.com/office/powerpoint/2010/main" val="29002511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4B727177-CD63-448F-86E2-C4B737A1688F}"/>
              </a:ext>
            </a:extLst>
          </p:cNvPr>
          <p:cNvSpPr txBox="1"/>
          <p:nvPr/>
        </p:nvSpPr>
        <p:spPr>
          <a:xfrm>
            <a:off x="2057400" y="1585032"/>
            <a:ext cx="8077200" cy="1890902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457834" marR="5080" indent="-445770" algn="ctr">
              <a:spcBef>
                <a:spcPts val="345"/>
              </a:spcBef>
            </a:pPr>
            <a:r>
              <a:rPr lang="es-ES" sz="4000" b="1" dirty="0"/>
              <a:t>¿Qué tipos de </a:t>
            </a:r>
            <a:r>
              <a:rPr lang="es-ES" sz="4000" b="1" dirty="0" err="1"/>
              <a:t>antipatrones</a:t>
            </a:r>
            <a:r>
              <a:rPr lang="es-ES" sz="4000" b="1" dirty="0"/>
              <a:t> de diseño no y ayuda en nuestro ámbito laboral entorno a sistemas?</a:t>
            </a:r>
            <a:endParaRPr sz="4000" b="1" dirty="0">
              <a:latin typeface="Arial"/>
              <a:cs typeface="Arial"/>
            </a:endParaRPr>
          </a:p>
        </p:txBody>
      </p:sp>
      <p:pic>
        <p:nvPicPr>
          <p:cNvPr id="5" name="object 3">
            <a:extLst>
              <a:ext uri="{FF2B5EF4-FFF2-40B4-BE49-F238E27FC236}">
                <a16:creationId xmlns:a16="http://schemas.microsoft.com/office/drawing/2014/main" id="{4461D143-19CF-4D8B-9B32-64AE4A532D8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34000" y="4343400"/>
            <a:ext cx="15240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93772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57F51D78-0EC8-4A7E-A2CF-BF2507CD1972}"/>
              </a:ext>
            </a:extLst>
          </p:cNvPr>
          <p:cNvSpPr txBox="1"/>
          <p:nvPr/>
        </p:nvSpPr>
        <p:spPr>
          <a:xfrm>
            <a:off x="533400" y="609600"/>
            <a:ext cx="8534400" cy="966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PE" sz="2800" b="1" dirty="0" err="1">
                <a:latin typeface="Arial"/>
                <a:cs typeface="Arial"/>
              </a:rPr>
              <a:t>Antipatrones</a:t>
            </a:r>
            <a:r>
              <a:rPr lang="es-PE" sz="2800" b="1" dirty="0">
                <a:latin typeface="Arial"/>
                <a:cs typeface="Arial"/>
              </a:rPr>
              <a:t>: </a:t>
            </a:r>
          </a:p>
          <a:p>
            <a:pPr marL="469900" indent="-457200">
              <a:lnSpc>
                <a:spcPct val="100000"/>
              </a:lnSpc>
              <a:spcBef>
                <a:spcPts val="100"/>
              </a:spcBef>
              <a:buFontTx/>
              <a:buChar char="-"/>
            </a:pPr>
            <a:r>
              <a:rPr lang="es-ES" sz="2800" dirty="0" err="1">
                <a:latin typeface="Arial"/>
                <a:cs typeface="Arial"/>
              </a:rPr>
              <a:t>Antipatrones</a:t>
            </a:r>
            <a:r>
              <a:rPr lang="es-ES" sz="2800" dirty="0">
                <a:latin typeface="Arial"/>
                <a:cs typeface="Arial"/>
              </a:rPr>
              <a:t> de desarrollo de software</a:t>
            </a:r>
            <a:endParaRPr lang="es-PE" sz="2800" dirty="0">
              <a:latin typeface="Arial"/>
              <a:cs typeface="Arial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8E50626-7F9F-4C5F-97AE-AC61D4B35B99}"/>
              </a:ext>
            </a:extLst>
          </p:cNvPr>
          <p:cNvSpPr txBox="1"/>
          <p:nvPr/>
        </p:nvSpPr>
        <p:spPr>
          <a:xfrm>
            <a:off x="914400" y="1605106"/>
            <a:ext cx="609600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400" b="1" dirty="0"/>
              <a:t>1. Big Ball </a:t>
            </a:r>
            <a:r>
              <a:rPr lang="es-ES" sz="2400" b="1" dirty="0" err="1"/>
              <a:t>of</a:t>
            </a:r>
            <a:r>
              <a:rPr lang="es-ES" sz="2400" b="1" dirty="0"/>
              <a:t> </a:t>
            </a:r>
            <a:r>
              <a:rPr lang="es-ES" sz="2400" b="1" dirty="0" err="1"/>
              <a:t>Mud</a:t>
            </a:r>
            <a:r>
              <a:rPr lang="es-ES" sz="2400" b="1" dirty="0"/>
              <a:t> (Bola de Barro Gigante):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400" b="1" dirty="0"/>
              <a:t>Descripción:</a:t>
            </a:r>
            <a:r>
              <a:rPr lang="es-ES" sz="2400" dirty="0"/>
              <a:t> Un sistema de software sin una estructura clara y con un diseño caótico y desorganizado. Todo está entrelazado de manera desordenada.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400" b="1" dirty="0"/>
              <a:t>Problema:</a:t>
            </a:r>
            <a:r>
              <a:rPr lang="es-ES" sz="2400" dirty="0"/>
              <a:t> La falta de una arquitectura coherente hace que el sistema sea difícil de mantener, entender y extender.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400" b="1" dirty="0"/>
              <a:t>Solución Alternativa:</a:t>
            </a:r>
            <a:r>
              <a:rPr lang="es-ES" sz="2400" dirty="0"/>
              <a:t> Adoptar una arquitectura bien definida, aplicar principios de diseño modular y utilizar patrones de diseño para organizar el sistema de manera estructurada.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2F94DC3A-54F9-4E58-B122-E1CC368767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1400" y="2590800"/>
            <a:ext cx="4010025" cy="220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44981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57F51D78-0EC8-4A7E-A2CF-BF2507CD1972}"/>
              </a:ext>
            </a:extLst>
          </p:cNvPr>
          <p:cNvSpPr txBox="1"/>
          <p:nvPr/>
        </p:nvSpPr>
        <p:spPr>
          <a:xfrm>
            <a:off x="533400" y="609600"/>
            <a:ext cx="8534400" cy="966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PE" sz="2800" b="1" dirty="0" err="1">
                <a:latin typeface="Arial"/>
                <a:cs typeface="Arial"/>
              </a:rPr>
              <a:t>Antipatrones</a:t>
            </a:r>
            <a:r>
              <a:rPr lang="es-PE" sz="2800" b="1" dirty="0">
                <a:latin typeface="Arial"/>
                <a:cs typeface="Arial"/>
              </a:rPr>
              <a:t>: </a:t>
            </a:r>
          </a:p>
          <a:p>
            <a:pPr marL="469900" indent="-457200">
              <a:lnSpc>
                <a:spcPct val="100000"/>
              </a:lnSpc>
              <a:spcBef>
                <a:spcPts val="100"/>
              </a:spcBef>
              <a:buFontTx/>
              <a:buChar char="-"/>
            </a:pPr>
            <a:r>
              <a:rPr lang="es-ES" sz="2800" dirty="0" err="1">
                <a:latin typeface="Arial"/>
                <a:cs typeface="Arial"/>
              </a:rPr>
              <a:t>Antipatrones</a:t>
            </a:r>
            <a:r>
              <a:rPr lang="es-ES" sz="2800" dirty="0">
                <a:latin typeface="Arial"/>
                <a:cs typeface="Arial"/>
              </a:rPr>
              <a:t> de desarrollo de software</a:t>
            </a:r>
            <a:endParaRPr lang="es-PE" sz="2800" dirty="0">
              <a:latin typeface="Arial"/>
              <a:cs typeface="Arial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8E50626-7F9F-4C5F-97AE-AC61D4B35B99}"/>
              </a:ext>
            </a:extLst>
          </p:cNvPr>
          <p:cNvSpPr txBox="1"/>
          <p:nvPr/>
        </p:nvSpPr>
        <p:spPr>
          <a:xfrm>
            <a:off x="914400" y="1605106"/>
            <a:ext cx="60960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400" b="1" dirty="0"/>
              <a:t>2. </a:t>
            </a:r>
            <a:r>
              <a:rPr lang="es-ES" sz="2400" b="1" dirty="0" err="1"/>
              <a:t>Shotgun</a:t>
            </a:r>
            <a:r>
              <a:rPr lang="es-ES" sz="2400" b="1" dirty="0"/>
              <a:t> </a:t>
            </a:r>
            <a:r>
              <a:rPr lang="es-ES" sz="2400" b="1" dirty="0" err="1"/>
              <a:t>Surgery</a:t>
            </a:r>
            <a:r>
              <a:rPr lang="es-ES" sz="2400" b="1" dirty="0"/>
              <a:t> (Cirugía con Escopeta):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400" b="1" dirty="0"/>
              <a:t>Descripción:</a:t>
            </a:r>
            <a:r>
              <a:rPr lang="es-ES" sz="2400" dirty="0"/>
              <a:t> Un cambio en el software requiere modificaciones dispersas y descoordinadas en varias partes del sistema.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400" b="1" dirty="0"/>
              <a:t>Problema:</a:t>
            </a:r>
            <a:r>
              <a:rPr lang="es-ES" sz="2400" dirty="0"/>
              <a:t> La falta de cohesión entre los componentes hace que los cambios sean difíciles y propensos a errores.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400" b="1" dirty="0"/>
              <a:t>Solución Alternativa:</a:t>
            </a:r>
            <a:r>
              <a:rPr lang="es-ES" sz="2400" dirty="0"/>
              <a:t> Aplicar principios de cohesión y acoplamiento para agrupar responsabilidades relacionadas y minimizar el impacto de los cambios.</a:t>
            </a:r>
          </a:p>
        </p:txBody>
      </p:sp>
      <p:pic>
        <p:nvPicPr>
          <p:cNvPr id="6146" name="Picture 2" descr="Shotgun Surgery">
            <a:extLst>
              <a:ext uri="{FF2B5EF4-FFF2-40B4-BE49-F238E27FC236}">
                <a16:creationId xmlns:a16="http://schemas.microsoft.com/office/drawing/2014/main" id="{F3067D89-C23B-4B22-94DB-2281926A47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0" y="2133600"/>
            <a:ext cx="4318000" cy="259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94536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57F51D78-0EC8-4A7E-A2CF-BF2507CD1972}"/>
              </a:ext>
            </a:extLst>
          </p:cNvPr>
          <p:cNvSpPr txBox="1"/>
          <p:nvPr/>
        </p:nvSpPr>
        <p:spPr>
          <a:xfrm>
            <a:off x="533400" y="609600"/>
            <a:ext cx="8534400" cy="966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PE" sz="2800" b="1" dirty="0" err="1">
                <a:latin typeface="Arial"/>
                <a:cs typeface="Arial"/>
              </a:rPr>
              <a:t>Antipatrones</a:t>
            </a:r>
            <a:r>
              <a:rPr lang="es-PE" sz="2800" b="1" dirty="0">
                <a:latin typeface="Arial"/>
                <a:cs typeface="Arial"/>
              </a:rPr>
              <a:t>: </a:t>
            </a:r>
          </a:p>
          <a:p>
            <a:pPr marL="469900" indent="-457200">
              <a:lnSpc>
                <a:spcPct val="100000"/>
              </a:lnSpc>
              <a:spcBef>
                <a:spcPts val="100"/>
              </a:spcBef>
              <a:buFontTx/>
              <a:buChar char="-"/>
            </a:pPr>
            <a:r>
              <a:rPr lang="es-ES" sz="2800" dirty="0" err="1">
                <a:latin typeface="Arial"/>
                <a:cs typeface="Arial"/>
              </a:rPr>
              <a:t>Antipatrones</a:t>
            </a:r>
            <a:r>
              <a:rPr lang="es-ES" sz="2800" dirty="0">
                <a:latin typeface="Arial"/>
                <a:cs typeface="Arial"/>
              </a:rPr>
              <a:t> de desarrollo de software</a:t>
            </a:r>
            <a:endParaRPr lang="es-PE" sz="2800" dirty="0">
              <a:latin typeface="Arial"/>
              <a:cs typeface="Arial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8E50626-7F9F-4C5F-97AE-AC61D4B35B99}"/>
              </a:ext>
            </a:extLst>
          </p:cNvPr>
          <p:cNvSpPr txBox="1"/>
          <p:nvPr/>
        </p:nvSpPr>
        <p:spPr>
          <a:xfrm>
            <a:off x="914400" y="1605106"/>
            <a:ext cx="609600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400" b="1" dirty="0"/>
              <a:t>3. </a:t>
            </a:r>
            <a:r>
              <a:rPr lang="es-ES" sz="2400" b="1" dirty="0" err="1"/>
              <a:t>Vendor</a:t>
            </a:r>
            <a:r>
              <a:rPr lang="es-ES" sz="2400" b="1" dirty="0"/>
              <a:t> </a:t>
            </a:r>
            <a:r>
              <a:rPr lang="es-ES" sz="2400" b="1" dirty="0" err="1"/>
              <a:t>Lock</a:t>
            </a:r>
            <a:r>
              <a:rPr lang="es-ES" sz="2400" b="1" dirty="0"/>
              <a:t>-In (Dependencia del Proveedor):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400" b="1" dirty="0"/>
              <a:t>Descripción:</a:t>
            </a:r>
            <a:r>
              <a:rPr lang="es-ES" sz="2400" dirty="0"/>
              <a:t> Dependencia excesiva de una tecnología, herramienta o proveedor específico, lo que dificulta el cambio a alternativas.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400" b="1" dirty="0"/>
              <a:t>Problema:</a:t>
            </a:r>
            <a:r>
              <a:rPr lang="es-ES" sz="2400" dirty="0"/>
              <a:t> Limita la flexibilidad y la capacidad de adaptación del sistema a nuevas tecnologías o a cambios en el mercado.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400" b="1" dirty="0"/>
              <a:t>Solución Alternativa:</a:t>
            </a:r>
            <a:r>
              <a:rPr lang="es-ES" sz="2400" dirty="0"/>
              <a:t> Utilizar estándares abiertos, interfaces bien definidas y prácticas de diseño que permitan la interoperabilidad y la flexibilidad.</a:t>
            </a:r>
          </a:p>
        </p:txBody>
      </p:sp>
      <p:pic>
        <p:nvPicPr>
          <p:cNvPr id="7170" name="Picture 2" descr="Let Me Outta Here! Avoiding Vendor Lock-In with Cloud-Based Software">
            <a:extLst>
              <a:ext uri="{FF2B5EF4-FFF2-40B4-BE49-F238E27FC236}">
                <a16:creationId xmlns:a16="http://schemas.microsoft.com/office/drawing/2014/main" id="{79E53BC2-6401-4872-BA09-2E1985539E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600" y="1605106"/>
            <a:ext cx="3810000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05681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57F51D78-0EC8-4A7E-A2CF-BF2507CD1972}"/>
              </a:ext>
            </a:extLst>
          </p:cNvPr>
          <p:cNvSpPr txBox="1"/>
          <p:nvPr/>
        </p:nvSpPr>
        <p:spPr>
          <a:xfrm>
            <a:off x="533400" y="609600"/>
            <a:ext cx="8534400" cy="966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PE" sz="2800" b="1" dirty="0" err="1">
                <a:latin typeface="Arial"/>
                <a:cs typeface="Arial"/>
              </a:rPr>
              <a:t>Antipatrones</a:t>
            </a:r>
            <a:r>
              <a:rPr lang="es-PE" sz="2800" b="1" dirty="0">
                <a:latin typeface="Arial"/>
                <a:cs typeface="Arial"/>
              </a:rPr>
              <a:t>: </a:t>
            </a:r>
          </a:p>
          <a:p>
            <a:pPr marL="469900" indent="-457200">
              <a:lnSpc>
                <a:spcPct val="100000"/>
              </a:lnSpc>
              <a:spcBef>
                <a:spcPts val="100"/>
              </a:spcBef>
              <a:buFontTx/>
              <a:buChar char="-"/>
            </a:pPr>
            <a:r>
              <a:rPr lang="es-ES" sz="2800" dirty="0" err="1">
                <a:latin typeface="Arial"/>
                <a:cs typeface="Arial"/>
              </a:rPr>
              <a:t>Antipatrones</a:t>
            </a:r>
            <a:r>
              <a:rPr lang="es-ES" sz="2800" dirty="0">
                <a:latin typeface="Arial"/>
                <a:cs typeface="Arial"/>
              </a:rPr>
              <a:t> de desarrollo de software</a:t>
            </a:r>
            <a:endParaRPr lang="es-PE" sz="2800" dirty="0">
              <a:latin typeface="Arial"/>
              <a:cs typeface="Arial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8E50626-7F9F-4C5F-97AE-AC61D4B35B99}"/>
              </a:ext>
            </a:extLst>
          </p:cNvPr>
          <p:cNvSpPr txBox="1"/>
          <p:nvPr/>
        </p:nvSpPr>
        <p:spPr>
          <a:xfrm>
            <a:off x="914400" y="1605106"/>
            <a:ext cx="60960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400" b="1" dirty="0"/>
              <a:t>4. </a:t>
            </a:r>
            <a:r>
              <a:rPr lang="es-ES" sz="2400" b="1" dirty="0" err="1"/>
              <a:t>Not</a:t>
            </a:r>
            <a:r>
              <a:rPr lang="es-ES" sz="2400" b="1" dirty="0"/>
              <a:t> </a:t>
            </a:r>
            <a:r>
              <a:rPr lang="es-ES" sz="2400" b="1" dirty="0" err="1"/>
              <a:t>Invented</a:t>
            </a:r>
            <a:r>
              <a:rPr lang="es-ES" sz="2400" b="1" dirty="0"/>
              <a:t> Here (No Inventado Aquí):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400" b="1" dirty="0"/>
              <a:t>Descripción:</a:t>
            </a:r>
            <a:r>
              <a:rPr lang="es-ES" sz="2400" dirty="0"/>
              <a:t> Rechazar o evitar el uso de soluciones o herramientas existentes en favor de desarrollar soluciones propias, incluso cuando hay opciones probadas disponibles.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400" b="1" dirty="0"/>
              <a:t>Problema:</a:t>
            </a:r>
            <a:r>
              <a:rPr lang="es-ES" sz="2400" dirty="0"/>
              <a:t> Puede resultar en una duplicación innecesaria de esfuerzo y en soluciones menos robustas que las ya existentes.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400" b="1" dirty="0"/>
              <a:t>Solución Alternativa:</a:t>
            </a:r>
            <a:r>
              <a:rPr lang="es-ES" sz="2400" dirty="0"/>
              <a:t> Evaluar y considerar el uso de soluciones y herramientas probadas antes de desarrollar nuevas.</a:t>
            </a:r>
          </a:p>
        </p:txBody>
      </p:sp>
      <p:pic>
        <p:nvPicPr>
          <p:cNvPr id="8194" name="Picture 2" descr="Not-Invented-Here (NIH) Syndrome – Atlas of Public Management">
            <a:extLst>
              <a:ext uri="{FF2B5EF4-FFF2-40B4-BE49-F238E27FC236}">
                <a16:creationId xmlns:a16="http://schemas.microsoft.com/office/drawing/2014/main" id="{75C93CEF-3567-4A23-8ECF-E40BBA34AA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00" y="2057400"/>
            <a:ext cx="3057525" cy="3084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27253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57F51D78-0EC8-4A7E-A2CF-BF2507CD1972}"/>
              </a:ext>
            </a:extLst>
          </p:cNvPr>
          <p:cNvSpPr txBox="1"/>
          <p:nvPr/>
        </p:nvSpPr>
        <p:spPr>
          <a:xfrm>
            <a:off x="533400" y="609600"/>
            <a:ext cx="8534400" cy="966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PE" sz="2800" b="1" dirty="0" err="1">
                <a:latin typeface="Arial"/>
                <a:cs typeface="Arial"/>
              </a:rPr>
              <a:t>Antipatrones</a:t>
            </a:r>
            <a:r>
              <a:rPr lang="es-PE" sz="2800" b="1" dirty="0">
                <a:latin typeface="Arial"/>
                <a:cs typeface="Arial"/>
              </a:rPr>
              <a:t>: </a:t>
            </a:r>
          </a:p>
          <a:p>
            <a:pPr marL="469900" indent="-457200">
              <a:lnSpc>
                <a:spcPct val="100000"/>
              </a:lnSpc>
              <a:spcBef>
                <a:spcPts val="100"/>
              </a:spcBef>
              <a:buFontTx/>
              <a:buChar char="-"/>
            </a:pPr>
            <a:r>
              <a:rPr lang="es-ES" sz="2800" dirty="0" err="1">
                <a:latin typeface="Arial"/>
                <a:cs typeface="Arial"/>
              </a:rPr>
              <a:t>Antipatrones</a:t>
            </a:r>
            <a:r>
              <a:rPr lang="es-ES" sz="2800" dirty="0">
                <a:latin typeface="Arial"/>
                <a:cs typeface="Arial"/>
              </a:rPr>
              <a:t> de desarrollo de software</a:t>
            </a:r>
            <a:endParaRPr lang="es-PE" sz="2800" dirty="0">
              <a:latin typeface="Arial"/>
              <a:cs typeface="Arial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8E50626-7F9F-4C5F-97AE-AC61D4B35B99}"/>
              </a:ext>
            </a:extLst>
          </p:cNvPr>
          <p:cNvSpPr txBox="1"/>
          <p:nvPr/>
        </p:nvSpPr>
        <p:spPr>
          <a:xfrm>
            <a:off x="914400" y="1605106"/>
            <a:ext cx="60960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400" b="1" dirty="0"/>
              <a:t>5. </a:t>
            </a:r>
            <a:r>
              <a:rPr lang="es-ES" sz="2400" b="1" dirty="0" err="1"/>
              <a:t>Overengineering</a:t>
            </a:r>
            <a:r>
              <a:rPr lang="es-ES" sz="2400" b="1" dirty="0"/>
              <a:t> (</a:t>
            </a:r>
            <a:r>
              <a:rPr lang="es-ES" sz="2400" b="1" dirty="0" err="1"/>
              <a:t>Sobreingeniería</a:t>
            </a:r>
            <a:r>
              <a:rPr lang="es-ES" sz="2400" b="1" dirty="0"/>
              <a:t>):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400" b="1" dirty="0"/>
              <a:t>Descripción:</a:t>
            </a:r>
            <a:r>
              <a:rPr lang="es-ES" sz="2400" dirty="0"/>
              <a:t> Desarrollar un sistema con características y complejidades innecesarias que no se requieren para cumplir con los requisitos actuales.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400" b="1" dirty="0"/>
              <a:t>Problema:</a:t>
            </a:r>
            <a:r>
              <a:rPr lang="es-ES" sz="2400" dirty="0"/>
              <a:t> Aumenta la complejidad, el costo y el tiempo de desarrollo sin proporcionar un valor adicional.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400" b="1" dirty="0"/>
              <a:t>Solución Alternativa:</a:t>
            </a:r>
            <a:r>
              <a:rPr lang="es-ES" sz="2400" dirty="0"/>
              <a:t> Aplicar el principio de </a:t>
            </a:r>
            <a:r>
              <a:rPr lang="es-ES" sz="2400" dirty="0" err="1"/>
              <a:t>YAGNI</a:t>
            </a:r>
            <a:r>
              <a:rPr lang="es-ES" sz="2400" dirty="0"/>
              <a:t> (</a:t>
            </a:r>
            <a:r>
              <a:rPr lang="es-ES" sz="2400" dirty="0" err="1"/>
              <a:t>You</a:t>
            </a:r>
            <a:r>
              <a:rPr lang="es-ES" sz="2400" dirty="0"/>
              <a:t> </a:t>
            </a:r>
            <a:r>
              <a:rPr lang="es-ES" sz="2400" dirty="0" err="1"/>
              <a:t>Aren't</a:t>
            </a:r>
            <a:r>
              <a:rPr lang="es-ES" sz="2400" dirty="0"/>
              <a:t> </a:t>
            </a:r>
            <a:r>
              <a:rPr lang="es-ES" sz="2400" dirty="0" err="1"/>
              <a:t>Gonna</a:t>
            </a:r>
            <a:r>
              <a:rPr lang="es-ES" sz="2400" dirty="0"/>
              <a:t> </a:t>
            </a:r>
            <a:r>
              <a:rPr lang="es-ES" sz="2400" dirty="0" err="1"/>
              <a:t>Need</a:t>
            </a:r>
            <a:r>
              <a:rPr lang="es-ES" sz="2400" dirty="0"/>
              <a:t> </a:t>
            </a:r>
            <a:r>
              <a:rPr lang="es-ES" sz="2400" dirty="0" err="1"/>
              <a:t>It</a:t>
            </a:r>
            <a:r>
              <a:rPr lang="es-ES" sz="2400" dirty="0"/>
              <a:t>) y enfocarse en cumplir con los requisitos actuales de manera simple y efectiva.</a:t>
            </a:r>
          </a:p>
        </p:txBody>
      </p:sp>
      <p:pic>
        <p:nvPicPr>
          <p:cNvPr id="9218" name="Picture 2" descr="Overengineering und wie du es vermeidest | Einstein1">
            <a:extLst>
              <a:ext uri="{FF2B5EF4-FFF2-40B4-BE49-F238E27FC236}">
                <a16:creationId xmlns:a16="http://schemas.microsoft.com/office/drawing/2014/main" id="{0EC82A81-F1D3-42F5-8F9D-FA5C555652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1920" y="2743200"/>
            <a:ext cx="3625680" cy="1976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81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57F51D78-0EC8-4A7E-A2CF-BF2507CD1972}"/>
              </a:ext>
            </a:extLst>
          </p:cNvPr>
          <p:cNvSpPr txBox="1"/>
          <p:nvPr/>
        </p:nvSpPr>
        <p:spPr>
          <a:xfrm>
            <a:off x="533400" y="609600"/>
            <a:ext cx="8534400" cy="966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PE" sz="2800" b="1" dirty="0" err="1">
                <a:latin typeface="Arial"/>
                <a:cs typeface="Arial"/>
              </a:rPr>
              <a:t>Antipatrones</a:t>
            </a:r>
            <a:r>
              <a:rPr lang="es-PE" sz="2800" b="1" dirty="0">
                <a:latin typeface="Arial"/>
                <a:cs typeface="Arial"/>
              </a:rPr>
              <a:t>: </a:t>
            </a:r>
          </a:p>
          <a:p>
            <a:pPr marL="469900" indent="-457200">
              <a:lnSpc>
                <a:spcPct val="100000"/>
              </a:lnSpc>
              <a:spcBef>
                <a:spcPts val="100"/>
              </a:spcBef>
              <a:buFontTx/>
              <a:buChar char="-"/>
            </a:pPr>
            <a:r>
              <a:rPr lang="es-ES" sz="2800" dirty="0" err="1">
                <a:latin typeface="Arial"/>
                <a:cs typeface="Arial"/>
              </a:rPr>
              <a:t>Antipatrones</a:t>
            </a:r>
            <a:r>
              <a:rPr lang="es-ES" sz="2800" dirty="0">
                <a:latin typeface="Arial"/>
                <a:cs typeface="Arial"/>
              </a:rPr>
              <a:t> de desarrollo de software</a:t>
            </a:r>
            <a:endParaRPr lang="es-PE" sz="2800" dirty="0">
              <a:latin typeface="Arial"/>
              <a:cs typeface="Arial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8E50626-7F9F-4C5F-97AE-AC61D4B35B99}"/>
              </a:ext>
            </a:extLst>
          </p:cNvPr>
          <p:cNvSpPr txBox="1"/>
          <p:nvPr/>
        </p:nvSpPr>
        <p:spPr>
          <a:xfrm>
            <a:off x="914400" y="1605106"/>
            <a:ext cx="60960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400" b="1" dirty="0"/>
              <a:t>6. Lava Flow (Flujo de Lava):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400" b="1" dirty="0"/>
              <a:t>Descripción:</a:t>
            </a:r>
            <a:r>
              <a:rPr lang="es-ES" sz="2400" dirty="0"/>
              <a:t> Código o componentes antiguos que han sido modificados y acumulados con el tiempo, pero no se han eliminado ni refactorizado adecuadamente.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400" b="1" dirty="0"/>
              <a:t>Problema:</a:t>
            </a:r>
            <a:r>
              <a:rPr lang="es-ES" sz="2400" dirty="0"/>
              <a:t> La presencia de código obsoleto o no utilizado puede dificultar la comprensión del sistema y el mantenimiento.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400" b="1" dirty="0"/>
              <a:t>Solución Alternativa:</a:t>
            </a:r>
            <a:r>
              <a:rPr lang="es-ES" sz="2400" dirty="0"/>
              <a:t> Realizar limpiezas y refactorizaciones periódicas del código, eliminando componentes y código que ya no son necesarios.</a:t>
            </a:r>
          </a:p>
        </p:txBody>
      </p:sp>
    </p:spTree>
    <p:extLst>
      <p:ext uri="{BB962C8B-B14F-4D97-AF65-F5344CB8AC3E}">
        <p14:creationId xmlns:p14="http://schemas.microsoft.com/office/powerpoint/2010/main" val="18596727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57F51D78-0EC8-4A7E-A2CF-BF2507CD1972}"/>
              </a:ext>
            </a:extLst>
          </p:cNvPr>
          <p:cNvSpPr txBox="1"/>
          <p:nvPr/>
        </p:nvSpPr>
        <p:spPr>
          <a:xfrm>
            <a:off x="533400" y="609600"/>
            <a:ext cx="8534400" cy="966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PE" sz="2800" b="1" dirty="0" err="1">
                <a:latin typeface="Arial"/>
                <a:cs typeface="Arial"/>
              </a:rPr>
              <a:t>Antipatrones</a:t>
            </a:r>
            <a:r>
              <a:rPr lang="es-PE" sz="2800" b="1" dirty="0">
                <a:latin typeface="Arial"/>
                <a:cs typeface="Arial"/>
              </a:rPr>
              <a:t>: </a:t>
            </a:r>
          </a:p>
          <a:p>
            <a:pPr marL="469900" indent="-457200">
              <a:lnSpc>
                <a:spcPct val="100000"/>
              </a:lnSpc>
              <a:spcBef>
                <a:spcPts val="100"/>
              </a:spcBef>
              <a:buFontTx/>
              <a:buChar char="-"/>
            </a:pPr>
            <a:r>
              <a:rPr lang="es-ES" sz="2800" dirty="0" err="1">
                <a:latin typeface="Arial"/>
                <a:cs typeface="Arial"/>
              </a:rPr>
              <a:t>Antipatrones</a:t>
            </a:r>
            <a:r>
              <a:rPr lang="es-ES" sz="2800" dirty="0">
                <a:latin typeface="Arial"/>
                <a:cs typeface="Arial"/>
              </a:rPr>
              <a:t> de desarrollo de software</a:t>
            </a:r>
            <a:endParaRPr lang="es-PE" sz="2800" dirty="0">
              <a:latin typeface="Arial"/>
              <a:cs typeface="Arial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8E50626-7F9F-4C5F-97AE-AC61D4B35B99}"/>
              </a:ext>
            </a:extLst>
          </p:cNvPr>
          <p:cNvSpPr txBox="1"/>
          <p:nvPr/>
        </p:nvSpPr>
        <p:spPr>
          <a:xfrm>
            <a:off x="914400" y="1605106"/>
            <a:ext cx="60960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400" b="1" dirty="0"/>
              <a:t>7. Magic </a:t>
            </a:r>
            <a:r>
              <a:rPr lang="es-ES" sz="2400" b="1" dirty="0" err="1"/>
              <a:t>Numbers</a:t>
            </a:r>
            <a:r>
              <a:rPr lang="es-ES" sz="2400" b="1" dirty="0"/>
              <a:t> (Números Mágicos):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400" b="1" dirty="0"/>
              <a:t>Descripción:</a:t>
            </a:r>
            <a:r>
              <a:rPr lang="es-ES" sz="2400" dirty="0"/>
              <a:t> Uso de valores literales en el código en lugar de utilizar constantes o variables con nombres descriptivos.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400" b="1" dirty="0"/>
              <a:t>Problema:</a:t>
            </a:r>
            <a:r>
              <a:rPr lang="es-ES" sz="2400" dirty="0"/>
              <a:t> Los números mágicos son difíciles de entender y mantener, y pueden llevar a errores si los valores cambian.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400" b="1" dirty="0"/>
              <a:t>Solución Alternativa:</a:t>
            </a:r>
            <a:r>
              <a:rPr lang="es-ES" sz="2400" dirty="0"/>
              <a:t> Definir constantes con nombres descriptivos para representar valores significativos.</a:t>
            </a:r>
          </a:p>
        </p:txBody>
      </p:sp>
    </p:spTree>
    <p:extLst>
      <p:ext uri="{BB962C8B-B14F-4D97-AF65-F5344CB8AC3E}">
        <p14:creationId xmlns:p14="http://schemas.microsoft.com/office/powerpoint/2010/main" val="24540077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57F51D78-0EC8-4A7E-A2CF-BF2507CD1972}"/>
              </a:ext>
            </a:extLst>
          </p:cNvPr>
          <p:cNvSpPr txBox="1"/>
          <p:nvPr/>
        </p:nvSpPr>
        <p:spPr>
          <a:xfrm>
            <a:off x="533400" y="609600"/>
            <a:ext cx="8534400" cy="966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PE" sz="2800" b="1" dirty="0" err="1">
                <a:latin typeface="Arial"/>
                <a:cs typeface="Arial"/>
              </a:rPr>
              <a:t>Antipatrones</a:t>
            </a:r>
            <a:r>
              <a:rPr lang="es-PE" sz="2800" b="1" dirty="0">
                <a:latin typeface="Arial"/>
                <a:cs typeface="Arial"/>
              </a:rPr>
              <a:t>: </a:t>
            </a:r>
          </a:p>
          <a:p>
            <a:pPr marL="469900" indent="-457200">
              <a:lnSpc>
                <a:spcPct val="100000"/>
              </a:lnSpc>
              <a:spcBef>
                <a:spcPts val="100"/>
              </a:spcBef>
              <a:buFontTx/>
              <a:buChar char="-"/>
            </a:pPr>
            <a:r>
              <a:rPr lang="es-ES" sz="2800" dirty="0" err="1">
                <a:latin typeface="Arial"/>
                <a:cs typeface="Arial"/>
              </a:rPr>
              <a:t>Antipatrones</a:t>
            </a:r>
            <a:r>
              <a:rPr lang="es-ES" sz="2800" dirty="0">
                <a:latin typeface="Arial"/>
                <a:cs typeface="Arial"/>
              </a:rPr>
              <a:t> de desarrollo de software</a:t>
            </a:r>
            <a:endParaRPr lang="es-PE" sz="2800" dirty="0">
              <a:latin typeface="Arial"/>
              <a:cs typeface="Arial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8E50626-7F9F-4C5F-97AE-AC61D4B35B99}"/>
              </a:ext>
            </a:extLst>
          </p:cNvPr>
          <p:cNvSpPr txBox="1"/>
          <p:nvPr/>
        </p:nvSpPr>
        <p:spPr>
          <a:xfrm>
            <a:off x="914400" y="1605106"/>
            <a:ext cx="60960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400" b="1" dirty="0"/>
              <a:t>8. Golden </a:t>
            </a:r>
            <a:r>
              <a:rPr lang="es-ES" sz="2400" b="1" dirty="0" err="1"/>
              <a:t>Hammer</a:t>
            </a:r>
            <a:r>
              <a:rPr lang="es-ES" sz="2400" b="1" dirty="0"/>
              <a:t> (Martillo de Oro):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400" b="1" dirty="0"/>
              <a:t>Descripción:</a:t>
            </a:r>
            <a:r>
              <a:rPr lang="es-ES" sz="2400" dirty="0"/>
              <a:t> Uso excesivo de una herramienta, tecnología o técnica para resolver todos los problemas, sin considerar si es la solución más adecuada.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400" b="1" dirty="0"/>
              <a:t>Problema:</a:t>
            </a:r>
            <a:r>
              <a:rPr lang="es-ES" sz="2400" dirty="0"/>
              <a:t> Puede resultar en soluciones inadecuadas y en una mala utilización de los recursos.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400" b="1" dirty="0"/>
              <a:t>Solución Alternativa:</a:t>
            </a:r>
            <a:r>
              <a:rPr lang="es-ES" sz="2400" dirty="0"/>
              <a:t> Evaluar y seleccionar la herramienta o tecnología más adecuada para cada problema específico, basándose en los requisitos y contexto.</a:t>
            </a:r>
          </a:p>
        </p:txBody>
      </p:sp>
    </p:spTree>
    <p:extLst>
      <p:ext uri="{BB962C8B-B14F-4D97-AF65-F5344CB8AC3E}">
        <p14:creationId xmlns:p14="http://schemas.microsoft.com/office/powerpoint/2010/main" val="24475278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4B727177-CD63-448F-86E2-C4B737A1688F}"/>
              </a:ext>
            </a:extLst>
          </p:cNvPr>
          <p:cNvSpPr txBox="1"/>
          <p:nvPr/>
        </p:nvSpPr>
        <p:spPr>
          <a:xfrm>
            <a:off x="1047750" y="1261372"/>
            <a:ext cx="10096500" cy="2506455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457834" marR="5080" indent="-445770" algn="ctr">
              <a:spcBef>
                <a:spcPts val="345"/>
              </a:spcBef>
            </a:pPr>
            <a:r>
              <a:rPr lang="es-ES" sz="4000" b="1" dirty="0"/>
              <a:t>¿Qué situaciones en la vida diaria pueden ayudar a los </a:t>
            </a:r>
            <a:r>
              <a:rPr lang="es-ES" sz="4000" b="1" dirty="0" err="1"/>
              <a:t>antipatrones</a:t>
            </a:r>
            <a:r>
              <a:rPr lang="es-ES" sz="4000" b="1" dirty="0"/>
              <a:t> de desarrollo de software permite emplear un objetivo positivo o negativo?</a:t>
            </a:r>
            <a:endParaRPr lang="es-ES" sz="4000" b="1" dirty="0">
              <a:latin typeface="Arial"/>
              <a:cs typeface="Arial"/>
            </a:endParaRPr>
          </a:p>
        </p:txBody>
      </p:sp>
      <p:pic>
        <p:nvPicPr>
          <p:cNvPr id="5" name="object 3">
            <a:extLst>
              <a:ext uri="{FF2B5EF4-FFF2-40B4-BE49-F238E27FC236}">
                <a16:creationId xmlns:a16="http://schemas.microsoft.com/office/drawing/2014/main" id="{4461D143-19CF-4D8B-9B32-64AE4A532D8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34000" y="4343400"/>
            <a:ext cx="15240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5320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57F51D78-0EC8-4A7E-A2CF-BF2507CD1972}"/>
              </a:ext>
            </a:extLst>
          </p:cNvPr>
          <p:cNvSpPr txBox="1"/>
          <p:nvPr/>
        </p:nvSpPr>
        <p:spPr>
          <a:xfrm>
            <a:off x="533400" y="609600"/>
            <a:ext cx="8534400" cy="966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PE" sz="2800" b="1" dirty="0" err="1">
                <a:latin typeface="Arial"/>
                <a:cs typeface="Arial"/>
              </a:rPr>
              <a:t>Antipatrones</a:t>
            </a:r>
            <a:r>
              <a:rPr lang="es-PE" sz="2800" b="1" dirty="0">
                <a:latin typeface="Arial"/>
                <a:cs typeface="Arial"/>
              </a:rPr>
              <a:t>: </a:t>
            </a:r>
          </a:p>
          <a:p>
            <a:pPr marL="469900" indent="-457200">
              <a:lnSpc>
                <a:spcPct val="100000"/>
              </a:lnSpc>
              <a:spcBef>
                <a:spcPts val="100"/>
              </a:spcBef>
              <a:buFontTx/>
              <a:buChar char="-"/>
            </a:pPr>
            <a:r>
              <a:rPr lang="es-PE" sz="2800" dirty="0" err="1">
                <a:latin typeface="Arial"/>
                <a:cs typeface="Arial"/>
              </a:rPr>
              <a:t>Antipatrones</a:t>
            </a:r>
            <a:r>
              <a:rPr lang="es-PE" sz="2800" dirty="0">
                <a:latin typeface="Arial"/>
                <a:cs typeface="Arial"/>
              </a:rPr>
              <a:t> organizacionales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A1E40D2-AE1B-48AA-B91E-B3343BDE551A}"/>
              </a:ext>
            </a:extLst>
          </p:cNvPr>
          <p:cNvSpPr txBox="1"/>
          <p:nvPr/>
        </p:nvSpPr>
        <p:spPr>
          <a:xfrm>
            <a:off x="990600" y="1752600"/>
            <a:ext cx="60960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200" b="1" dirty="0"/>
              <a:t>1. Silo </a:t>
            </a:r>
            <a:r>
              <a:rPr lang="es-ES" sz="2200" b="1" dirty="0" err="1"/>
              <a:t>Mentality</a:t>
            </a:r>
            <a:r>
              <a:rPr lang="es-ES" sz="2200" b="1" dirty="0"/>
              <a:t> (Mentalidad de Silos):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200" b="1" dirty="0"/>
              <a:t>Descripción:</a:t>
            </a:r>
            <a:r>
              <a:rPr lang="es-ES" sz="2200" dirty="0"/>
              <a:t> Cada departamento o equipo trabaja de manera aislada y no comparte información o recursos con otros departamentos.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200" b="1" dirty="0"/>
              <a:t>Problema:</a:t>
            </a:r>
            <a:r>
              <a:rPr lang="es-ES" sz="2200" dirty="0"/>
              <a:t> La falta de comunicación y colaboración entre equipos puede llevar a duplicación de esfuerzos, malentendidos y una visión fragmentada del proyecto.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200" b="1" dirty="0"/>
              <a:t>Solución Alternativa:</a:t>
            </a:r>
            <a:r>
              <a:rPr lang="es-ES" sz="2200" dirty="0"/>
              <a:t> Fomentar la comunicación y colaboración entre equipos a través de reuniones interdepartamentales, herramientas de colaboración y una cultura de trabajo en equipo.</a:t>
            </a:r>
          </a:p>
        </p:txBody>
      </p:sp>
      <p:pic>
        <p:nvPicPr>
          <p:cNvPr id="10242" name="Picture 2" descr="End the Silo Mentality in Marketing | Data Silo Advice">
            <a:extLst>
              <a:ext uri="{FF2B5EF4-FFF2-40B4-BE49-F238E27FC236}">
                <a16:creationId xmlns:a16="http://schemas.microsoft.com/office/drawing/2014/main" id="{455D65B4-430E-453B-8C9F-115DFD30529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00" r="14000"/>
          <a:stretch/>
        </p:blipFill>
        <p:spPr bwMode="auto">
          <a:xfrm>
            <a:off x="7543800" y="2334667"/>
            <a:ext cx="4114800" cy="2990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00243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57F51D78-0EC8-4A7E-A2CF-BF2507CD1972}"/>
              </a:ext>
            </a:extLst>
          </p:cNvPr>
          <p:cNvSpPr txBox="1"/>
          <p:nvPr/>
        </p:nvSpPr>
        <p:spPr>
          <a:xfrm>
            <a:off x="533400" y="609600"/>
            <a:ext cx="8534400" cy="966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PE" sz="2800" b="1" dirty="0" err="1">
                <a:latin typeface="Arial"/>
                <a:cs typeface="Arial"/>
              </a:rPr>
              <a:t>Antipatrones</a:t>
            </a:r>
            <a:r>
              <a:rPr lang="es-PE" sz="2800" b="1" dirty="0">
                <a:latin typeface="Arial"/>
                <a:cs typeface="Arial"/>
              </a:rPr>
              <a:t>: </a:t>
            </a:r>
          </a:p>
          <a:p>
            <a:pPr marL="469900" indent="-457200">
              <a:lnSpc>
                <a:spcPct val="100000"/>
              </a:lnSpc>
              <a:spcBef>
                <a:spcPts val="100"/>
              </a:spcBef>
              <a:buFontTx/>
              <a:buChar char="-"/>
            </a:pPr>
            <a:r>
              <a:rPr lang="es-PE" sz="2800" dirty="0" err="1">
                <a:latin typeface="Arial"/>
                <a:cs typeface="Arial"/>
              </a:rPr>
              <a:t>Antipatrones</a:t>
            </a:r>
            <a:r>
              <a:rPr lang="es-PE" sz="2800" dirty="0">
                <a:latin typeface="Arial"/>
                <a:cs typeface="Arial"/>
              </a:rPr>
              <a:t> organizacionales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A1E40D2-AE1B-48AA-B91E-B3343BDE551A}"/>
              </a:ext>
            </a:extLst>
          </p:cNvPr>
          <p:cNvSpPr txBox="1"/>
          <p:nvPr/>
        </p:nvSpPr>
        <p:spPr>
          <a:xfrm>
            <a:off x="990600" y="1752600"/>
            <a:ext cx="6096000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200" b="1" dirty="0"/>
              <a:t>2. Top-Down Management (Gestión Vertical):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200" b="1" dirty="0"/>
              <a:t>Descripción:</a:t>
            </a:r>
            <a:r>
              <a:rPr lang="es-ES" sz="2200" dirty="0"/>
              <a:t> Las decisiones se toman exclusivamente en los niveles superiores de la organización y se imponen a los niveles inferiores sin consulta.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200" b="1" dirty="0"/>
              <a:t>Problema:</a:t>
            </a:r>
            <a:r>
              <a:rPr lang="es-ES" sz="2200" dirty="0"/>
              <a:t> Puede llevar a una falta de compromiso y motivación entre los empleados, así como a decisiones que no consideran el conocimiento y la experiencia de los niveles operativos.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200" b="1" dirty="0"/>
              <a:t>Solución Alternativa:</a:t>
            </a:r>
            <a:r>
              <a:rPr lang="es-ES" sz="2200" dirty="0"/>
              <a:t> Adoptar un enfoque de gestión participativa donde se consulten y consideren las opiniones de los empleados en todos los niveles.</a:t>
            </a:r>
          </a:p>
        </p:txBody>
      </p:sp>
    </p:spTree>
    <p:extLst>
      <p:ext uri="{BB962C8B-B14F-4D97-AF65-F5344CB8AC3E}">
        <p14:creationId xmlns:p14="http://schemas.microsoft.com/office/powerpoint/2010/main" val="42158330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57F51D78-0EC8-4A7E-A2CF-BF2507CD1972}"/>
              </a:ext>
            </a:extLst>
          </p:cNvPr>
          <p:cNvSpPr txBox="1"/>
          <p:nvPr/>
        </p:nvSpPr>
        <p:spPr>
          <a:xfrm>
            <a:off x="533400" y="609600"/>
            <a:ext cx="8534400" cy="966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PE" sz="2800" b="1" dirty="0" err="1">
                <a:latin typeface="Arial"/>
                <a:cs typeface="Arial"/>
              </a:rPr>
              <a:t>Antipatrones</a:t>
            </a:r>
            <a:r>
              <a:rPr lang="es-PE" sz="2800" b="1" dirty="0">
                <a:latin typeface="Arial"/>
                <a:cs typeface="Arial"/>
              </a:rPr>
              <a:t>: </a:t>
            </a:r>
          </a:p>
          <a:p>
            <a:pPr marL="469900" indent="-457200">
              <a:lnSpc>
                <a:spcPct val="100000"/>
              </a:lnSpc>
              <a:spcBef>
                <a:spcPts val="100"/>
              </a:spcBef>
              <a:buFontTx/>
              <a:buChar char="-"/>
            </a:pPr>
            <a:r>
              <a:rPr lang="es-PE" sz="2800" dirty="0" err="1">
                <a:latin typeface="Arial"/>
                <a:cs typeface="Arial"/>
              </a:rPr>
              <a:t>Antipatrones</a:t>
            </a:r>
            <a:r>
              <a:rPr lang="es-PE" sz="2800" dirty="0">
                <a:latin typeface="Arial"/>
                <a:cs typeface="Arial"/>
              </a:rPr>
              <a:t> organizacionales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A1E40D2-AE1B-48AA-B91E-B3343BDE551A}"/>
              </a:ext>
            </a:extLst>
          </p:cNvPr>
          <p:cNvSpPr txBox="1"/>
          <p:nvPr/>
        </p:nvSpPr>
        <p:spPr>
          <a:xfrm>
            <a:off x="990600" y="1752600"/>
            <a:ext cx="6096000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200" b="1" dirty="0"/>
              <a:t>3. </a:t>
            </a:r>
            <a:r>
              <a:rPr lang="es-ES" sz="2200" b="1" dirty="0" err="1"/>
              <a:t>Micromanagement</a:t>
            </a:r>
            <a:r>
              <a:rPr lang="es-ES" sz="2200" b="1" dirty="0"/>
              <a:t> (</a:t>
            </a:r>
            <a:r>
              <a:rPr lang="es-ES" sz="2200" b="1" dirty="0" err="1"/>
              <a:t>Micromanejo</a:t>
            </a:r>
            <a:r>
              <a:rPr lang="es-ES" sz="2200" b="1" dirty="0"/>
              <a:t>):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200" b="1" dirty="0"/>
              <a:t>Descripción:</a:t>
            </a:r>
            <a:r>
              <a:rPr lang="es-ES" sz="2200" dirty="0"/>
              <a:t> Los líderes supervisan y controlan todos los detalles del trabajo de sus subordinados, sin permitirles tomar decisiones autónomas.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200" b="1" dirty="0"/>
              <a:t>Problema:</a:t>
            </a:r>
            <a:r>
              <a:rPr lang="es-ES" sz="2200" dirty="0"/>
              <a:t> Puede disminuir la moral y la motivación de los empleados, así como limitar la innovación y la eficiencia.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200" b="1" dirty="0"/>
              <a:t>Solución Alternativa:</a:t>
            </a:r>
            <a:r>
              <a:rPr lang="es-ES" sz="2200" dirty="0"/>
              <a:t> Delegar responsabilidades y confiar en el equipo para tomar decisiones dentro de su área de competencia, ofreciendo apoyo y guía cuando sea necesario.</a:t>
            </a:r>
          </a:p>
        </p:txBody>
      </p:sp>
    </p:spTree>
    <p:extLst>
      <p:ext uri="{BB962C8B-B14F-4D97-AF65-F5344CB8AC3E}">
        <p14:creationId xmlns:p14="http://schemas.microsoft.com/office/powerpoint/2010/main" val="18350495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57F51D78-0EC8-4A7E-A2CF-BF2507CD1972}"/>
              </a:ext>
            </a:extLst>
          </p:cNvPr>
          <p:cNvSpPr txBox="1"/>
          <p:nvPr/>
        </p:nvSpPr>
        <p:spPr>
          <a:xfrm>
            <a:off x="533400" y="609600"/>
            <a:ext cx="8534400" cy="966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PE" sz="2800" b="1" dirty="0" err="1">
                <a:latin typeface="Arial"/>
                <a:cs typeface="Arial"/>
              </a:rPr>
              <a:t>Antipatrones</a:t>
            </a:r>
            <a:r>
              <a:rPr lang="es-PE" sz="2800" b="1" dirty="0">
                <a:latin typeface="Arial"/>
                <a:cs typeface="Arial"/>
              </a:rPr>
              <a:t>: </a:t>
            </a:r>
          </a:p>
          <a:p>
            <a:pPr marL="469900" indent="-457200">
              <a:lnSpc>
                <a:spcPct val="100000"/>
              </a:lnSpc>
              <a:spcBef>
                <a:spcPts val="100"/>
              </a:spcBef>
              <a:buFontTx/>
              <a:buChar char="-"/>
            </a:pPr>
            <a:r>
              <a:rPr lang="es-PE" sz="2800" dirty="0" err="1">
                <a:latin typeface="Arial"/>
                <a:cs typeface="Arial"/>
              </a:rPr>
              <a:t>Antipatrones</a:t>
            </a:r>
            <a:r>
              <a:rPr lang="es-PE" sz="2800" dirty="0">
                <a:latin typeface="Arial"/>
                <a:cs typeface="Arial"/>
              </a:rPr>
              <a:t> organizacionales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A1E40D2-AE1B-48AA-B91E-B3343BDE551A}"/>
              </a:ext>
            </a:extLst>
          </p:cNvPr>
          <p:cNvSpPr txBox="1"/>
          <p:nvPr/>
        </p:nvSpPr>
        <p:spPr>
          <a:xfrm>
            <a:off x="990600" y="1752600"/>
            <a:ext cx="6096000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200" b="1" dirty="0"/>
              <a:t>4. </a:t>
            </a:r>
            <a:r>
              <a:rPr lang="es-ES" sz="2200" b="1" dirty="0" err="1"/>
              <a:t>Blame</a:t>
            </a:r>
            <a:r>
              <a:rPr lang="es-ES" sz="2200" b="1" dirty="0"/>
              <a:t> Culture (Cultura de Culpar):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200" b="1" dirty="0"/>
              <a:t>Descripción:</a:t>
            </a:r>
            <a:r>
              <a:rPr lang="es-ES" sz="2200" dirty="0"/>
              <a:t> Se tiende a responsabilizar a individuos o equipos por errores y fracasos en lugar de enfocarse en soluciones y mejoras.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200" b="1" dirty="0"/>
              <a:t>Problema:</a:t>
            </a:r>
            <a:r>
              <a:rPr lang="es-ES" sz="2200" dirty="0"/>
              <a:t> Fomenta un ambiente de miedo y desconfianza, desalienta la comunicación abierta y puede prevenir la resolución efectiva de problemas.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200" b="1" dirty="0"/>
              <a:t>Solución Alternativa:</a:t>
            </a:r>
            <a:r>
              <a:rPr lang="es-ES" sz="2200" dirty="0"/>
              <a:t> Promover una cultura de responsabilidad y aprendizaje donde los errores se vean como oportunidades para mejorar y se enfoque en soluciones en lugar de culpas.</a:t>
            </a:r>
          </a:p>
        </p:txBody>
      </p:sp>
    </p:spTree>
    <p:extLst>
      <p:ext uri="{BB962C8B-B14F-4D97-AF65-F5344CB8AC3E}">
        <p14:creationId xmlns:p14="http://schemas.microsoft.com/office/powerpoint/2010/main" val="22738008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57F51D78-0EC8-4A7E-A2CF-BF2507CD1972}"/>
              </a:ext>
            </a:extLst>
          </p:cNvPr>
          <p:cNvSpPr txBox="1"/>
          <p:nvPr/>
        </p:nvSpPr>
        <p:spPr>
          <a:xfrm>
            <a:off x="533400" y="609600"/>
            <a:ext cx="8534400" cy="966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PE" sz="2800" b="1" dirty="0" err="1">
                <a:latin typeface="Arial"/>
                <a:cs typeface="Arial"/>
              </a:rPr>
              <a:t>Antipatrones</a:t>
            </a:r>
            <a:r>
              <a:rPr lang="es-PE" sz="2800" b="1" dirty="0">
                <a:latin typeface="Arial"/>
                <a:cs typeface="Arial"/>
              </a:rPr>
              <a:t>: </a:t>
            </a:r>
          </a:p>
          <a:p>
            <a:pPr marL="469900" indent="-457200">
              <a:lnSpc>
                <a:spcPct val="100000"/>
              </a:lnSpc>
              <a:spcBef>
                <a:spcPts val="100"/>
              </a:spcBef>
              <a:buFontTx/>
              <a:buChar char="-"/>
            </a:pPr>
            <a:r>
              <a:rPr lang="es-PE" sz="2800" dirty="0" err="1">
                <a:latin typeface="Arial"/>
                <a:cs typeface="Arial"/>
              </a:rPr>
              <a:t>Antipatrones</a:t>
            </a:r>
            <a:r>
              <a:rPr lang="es-PE" sz="2800" dirty="0">
                <a:latin typeface="Arial"/>
                <a:cs typeface="Arial"/>
              </a:rPr>
              <a:t> organizacionales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A1E40D2-AE1B-48AA-B91E-B3343BDE551A}"/>
              </a:ext>
            </a:extLst>
          </p:cNvPr>
          <p:cNvSpPr txBox="1"/>
          <p:nvPr/>
        </p:nvSpPr>
        <p:spPr>
          <a:xfrm>
            <a:off x="990600" y="1752600"/>
            <a:ext cx="6096000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200" b="1" dirty="0"/>
              <a:t>5. Management </a:t>
            </a:r>
            <a:r>
              <a:rPr lang="es-ES" sz="2200" b="1" dirty="0" err="1"/>
              <a:t>by</a:t>
            </a:r>
            <a:r>
              <a:rPr lang="es-ES" sz="2200" b="1" dirty="0"/>
              <a:t> </a:t>
            </a:r>
            <a:r>
              <a:rPr lang="es-ES" sz="2200" b="1" dirty="0" err="1"/>
              <a:t>Objectives</a:t>
            </a:r>
            <a:r>
              <a:rPr lang="es-ES" sz="2200" b="1" dirty="0"/>
              <a:t> (Gestión por Objetivos):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200" b="1" dirty="0"/>
              <a:t>Descripción:</a:t>
            </a:r>
            <a:r>
              <a:rPr lang="es-ES" sz="2200" dirty="0"/>
              <a:t> Enfoque excesivo en el cumplimiento de objetivos específicos sin considerar el contexto o el impacto en la calidad y el bienestar de los empleados.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200" b="1" dirty="0"/>
              <a:t>Problema:</a:t>
            </a:r>
            <a:r>
              <a:rPr lang="es-ES" sz="2200" dirty="0"/>
              <a:t> Puede llevar a la priorización de objetivos a corto plazo en detrimento de la calidad y el bienestar a largo plazo.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200" b="1" dirty="0"/>
              <a:t>Solución Alternativa:</a:t>
            </a:r>
            <a:r>
              <a:rPr lang="es-ES" sz="2200" dirty="0"/>
              <a:t> Balancear los objetivos con consideraciones de calidad, sostenibilidad y bienestar de los empleados, y evaluar el desempeño de manera integral.</a:t>
            </a:r>
          </a:p>
        </p:txBody>
      </p:sp>
    </p:spTree>
    <p:extLst>
      <p:ext uri="{BB962C8B-B14F-4D97-AF65-F5344CB8AC3E}">
        <p14:creationId xmlns:p14="http://schemas.microsoft.com/office/powerpoint/2010/main" val="7768865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57F51D78-0EC8-4A7E-A2CF-BF2507CD1972}"/>
              </a:ext>
            </a:extLst>
          </p:cNvPr>
          <p:cNvSpPr txBox="1"/>
          <p:nvPr/>
        </p:nvSpPr>
        <p:spPr>
          <a:xfrm>
            <a:off x="533400" y="609600"/>
            <a:ext cx="8534400" cy="966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PE" sz="2800" b="1" dirty="0" err="1">
                <a:latin typeface="Arial"/>
                <a:cs typeface="Arial"/>
              </a:rPr>
              <a:t>Antipatrones</a:t>
            </a:r>
            <a:r>
              <a:rPr lang="es-PE" sz="2800" b="1" dirty="0">
                <a:latin typeface="Arial"/>
                <a:cs typeface="Arial"/>
              </a:rPr>
              <a:t>: </a:t>
            </a:r>
          </a:p>
          <a:p>
            <a:pPr marL="469900" indent="-457200">
              <a:lnSpc>
                <a:spcPct val="100000"/>
              </a:lnSpc>
              <a:spcBef>
                <a:spcPts val="100"/>
              </a:spcBef>
              <a:buFontTx/>
              <a:buChar char="-"/>
            </a:pPr>
            <a:r>
              <a:rPr lang="es-PE" sz="2800" dirty="0" err="1">
                <a:latin typeface="Arial"/>
                <a:cs typeface="Arial"/>
              </a:rPr>
              <a:t>Antipatrones</a:t>
            </a:r>
            <a:r>
              <a:rPr lang="es-PE" sz="2800" dirty="0">
                <a:latin typeface="Arial"/>
                <a:cs typeface="Arial"/>
              </a:rPr>
              <a:t> organizacionales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A1E40D2-AE1B-48AA-B91E-B3343BDE551A}"/>
              </a:ext>
            </a:extLst>
          </p:cNvPr>
          <p:cNvSpPr txBox="1"/>
          <p:nvPr/>
        </p:nvSpPr>
        <p:spPr>
          <a:xfrm>
            <a:off x="990600" y="1752600"/>
            <a:ext cx="60960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200" b="1" dirty="0"/>
              <a:t>6. </a:t>
            </a:r>
            <a:r>
              <a:rPr lang="es-ES" sz="2200" b="1" dirty="0" err="1"/>
              <a:t>Overloaded</a:t>
            </a:r>
            <a:r>
              <a:rPr lang="es-ES" sz="2200" b="1" dirty="0"/>
              <a:t> </a:t>
            </a:r>
            <a:r>
              <a:rPr lang="es-ES" sz="2200" b="1" dirty="0" err="1"/>
              <a:t>Teams</a:t>
            </a:r>
            <a:r>
              <a:rPr lang="es-ES" sz="2200" b="1" dirty="0"/>
              <a:t> (Equipos Sobrecargados):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200" b="1" dirty="0"/>
              <a:t>Descripción:</a:t>
            </a:r>
            <a:r>
              <a:rPr lang="es-ES" sz="2200" dirty="0"/>
              <a:t> Asignar una carga de trabajo excesiva a los equipos sin tener en cuenta su capacidad o recursos disponibles.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200" b="1" dirty="0"/>
              <a:t>Problema:</a:t>
            </a:r>
            <a:r>
              <a:rPr lang="es-ES" sz="2200" dirty="0"/>
              <a:t> Puede llevar a la disminución de la productividad, aumento del estrés y burnout entre los empleados.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200" b="1" dirty="0"/>
              <a:t>Solución Alternativa:</a:t>
            </a:r>
            <a:r>
              <a:rPr lang="es-ES" sz="2200" dirty="0"/>
              <a:t> Gestionar la carga de trabajo de manera equilibrada, asegurando que los equipos tengan los recursos y el tiempo necesarios para cumplir con sus responsabilidades de manera efectiva.</a:t>
            </a:r>
          </a:p>
        </p:txBody>
      </p:sp>
    </p:spTree>
    <p:extLst>
      <p:ext uri="{BB962C8B-B14F-4D97-AF65-F5344CB8AC3E}">
        <p14:creationId xmlns:p14="http://schemas.microsoft.com/office/powerpoint/2010/main" val="281984902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57F51D78-0EC8-4A7E-A2CF-BF2507CD1972}"/>
              </a:ext>
            </a:extLst>
          </p:cNvPr>
          <p:cNvSpPr txBox="1"/>
          <p:nvPr/>
        </p:nvSpPr>
        <p:spPr>
          <a:xfrm>
            <a:off x="533400" y="609600"/>
            <a:ext cx="8534400" cy="966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PE" sz="2800" b="1" dirty="0" err="1">
                <a:latin typeface="Arial"/>
                <a:cs typeface="Arial"/>
              </a:rPr>
              <a:t>Antipatrones</a:t>
            </a:r>
            <a:r>
              <a:rPr lang="es-PE" sz="2800" b="1" dirty="0">
                <a:latin typeface="Arial"/>
                <a:cs typeface="Arial"/>
              </a:rPr>
              <a:t>: </a:t>
            </a:r>
          </a:p>
          <a:p>
            <a:pPr marL="469900" indent="-457200">
              <a:lnSpc>
                <a:spcPct val="100000"/>
              </a:lnSpc>
              <a:spcBef>
                <a:spcPts val="100"/>
              </a:spcBef>
              <a:buFontTx/>
              <a:buChar char="-"/>
            </a:pPr>
            <a:r>
              <a:rPr lang="es-PE" sz="2800" dirty="0" err="1">
                <a:latin typeface="Arial"/>
                <a:cs typeface="Arial"/>
              </a:rPr>
              <a:t>Antipatrones</a:t>
            </a:r>
            <a:r>
              <a:rPr lang="es-PE" sz="2800" dirty="0">
                <a:latin typeface="Arial"/>
                <a:cs typeface="Arial"/>
              </a:rPr>
              <a:t> organizacionales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A1E40D2-AE1B-48AA-B91E-B3343BDE551A}"/>
              </a:ext>
            </a:extLst>
          </p:cNvPr>
          <p:cNvSpPr txBox="1"/>
          <p:nvPr/>
        </p:nvSpPr>
        <p:spPr>
          <a:xfrm>
            <a:off x="990600" y="1752600"/>
            <a:ext cx="6096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200" b="1" dirty="0"/>
              <a:t>7. </a:t>
            </a:r>
            <a:r>
              <a:rPr lang="es-ES" sz="2200" b="1" dirty="0" err="1"/>
              <a:t>Lack</a:t>
            </a:r>
            <a:r>
              <a:rPr lang="es-ES" sz="2200" b="1" dirty="0"/>
              <a:t> </a:t>
            </a:r>
            <a:r>
              <a:rPr lang="es-ES" sz="2200" b="1" dirty="0" err="1"/>
              <a:t>of</a:t>
            </a:r>
            <a:r>
              <a:rPr lang="es-ES" sz="2200" b="1" dirty="0"/>
              <a:t> </a:t>
            </a:r>
            <a:r>
              <a:rPr lang="es-ES" sz="2200" b="1" dirty="0" err="1"/>
              <a:t>Vision</a:t>
            </a:r>
            <a:r>
              <a:rPr lang="es-ES" sz="2200" b="1" dirty="0"/>
              <a:t> (Falta de Visión):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200" b="1" dirty="0"/>
              <a:t>Descripción:</a:t>
            </a:r>
            <a:r>
              <a:rPr lang="es-ES" sz="2200" dirty="0"/>
              <a:t> La organización o el equipo carece de una dirección clara y de objetivos a largo plazo.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200" b="1" dirty="0"/>
              <a:t>Problema:</a:t>
            </a:r>
            <a:r>
              <a:rPr lang="es-ES" sz="2200" dirty="0"/>
              <a:t> La falta de una visión clara puede llevar a la falta de alineación y motivación, así como a decisiones inconsistentes.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200" b="1" dirty="0"/>
              <a:t>Solución Alternativa:</a:t>
            </a:r>
            <a:r>
              <a:rPr lang="es-ES" sz="2200" dirty="0"/>
              <a:t> Desarrollar y comunicar una visión y misión clara para la organización y alinear los objetivos y estrategias con esa visión.</a:t>
            </a:r>
          </a:p>
        </p:txBody>
      </p:sp>
    </p:spTree>
    <p:extLst>
      <p:ext uri="{BB962C8B-B14F-4D97-AF65-F5344CB8AC3E}">
        <p14:creationId xmlns:p14="http://schemas.microsoft.com/office/powerpoint/2010/main" val="42505728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57F51D78-0EC8-4A7E-A2CF-BF2507CD1972}"/>
              </a:ext>
            </a:extLst>
          </p:cNvPr>
          <p:cNvSpPr txBox="1"/>
          <p:nvPr/>
        </p:nvSpPr>
        <p:spPr>
          <a:xfrm>
            <a:off x="533400" y="609600"/>
            <a:ext cx="8534400" cy="966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PE" sz="2800" b="1" dirty="0" err="1">
                <a:latin typeface="Arial"/>
                <a:cs typeface="Arial"/>
              </a:rPr>
              <a:t>Antipatrones</a:t>
            </a:r>
            <a:r>
              <a:rPr lang="es-PE" sz="2800" b="1" dirty="0">
                <a:latin typeface="Arial"/>
                <a:cs typeface="Arial"/>
              </a:rPr>
              <a:t>: </a:t>
            </a:r>
          </a:p>
          <a:p>
            <a:pPr marL="469900" indent="-457200">
              <a:lnSpc>
                <a:spcPct val="100000"/>
              </a:lnSpc>
              <a:spcBef>
                <a:spcPts val="100"/>
              </a:spcBef>
              <a:buFontTx/>
              <a:buChar char="-"/>
            </a:pPr>
            <a:r>
              <a:rPr lang="es-PE" sz="2800" dirty="0" err="1">
                <a:latin typeface="Arial"/>
                <a:cs typeface="Arial"/>
              </a:rPr>
              <a:t>Antipatrones</a:t>
            </a:r>
            <a:r>
              <a:rPr lang="es-PE" sz="2800" dirty="0">
                <a:latin typeface="Arial"/>
                <a:cs typeface="Arial"/>
              </a:rPr>
              <a:t> organizacionales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A1E40D2-AE1B-48AA-B91E-B3343BDE551A}"/>
              </a:ext>
            </a:extLst>
          </p:cNvPr>
          <p:cNvSpPr txBox="1"/>
          <p:nvPr/>
        </p:nvSpPr>
        <p:spPr>
          <a:xfrm>
            <a:off x="990600" y="1752600"/>
            <a:ext cx="6096000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200" b="1" dirty="0"/>
              <a:t>8. </a:t>
            </a:r>
            <a:r>
              <a:rPr lang="es-ES" sz="2200" b="1" dirty="0" err="1"/>
              <a:t>Ineffective</a:t>
            </a:r>
            <a:r>
              <a:rPr lang="es-ES" sz="2200" b="1" dirty="0"/>
              <a:t> </a:t>
            </a:r>
            <a:r>
              <a:rPr lang="es-ES" sz="2200" b="1" dirty="0" err="1"/>
              <a:t>Communication</a:t>
            </a:r>
            <a:r>
              <a:rPr lang="es-ES" sz="2200" b="1" dirty="0"/>
              <a:t> (Comunicación Ineficaz):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200" b="1" dirty="0"/>
              <a:t>Descripción:</a:t>
            </a:r>
            <a:r>
              <a:rPr lang="es-ES" sz="2200" dirty="0"/>
              <a:t> La información no se comunica de manera efectiva entre los diferentes niveles y departamentos de la organización.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200" b="1" dirty="0"/>
              <a:t>Problema:</a:t>
            </a:r>
            <a:r>
              <a:rPr lang="es-ES" sz="2200" dirty="0"/>
              <a:t> Puede resultar en malentendidos, errores y falta de coordinación entre equipos.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200" b="1" dirty="0"/>
              <a:t>Solución Alternativa:</a:t>
            </a:r>
            <a:r>
              <a:rPr lang="es-ES" sz="2200" dirty="0"/>
              <a:t> Implementar canales de comunicación claros y efectivos y fomentar una cultura de transparencia y apertura en la comunicación.</a:t>
            </a:r>
          </a:p>
        </p:txBody>
      </p:sp>
    </p:spTree>
    <p:extLst>
      <p:ext uri="{BB962C8B-B14F-4D97-AF65-F5344CB8AC3E}">
        <p14:creationId xmlns:p14="http://schemas.microsoft.com/office/powerpoint/2010/main" val="31023684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4B727177-CD63-448F-86E2-C4B737A1688F}"/>
              </a:ext>
            </a:extLst>
          </p:cNvPr>
          <p:cNvSpPr txBox="1"/>
          <p:nvPr/>
        </p:nvSpPr>
        <p:spPr>
          <a:xfrm>
            <a:off x="1047750" y="1371600"/>
            <a:ext cx="10096500" cy="2506455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457834" marR="5080" indent="-445770" algn="ctr">
              <a:spcBef>
                <a:spcPts val="345"/>
              </a:spcBef>
            </a:pPr>
            <a:r>
              <a:rPr lang="es-ES" sz="4000" b="1" dirty="0"/>
              <a:t>¿Qué situaciones en la vida diaria pueden ayudar los </a:t>
            </a:r>
            <a:r>
              <a:rPr lang="es-ES" sz="4000" b="1" dirty="0" err="1"/>
              <a:t>Antipatrones</a:t>
            </a:r>
            <a:r>
              <a:rPr lang="es-ES" sz="4000" b="1" dirty="0"/>
              <a:t> organizacionales permite emplear un objetivo positivo o negativo?</a:t>
            </a:r>
            <a:endParaRPr lang="es-ES" sz="4000" b="1" dirty="0">
              <a:latin typeface="Arial"/>
              <a:cs typeface="Arial"/>
            </a:endParaRPr>
          </a:p>
        </p:txBody>
      </p:sp>
      <p:pic>
        <p:nvPicPr>
          <p:cNvPr id="5" name="object 3">
            <a:extLst>
              <a:ext uri="{FF2B5EF4-FFF2-40B4-BE49-F238E27FC236}">
                <a16:creationId xmlns:a16="http://schemas.microsoft.com/office/drawing/2014/main" id="{4461D143-19CF-4D8B-9B32-64AE4A532D8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34000" y="4343400"/>
            <a:ext cx="15240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82092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3">
            <a:extLst>
              <a:ext uri="{FF2B5EF4-FFF2-40B4-BE49-F238E27FC236}">
                <a16:creationId xmlns:a16="http://schemas.microsoft.com/office/drawing/2014/main" id="{BF4F96B2-8257-4187-BF20-F9EA78F3DF01}"/>
              </a:ext>
            </a:extLst>
          </p:cNvPr>
          <p:cNvSpPr/>
          <p:nvPr/>
        </p:nvSpPr>
        <p:spPr>
          <a:xfrm>
            <a:off x="0" y="2819400"/>
            <a:ext cx="12192000" cy="1219200"/>
          </a:xfrm>
          <a:custGeom>
            <a:avLst/>
            <a:gdLst/>
            <a:ahLst/>
            <a:cxnLst/>
            <a:rect l="l" t="t" r="r" b="b"/>
            <a:pathLst>
              <a:path w="9144635" h="700405">
                <a:moveTo>
                  <a:pt x="9027447" y="700199"/>
                </a:moveTo>
                <a:lnTo>
                  <a:pt x="116702" y="700199"/>
                </a:lnTo>
                <a:lnTo>
                  <a:pt x="71276" y="691028"/>
                </a:lnTo>
                <a:lnTo>
                  <a:pt x="34181" y="666018"/>
                </a:lnTo>
                <a:lnTo>
                  <a:pt x="9171" y="628923"/>
                </a:lnTo>
                <a:lnTo>
                  <a:pt x="0" y="583497"/>
                </a:lnTo>
                <a:lnTo>
                  <a:pt x="0" y="116702"/>
                </a:lnTo>
                <a:lnTo>
                  <a:pt x="9171" y="71276"/>
                </a:lnTo>
                <a:lnTo>
                  <a:pt x="34181" y="34181"/>
                </a:lnTo>
                <a:lnTo>
                  <a:pt x="71276" y="9171"/>
                </a:lnTo>
                <a:lnTo>
                  <a:pt x="116702" y="0"/>
                </a:lnTo>
                <a:lnTo>
                  <a:pt x="9027447" y="0"/>
                </a:lnTo>
                <a:lnTo>
                  <a:pt x="9072107" y="8883"/>
                </a:lnTo>
                <a:lnTo>
                  <a:pt x="9109968" y="34181"/>
                </a:lnTo>
                <a:lnTo>
                  <a:pt x="9135266" y="72042"/>
                </a:lnTo>
                <a:lnTo>
                  <a:pt x="9144149" y="116702"/>
                </a:lnTo>
                <a:lnTo>
                  <a:pt x="9144149" y="583497"/>
                </a:lnTo>
                <a:lnTo>
                  <a:pt x="9134978" y="628923"/>
                </a:lnTo>
                <a:lnTo>
                  <a:pt x="9109968" y="666018"/>
                </a:lnTo>
                <a:lnTo>
                  <a:pt x="9072873" y="691028"/>
                </a:lnTo>
                <a:lnTo>
                  <a:pt x="9027447" y="7001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A15886D6-5B28-4586-B236-615F21BBBBE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78672" y="3084034"/>
            <a:ext cx="3634655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b="1" spc="-5" dirty="0">
                <a:solidFill>
                  <a:schemeClr val="bg1"/>
                </a:solidFill>
                <a:latin typeface="Rubik"/>
              </a:rPr>
              <a:t>Caso</a:t>
            </a:r>
            <a:r>
              <a:rPr b="1" spc="-90" dirty="0">
                <a:solidFill>
                  <a:schemeClr val="bg1"/>
                </a:solidFill>
                <a:latin typeface="Rubik"/>
              </a:rPr>
              <a:t> </a:t>
            </a:r>
            <a:r>
              <a:rPr b="1" spc="-5" dirty="0">
                <a:solidFill>
                  <a:schemeClr val="bg1"/>
                </a:solidFill>
                <a:latin typeface="Rubik"/>
              </a:rPr>
              <a:t>práctico</a:t>
            </a:r>
          </a:p>
        </p:txBody>
      </p:sp>
    </p:spTree>
    <p:extLst>
      <p:ext uri="{BB962C8B-B14F-4D97-AF65-F5344CB8AC3E}">
        <p14:creationId xmlns:p14="http://schemas.microsoft.com/office/powerpoint/2010/main" val="346063839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83D49147-6665-4E3D-899C-D582AC68A260}"/>
              </a:ext>
            </a:extLst>
          </p:cNvPr>
          <p:cNvSpPr/>
          <p:nvPr/>
        </p:nvSpPr>
        <p:spPr>
          <a:xfrm>
            <a:off x="0" y="304801"/>
            <a:ext cx="5659755" cy="5618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3237432-5409-4010-913D-63C769E0C667}"/>
              </a:ext>
            </a:extLst>
          </p:cNvPr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400" b="1" spc="-5" dirty="0">
                <a:solidFill>
                  <a:srgbClr val="FFFFFF"/>
                </a:solidFill>
                <a:latin typeface="Arial"/>
                <a:cs typeface="Arial"/>
              </a:rPr>
              <a:t>Caso práctico</a:t>
            </a:r>
            <a:endParaRPr lang="es-PE" sz="2400" dirty="0">
              <a:latin typeface="Arial"/>
              <a:cs typeface="Arial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A814BB19-1D9E-4067-AEBA-01A9345F4FE9}"/>
              </a:ext>
            </a:extLst>
          </p:cNvPr>
          <p:cNvSpPr txBox="1"/>
          <p:nvPr/>
        </p:nvSpPr>
        <p:spPr>
          <a:xfrm>
            <a:off x="3886200" y="3581400"/>
            <a:ext cx="6476999" cy="295402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90"/>
              </a:lnSpc>
            </a:pPr>
            <a:endParaRPr sz="3200" dirty="0">
              <a:latin typeface="Arial"/>
              <a:cs typeface="Arial"/>
            </a:endParaRPr>
          </a:p>
        </p:txBody>
      </p:sp>
      <p:pic>
        <p:nvPicPr>
          <p:cNvPr id="10" name="object 5">
            <a:extLst>
              <a:ext uri="{FF2B5EF4-FFF2-40B4-BE49-F238E27FC236}">
                <a16:creationId xmlns:a16="http://schemas.microsoft.com/office/drawing/2014/main" id="{435EC088-AD41-45D0-BAA6-A29C3F48F98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73909" y="304800"/>
            <a:ext cx="626891" cy="561824"/>
          </a:xfrm>
          <a:prstGeom prst="rect">
            <a:avLst/>
          </a:prstGeom>
        </p:spPr>
      </p:pic>
      <p:pic>
        <p:nvPicPr>
          <p:cNvPr id="5122" name="Picture 2" descr="una práctica ilustración plana de una computadora portátil que funciona  14982741 Vector en Vecteezy">
            <a:extLst>
              <a:ext uri="{FF2B5EF4-FFF2-40B4-BE49-F238E27FC236}">
                <a16:creationId xmlns:a16="http://schemas.microsoft.com/office/drawing/2014/main" id="{3E0F581E-C9D0-4859-A67E-A77ABF3B8D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155" y="1181100"/>
            <a:ext cx="4800600" cy="480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06741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83D49147-6665-4E3D-899C-D582AC68A260}"/>
              </a:ext>
            </a:extLst>
          </p:cNvPr>
          <p:cNvSpPr/>
          <p:nvPr/>
        </p:nvSpPr>
        <p:spPr>
          <a:xfrm>
            <a:off x="0" y="304801"/>
            <a:ext cx="5659755" cy="5618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3237432-5409-4010-913D-63C769E0C667}"/>
              </a:ext>
            </a:extLst>
          </p:cNvPr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400" b="1" spc="-5" dirty="0">
                <a:solidFill>
                  <a:srgbClr val="FFFFFF"/>
                </a:solidFill>
                <a:latin typeface="Arial"/>
                <a:cs typeface="Arial"/>
              </a:rPr>
              <a:t>Caso práctico</a:t>
            </a:r>
            <a:endParaRPr lang="es-PE" sz="2400" dirty="0">
              <a:latin typeface="Arial"/>
              <a:cs typeface="Arial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A814BB19-1D9E-4067-AEBA-01A9345F4FE9}"/>
              </a:ext>
            </a:extLst>
          </p:cNvPr>
          <p:cNvSpPr txBox="1"/>
          <p:nvPr/>
        </p:nvSpPr>
        <p:spPr>
          <a:xfrm>
            <a:off x="3886200" y="3581400"/>
            <a:ext cx="6476999" cy="295402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90"/>
              </a:lnSpc>
            </a:pPr>
            <a:endParaRPr sz="3200" dirty="0">
              <a:latin typeface="Arial"/>
              <a:cs typeface="Arial"/>
            </a:endParaRPr>
          </a:p>
        </p:txBody>
      </p:sp>
      <p:pic>
        <p:nvPicPr>
          <p:cNvPr id="10" name="object 5">
            <a:extLst>
              <a:ext uri="{FF2B5EF4-FFF2-40B4-BE49-F238E27FC236}">
                <a16:creationId xmlns:a16="http://schemas.microsoft.com/office/drawing/2014/main" id="{435EC088-AD41-45D0-BAA6-A29C3F48F98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73909" y="304800"/>
            <a:ext cx="626891" cy="561824"/>
          </a:xfrm>
          <a:prstGeom prst="rect">
            <a:avLst/>
          </a:prstGeom>
        </p:spPr>
      </p:pic>
      <p:sp>
        <p:nvSpPr>
          <p:cNvPr id="9" name="object 3">
            <a:extLst>
              <a:ext uri="{FF2B5EF4-FFF2-40B4-BE49-F238E27FC236}">
                <a16:creationId xmlns:a16="http://schemas.microsoft.com/office/drawing/2014/main" id="{4CCFC334-434E-4946-8150-7F52AD5BD21D}"/>
              </a:ext>
            </a:extLst>
          </p:cNvPr>
          <p:cNvSpPr txBox="1"/>
          <p:nvPr/>
        </p:nvSpPr>
        <p:spPr>
          <a:xfrm>
            <a:off x="2282337" y="1780300"/>
            <a:ext cx="762732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2800" spc="-5" dirty="0">
                <a:latin typeface="Arial MT"/>
                <a:cs typeface="Arial MT"/>
              </a:rPr>
              <a:t>¿Quién</a:t>
            </a:r>
            <a:r>
              <a:rPr sz="2800" spc="-2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quisiera</a:t>
            </a:r>
            <a:r>
              <a:rPr sz="2800" spc="-2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participar?</a:t>
            </a:r>
            <a:r>
              <a:rPr sz="2800" spc="-2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(2</a:t>
            </a:r>
            <a:r>
              <a:rPr sz="2800" spc="-2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voluntarios)</a:t>
            </a:r>
          </a:p>
        </p:txBody>
      </p:sp>
      <p:pic>
        <p:nvPicPr>
          <p:cNvPr id="11" name="object 5">
            <a:extLst>
              <a:ext uri="{FF2B5EF4-FFF2-40B4-BE49-F238E27FC236}">
                <a16:creationId xmlns:a16="http://schemas.microsoft.com/office/drawing/2014/main" id="{9D2CA911-F96C-4C2E-940C-40856F4E615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30555" y="2895600"/>
            <a:ext cx="2730890" cy="2520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04968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83D49147-6665-4E3D-899C-D582AC68A260}"/>
              </a:ext>
            </a:extLst>
          </p:cNvPr>
          <p:cNvSpPr/>
          <p:nvPr/>
        </p:nvSpPr>
        <p:spPr>
          <a:xfrm>
            <a:off x="0" y="304801"/>
            <a:ext cx="5659755" cy="5618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3237432-5409-4010-913D-63C769E0C667}"/>
              </a:ext>
            </a:extLst>
          </p:cNvPr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400" b="1" spc="-5" dirty="0">
                <a:solidFill>
                  <a:srgbClr val="FFFFFF"/>
                </a:solidFill>
                <a:latin typeface="Arial"/>
                <a:cs typeface="Arial"/>
              </a:rPr>
              <a:t>Caso práctico</a:t>
            </a:r>
            <a:endParaRPr lang="es-PE" sz="2400" dirty="0">
              <a:latin typeface="Arial"/>
              <a:cs typeface="Arial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A814BB19-1D9E-4067-AEBA-01A9345F4FE9}"/>
              </a:ext>
            </a:extLst>
          </p:cNvPr>
          <p:cNvSpPr txBox="1"/>
          <p:nvPr/>
        </p:nvSpPr>
        <p:spPr>
          <a:xfrm>
            <a:off x="3886200" y="3581400"/>
            <a:ext cx="6476999" cy="295402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90"/>
              </a:lnSpc>
            </a:pPr>
            <a:endParaRPr sz="3200" dirty="0">
              <a:latin typeface="Arial"/>
              <a:cs typeface="Arial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2751C15-745F-4C85-B21A-843C83F11E8E}"/>
              </a:ext>
            </a:extLst>
          </p:cNvPr>
          <p:cNvSpPr txBox="1"/>
          <p:nvPr/>
        </p:nvSpPr>
        <p:spPr>
          <a:xfrm>
            <a:off x="3039354" y="1831852"/>
            <a:ext cx="6096000" cy="1154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680"/>
              </a:spcBef>
            </a:pPr>
            <a:r>
              <a:rPr lang="es-ES" sz="3200" spc="-5" dirty="0">
                <a:latin typeface="Arial"/>
                <a:cs typeface="Arial"/>
              </a:rPr>
              <a:t>¿Qué</a:t>
            </a:r>
            <a:r>
              <a:rPr lang="es-ES" sz="3200" spc="-20" dirty="0">
                <a:latin typeface="Arial"/>
                <a:cs typeface="Arial"/>
              </a:rPr>
              <a:t> </a:t>
            </a:r>
            <a:r>
              <a:rPr lang="es-ES" sz="3200" spc="-5" dirty="0">
                <a:latin typeface="Arial"/>
                <a:cs typeface="Arial"/>
              </a:rPr>
              <a:t>se</a:t>
            </a:r>
            <a:r>
              <a:rPr lang="es-ES" sz="3200" spc="-15" dirty="0">
                <a:latin typeface="Arial"/>
                <a:cs typeface="Arial"/>
              </a:rPr>
              <a:t> </a:t>
            </a:r>
            <a:r>
              <a:rPr lang="es-ES" sz="3200" spc="-5" dirty="0">
                <a:latin typeface="Arial"/>
                <a:cs typeface="Arial"/>
              </a:rPr>
              <a:t>les</a:t>
            </a:r>
            <a:r>
              <a:rPr lang="es-ES" sz="3200" spc="-20" dirty="0">
                <a:latin typeface="Arial"/>
                <a:cs typeface="Arial"/>
              </a:rPr>
              <a:t> </a:t>
            </a:r>
            <a:r>
              <a:rPr lang="es-ES" sz="3200" spc="-5" dirty="0">
                <a:latin typeface="Arial"/>
                <a:cs typeface="Arial"/>
              </a:rPr>
              <a:t>hizo</a:t>
            </a:r>
            <a:r>
              <a:rPr lang="es-ES" sz="3200" spc="-15" dirty="0">
                <a:latin typeface="Arial"/>
                <a:cs typeface="Arial"/>
              </a:rPr>
              <a:t> </a:t>
            </a:r>
            <a:r>
              <a:rPr lang="es-ES" sz="3200" spc="-5" dirty="0">
                <a:latin typeface="Arial"/>
                <a:cs typeface="Arial"/>
              </a:rPr>
              <a:t>más</a:t>
            </a:r>
            <a:r>
              <a:rPr lang="es-ES" sz="3200" spc="-20" dirty="0">
                <a:latin typeface="Arial"/>
                <a:cs typeface="Arial"/>
              </a:rPr>
              <a:t> </a:t>
            </a:r>
            <a:r>
              <a:rPr lang="es-ES" sz="3200" dirty="0">
                <a:latin typeface="Arial"/>
                <a:cs typeface="Arial"/>
              </a:rPr>
              <a:t>fácil?</a:t>
            </a:r>
          </a:p>
          <a:p>
            <a:pPr algn="ctr">
              <a:lnSpc>
                <a:spcPct val="100000"/>
              </a:lnSpc>
              <a:spcBef>
                <a:spcPts val="585"/>
              </a:spcBef>
            </a:pPr>
            <a:r>
              <a:rPr lang="es-ES" sz="3200" spc="-5" dirty="0">
                <a:latin typeface="Arial"/>
                <a:cs typeface="Arial"/>
              </a:rPr>
              <a:t>¿Qué</a:t>
            </a:r>
            <a:r>
              <a:rPr lang="es-ES" sz="3200" spc="-20" dirty="0">
                <a:latin typeface="Arial"/>
                <a:cs typeface="Arial"/>
              </a:rPr>
              <a:t> </a:t>
            </a:r>
            <a:r>
              <a:rPr lang="es-ES" sz="3200" spc="-5" dirty="0">
                <a:latin typeface="Arial"/>
                <a:cs typeface="Arial"/>
              </a:rPr>
              <a:t>se</a:t>
            </a:r>
            <a:r>
              <a:rPr lang="es-ES" sz="3200" spc="-20" dirty="0">
                <a:latin typeface="Arial"/>
                <a:cs typeface="Arial"/>
              </a:rPr>
              <a:t> </a:t>
            </a:r>
            <a:r>
              <a:rPr lang="es-ES" sz="3200" spc="-5" dirty="0">
                <a:latin typeface="Arial"/>
                <a:cs typeface="Arial"/>
              </a:rPr>
              <a:t>les</a:t>
            </a:r>
            <a:r>
              <a:rPr lang="es-ES" sz="3200" spc="-20" dirty="0">
                <a:latin typeface="Arial"/>
                <a:cs typeface="Arial"/>
              </a:rPr>
              <a:t> </a:t>
            </a:r>
            <a:r>
              <a:rPr lang="es-ES" sz="3200" spc="-5" dirty="0">
                <a:latin typeface="Arial"/>
                <a:cs typeface="Arial"/>
              </a:rPr>
              <a:t>hizo</a:t>
            </a:r>
            <a:r>
              <a:rPr lang="es-ES" sz="3200" spc="-15" dirty="0">
                <a:latin typeface="Arial"/>
                <a:cs typeface="Arial"/>
              </a:rPr>
              <a:t> </a:t>
            </a:r>
            <a:r>
              <a:rPr lang="es-ES" sz="3200" spc="-5" dirty="0">
                <a:latin typeface="Arial"/>
                <a:cs typeface="Arial"/>
              </a:rPr>
              <a:t>más</a:t>
            </a:r>
            <a:r>
              <a:rPr lang="es-ES" sz="3200" spc="-20" dirty="0">
                <a:latin typeface="Arial"/>
                <a:cs typeface="Arial"/>
              </a:rPr>
              <a:t> </a:t>
            </a:r>
            <a:r>
              <a:rPr lang="es-ES" sz="3200" spc="-5" dirty="0">
                <a:latin typeface="Arial"/>
                <a:cs typeface="Arial"/>
              </a:rPr>
              <a:t>retador?</a:t>
            </a:r>
            <a:endParaRPr lang="es-ES" sz="3200" dirty="0">
              <a:latin typeface="Arial"/>
              <a:cs typeface="Arial"/>
            </a:endParaRPr>
          </a:p>
        </p:txBody>
      </p:sp>
      <p:pic>
        <p:nvPicPr>
          <p:cNvPr id="13" name="object 4">
            <a:extLst>
              <a:ext uri="{FF2B5EF4-FFF2-40B4-BE49-F238E27FC236}">
                <a16:creationId xmlns:a16="http://schemas.microsoft.com/office/drawing/2014/main" id="{92ED82CC-0303-4C90-82F6-3B913B77FAE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53000" y="3618011"/>
            <a:ext cx="2047300" cy="2047300"/>
          </a:xfrm>
          <a:prstGeom prst="rect">
            <a:avLst/>
          </a:prstGeom>
        </p:spPr>
      </p:pic>
      <p:pic>
        <p:nvPicPr>
          <p:cNvPr id="14" name="object 4">
            <a:extLst>
              <a:ext uri="{FF2B5EF4-FFF2-40B4-BE49-F238E27FC236}">
                <a16:creationId xmlns:a16="http://schemas.microsoft.com/office/drawing/2014/main" id="{DFA14601-CB10-4DE1-8C05-A33670A49AD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66673" y="318461"/>
            <a:ext cx="548164" cy="548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92879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83D49147-6665-4E3D-899C-D582AC68A260}"/>
              </a:ext>
            </a:extLst>
          </p:cNvPr>
          <p:cNvSpPr/>
          <p:nvPr/>
        </p:nvSpPr>
        <p:spPr>
          <a:xfrm>
            <a:off x="0" y="304801"/>
            <a:ext cx="5659755" cy="5618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3237432-5409-4010-913D-63C769E0C667}"/>
              </a:ext>
            </a:extLst>
          </p:cNvPr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400" b="1" spc="-5" dirty="0">
                <a:solidFill>
                  <a:srgbClr val="FFFFFF"/>
                </a:solidFill>
                <a:latin typeface="Arial"/>
                <a:cs typeface="Arial"/>
              </a:rPr>
              <a:t>Conclusiones</a:t>
            </a:r>
            <a:endParaRPr lang="es-PE" sz="2400" dirty="0">
              <a:latin typeface="Arial"/>
              <a:cs typeface="Arial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A814BB19-1D9E-4067-AEBA-01A9345F4FE9}"/>
              </a:ext>
            </a:extLst>
          </p:cNvPr>
          <p:cNvSpPr txBox="1"/>
          <p:nvPr/>
        </p:nvSpPr>
        <p:spPr>
          <a:xfrm>
            <a:off x="3886200" y="3581400"/>
            <a:ext cx="6476999" cy="295402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90"/>
              </a:lnSpc>
            </a:pPr>
            <a:endParaRPr sz="3200" dirty="0">
              <a:latin typeface="Arial"/>
              <a:cs typeface="Arial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2751C15-745F-4C85-B21A-843C83F11E8E}"/>
              </a:ext>
            </a:extLst>
          </p:cNvPr>
          <p:cNvSpPr txBox="1"/>
          <p:nvPr/>
        </p:nvSpPr>
        <p:spPr>
          <a:xfrm>
            <a:off x="2243577" y="2644170"/>
            <a:ext cx="768755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s-ES" sz="3200" spc="-5" dirty="0">
                <a:latin typeface="Arial"/>
                <a:cs typeface="Arial"/>
              </a:rPr>
              <a:t>Tomar apuntes de manera eficaz ayuda a consolidar el  aprendizaje y prepararse para los exámenes.</a:t>
            </a:r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C43E916E-CF2E-42D4-96E7-92D72D2AC94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05310" y="304802"/>
            <a:ext cx="561824" cy="561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60172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83D49147-6665-4E3D-899C-D582AC68A260}"/>
              </a:ext>
            </a:extLst>
          </p:cNvPr>
          <p:cNvSpPr/>
          <p:nvPr/>
        </p:nvSpPr>
        <p:spPr>
          <a:xfrm>
            <a:off x="0" y="304801"/>
            <a:ext cx="5659755" cy="5618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3237432-5409-4010-913D-63C769E0C667}"/>
              </a:ext>
            </a:extLst>
          </p:cNvPr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s-ES" sz="2400" b="1" spc="-5" dirty="0">
                <a:solidFill>
                  <a:srgbClr val="FFFFFF"/>
                </a:solidFill>
                <a:latin typeface="Arial"/>
                <a:cs typeface="Arial"/>
              </a:rPr>
              <a:t>Conclusiones</a:t>
            </a:r>
            <a:endParaRPr lang="es-PE" sz="2400" dirty="0">
              <a:latin typeface="Arial"/>
              <a:cs typeface="Arial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A814BB19-1D9E-4067-AEBA-01A9345F4FE9}"/>
              </a:ext>
            </a:extLst>
          </p:cNvPr>
          <p:cNvSpPr txBox="1"/>
          <p:nvPr/>
        </p:nvSpPr>
        <p:spPr>
          <a:xfrm>
            <a:off x="3886200" y="3581400"/>
            <a:ext cx="6476999" cy="295402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90"/>
              </a:lnSpc>
            </a:pPr>
            <a:endParaRPr sz="3200" dirty="0">
              <a:latin typeface="Arial"/>
              <a:cs typeface="Arial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2751C15-745F-4C85-B21A-843C83F11E8E}"/>
              </a:ext>
            </a:extLst>
          </p:cNvPr>
          <p:cNvSpPr txBox="1"/>
          <p:nvPr/>
        </p:nvSpPr>
        <p:spPr>
          <a:xfrm>
            <a:off x="2243577" y="3149025"/>
            <a:ext cx="76875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s-ES" sz="3200" b="1" spc="-5" dirty="0">
                <a:latin typeface="Arial"/>
                <a:cs typeface="Arial"/>
              </a:rPr>
              <a:t>¿Qué</a:t>
            </a:r>
            <a:r>
              <a:rPr lang="es-ES" sz="3200" b="1" spc="-20" dirty="0">
                <a:latin typeface="Arial"/>
                <a:cs typeface="Arial"/>
              </a:rPr>
              <a:t> </a:t>
            </a:r>
            <a:r>
              <a:rPr lang="es-ES" sz="3200" b="1" spc="-5" dirty="0">
                <a:latin typeface="Arial"/>
                <a:cs typeface="Arial"/>
              </a:rPr>
              <a:t>hemos</a:t>
            </a:r>
            <a:r>
              <a:rPr lang="es-ES" sz="3200" b="1" spc="-15" dirty="0">
                <a:latin typeface="Arial"/>
                <a:cs typeface="Arial"/>
              </a:rPr>
              <a:t> </a:t>
            </a:r>
            <a:r>
              <a:rPr lang="es-ES" sz="3200" b="1" spc="-5" dirty="0">
                <a:latin typeface="Arial"/>
                <a:cs typeface="Arial"/>
              </a:rPr>
              <a:t>aprendido</a:t>
            </a:r>
            <a:r>
              <a:rPr lang="es-ES" sz="3200" b="1" spc="-15" dirty="0">
                <a:latin typeface="Arial"/>
                <a:cs typeface="Arial"/>
              </a:rPr>
              <a:t> </a:t>
            </a:r>
            <a:r>
              <a:rPr lang="es-ES" sz="3200" b="1" spc="-5" dirty="0">
                <a:latin typeface="Arial"/>
                <a:cs typeface="Arial"/>
              </a:rPr>
              <a:t>el</a:t>
            </a:r>
            <a:r>
              <a:rPr lang="es-ES" sz="3200" b="1" spc="-15" dirty="0">
                <a:latin typeface="Arial"/>
                <a:cs typeface="Arial"/>
              </a:rPr>
              <a:t> </a:t>
            </a:r>
            <a:r>
              <a:rPr lang="es-ES" sz="3200" b="1" spc="-5" dirty="0">
                <a:latin typeface="Arial"/>
                <a:cs typeface="Arial"/>
              </a:rPr>
              <a:t>día</a:t>
            </a:r>
            <a:r>
              <a:rPr lang="es-ES" sz="3200" b="1" spc="-15" dirty="0">
                <a:latin typeface="Arial"/>
                <a:cs typeface="Arial"/>
              </a:rPr>
              <a:t> </a:t>
            </a:r>
            <a:r>
              <a:rPr lang="es-ES" sz="3200" b="1" spc="-5" dirty="0">
                <a:latin typeface="Arial"/>
                <a:cs typeface="Arial"/>
              </a:rPr>
              <a:t>de</a:t>
            </a:r>
            <a:r>
              <a:rPr lang="es-ES" sz="3200" b="1" spc="-20" dirty="0">
                <a:latin typeface="Arial"/>
                <a:cs typeface="Arial"/>
              </a:rPr>
              <a:t> </a:t>
            </a:r>
            <a:r>
              <a:rPr lang="es-ES" sz="3200" b="1" spc="-5" dirty="0">
                <a:latin typeface="Arial"/>
                <a:cs typeface="Arial"/>
              </a:rPr>
              <a:t>hoy?</a:t>
            </a:r>
            <a:endParaRPr lang="es-ES" sz="3200" dirty="0">
              <a:latin typeface="Arial"/>
              <a:cs typeface="Arial"/>
            </a:endParaRPr>
          </a:p>
        </p:txBody>
      </p:sp>
      <p:pic>
        <p:nvPicPr>
          <p:cNvPr id="9" name="object 4">
            <a:extLst>
              <a:ext uri="{FF2B5EF4-FFF2-40B4-BE49-F238E27FC236}">
                <a16:creationId xmlns:a16="http://schemas.microsoft.com/office/drawing/2014/main" id="{F428FEBE-63F0-4356-811F-98BF885720B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66673" y="318461"/>
            <a:ext cx="548164" cy="548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15115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6E22592B-C9AA-4B2C-9DFD-042BF015F65D}"/>
              </a:ext>
            </a:extLst>
          </p:cNvPr>
          <p:cNvSpPr txBox="1"/>
          <p:nvPr/>
        </p:nvSpPr>
        <p:spPr>
          <a:xfrm>
            <a:off x="1485900" y="1351508"/>
            <a:ext cx="92202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400" dirty="0"/>
              <a:t>En conclusión, el estudio de patrones de comportamiento y </a:t>
            </a:r>
            <a:r>
              <a:rPr lang="es-ES" sz="2400" dirty="0" err="1"/>
              <a:t>antipatrones</a:t>
            </a:r>
            <a:r>
              <a:rPr lang="es-ES" sz="2400" dirty="0"/>
              <a:t> ofrece a los estudiantes herramientas valiosas para mejorar la calidad del software y la eficacia organizacional. Los patrones de comportamiento, como </a:t>
            </a:r>
            <a:r>
              <a:rPr lang="es-ES" sz="2400" dirty="0" err="1"/>
              <a:t>State</a:t>
            </a:r>
            <a:r>
              <a:rPr lang="es-ES" sz="2400" dirty="0"/>
              <a:t> y </a:t>
            </a:r>
            <a:r>
              <a:rPr lang="es-ES" sz="2400" dirty="0" err="1"/>
              <a:t>Observer</a:t>
            </a:r>
            <a:r>
              <a:rPr lang="es-ES" sz="2400" dirty="0"/>
              <a:t>, permiten crear sistemas flexibles y adaptables, optimizando la gestión del estado y la comunicación entre objetos. Por otro lado, conocer los </a:t>
            </a:r>
            <a:r>
              <a:rPr lang="es-ES" sz="2400" dirty="0" err="1"/>
              <a:t>antipatrones</a:t>
            </a:r>
            <a:r>
              <a:rPr lang="es-ES" sz="2400" dirty="0"/>
              <a:t> ayuda a evitar prácticas y soluciones ineficaces, promoviendo un desarrollo de software más sólido y una gestión organizacional más eficiente. En conjunto, estos conocimientos permiten a los estudiantes enfrentar desafíos técnicos y organizacionales de manera más efectiva, preparándolos para un desempeño sobresaliente en el ámbito profesional.</a:t>
            </a:r>
          </a:p>
        </p:txBody>
      </p:sp>
    </p:spTree>
    <p:extLst>
      <p:ext uri="{BB962C8B-B14F-4D97-AF65-F5344CB8AC3E}">
        <p14:creationId xmlns:p14="http://schemas.microsoft.com/office/powerpoint/2010/main" val="358168625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83D49147-6665-4E3D-899C-D582AC68A260}"/>
              </a:ext>
            </a:extLst>
          </p:cNvPr>
          <p:cNvSpPr/>
          <p:nvPr/>
        </p:nvSpPr>
        <p:spPr>
          <a:xfrm>
            <a:off x="0" y="304801"/>
            <a:ext cx="5659755" cy="5618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3237432-5409-4010-913D-63C769E0C667}"/>
              </a:ext>
            </a:extLst>
          </p:cNvPr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400" b="1" spc="-5" dirty="0">
                <a:solidFill>
                  <a:srgbClr val="FFFFFF"/>
                </a:solidFill>
                <a:latin typeface="Arial"/>
                <a:cs typeface="Arial"/>
              </a:rPr>
              <a:t>Tarea</a:t>
            </a:r>
            <a:endParaRPr lang="es-PE" sz="2400" dirty="0">
              <a:latin typeface="Arial"/>
              <a:cs typeface="Arial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A814BB19-1D9E-4067-AEBA-01A9345F4FE9}"/>
              </a:ext>
            </a:extLst>
          </p:cNvPr>
          <p:cNvSpPr txBox="1"/>
          <p:nvPr/>
        </p:nvSpPr>
        <p:spPr>
          <a:xfrm>
            <a:off x="3886200" y="3581400"/>
            <a:ext cx="6476999" cy="295402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90"/>
              </a:lnSpc>
            </a:pPr>
            <a:endParaRPr sz="3200" dirty="0">
              <a:latin typeface="Arial"/>
              <a:cs typeface="Arial"/>
            </a:endParaRPr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C43E916E-CF2E-42D4-96E7-92D72D2AC94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05310" y="304802"/>
            <a:ext cx="561824" cy="561824"/>
          </a:xfrm>
          <a:prstGeom prst="rect">
            <a:avLst/>
          </a:prstGeom>
        </p:spPr>
      </p:pic>
      <p:sp>
        <p:nvSpPr>
          <p:cNvPr id="10" name="object 7">
            <a:extLst>
              <a:ext uri="{FF2B5EF4-FFF2-40B4-BE49-F238E27FC236}">
                <a16:creationId xmlns:a16="http://schemas.microsoft.com/office/drawing/2014/main" id="{6C1EBD77-2009-467A-8F43-D98057869CA7}"/>
              </a:ext>
            </a:extLst>
          </p:cNvPr>
          <p:cNvSpPr txBox="1"/>
          <p:nvPr/>
        </p:nvSpPr>
        <p:spPr>
          <a:xfrm>
            <a:off x="1243933" y="5802868"/>
            <a:ext cx="9704133" cy="369332"/>
          </a:xfrm>
          <a:prstGeom prst="rect">
            <a:avLst/>
          </a:prstGeom>
          <a:solidFill>
            <a:srgbClr val="D9EAD3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sz="2400" i="1" spc="-5" dirty="0">
                <a:latin typeface="Arial" panose="020B0604020202020204" pitchFamily="34" charset="0"/>
                <a:cs typeface="Arial" panose="020B0604020202020204" pitchFamily="34" charset="0"/>
              </a:rPr>
              <a:t>Nota:</a:t>
            </a:r>
            <a:r>
              <a:rPr sz="2400" i="1" spc="-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i="1" spc="-5" dirty="0">
                <a:latin typeface="Arial" panose="020B0604020202020204" pitchFamily="34" charset="0"/>
                <a:cs typeface="Arial" panose="020B0604020202020204" pitchFamily="34" charset="0"/>
              </a:rPr>
              <a:t>Entrega de manera escrita, en la siguiente clase.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B913813-9D6A-4621-9C68-57F927714A26}"/>
              </a:ext>
            </a:extLst>
          </p:cNvPr>
          <p:cNvSpPr txBox="1"/>
          <p:nvPr/>
        </p:nvSpPr>
        <p:spPr>
          <a:xfrm>
            <a:off x="1243933" y="1016366"/>
            <a:ext cx="942406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000" b="1" dirty="0" err="1"/>
              <a:t>Antipatrones</a:t>
            </a:r>
            <a:r>
              <a:rPr lang="es-ES" sz="2000" b="1" dirty="0"/>
              <a:t>:</a:t>
            </a:r>
          </a:p>
          <a:p>
            <a:pPr algn="ctr"/>
            <a:r>
              <a:rPr lang="es-ES" sz="2000" b="1" dirty="0"/>
              <a:t>- Concepto, Propósito - </a:t>
            </a:r>
            <a:r>
              <a:rPr lang="es-ES" sz="2000" b="1" dirty="0" err="1"/>
              <a:t>Antipatrones</a:t>
            </a:r>
            <a:r>
              <a:rPr lang="es-ES" sz="2000" b="1" dirty="0"/>
              <a:t> de desarrollo de software</a:t>
            </a:r>
          </a:p>
          <a:p>
            <a:pPr algn="ctr"/>
            <a:r>
              <a:rPr lang="es-ES" sz="2000" b="1" dirty="0"/>
              <a:t>- </a:t>
            </a:r>
            <a:r>
              <a:rPr lang="es-ES" sz="2000" b="1" dirty="0" err="1"/>
              <a:t>Antipatrones</a:t>
            </a:r>
            <a:r>
              <a:rPr lang="es-ES" sz="2000" b="1" dirty="0"/>
              <a:t> organizacionales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43217EB-9FB3-4386-B482-25BD63A772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399" y="2051328"/>
            <a:ext cx="11125200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PE" altLang="es-PE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Investigación y Conceptos Básicos:</a:t>
            </a:r>
            <a:endParaRPr kumimoji="0" lang="es-PE" altLang="es-PE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PE" altLang="es-P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Investiga y comprende el concepto y propósito de los </a:t>
            </a:r>
            <a:r>
              <a:rPr kumimoji="0" lang="es-PE" altLang="es-PE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antipatrones</a:t>
            </a:r>
            <a:r>
              <a:rPr kumimoji="0" lang="es-PE" altLang="es-P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tanto en el desarrollo de software como en el ámbito organizacional. Asegúrate de conocer ejemplos comunes y los problemas que pueden surgir a partir de ellos.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PE" altLang="es-PE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PE" altLang="es-PE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Análisis de </a:t>
            </a:r>
            <a:r>
              <a:rPr kumimoji="0" lang="es-PE" altLang="es-PE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Antipatrones</a:t>
            </a:r>
            <a:r>
              <a:rPr kumimoji="0" lang="es-PE" altLang="es-PE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de Desarrollo de Software:</a:t>
            </a:r>
            <a:endParaRPr kumimoji="0" lang="es-PE" altLang="es-PE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PE" altLang="es-P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Elige tres </a:t>
            </a:r>
            <a:r>
              <a:rPr kumimoji="0" lang="es-PE" altLang="es-PE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antipatrones</a:t>
            </a:r>
            <a:r>
              <a:rPr kumimoji="0" lang="es-PE" altLang="es-P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comunes en el desarrollo de software (por ejemplo, "Big Ball </a:t>
            </a:r>
            <a:r>
              <a:rPr kumimoji="0" lang="es-PE" altLang="es-PE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of</a:t>
            </a:r>
            <a:r>
              <a:rPr kumimoji="0" lang="es-PE" altLang="es-P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PE" altLang="es-PE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Mud</a:t>
            </a:r>
            <a:r>
              <a:rPr kumimoji="0" lang="es-PE" altLang="es-P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", "Golden </a:t>
            </a:r>
            <a:r>
              <a:rPr kumimoji="0" lang="es-PE" altLang="es-PE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Hammer</a:t>
            </a:r>
            <a:r>
              <a:rPr kumimoji="0" lang="es-PE" altLang="es-P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", "Spaghetti </a:t>
            </a:r>
            <a:r>
              <a:rPr kumimoji="0" lang="es-PE" altLang="es-PE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Code</a:t>
            </a:r>
            <a:r>
              <a:rPr kumimoji="0" lang="es-PE" altLang="es-P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"). Describe cada uno en detalle, explicando cómo afectan la calidad del software, la mantenibilidad y el desarrollo.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PE" altLang="es-PE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algn="just"/>
            <a:r>
              <a:rPr lang="es-ES" b="1" dirty="0"/>
              <a:t>Análisis de </a:t>
            </a:r>
            <a:r>
              <a:rPr lang="es-ES" b="1" dirty="0" err="1"/>
              <a:t>Antipatrones</a:t>
            </a:r>
            <a:r>
              <a:rPr lang="es-ES" b="1" dirty="0"/>
              <a:t> Organizacionales:</a:t>
            </a:r>
            <a:endParaRPr lang="es-ES" dirty="0"/>
          </a:p>
          <a:p>
            <a:pPr algn="just"/>
            <a:r>
              <a:rPr lang="es-ES" dirty="0"/>
              <a:t>Selecciona tres </a:t>
            </a:r>
            <a:r>
              <a:rPr lang="es-ES" dirty="0" err="1"/>
              <a:t>antipatrones</a:t>
            </a:r>
            <a:r>
              <a:rPr lang="es-ES" dirty="0"/>
              <a:t> organizacionales comunes (por ejemplo, "Mando y Control", "El Silencio del Grupo", "Falta de Visión"). Describe cada </a:t>
            </a:r>
            <a:r>
              <a:rPr lang="es-ES" dirty="0" err="1"/>
              <a:t>antipatron</a:t>
            </a:r>
            <a:r>
              <a:rPr lang="es-ES" dirty="0"/>
              <a:t>, incluyendo cómo afecta la dinámica del equipo y la eficiencia organizacional.</a:t>
            </a:r>
            <a:endParaRPr kumimoji="0" lang="es-PE" altLang="es-PE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039874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83D49147-6665-4E3D-899C-D582AC68A260}"/>
              </a:ext>
            </a:extLst>
          </p:cNvPr>
          <p:cNvSpPr/>
          <p:nvPr/>
        </p:nvSpPr>
        <p:spPr>
          <a:xfrm>
            <a:off x="0" y="304801"/>
            <a:ext cx="5659755" cy="5618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3237432-5409-4010-913D-63C769E0C667}"/>
              </a:ext>
            </a:extLst>
          </p:cNvPr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400" b="1" spc="-5" dirty="0">
                <a:solidFill>
                  <a:srgbClr val="FFFFFF"/>
                </a:solidFill>
                <a:latin typeface="Arial"/>
                <a:cs typeface="Arial"/>
              </a:rPr>
              <a:t>Recursos</a:t>
            </a:r>
            <a:endParaRPr lang="es-PE" sz="2400" dirty="0">
              <a:latin typeface="Arial"/>
              <a:cs typeface="Arial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A814BB19-1D9E-4067-AEBA-01A9345F4FE9}"/>
              </a:ext>
            </a:extLst>
          </p:cNvPr>
          <p:cNvSpPr txBox="1"/>
          <p:nvPr/>
        </p:nvSpPr>
        <p:spPr>
          <a:xfrm>
            <a:off x="3886200" y="3581400"/>
            <a:ext cx="6476999" cy="295402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90"/>
              </a:lnSpc>
            </a:pPr>
            <a:endParaRPr sz="3200" dirty="0">
              <a:latin typeface="Arial"/>
              <a:cs typeface="Arial"/>
            </a:endParaRPr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C43E916E-CF2E-42D4-96E7-92D72D2AC94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05310" y="304802"/>
            <a:ext cx="561824" cy="561824"/>
          </a:xfrm>
          <a:prstGeom prst="rect">
            <a:avLst/>
          </a:prstGeom>
        </p:spPr>
      </p:pic>
      <p:sp>
        <p:nvSpPr>
          <p:cNvPr id="10" name="object 7">
            <a:extLst>
              <a:ext uri="{FF2B5EF4-FFF2-40B4-BE49-F238E27FC236}">
                <a16:creationId xmlns:a16="http://schemas.microsoft.com/office/drawing/2014/main" id="{6C1EBD77-2009-467A-8F43-D98057869CA7}"/>
              </a:ext>
            </a:extLst>
          </p:cNvPr>
          <p:cNvSpPr txBox="1"/>
          <p:nvPr/>
        </p:nvSpPr>
        <p:spPr>
          <a:xfrm>
            <a:off x="1243933" y="5472302"/>
            <a:ext cx="9704133" cy="369332"/>
          </a:xfrm>
          <a:prstGeom prst="rect">
            <a:avLst/>
          </a:prstGeom>
          <a:solidFill>
            <a:srgbClr val="D9EAD3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sz="2400" i="1" spc="-5" dirty="0">
                <a:latin typeface="Arial" panose="020B0604020202020204" pitchFamily="34" charset="0"/>
                <a:cs typeface="Arial" panose="020B0604020202020204" pitchFamily="34" charset="0"/>
              </a:rPr>
              <a:t>Nota:</a:t>
            </a:r>
            <a:r>
              <a:rPr sz="2400" i="1" spc="-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i="1" spc="-5" dirty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r>
              <a:rPr lang="es-ES" sz="2400" i="1" spc="-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PE" sz="2400" i="1" spc="-5" dirty="0">
                <a:latin typeface="Arial" panose="020B0604020202020204" pitchFamily="34" charset="0"/>
                <a:cs typeface="Arial" panose="020B0604020202020204" pitchFamily="34" charset="0"/>
              </a:rPr>
              <a:t>olvides </a:t>
            </a:r>
            <a:r>
              <a:rPr lang="es-ES" sz="2400" i="1" spc="-5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s-PE" sz="2400" i="1" spc="-5" dirty="0" err="1">
                <a:latin typeface="Arial" panose="020B0604020202020204" pitchFamily="34" charset="0"/>
                <a:cs typeface="Arial" panose="020B0604020202020204" pitchFamily="34" charset="0"/>
              </a:rPr>
              <a:t>ambién</a:t>
            </a:r>
            <a:r>
              <a:rPr sz="2400" i="1" spc="-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i="1" spc="-10" dirty="0">
                <a:latin typeface="Arial" panose="020B0604020202020204" pitchFamily="34" charset="0"/>
                <a:cs typeface="Arial" panose="020B0604020202020204" pitchFamily="34" charset="0"/>
              </a:rPr>
              <a:t>revisar tu plataforma </a:t>
            </a:r>
            <a:r>
              <a:rPr lang="es-ES" sz="2400" i="1" spc="-10" dirty="0" err="1">
                <a:latin typeface="Arial" panose="020B0604020202020204" pitchFamily="34" charset="0"/>
                <a:cs typeface="Arial" panose="020B0604020202020204" pitchFamily="34" charset="0"/>
              </a:rPr>
              <a:t>UTP+Class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23B0927F-97D1-45B4-AE70-5270DFA95140}"/>
              </a:ext>
            </a:extLst>
          </p:cNvPr>
          <p:cNvSpPr txBox="1"/>
          <p:nvPr/>
        </p:nvSpPr>
        <p:spPr>
          <a:xfrm>
            <a:off x="1028700" y="1371600"/>
            <a:ext cx="101346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b="1" dirty="0"/>
              <a:t>1. Videos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 Video 1</a:t>
            </a:r>
            <a:r>
              <a:rPr lang="es-ES" dirty="0"/>
              <a:t>: </a:t>
            </a:r>
            <a:r>
              <a:rPr lang="es-ES" dirty="0">
                <a:hlinkClick r:id="rId3"/>
              </a:rPr>
              <a:t>https://www.youtube.com/watch?v=hKizhA69h2k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 Video 2</a:t>
            </a:r>
            <a:r>
              <a:rPr lang="es-ES" dirty="0"/>
              <a:t>: </a:t>
            </a:r>
            <a:r>
              <a:rPr lang="es-ES" dirty="0">
                <a:hlinkClick r:id="rId4"/>
              </a:rPr>
              <a:t>https://www.youtube.com/watch?v=Q_319F0bLEg</a:t>
            </a:r>
            <a:endParaRPr lang="es-ES" dirty="0"/>
          </a:p>
          <a:p>
            <a:endParaRPr lang="es-ES" dirty="0"/>
          </a:p>
          <a:p>
            <a:r>
              <a:rPr lang="es-ES" sz="2400" b="1" dirty="0"/>
              <a:t>2. Páginas Web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 Página Web 1</a:t>
            </a:r>
            <a:r>
              <a:rPr lang="es-ES" dirty="0"/>
              <a:t>: </a:t>
            </a:r>
            <a:r>
              <a:rPr lang="es-ES" dirty="0">
                <a:hlinkClick r:id="rId5"/>
              </a:rPr>
              <a:t>https://aprendearquitecturasoftware.wordpress.com/2018/10/15/anti-patrones/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25996888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83D49147-6665-4E3D-899C-D582AC68A260}"/>
              </a:ext>
            </a:extLst>
          </p:cNvPr>
          <p:cNvSpPr/>
          <p:nvPr/>
        </p:nvSpPr>
        <p:spPr>
          <a:xfrm>
            <a:off x="0" y="304801"/>
            <a:ext cx="5659755" cy="5618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3237432-5409-4010-913D-63C769E0C667}"/>
              </a:ext>
            </a:extLst>
          </p:cNvPr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400" b="1" spc="-5" dirty="0">
                <a:solidFill>
                  <a:srgbClr val="FFFFFF"/>
                </a:solidFill>
                <a:latin typeface="Arial"/>
                <a:cs typeface="Arial"/>
              </a:rPr>
              <a:t>Tarea</a:t>
            </a:r>
            <a:endParaRPr lang="es-PE" sz="2400" dirty="0">
              <a:latin typeface="Arial"/>
              <a:cs typeface="Arial"/>
            </a:endParaRPr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C43E916E-CF2E-42D4-96E7-92D72D2AC94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05310" y="304802"/>
            <a:ext cx="561824" cy="561824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324A635F-D0BC-448C-963A-9F264D0DBAC1}"/>
              </a:ext>
            </a:extLst>
          </p:cNvPr>
          <p:cNvSpPr txBox="1"/>
          <p:nvPr/>
        </p:nvSpPr>
        <p:spPr>
          <a:xfrm>
            <a:off x="914400" y="2828835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600" b="1" dirty="0">
                <a:latin typeface="Arial" panose="020B0604020202020204" pitchFamily="34" charset="0"/>
                <a:cs typeface="Arial" panose="020B0604020202020204" pitchFamily="34" charset="0"/>
              </a:rPr>
              <a:t>MUCHAS</a:t>
            </a:r>
            <a:r>
              <a:rPr lang="es-ES" sz="3600" b="1" spc="-20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3600" b="1" spc="-10" dirty="0">
                <a:latin typeface="Arial" panose="020B0604020202020204" pitchFamily="34" charset="0"/>
                <a:cs typeface="Arial" panose="020B0604020202020204" pitchFamily="34" charset="0"/>
              </a:rPr>
              <a:t>GRACIAS </a:t>
            </a:r>
            <a:r>
              <a:rPr lang="es-ES" sz="3600" b="1" dirty="0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s-ES" sz="3600" b="1"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3600" b="1" dirty="0">
                <a:latin typeface="Arial" panose="020B0604020202020204" pitchFamily="34" charset="0"/>
                <a:cs typeface="Arial" panose="020B0604020202020204" pitchFamily="34" charset="0"/>
              </a:rPr>
              <a:t>DIOS</a:t>
            </a:r>
            <a:r>
              <a:rPr lang="es-ES" sz="3600" b="1"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3600" b="1" dirty="0"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lang="es-ES" sz="3600" b="1"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3600" b="1" spc="-10" dirty="0">
                <a:latin typeface="Arial" panose="020B0604020202020204" pitchFamily="34" charset="0"/>
                <a:cs typeface="Arial" panose="020B0604020202020204" pitchFamily="34" charset="0"/>
              </a:rPr>
              <a:t>BENDIGA!!!</a:t>
            </a:r>
            <a:endParaRPr lang="es-PE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object 3">
            <a:extLst>
              <a:ext uri="{FF2B5EF4-FFF2-40B4-BE49-F238E27FC236}">
                <a16:creationId xmlns:a16="http://schemas.microsoft.com/office/drawing/2014/main" id="{3D95F103-6F5F-4016-A9CD-2446F09D302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467600" y="1216152"/>
            <a:ext cx="3056381" cy="4425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58288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191E5126-E36B-4AD7-8091-51DA2789C594}"/>
              </a:ext>
            </a:extLst>
          </p:cNvPr>
          <p:cNvGrpSpPr/>
          <p:nvPr/>
        </p:nvGrpSpPr>
        <p:grpSpPr>
          <a:xfrm>
            <a:off x="2057400" y="152400"/>
            <a:ext cx="9906000" cy="4152900"/>
            <a:chOff x="2057400" y="152400"/>
            <a:chExt cx="9906000" cy="4152900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A185A945-435F-4D6F-A7D2-DE90E0F72053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57400" y="2552700"/>
              <a:ext cx="7856700" cy="1752600"/>
            </a:xfrm>
            <a:prstGeom prst="rect">
              <a:avLst/>
            </a:prstGeom>
          </p:spPr>
        </p:pic>
        <p:sp>
          <p:nvSpPr>
            <p:cNvPr id="5" name="Rectángulo 4">
              <a:extLst>
                <a:ext uri="{FF2B5EF4-FFF2-40B4-BE49-F238E27FC236}">
                  <a16:creationId xmlns:a16="http://schemas.microsoft.com/office/drawing/2014/main" id="{9E930664-20E1-44C4-BD93-6761C99A64C5}"/>
                </a:ext>
              </a:extLst>
            </p:cNvPr>
            <p:cNvSpPr/>
            <p:nvPr/>
          </p:nvSpPr>
          <p:spPr>
            <a:xfrm>
              <a:off x="9144000" y="152400"/>
              <a:ext cx="2819400" cy="76272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1404</TotalTime>
  <Words>2403</Words>
  <Application>Microsoft Office PowerPoint</Application>
  <PresentationFormat>Panorámica</PresentationFormat>
  <Paragraphs>186</Paragraphs>
  <Slides>42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42</vt:i4>
      </vt:variant>
    </vt:vector>
  </HeadingPairs>
  <TitlesOfParts>
    <vt:vector size="50" baseType="lpstr">
      <vt:lpstr>Arial</vt:lpstr>
      <vt:lpstr>Arial MT</vt:lpstr>
      <vt:lpstr>Calibri</vt:lpstr>
      <vt:lpstr>Calibri Light</vt:lpstr>
      <vt:lpstr>CentSchbkCyrill BT</vt:lpstr>
      <vt:lpstr>Inter</vt:lpstr>
      <vt:lpstr>Rubik</vt:lpstr>
      <vt:lpstr>Office Theme</vt:lpstr>
      <vt:lpstr>Presentación de PowerPoint</vt:lpstr>
      <vt:lpstr>CURSO: DISEÑO DE PATRONES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Caso práctico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VPC Networking</dc:title>
  <dc:creator>Julia</dc:creator>
  <cp:lastModifiedBy>Ronald Ayra Pinto</cp:lastModifiedBy>
  <cp:revision>148</cp:revision>
  <dcterms:created xsi:type="dcterms:W3CDTF">2024-06-11T03:36:57Z</dcterms:created>
  <dcterms:modified xsi:type="dcterms:W3CDTF">2024-08-07T03:42:42Z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2020-06-18T00:00:00Z</vt:filetime>
  </property>
  <property fmtid="{D5CDD505-2E9C-101B-9397-08002B2CF9AE}" pid="3" name="Creator">
    <vt:lpwstr>Microsoft® PowerPoint® para Office 365</vt:lpwstr>
  </property>
  <property fmtid="{D5CDD505-2E9C-101B-9397-08002B2CF9AE}" pid="4" name="LastSaved">
    <vt:filetime>2024-06-11T00:00:00Z</vt:filetime>
  </property>
</Properties>
</file>