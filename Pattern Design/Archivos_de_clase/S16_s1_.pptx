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349" r:id="rId3"/>
    <p:sldId id="364" r:id="rId4"/>
    <p:sldId id="363" r:id="rId5"/>
    <p:sldId id="372" r:id="rId6"/>
    <p:sldId id="351" r:id="rId7"/>
    <p:sldId id="352" r:id="rId8"/>
    <p:sldId id="344" r:id="rId9"/>
    <p:sldId id="373" r:id="rId10"/>
    <p:sldId id="375" r:id="rId11"/>
    <p:sldId id="376" r:id="rId12"/>
    <p:sldId id="377" r:id="rId13"/>
    <p:sldId id="379" r:id="rId14"/>
    <p:sldId id="378" r:id="rId15"/>
    <p:sldId id="380" r:id="rId16"/>
    <p:sldId id="381" r:id="rId17"/>
    <p:sldId id="382" r:id="rId18"/>
    <p:sldId id="383" r:id="rId19"/>
    <p:sldId id="387" r:id="rId20"/>
    <p:sldId id="384" r:id="rId21"/>
    <p:sldId id="385" r:id="rId22"/>
    <p:sldId id="386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96" r:id="rId32"/>
    <p:sldId id="397" r:id="rId33"/>
    <p:sldId id="412" r:id="rId34"/>
    <p:sldId id="410" r:id="rId35"/>
    <p:sldId id="404" r:id="rId36"/>
    <p:sldId id="405" r:id="rId37"/>
    <p:sldId id="406" r:id="rId38"/>
    <p:sldId id="413" r:id="rId39"/>
    <p:sldId id="414" r:id="rId40"/>
    <p:sldId id="408" r:id="rId41"/>
    <p:sldId id="409" r:id="rId42"/>
    <p:sldId id="362" r:id="rId43"/>
    <p:sldId id="273" r:id="rId44"/>
  </p:sldIdLst>
  <p:sldSz cx="12192000" cy="6858000"/>
  <p:notesSz cx="12192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52D"/>
    <a:srgbClr val="000000"/>
    <a:srgbClr val="BEC3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39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54E5-2B86-4061-BA67-8AB4A0612CCD}" type="datetimeFigureOut">
              <a:rPr lang="es-PE" smtClean="0"/>
              <a:t>16/08/2024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9008C-742E-4A65-BF8A-7341D8FA003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258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EC2F0D-C50E-4A10-86D7-C92E4FDB288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23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EC2F0D-C50E-4A10-86D7-C92E4FDB288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EC2F0D-C50E-4A10-86D7-C92E4FDB288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2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EC2F0D-C50E-4A10-86D7-C92E4FDB288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729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EC2F0D-C50E-4A10-86D7-C92E4FDB288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83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EC2F0D-C50E-4A10-86D7-C92E4FDB288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75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34820" y="1015746"/>
            <a:ext cx="8722359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784350"/>
            <a:ext cx="489267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60005" y="1784350"/>
            <a:ext cx="3527425" cy="4026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35812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858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838200" y="2002238"/>
            <a:ext cx="10363199" cy="905056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68979" marR="5080" indent="-3253104" algn="ctr">
              <a:lnSpc>
                <a:spcPts val="6480"/>
              </a:lnSpc>
              <a:spcBef>
                <a:spcPts val="915"/>
              </a:spcBef>
            </a:pPr>
            <a:r>
              <a:rPr lang="es-ES" sz="4800" spc="-45" dirty="0">
                <a:latin typeface="CentSchbkCyrill BT" panose="02040603050705020303" pitchFamily="18" charset="-52"/>
              </a:rPr>
              <a:t>CURSO: DISEÑO DE PATRONES</a:t>
            </a:r>
            <a:endParaRPr sz="4800" spc="-35" dirty="0">
              <a:latin typeface="CentSchbkCyrill BT" panose="02040603050705020303" pitchFamily="18" charset="-52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457200" y="1523020"/>
            <a:ext cx="11112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 smtClean="0">
                <a:solidFill>
                  <a:srgbClr val="D1052D"/>
                </a:solidFill>
              </a:rPr>
              <a:t>UNIDAD </a:t>
            </a:r>
            <a:r>
              <a:rPr lang="es-ES" sz="2000" b="1" dirty="0">
                <a:solidFill>
                  <a:srgbClr val="D1052D"/>
                </a:solidFill>
              </a:rPr>
              <a:t>DE APRENDIZAJE 5:  </a:t>
            </a:r>
            <a:r>
              <a:rPr lang="es-ES" sz="2000" b="1" dirty="0" smtClean="0"/>
              <a:t>PATRONES GENERALES DE ASIGNACIÓN DE RESPONSABILIDADES </a:t>
            </a:r>
            <a:endParaRPr lang="es-PE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1409698" y="2932121"/>
            <a:ext cx="9639301" cy="2557110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2800" b="1" spc="-25" dirty="0">
                <a:solidFill>
                  <a:schemeClr val="bg1"/>
                </a:solidFill>
                <a:latin typeface="Arial"/>
                <a:cs typeface="Arial"/>
              </a:rPr>
              <a:t>SESIÓN N° </a:t>
            </a:r>
            <a:r>
              <a:rPr lang="es-PE" sz="2800" b="1" spc="-25" dirty="0" smtClean="0">
                <a:solidFill>
                  <a:schemeClr val="bg1"/>
                </a:solidFill>
                <a:latin typeface="Arial"/>
                <a:cs typeface="Arial"/>
              </a:rPr>
              <a:t>16:</a:t>
            </a:r>
            <a:endParaRPr lang="es-PE" sz="28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800" b="1" dirty="0" smtClean="0">
                <a:solidFill>
                  <a:schemeClr val="bg1"/>
                </a:solidFill>
              </a:rPr>
              <a:t>PATRONES GRASP</a:t>
            </a:r>
            <a:r>
              <a:rPr lang="es-ES" sz="3200" dirty="0" smtClean="0">
                <a:solidFill>
                  <a:schemeClr val="bg1"/>
                </a:solidFill>
              </a:rPr>
              <a:t> 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Introducción </a:t>
            </a:r>
            <a:r>
              <a:rPr lang="es-ES" sz="2400" b="1" dirty="0">
                <a:solidFill>
                  <a:schemeClr val="bg1"/>
                </a:solidFill>
              </a:rPr>
              <a:t>a </a:t>
            </a:r>
            <a:r>
              <a:rPr lang="es-ES" sz="2400" b="1" dirty="0" smtClean="0">
                <a:solidFill>
                  <a:schemeClr val="bg1"/>
                </a:solidFill>
              </a:rPr>
              <a:t>Patrones GRASP: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Experto. Creador. Alta cohesión. Bajo acoplamiento 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Controlador 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endParaRPr lang="es-PE" sz="24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9D4BDE-00D9-4634-BFF4-101BA4E8B52C}"/>
              </a:ext>
            </a:extLst>
          </p:cNvPr>
          <p:cNvSpPr txBox="1"/>
          <p:nvPr/>
        </p:nvSpPr>
        <p:spPr>
          <a:xfrm>
            <a:off x="3784704" y="5638800"/>
            <a:ext cx="4457699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1800" b="1" spc="-25" dirty="0">
                <a:latin typeface="Arial"/>
                <a:cs typeface="Arial"/>
              </a:rPr>
              <a:t>DOCENTES DE UTP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b="1" spc="-25" dirty="0">
                <a:latin typeface="Arial"/>
                <a:cs typeface="Arial"/>
              </a:rPr>
              <a:t>SISTEMAS</a:t>
            </a:r>
            <a:endParaRPr lang="es-PE" sz="1800" dirty="0">
              <a:latin typeface="Arial"/>
              <a:cs typeface="Arial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B5B956ED-21D5-4069-B69B-4CE9E409433F}"/>
              </a:ext>
            </a:extLst>
          </p:cNvPr>
          <p:cNvGrpSpPr/>
          <p:nvPr/>
        </p:nvGrpSpPr>
        <p:grpSpPr>
          <a:xfrm>
            <a:off x="3681788" y="152400"/>
            <a:ext cx="8281612" cy="1249729"/>
            <a:chOff x="3681788" y="152400"/>
            <a:chExt cx="8281612" cy="129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1788" y="370720"/>
              <a:ext cx="4828423" cy="1077080"/>
            </a:xfrm>
            <a:prstGeom prst="rect">
              <a:avLst/>
            </a:prstGeom>
          </p:spPr>
        </p:pic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EBA6524E-EDB1-4440-AE90-883F7F1FD18C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pic>
        <p:nvPicPr>
          <p:cNvPr id="11" name="object 6">
            <a:extLst>
              <a:ext uri="{FF2B5EF4-FFF2-40B4-BE49-F238E27FC236}">
                <a16:creationId xmlns:a16="http://schemas.microsoft.com/office/drawing/2014/main" id="{E52C9474-7154-4724-A72B-B537E889D3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0" y="6184229"/>
            <a:ext cx="445171" cy="44517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47AE2A4-CC8F-4B06-A81C-DB8416DF06EB}"/>
              </a:ext>
            </a:extLst>
          </p:cNvPr>
          <p:cNvSpPr txBox="1"/>
          <p:nvPr/>
        </p:nvSpPr>
        <p:spPr>
          <a:xfrm>
            <a:off x="10198771" y="6222148"/>
            <a:ext cx="17646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14300">
              <a:lnSpc>
                <a:spcPct val="100000"/>
              </a:lnSpc>
              <a:spcBef>
                <a:spcPts val="1345"/>
              </a:spcBef>
            </a:pPr>
            <a:r>
              <a:rPr lang="es-PE" sz="2000" b="1" dirty="0">
                <a:latin typeface="Arial"/>
                <a:cs typeface="Arial"/>
              </a:rPr>
              <a:t>5</a:t>
            </a:r>
            <a:r>
              <a:rPr lang="es-PE" sz="2000" b="1" spc="-55" dirty="0">
                <a:latin typeface="Arial"/>
                <a:cs typeface="Arial"/>
              </a:rPr>
              <a:t> </a:t>
            </a:r>
            <a:r>
              <a:rPr lang="es-PE" sz="2000" b="1" spc="-5" dirty="0">
                <a:latin typeface="Arial"/>
                <a:cs typeface="Arial"/>
              </a:rPr>
              <a:t>minutos</a:t>
            </a:r>
            <a:endParaRPr lang="es-PE" sz="20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687627" y="1402106"/>
            <a:ext cx="10591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"/>
                <a:cs typeface="Arial"/>
              </a:rPr>
              <a:t>Estar muy atento en tu sesión de clase.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i="1" spc="-5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"/>
                <a:cs typeface="Arial"/>
              </a:rPr>
              <a:t>El compromiso y la responsabilidad para trabajar en equipo dentro del aula.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i="1" spc="-5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"/>
                <a:cs typeface="Arial"/>
              </a:rPr>
              <a:t>¿</a:t>
            </a:r>
            <a:r>
              <a:rPr lang="es-ES" sz="2000" b="1" i="1" spc="-5" dirty="0" smtClean="0">
                <a:solidFill>
                  <a:srgbClr val="0070C0"/>
                </a:solidFill>
                <a:latin typeface="Arial"/>
                <a:cs typeface="Arial"/>
              </a:rPr>
              <a:t>Por qué</a:t>
            </a:r>
            <a:r>
              <a:rPr lang="es-ES" sz="2000" b="1" i="1" spc="-5" dirty="0" smtClean="0">
                <a:latin typeface="Arial"/>
                <a:cs typeface="Arial"/>
              </a:rPr>
              <a:t>? : Las empresas solicitan profesionales que dominan el  diseño de patrones en un proyecto?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573616" y="3623890"/>
            <a:ext cx="1081982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i="1" spc="-5" dirty="0" smtClean="0">
                <a:latin typeface="Arial"/>
                <a:cs typeface="Arial"/>
              </a:rPr>
              <a:t>Usted que opina</a:t>
            </a:r>
            <a:r>
              <a:rPr lang="es-ES" sz="2400" b="1" i="1" spc="-5" dirty="0" smtClean="0">
                <a:solidFill>
                  <a:srgbClr val="0070C0"/>
                </a:solidFill>
                <a:latin typeface="Arial"/>
                <a:cs typeface="Arial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000" b="1" i="1" spc="-5" dirty="0" smtClean="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"/>
                <a:cs typeface="Arial"/>
              </a:rPr>
              <a:t>¿Por qué el diseño de patrones tiene importancia en el modelado del software?</a:t>
            </a:r>
            <a:endParaRPr lang="es-ES" sz="20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24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Motivación para el </a:t>
            </a:r>
            <a:r>
              <a:rPr sz="2400" b="1" spc="-5" dirty="0" err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381000" y="1206273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i="1" spc="-5" dirty="0" smtClean="0">
                <a:solidFill>
                  <a:srgbClr val="0070C0"/>
                </a:solidFill>
                <a:latin typeface="Arial"/>
                <a:cs typeface="Arial"/>
              </a:rPr>
              <a:t>Estimados estudiantes</a:t>
            </a:r>
          </a:p>
          <a:p>
            <a:endParaRPr lang="es-ES" sz="2400" b="1" i="1" spc="-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i="1" spc="-5" dirty="0" smtClean="0">
                <a:latin typeface="Arial"/>
                <a:cs typeface="Arial"/>
              </a:rPr>
              <a:t>¿Cual es la importancia del curso en nuestra carrera profesional?</a:t>
            </a:r>
          </a:p>
          <a:p>
            <a:pPr marL="457200" indent="-457200">
              <a:buFont typeface="+mj-lt"/>
              <a:buAutoNum type="arabicPeriod"/>
            </a:pPr>
            <a:endParaRPr lang="es-ES" sz="2400" b="1" i="1" spc="-5" dirty="0" smtClean="0"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i="1" spc="-5" dirty="0" smtClean="0">
                <a:latin typeface="Arial"/>
                <a:cs typeface="Arial"/>
              </a:rPr>
              <a:t>¿De que manera debes aplicar el  diseño de patrones en un proyecto de desarrollo de software?</a:t>
            </a:r>
          </a:p>
          <a:p>
            <a:pPr marL="457200" indent="-457200">
              <a:buFont typeface="+mj-lt"/>
              <a:buAutoNum type="arabicPeriod"/>
            </a:pPr>
            <a:endParaRPr lang="es-ES" sz="2400" b="1" i="1" spc="-5" dirty="0">
              <a:latin typeface="Arial"/>
              <a:cs typeface="Arial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i="1" spc="-5" dirty="0" smtClean="0">
                <a:latin typeface="Arial"/>
                <a:cs typeface="Arial"/>
              </a:rPr>
              <a:t>¿ Que aporta la técnica del modelado en el diseño de patrones durante el desarrollo de  un proyecto.  </a:t>
            </a:r>
            <a:endParaRPr lang="es-ES" sz="24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316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Recordando</a:t>
            </a:r>
            <a:r>
              <a:rPr sz="24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sz="2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328E6EB-B063-4713-BFB4-0B0FA77218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3651" y="313451"/>
            <a:ext cx="524749" cy="52474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D11C75D-199E-45B8-BA8D-17CD6C160246}"/>
              </a:ext>
            </a:extLst>
          </p:cNvPr>
          <p:cNvSpPr txBox="1"/>
          <p:nvPr/>
        </p:nvSpPr>
        <p:spPr>
          <a:xfrm>
            <a:off x="575825" y="1524000"/>
            <a:ext cx="1082039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ES" sz="3600" b="1" i="1" spc="-5" dirty="0" smtClean="0">
              <a:latin typeface="Arial"/>
              <a:cs typeface="Arial"/>
            </a:endParaRPr>
          </a:p>
          <a:p>
            <a:pPr algn="just"/>
            <a:r>
              <a:rPr lang="es-ES" sz="3600" b="1" i="1" spc="-5" dirty="0" smtClean="0">
                <a:solidFill>
                  <a:srgbClr val="0070C0"/>
                </a:solidFill>
                <a:latin typeface="Arial"/>
                <a:cs typeface="Arial"/>
              </a:rPr>
              <a:t>Estudiantes</a:t>
            </a:r>
          </a:p>
          <a:p>
            <a:pPr algn="just"/>
            <a:endParaRPr lang="es-ES" sz="3600" b="1" i="1" spc="-5" dirty="0" smtClean="0">
              <a:latin typeface="Arial"/>
              <a:cs typeface="Arial"/>
            </a:endParaRPr>
          </a:p>
          <a:p>
            <a:pPr marL="1657350" lvl="2" indent="-742950" algn="just">
              <a:buFont typeface="+mj-lt"/>
              <a:buAutoNum type="alphaLcPeriod"/>
            </a:pPr>
            <a:r>
              <a:rPr lang="es-ES" sz="2800" b="1" i="1" spc="-5" dirty="0" smtClean="0">
                <a:latin typeface="Arial"/>
                <a:cs typeface="Arial"/>
              </a:rPr>
              <a:t>Diga: ¿Qué</a:t>
            </a:r>
            <a:r>
              <a:rPr lang="es-ES" sz="2800" b="1" i="1" spc="-20" dirty="0" smtClean="0">
                <a:latin typeface="Arial"/>
                <a:cs typeface="Arial"/>
              </a:rPr>
              <a:t> temas del curso fueron explicados </a:t>
            </a:r>
            <a:r>
              <a:rPr lang="es-ES" sz="2800" b="1" i="1" spc="-5" dirty="0" smtClean="0">
                <a:latin typeface="Arial"/>
                <a:cs typeface="Arial"/>
              </a:rPr>
              <a:t>en</a:t>
            </a:r>
            <a:r>
              <a:rPr lang="es-ES" sz="2800" b="1" i="1" spc="-20" dirty="0" smtClean="0">
                <a:latin typeface="Arial"/>
                <a:cs typeface="Arial"/>
              </a:rPr>
              <a:t> </a:t>
            </a:r>
            <a:r>
              <a:rPr lang="es-ES" sz="2800" b="1" i="1" spc="-5" dirty="0">
                <a:latin typeface="Arial"/>
                <a:cs typeface="Arial"/>
              </a:rPr>
              <a:t>la</a:t>
            </a:r>
            <a:r>
              <a:rPr lang="es-ES" sz="2800" b="1" i="1" spc="-20" dirty="0">
                <a:latin typeface="Arial"/>
                <a:cs typeface="Arial"/>
              </a:rPr>
              <a:t> </a:t>
            </a:r>
            <a:r>
              <a:rPr lang="es-ES" sz="2800" b="1" i="1" spc="-5" dirty="0">
                <a:latin typeface="Arial"/>
                <a:cs typeface="Arial"/>
              </a:rPr>
              <a:t>sesión</a:t>
            </a:r>
            <a:r>
              <a:rPr lang="es-ES" sz="2800" b="1" i="1" spc="-20" dirty="0">
                <a:latin typeface="Arial"/>
                <a:cs typeface="Arial"/>
              </a:rPr>
              <a:t> </a:t>
            </a:r>
            <a:r>
              <a:rPr lang="es-ES" sz="2800" b="1" i="1" spc="-5" dirty="0">
                <a:latin typeface="Arial"/>
                <a:cs typeface="Arial"/>
              </a:rPr>
              <a:t>anterior</a:t>
            </a:r>
            <a:r>
              <a:rPr lang="es-ES" sz="2800" b="1" i="1" spc="-5" dirty="0" smtClean="0">
                <a:latin typeface="Arial"/>
                <a:cs typeface="Arial"/>
              </a:rPr>
              <a:t>?</a:t>
            </a:r>
          </a:p>
          <a:p>
            <a:pPr marL="1657350" lvl="2" indent="-742950" algn="just">
              <a:buFont typeface="+mj-lt"/>
              <a:buAutoNum type="alphaLcPeriod"/>
            </a:pPr>
            <a:endParaRPr lang="es-ES" sz="2800" b="1" i="1" spc="-5" dirty="0" smtClean="0">
              <a:latin typeface="Arial"/>
              <a:cs typeface="Arial"/>
            </a:endParaRPr>
          </a:p>
          <a:p>
            <a:pPr marL="1657350" lvl="2" indent="-742950" algn="just">
              <a:buFont typeface="+mj-lt"/>
              <a:buAutoNum type="alphaLcPeriod"/>
            </a:pPr>
            <a:r>
              <a:rPr lang="es-ES" sz="2800" b="1" i="1" spc="-5" dirty="0" smtClean="0">
                <a:latin typeface="Arial"/>
                <a:cs typeface="Arial"/>
              </a:rPr>
              <a:t>Para usted: ¿Qué es lo que mas recuerdas de la clase pasada?</a:t>
            </a:r>
            <a:endParaRPr lang="es-ES" sz="28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17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6059" y="284572"/>
            <a:ext cx="1093658" cy="1143000"/>
          </a:xfrm>
          <a:prstGeom prst="rect">
            <a:avLst/>
          </a:prstGeom>
        </p:spPr>
      </p:pic>
      <p:sp>
        <p:nvSpPr>
          <p:cNvPr id="10" name="Marcador de contenido 2"/>
          <p:cNvSpPr txBox="1">
            <a:spLocks/>
          </p:cNvSpPr>
          <p:nvPr/>
        </p:nvSpPr>
        <p:spPr>
          <a:xfrm>
            <a:off x="381000" y="2359495"/>
            <a:ext cx="11277600" cy="2431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lvl="1" algn="just"/>
            <a:r>
              <a:rPr lang="es-ES" sz="2800" b="1" i="1" kern="0" dirty="0" smtClean="0">
                <a:solidFill>
                  <a:sysClr val="windowText" lastClr="000000"/>
                </a:solidFill>
              </a:rPr>
              <a:t>Al finalizar la presente sesión el estudiante comprende y analiza los  Patrones GRASP como guías para el diseño del software considerando los temas relacionados a la introducción de programación orientada a objetos en el ámbito de diseño de patrones, alta cohesión, bajo acoplamiento, controlador y creador.</a:t>
            </a:r>
          </a:p>
          <a:p>
            <a:endParaRPr lang="es-ES" sz="1600" kern="0" dirty="0" smtClean="0"/>
          </a:p>
        </p:txBody>
      </p:sp>
    </p:spTree>
    <p:extLst>
      <p:ext uri="{BB962C8B-B14F-4D97-AF65-F5344CB8AC3E}">
        <p14:creationId xmlns:p14="http://schemas.microsoft.com/office/powerpoint/2010/main" val="397849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Logro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C7336562-8237-4C19-BF2E-C16CE9CE1C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304801"/>
            <a:ext cx="845778" cy="77425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905000"/>
            <a:ext cx="11277600" cy="36576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96822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Importancia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6F3E7-9979-4364-9955-A30A48479D96}"/>
              </a:ext>
            </a:extLst>
          </p:cNvPr>
          <p:cNvSpPr txBox="1"/>
          <p:nvPr/>
        </p:nvSpPr>
        <p:spPr>
          <a:xfrm>
            <a:off x="699136" y="2590800"/>
            <a:ext cx="1088326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000" b="1" i="1" spc="-5" dirty="0" smtClean="0">
                <a:latin typeface="Arial MT"/>
                <a:cs typeface="Arial MT"/>
              </a:rPr>
              <a:t>La </a:t>
            </a:r>
            <a:r>
              <a:rPr lang="es-ES" sz="2000" b="1" i="1" spc="-5" dirty="0">
                <a:latin typeface="Arial MT"/>
                <a:cs typeface="Arial MT"/>
              </a:rPr>
              <a:t>aplicación de </a:t>
            </a:r>
            <a:r>
              <a:rPr lang="es-ES" sz="2000" b="1" i="1" spc="-5" dirty="0" smtClean="0">
                <a:latin typeface="Arial MT"/>
                <a:cs typeface="Arial MT"/>
              </a:rPr>
              <a:t>Patrones </a:t>
            </a:r>
            <a:r>
              <a:rPr lang="es-ES" sz="2000" b="1" i="1" spc="-5" dirty="0">
                <a:latin typeface="Arial MT"/>
                <a:cs typeface="Arial MT"/>
              </a:rPr>
              <a:t>Generales de Asignación de </a:t>
            </a:r>
            <a:r>
              <a:rPr lang="es-ES" sz="2000" b="1" i="1" spc="-5" dirty="0" smtClean="0">
                <a:latin typeface="Arial MT"/>
                <a:cs typeface="Arial MT"/>
              </a:rPr>
              <a:t>Responsabilidades o Patrones GRASP tiene como valor y responsabilidad de importancia el lograr asignar </a:t>
            </a:r>
            <a:r>
              <a:rPr lang="es-ES" sz="2000" b="1" i="1" spc="-5" dirty="0">
                <a:latin typeface="Arial MT"/>
                <a:cs typeface="Arial MT"/>
              </a:rPr>
              <a:t>el control del flujo de eventos del sistema a clases específicas, esto facilita la centralización de </a:t>
            </a:r>
            <a:r>
              <a:rPr lang="es-ES" sz="2000" b="1" i="1" spc="-5" dirty="0" smtClean="0">
                <a:latin typeface="Arial MT"/>
                <a:cs typeface="Arial MT"/>
              </a:rPr>
              <a:t>las actividades </a:t>
            </a:r>
            <a:r>
              <a:rPr lang="es-ES" sz="2000" b="1" i="1" spc="-5" dirty="0">
                <a:latin typeface="Arial MT"/>
                <a:cs typeface="Arial MT"/>
              </a:rPr>
              <a:t>como la validación y la </a:t>
            </a:r>
            <a:r>
              <a:rPr lang="es-ES" sz="2000" b="1" i="1" spc="-5" dirty="0" smtClean="0">
                <a:latin typeface="Arial MT"/>
                <a:cs typeface="Arial MT"/>
              </a:rPr>
              <a:t>seguridad de la información en el campo especializado de la ingeniería. </a:t>
            </a:r>
            <a:endParaRPr lang="es-ES" sz="2000" b="1" i="1" spc="-5" dirty="0">
              <a:latin typeface="Arial MT"/>
              <a:cs typeface="Arial MT"/>
            </a:endParaRPr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BD6947E1-33EA-4945-AA08-BDC665508E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7875" y="304800"/>
            <a:ext cx="506725" cy="56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8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31BDD320-46CF-4CF8-8ED7-B9CC2CD22623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s-PE" sz="2400" b="1" spc="-5" dirty="0" err="1">
                <a:solidFill>
                  <a:srgbClr val="FFFFFF"/>
                </a:solidFill>
                <a:latin typeface="Arial"/>
                <a:cs typeface="Arial"/>
              </a:rPr>
              <a:t>emario</a:t>
            </a:r>
            <a:endParaRPr lang="es-PE" sz="2400" dirty="0">
              <a:latin typeface="Arial"/>
              <a:cs typeface="Arial"/>
            </a:endParaRPr>
          </a:p>
        </p:txBody>
      </p:sp>
      <p:pic>
        <p:nvPicPr>
          <p:cNvPr id="10" name="object 7">
            <a:extLst>
              <a:ext uri="{FF2B5EF4-FFF2-40B4-BE49-F238E27FC236}">
                <a16:creationId xmlns:a16="http://schemas.microsoft.com/office/drawing/2014/main" id="{229EF982-4AD6-41B4-B055-812DA365FB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266714"/>
            <a:ext cx="609600" cy="80753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51E8A21-5A38-43E7-AE9D-98AA48814941}"/>
              </a:ext>
            </a:extLst>
          </p:cNvPr>
          <p:cNvSpPr txBox="1"/>
          <p:nvPr/>
        </p:nvSpPr>
        <p:spPr>
          <a:xfrm>
            <a:off x="1524000" y="2074245"/>
            <a:ext cx="9639301" cy="3703578"/>
          </a:xfrm>
          <a:prstGeom prst="rect">
            <a:avLst/>
          </a:prstGeom>
          <a:solidFill>
            <a:srgbClr val="D1052D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PE" sz="2800" b="1" spc="-25" dirty="0">
                <a:solidFill>
                  <a:schemeClr val="bg1"/>
                </a:solidFill>
                <a:latin typeface="Arial"/>
                <a:cs typeface="Arial"/>
              </a:rPr>
              <a:t>SESIÓN N° </a:t>
            </a:r>
            <a:r>
              <a:rPr lang="es-PE" sz="2800" b="1" spc="-25" dirty="0" smtClean="0">
                <a:solidFill>
                  <a:schemeClr val="bg1"/>
                </a:solidFill>
                <a:latin typeface="Arial"/>
                <a:cs typeface="Arial"/>
              </a:rPr>
              <a:t>16:</a:t>
            </a:r>
            <a:endParaRPr lang="es-PE" sz="2800" b="1" spc="85" dirty="0">
              <a:solidFill>
                <a:schemeClr val="bg1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800" b="1" dirty="0" smtClean="0">
                <a:solidFill>
                  <a:schemeClr val="bg1"/>
                </a:solidFill>
              </a:rPr>
              <a:t>PATRONES GRASP</a:t>
            </a:r>
            <a:r>
              <a:rPr lang="es-ES" sz="3200" dirty="0" smtClean="0">
                <a:solidFill>
                  <a:schemeClr val="bg1"/>
                </a:solidFill>
              </a:rPr>
              <a:t> 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Introducción </a:t>
            </a:r>
            <a:r>
              <a:rPr lang="es-ES" sz="2400" b="1" dirty="0">
                <a:solidFill>
                  <a:schemeClr val="bg1"/>
                </a:solidFill>
              </a:rPr>
              <a:t>a </a:t>
            </a:r>
            <a:r>
              <a:rPr lang="es-ES" sz="2400" b="1" dirty="0" smtClean="0">
                <a:solidFill>
                  <a:schemeClr val="bg1"/>
                </a:solidFill>
              </a:rPr>
              <a:t>Patrones GRASP: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Experto. 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Creador. 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Alta cohesión.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Bajo acoplamiento 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r>
              <a:rPr lang="es-ES" sz="2400" b="1" dirty="0" smtClean="0">
                <a:solidFill>
                  <a:schemeClr val="bg1"/>
                </a:solidFill>
              </a:rPr>
              <a:t>Controlador </a:t>
            </a:r>
          </a:p>
          <a:p>
            <a:pPr marL="1384300" lvl="2" indent="-457200">
              <a:spcBef>
                <a:spcPts val="100"/>
              </a:spcBef>
              <a:buFontTx/>
              <a:buChar char="-"/>
            </a:pPr>
            <a:endParaRPr lang="es-PE" sz="24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2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714214" y="2403611"/>
            <a:ext cx="10677041" cy="361618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Rectángulo 1"/>
          <p:cNvSpPr/>
          <p:nvPr/>
        </p:nvSpPr>
        <p:spPr>
          <a:xfrm>
            <a:off x="714214" y="1066800"/>
            <a:ext cx="10677041" cy="10538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chemeClr val="tx1"/>
                </a:solidFill>
              </a:rPr>
              <a:t>¿Qué objetivos presentan los patrones en el diseño del   software?   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715463" y="258276"/>
            <a:ext cx="4114800" cy="6561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18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5591" y="533400"/>
            <a:ext cx="8722359" cy="553998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s-ES" sz="3600" b="1" dirty="0" smtClean="0"/>
              <a:t>¿</a:t>
            </a:r>
            <a:r>
              <a:rPr lang="es-ES" sz="2400" b="1" dirty="0" smtClean="0">
                <a:latin typeface="Berlin Sans FB Demi" panose="020E0802020502020306" pitchFamily="34" charset="0"/>
              </a:rPr>
              <a:t>QUÉ CARACTERÍSTICAS PRESENTAN LOS PATRONES GRASP</a:t>
            </a:r>
            <a:r>
              <a:rPr lang="es-ES" sz="3600" b="1" dirty="0" smtClean="0"/>
              <a:t>?</a:t>
            </a:r>
            <a:endParaRPr lang="en-US" sz="36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454348" y="1371600"/>
            <a:ext cx="11404121" cy="4724400"/>
          </a:xfrm>
          <a:ln w="12700"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sz="2800" b="1" i="1" dirty="0">
                <a:solidFill>
                  <a:srgbClr val="0070C0"/>
                </a:solidFill>
              </a:rPr>
              <a:t>Los patrones GRASP </a:t>
            </a:r>
            <a:r>
              <a:rPr lang="es-ES" sz="2800" b="1" i="1" dirty="0" smtClean="0">
                <a:solidFill>
                  <a:srgbClr val="0070C0"/>
                </a:solidFill>
              </a:rPr>
              <a:t>en el diseño orientado a objetos presentan como características ser un conjunto organizado de practicas, guías generales aplicables en el desarrollo de </a:t>
            </a:r>
            <a:r>
              <a:rPr lang="es-ES" sz="2800" b="1" i="1" dirty="0">
                <a:solidFill>
                  <a:srgbClr val="0070C0"/>
                </a:solidFill>
              </a:rPr>
              <a:t>software </a:t>
            </a:r>
            <a:r>
              <a:rPr lang="es-ES" sz="2800" b="1" i="1" dirty="0" smtClean="0">
                <a:solidFill>
                  <a:srgbClr val="0070C0"/>
                </a:solidFill>
              </a:rPr>
              <a:t>que ayudan a asignar responsabilidades. Las principales características</a:t>
            </a:r>
            <a:r>
              <a:rPr lang="es-ES" sz="2400" b="1" i="1" dirty="0">
                <a:solidFill>
                  <a:srgbClr val="0070C0"/>
                </a:solidFill>
              </a:rPr>
              <a:t>:</a:t>
            </a:r>
            <a:endParaRPr lang="es-ES" sz="2400" b="1" i="1" dirty="0" smtClean="0">
              <a:solidFill>
                <a:srgbClr val="0070C0"/>
              </a:solidFill>
            </a:endParaRPr>
          </a:p>
          <a:p>
            <a:pPr marL="971550" lvl="1" indent="-514350" algn="just">
              <a:buFont typeface="+mj-lt"/>
              <a:buAutoNum type="alphaLcPeriod"/>
            </a:pPr>
            <a:endParaRPr lang="es-ES" sz="2800" b="1" i="1" dirty="0" smtClean="0"/>
          </a:p>
          <a:p>
            <a:pPr marL="971550" lvl="1" indent="-514350" algn="just">
              <a:buFont typeface="+mj-lt"/>
              <a:buAutoNum type="alphaLcPeriod"/>
            </a:pPr>
            <a:r>
              <a:rPr lang="es-ES" sz="2800" b="1" i="1" dirty="0" smtClean="0"/>
              <a:t>El diseño de Principios del </a:t>
            </a:r>
            <a:r>
              <a:rPr lang="es-ES" sz="2800" b="1" i="1" dirty="0"/>
              <a:t>Software de Asignación de Responsabilidad General, </a:t>
            </a:r>
            <a:r>
              <a:rPr lang="es-ES" sz="2800" b="1" i="1" dirty="0" smtClean="0"/>
              <a:t>o también llamados patrones GRASP</a:t>
            </a:r>
            <a:r>
              <a:rPr lang="es-ES" sz="2800" b="1" i="1" dirty="0"/>
              <a:t>, </a:t>
            </a:r>
            <a:r>
              <a:rPr lang="es-ES" sz="2800" b="1" i="1" dirty="0" smtClean="0"/>
              <a:t>ayuda a representar un </a:t>
            </a:r>
            <a:r>
              <a:rPr lang="es-ES" sz="2800" b="1" i="1" dirty="0"/>
              <a:t>conjunto de </a:t>
            </a:r>
            <a:r>
              <a:rPr lang="es-ES" sz="2800" b="1" i="1" dirty="0" smtClean="0"/>
              <a:t>elementos </a:t>
            </a:r>
            <a:r>
              <a:rPr lang="es-ES" sz="2800" b="1" i="1" dirty="0"/>
              <a:t>que resuelven </a:t>
            </a:r>
            <a:r>
              <a:rPr lang="es-ES" sz="2800" b="1" i="1" dirty="0" smtClean="0"/>
              <a:t>problemas relacionados a la construcción del software.</a:t>
            </a:r>
          </a:p>
          <a:p>
            <a:pPr marL="971550" lvl="1" indent="-514350" algn="just">
              <a:buFont typeface="+mj-lt"/>
              <a:buAutoNum type="alphaLcPeriod"/>
            </a:pPr>
            <a:r>
              <a:rPr lang="es-ES" sz="2800" b="1" i="1" dirty="0" smtClean="0"/>
              <a:t>El patrón de diseño de software de tipo </a:t>
            </a:r>
            <a:r>
              <a:rPr lang="es-ES" sz="2800" b="1" i="1" dirty="0"/>
              <a:t>GRASP, </a:t>
            </a:r>
            <a:r>
              <a:rPr lang="es-ES" sz="2800" b="1" i="1" dirty="0" smtClean="0"/>
              <a:t>presenta una </a:t>
            </a:r>
            <a:r>
              <a:rPr lang="es-ES" sz="2800" b="1" i="1" dirty="0"/>
              <a:t>solución </a:t>
            </a:r>
            <a:r>
              <a:rPr lang="es-ES" sz="2800" b="1" i="1" dirty="0" smtClean="0"/>
              <a:t>en el ámbito de diseño y programación.</a:t>
            </a:r>
          </a:p>
          <a:p>
            <a:pPr marL="971550" lvl="1" indent="-514350" algn="just">
              <a:buFont typeface="+mj-lt"/>
              <a:buAutoNum type="alphaLcPeriod"/>
            </a:pPr>
            <a:r>
              <a:rPr lang="es-ES" sz="2800" b="1" i="1" dirty="0" smtClean="0"/>
              <a:t>El contexto en este tipo de patrón de asignación de responsabilidad presenta como característica y ventaja las acciones recurrentes durante el modelado del sistema.</a:t>
            </a:r>
          </a:p>
          <a:p>
            <a:pPr marL="971550" lvl="1" indent="-514350" algn="just">
              <a:buFont typeface="+mj-lt"/>
              <a:buAutoNum type="alphaLcPeriod"/>
            </a:pPr>
            <a:r>
              <a:rPr lang="es-ES" sz="2800" b="1" i="1" dirty="0" smtClean="0"/>
              <a:t>El patrón GRASP permite asignar responsabilidades </a:t>
            </a:r>
            <a:r>
              <a:rPr lang="es-ES" sz="2800" b="1" i="1" dirty="0"/>
              <a:t>y se utiliza sobre todo en la realización de </a:t>
            </a:r>
            <a:r>
              <a:rPr lang="es-ES" sz="2800" b="1" i="1" dirty="0" smtClean="0"/>
              <a:t>los diagramas de interacción durante la fase del modelamiento.</a:t>
            </a:r>
            <a:endParaRPr lang="es-ES" sz="2800" b="1" i="1" dirty="0"/>
          </a:p>
          <a:p>
            <a:pPr marL="457200" lvl="1" indent="0">
              <a:buNone/>
            </a:pPr>
            <a:r>
              <a:rPr lang="es-ES" sz="2800" dirty="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9282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11125200" cy="49244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s-ES" sz="3200" b="1" dirty="0" smtClean="0">
                <a:latin typeface="Berlin Sans FB Demi" panose="020E0802020502020306" pitchFamily="34" charset="0"/>
              </a:rPr>
              <a:t>PATRONES GRASP EN EL DESARROLLO DEL SOFTWARE</a:t>
            </a:r>
            <a:endParaRPr lang="en-US" sz="3200" b="1" dirty="0">
              <a:latin typeface="Berlin Sans FB Demi" panose="020E0802020502020306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685800" y="2057400"/>
            <a:ext cx="10744200" cy="3886200"/>
          </a:xfrm>
          <a:ln w="19050">
            <a:solidFill>
              <a:srgbClr val="00B050"/>
            </a:solidFill>
          </a:ln>
        </p:spPr>
        <p:txBody>
          <a:bodyPr/>
          <a:lstStyle/>
          <a:p>
            <a:r>
              <a:rPr lang="es-ES" sz="2800" b="1" dirty="0" smtClean="0"/>
              <a:t>En el desarrollo de software los Patrones Generales de Asignación </a:t>
            </a:r>
            <a:r>
              <a:rPr lang="es-ES" sz="2800" b="1" dirty="0"/>
              <a:t>de</a:t>
            </a:r>
          </a:p>
          <a:p>
            <a:pPr marL="0" indent="0">
              <a:buNone/>
            </a:pPr>
            <a:r>
              <a:rPr lang="es-ES" sz="2800" b="1" dirty="0" smtClean="0"/>
              <a:t>Responsabilidades o denominados como GRASP se caracterizan por presentar la siguiente estructura</a:t>
            </a:r>
            <a:r>
              <a:rPr lang="es-ES" b="1" dirty="0" smtClean="0"/>
              <a:t>:</a:t>
            </a:r>
          </a:p>
          <a:p>
            <a:pPr marL="0" indent="0">
              <a:buNone/>
            </a:pPr>
            <a:endParaRPr lang="es-ES" b="1" dirty="0" smtClean="0"/>
          </a:p>
          <a:p>
            <a:pPr marL="0" indent="0">
              <a:buNone/>
            </a:pPr>
            <a:endParaRPr lang="en-US" b="1" dirty="0"/>
          </a:p>
          <a:p>
            <a:pPr marL="1028700" lvl="1" indent="-571500">
              <a:buFont typeface="+mj-lt"/>
              <a:buAutoNum type="romanUcPeriod"/>
            </a:pPr>
            <a:r>
              <a:rPr lang="es-ES" sz="2800" b="1" u="sng" dirty="0" smtClean="0">
                <a:solidFill>
                  <a:srgbClr val="0070C0"/>
                </a:solidFill>
              </a:rPr>
              <a:t>Contexto</a:t>
            </a:r>
            <a:r>
              <a:rPr lang="es-ES" sz="2800" b="1" u="sng" dirty="0" smtClean="0"/>
              <a:t>: </a:t>
            </a:r>
            <a:r>
              <a:rPr lang="es-ES" sz="2800" b="1" dirty="0" smtClean="0"/>
              <a:t>Las </a:t>
            </a:r>
            <a:r>
              <a:rPr lang="es-ES" sz="2800" b="1" dirty="0"/>
              <a:t>situaciones recurrentes.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s-ES" sz="2800" b="1" u="sng" dirty="0" smtClean="0">
                <a:solidFill>
                  <a:srgbClr val="0070C0"/>
                </a:solidFill>
              </a:rPr>
              <a:t>Problema</a:t>
            </a:r>
            <a:r>
              <a:rPr lang="es-ES" sz="2800" b="1" u="sng" dirty="0" smtClean="0"/>
              <a:t>: </a:t>
            </a:r>
            <a:r>
              <a:rPr lang="es-ES" sz="2800" b="1" dirty="0" smtClean="0"/>
              <a:t>Metas </a:t>
            </a:r>
            <a:r>
              <a:rPr lang="es-ES" sz="2800" b="1" dirty="0"/>
              <a:t>y restricciones en el contexto.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s-ES" sz="2800" b="1" u="sng" dirty="0" smtClean="0">
                <a:solidFill>
                  <a:srgbClr val="0070C0"/>
                </a:solidFill>
              </a:rPr>
              <a:t>Solución</a:t>
            </a:r>
            <a:r>
              <a:rPr lang="es-ES" sz="2800" b="1" u="sng" dirty="0" smtClean="0"/>
              <a:t>: </a:t>
            </a:r>
            <a:r>
              <a:rPr lang="es-ES" sz="2800" b="1" dirty="0" smtClean="0"/>
              <a:t>Diseño </a:t>
            </a:r>
            <a:r>
              <a:rPr lang="es-ES" sz="2800" b="1" dirty="0"/>
              <a:t>para conseguir las metas dentro de las </a:t>
            </a:r>
            <a:r>
              <a:rPr lang="es-ES" sz="2800" b="1" dirty="0" smtClean="0"/>
              <a:t>restricciones</a:t>
            </a:r>
            <a:endParaRPr lang="es-ES" sz="2800" b="1" dirty="0"/>
          </a:p>
          <a:p>
            <a:endParaRPr lang="es-ES" dirty="0"/>
          </a:p>
          <a:p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457200" y="228600"/>
            <a:ext cx="4114800" cy="6561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44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1" y="982662"/>
            <a:ext cx="11315234" cy="1524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32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PATRONES GENERALES DE ASIGNACIÓN DE</a:t>
            </a:r>
            <a:br>
              <a:rPr lang="es-ES" sz="32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</a:br>
            <a:r>
              <a:rPr lang="es-ES" sz="32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RESPONSABILIDADES: GRASP</a:t>
            </a:r>
            <a:r>
              <a:rPr lang="es-ES" sz="4000" b="1" dirty="0">
                <a:latin typeface="Berlin Sans FB Demi" panose="020E0802020502020306" pitchFamily="34" charset="0"/>
              </a:rPr>
              <a:t/>
            </a:r>
            <a:br>
              <a:rPr lang="es-ES" sz="4000" b="1" dirty="0">
                <a:latin typeface="Berlin Sans FB Demi" panose="020E0802020502020306" pitchFamily="34" charset="0"/>
              </a:rPr>
            </a:br>
            <a:r>
              <a:rPr lang="es-ES" sz="2400" b="1" dirty="0">
                <a:latin typeface="+mn-lt"/>
                <a:ea typeface="+mn-ea"/>
                <a:cs typeface="+mn-cs"/>
              </a:rPr>
              <a:t>General </a:t>
            </a:r>
            <a:r>
              <a:rPr lang="es-ES" sz="2400" b="1" dirty="0" err="1">
                <a:latin typeface="+mn-lt"/>
                <a:ea typeface="+mn-ea"/>
                <a:cs typeface="+mn-cs"/>
              </a:rPr>
              <a:t>Responsibility</a:t>
            </a:r>
            <a:r>
              <a:rPr lang="es-ES" sz="2400" b="1" dirty="0">
                <a:latin typeface="+mn-lt"/>
                <a:ea typeface="+mn-ea"/>
                <a:cs typeface="+mn-cs"/>
              </a:rPr>
              <a:t> </a:t>
            </a:r>
            <a:r>
              <a:rPr lang="es-ES" sz="2400" b="1" dirty="0" err="1">
                <a:latin typeface="+mn-lt"/>
                <a:ea typeface="+mn-ea"/>
                <a:cs typeface="+mn-cs"/>
              </a:rPr>
              <a:t>Assignment</a:t>
            </a:r>
            <a:r>
              <a:rPr lang="es-ES" sz="2400" b="1" dirty="0">
                <a:latin typeface="+mn-lt"/>
                <a:ea typeface="+mn-ea"/>
                <a:cs typeface="+mn-cs"/>
              </a:rPr>
              <a:t> Software </a:t>
            </a:r>
            <a:r>
              <a:rPr lang="es-ES" sz="2400" b="1" dirty="0" err="1">
                <a:latin typeface="+mn-lt"/>
                <a:ea typeface="+mn-ea"/>
                <a:cs typeface="+mn-cs"/>
              </a:rPr>
              <a:t>Patterns</a:t>
            </a:r>
            <a:r>
              <a:rPr lang="es-ES" sz="2800" dirty="0">
                <a:latin typeface="+mn-lt"/>
                <a:ea typeface="+mn-ea"/>
                <a:cs typeface="+mn-cs"/>
              </a:rPr>
              <a:t>.</a:t>
            </a:r>
            <a:endParaRPr lang="en-US" sz="2800" dirty="0">
              <a:latin typeface="+mn-lt"/>
              <a:ea typeface="+mn-ea"/>
              <a:cs typeface="+mn-cs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499911" y="2743200"/>
            <a:ext cx="11120124" cy="3284538"/>
          </a:xfrm>
        </p:spPr>
        <p:txBody>
          <a:bodyPr>
            <a:normAutofit fontScale="92500" lnSpcReduction="20000"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b="1" dirty="0"/>
              <a:t>Los patrones </a:t>
            </a:r>
            <a:r>
              <a:rPr lang="es-ES" sz="2800" b="1" dirty="0" smtClean="0"/>
              <a:t>GRASP </a:t>
            </a:r>
            <a:r>
              <a:rPr lang="es-ES" sz="2800" b="1" dirty="0"/>
              <a:t>son un método de enseñanza que </a:t>
            </a:r>
            <a:r>
              <a:rPr lang="es-ES" sz="2800" b="1" dirty="0" smtClean="0"/>
              <a:t>ayudan a entender </a:t>
            </a:r>
            <a:r>
              <a:rPr lang="es-ES" sz="2800" b="1" dirty="0"/>
              <a:t>el </a:t>
            </a:r>
            <a:r>
              <a:rPr lang="es-ES" sz="2800" b="1" dirty="0" smtClean="0"/>
              <a:t>modelado de POO</a:t>
            </a:r>
            <a:r>
              <a:rPr lang="es-ES" sz="2800" b="1" dirty="0"/>
              <a:t>, aplicando un análisis de objetos de manera sistemática, racional y </a:t>
            </a:r>
            <a:r>
              <a:rPr lang="es-ES" sz="2800" b="1" dirty="0" smtClean="0"/>
              <a:t>explicable. </a:t>
            </a:r>
            <a:endParaRPr lang="es-ES" sz="28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800" b="1" dirty="0" smtClean="0"/>
              <a:t>Los patrones GRASP describen </a:t>
            </a:r>
            <a:r>
              <a:rPr lang="es-ES" sz="2800" b="1" dirty="0"/>
              <a:t>los principios fundamentales </a:t>
            </a:r>
            <a:r>
              <a:rPr lang="es-ES" sz="2800" b="1" dirty="0" smtClean="0"/>
              <a:t>para asignar responsabilidades </a:t>
            </a:r>
            <a:r>
              <a:rPr lang="es-ES" sz="2800" b="1" dirty="0"/>
              <a:t>a los </a:t>
            </a:r>
            <a:r>
              <a:rPr lang="es-ES" sz="2800" b="1" dirty="0" smtClean="0"/>
              <a:t>objetos. Esto depende de lo siguiente:</a:t>
            </a:r>
          </a:p>
          <a:p>
            <a:pPr algn="just"/>
            <a:r>
              <a:rPr lang="es-ES" sz="2800" b="1" dirty="0" smtClean="0"/>
              <a:t> 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2800" b="1" dirty="0" err="1" smtClean="0">
                <a:solidFill>
                  <a:schemeClr val="tx1"/>
                </a:solidFill>
              </a:rPr>
              <a:t>Modelo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conceptual 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2800" b="1" dirty="0" smtClean="0">
                <a:solidFill>
                  <a:schemeClr val="tx1"/>
                </a:solidFill>
              </a:rPr>
              <a:t>Los </a:t>
            </a:r>
            <a:r>
              <a:rPr lang="en-US" sz="2800" b="1" dirty="0" err="1" smtClean="0">
                <a:solidFill>
                  <a:schemeClr val="tx1"/>
                </a:solidFill>
              </a:rPr>
              <a:t>contratos</a:t>
            </a:r>
            <a:r>
              <a:rPr lang="en-US" sz="2800" b="1" dirty="0" smtClean="0">
                <a:solidFill>
                  <a:schemeClr val="tx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de </a:t>
            </a:r>
            <a:r>
              <a:rPr lang="en-US" sz="2800" b="1" dirty="0" err="1">
                <a:solidFill>
                  <a:schemeClr val="tx1"/>
                </a:solidFill>
              </a:rPr>
              <a:t>operación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2800" b="1" dirty="0" err="1">
                <a:solidFill>
                  <a:schemeClr val="tx1"/>
                </a:solidFill>
              </a:rPr>
              <a:t>Casos</a:t>
            </a:r>
            <a:r>
              <a:rPr lang="en-US" sz="2800" b="1" dirty="0">
                <a:solidFill>
                  <a:schemeClr val="tx1"/>
                </a:solidFill>
              </a:rPr>
              <a:t> de </a:t>
            </a:r>
            <a:r>
              <a:rPr lang="en-US" sz="2800" b="1" dirty="0" err="1">
                <a:solidFill>
                  <a:schemeClr val="tx1"/>
                </a:solidFill>
              </a:rPr>
              <a:t>uso</a:t>
            </a:r>
            <a:r>
              <a:rPr lang="en-US" sz="2800" b="1" dirty="0">
                <a:solidFill>
                  <a:schemeClr val="tx1"/>
                </a:solidFill>
              </a:rPr>
              <a:t> real (</a:t>
            </a:r>
            <a:r>
              <a:rPr lang="en-US" sz="2800" b="1" dirty="0" err="1">
                <a:solidFill>
                  <a:schemeClr val="tx1"/>
                </a:solidFill>
              </a:rPr>
              <a:t>esencial</a:t>
            </a:r>
            <a:r>
              <a:rPr lang="en-US" sz="2800" b="1" dirty="0">
                <a:solidFill>
                  <a:schemeClr val="tx1"/>
                </a:solidFill>
              </a:rPr>
              <a:t>)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n-US" sz="2800" b="1" dirty="0" err="1">
                <a:solidFill>
                  <a:schemeClr val="tx1"/>
                </a:solidFill>
              </a:rPr>
              <a:t>Diagramas</a:t>
            </a:r>
            <a:r>
              <a:rPr lang="en-US" sz="2800" b="1" dirty="0">
                <a:solidFill>
                  <a:schemeClr val="tx1"/>
                </a:solidFill>
              </a:rPr>
              <a:t> de </a:t>
            </a:r>
            <a:r>
              <a:rPr lang="en-US" sz="2800" b="1" dirty="0" err="1">
                <a:solidFill>
                  <a:schemeClr val="tx1"/>
                </a:solidFill>
              </a:rPr>
              <a:t>colaboración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304801" y="90000"/>
            <a:ext cx="4114800" cy="6561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81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4800" y="1828800"/>
            <a:ext cx="10591800" cy="3323987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>
                <a:latin typeface="+mn-lt"/>
                <a:ea typeface="+mn-ea"/>
                <a:cs typeface="+mn-cs"/>
              </a:rPr>
              <a:t>En el modelado de sistemas las principales ventajas </a:t>
            </a:r>
            <a:r>
              <a:rPr lang="es-ES" sz="2400" b="1" dirty="0" smtClean="0">
                <a:latin typeface="+mn-lt"/>
                <a:ea typeface="+mn-ea"/>
                <a:cs typeface="+mn-cs"/>
              </a:rPr>
              <a:t>y las características que </a:t>
            </a:r>
            <a:r>
              <a:rPr lang="es-ES" sz="2400" b="1" dirty="0">
                <a:latin typeface="+mn-lt"/>
                <a:ea typeface="+mn-ea"/>
                <a:cs typeface="+mn-cs"/>
              </a:rPr>
              <a:t>presentan los Patrones GRASP es que ayudan a establecer los principios de diseño para la elaboración de objetos y en un sistema de este mismo se encuentra que esta compuesto de varios objetos que envían mensajes a otros objetos para que realicen </a:t>
            </a:r>
            <a:r>
              <a:rPr lang="es-ES" sz="2400" b="1" dirty="0" smtClean="0">
                <a:latin typeface="+mn-lt"/>
                <a:ea typeface="+mn-ea"/>
                <a:cs typeface="+mn-cs"/>
              </a:rPr>
              <a:t>operaciones requeridas</a:t>
            </a:r>
            <a:r>
              <a:rPr lang="es-ES" sz="2400" b="1" dirty="0">
                <a:latin typeface="+mn-lt"/>
                <a:ea typeface="+mn-ea"/>
                <a:cs typeface="+mn-cs"/>
              </a:rPr>
              <a:t>. </a:t>
            </a:r>
            <a:r>
              <a:rPr lang="es-ES" sz="2400" b="1" dirty="0" smtClean="0">
                <a:latin typeface="+mn-lt"/>
                <a:ea typeface="+mn-ea"/>
                <a:cs typeface="+mn-cs"/>
              </a:rPr>
              <a:t/>
            </a:r>
            <a:br>
              <a:rPr lang="es-ES" sz="2400" b="1" dirty="0" smtClean="0">
                <a:latin typeface="+mn-lt"/>
                <a:ea typeface="+mn-ea"/>
                <a:cs typeface="+mn-cs"/>
              </a:rPr>
            </a:br>
            <a:r>
              <a:rPr lang="es-ES" sz="2400" b="1" dirty="0" smtClean="0">
                <a:latin typeface="+mn-lt"/>
                <a:ea typeface="+mn-ea"/>
                <a:cs typeface="+mn-cs"/>
              </a:rPr>
              <a:t/>
            </a:r>
            <a:br>
              <a:rPr lang="es-ES" sz="2400" b="1" dirty="0" smtClean="0">
                <a:latin typeface="+mn-lt"/>
                <a:ea typeface="+mn-ea"/>
                <a:cs typeface="+mn-cs"/>
              </a:rPr>
            </a:br>
            <a:r>
              <a:rPr lang="es-ES" sz="2400" b="1" dirty="0" smtClean="0">
                <a:latin typeface="+mn-lt"/>
                <a:ea typeface="+mn-ea"/>
                <a:cs typeface="+mn-cs"/>
              </a:rPr>
              <a:t>Los </a:t>
            </a:r>
            <a:r>
              <a:rPr lang="es-ES" sz="2400" b="1" dirty="0">
                <a:latin typeface="+mn-lt"/>
                <a:ea typeface="+mn-ea"/>
                <a:cs typeface="+mn-cs"/>
              </a:rPr>
              <a:t>diagramas de interacción muestran estas operaciones gráficamente, a partir de los objetos en mutua interacción, y estos se responsabilizan de un tipo de actividad especifica.  </a:t>
            </a:r>
            <a:endParaRPr lang="en-US" sz="2400" b="1" dirty="0">
              <a:latin typeface="+mn-lt"/>
              <a:ea typeface="+mn-ea"/>
              <a:cs typeface="+mn-cs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04800" y="457200"/>
            <a:ext cx="8915400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VENTAJAS </a:t>
            </a:r>
            <a:r>
              <a:rPr lang="es-ES" sz="24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PRINCIPALES DE PATRONES </a:t>
            </a:r>
            <a:r>
              <a:rPr lang="es-ES" sz="2400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GENERALES DE ASIGNACIÓN </a:t>
            </a:r>
            <a:r>
              <a:rPr lang="es-ES" sz="24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DE RESPONSABILIDADES</a:t>
            </a:r>
            <a:r>
              <a:rPr lang="es-ES" sz="2400" b="1" dirty="0">
                <a:solidFill>
                  <a:srgbClr val="0070C0"/>
                </a:solidFill>
                <a:latin typeface="Berlin Sans FB Demi" panose="020E0802020502020306" pitchFamily="34" charset="0"/>
              </a:rPr>
              <a:t>: </a:t>
            </a:r>
            <a:r>
              <a:rPr lang="es-ES" sz="24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GRASP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89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392" y="304801"/>
            <a:ext cx="8458607" cy="990599"/>
          </a:xfrm>
        </p:spPr>
        <p:txBody>
          <a:bodyPr>
            <a:normAutofit/>
          </a:bodyPr>
          <a:lstStyle/>
          <a:p>
            <a:r>
              <a:rPr lang="es-ES" sz="31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TIPOS Y CLASIFICACIÓN DE PATRONES GRASP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sz="2400" b="1" dirty="0" smtClean="0"/>
              <a:t>G</a:t>
            </a:r>
            <a:r>
              <a:rPr lang="es-ES" sz="2000" b="1" dirty="0" smtClean="0"/>
              <a:t>eneral </a:t>
            </a:r>
            <a:r>
              <a:rPr lang="es-ES" sz="2400" b="1" dirty="0" err="1" smtClean="0"/>
              <a:t>R</a:t>
            </a:r>
            <a:r>
              <a:rPr lang="es-ES" sz="2000" b="1" dirty="0" err="1" smtClean="0"/>
              <a:t>esponsibility</a:t>
            </a:r>
            <a:r>
              <a:rPr lang="es-ES" sz="2000" b="1" dirty="0" smtClean="0"/>
              <a:t> </a:t>
            </a:r>
            <a:r>
              <a:rPr lang="es-ES" sz="2400" b="1" dirty="0" err="1" smtClean="0"/>
              <a:t>A</a:t>
            </a:r>
            <a:r>
              <a:rPr lang="es-ES" sz="2000" b="1" dirty="0" err="1" smtClean="0"/>
              <a:t>ssignment</a:t>
            </a:r>
            <a:r>
              <a:rPr lang="es-ES" sz="2000" b="1" dirty="0" smtClean="0"/>
              <a:t> </a:t>
            </a:r>
            <a:r>
              <a:rPr lang="es-ES" sz="2400" b="1" dirty="0"/>
              <a:t>S</a:t>
            </a:r>
            <a:r>
              <a:rPr lang="es-ES" sz="2000" b="1" dirty="0"/>
              <a:t>oftware </a:t>
            </a:r>
            <a:r>
              <a:rPr lang="es-ES" sz="2400" b="1" dirty="0" err="1"/>
              <a:t>P</a:t>
            </a:r>
            <a:r>
              <a:rPr lang="es-ES" sz="2000" b="1" dirty="0" err="1"/>
              <a:t>atterns</a:t>
            </a:r>
            <a:r>
              <a:rPr lang="es-ES" sz="2000" dirty="0"/>
              <a:t>.</a:t>
            </a:r>
            <a:endParaRPr lang="en-US" dirty="0"/>
          </a:p>
        </p:txBody>
      </p:sp>
      <p:sp>
        <p:nvSpPr>
          <p:cNvPr id="4" name="Marcador de contenido 3"/>
          <p:cNvSpPr>
            <a:spLocks noGrp="1"/>
          </p:cNvSpPr>
          <p:nvPr>
            <p:ph idx="4294967295"/>
          </p:nvPr>
        </p:nvSpPr>
        <p:spPr>
          <a:xfrm>
            <a:off x="393492" y="3429000"/>
            <a:ext cx="11049407" cy="2514600"/>
          </a:xfrm>
        </p:spPr>
        <p:txBody>
          <a:bodyPr/>
          <a:lstStyle/>
          <a:p>
            <a:pPr marL="457200" lvl="1" indent="0">
              <a:buNone/>
            </a:pPr>
            <a:r>
              <a:rPr lang="es-ES" sz="3200" b="1" dirty="0" smtClean="0">
                <a:solidFill>
                  <a:srgbClr val="0070C0"/>
                </a:solidFill>
              </a:rPr>
              <a:t>Clasificación de patrones GRASP:</a:t>
            </a:r>
            <a:endParaRPr lang="es-ES" sz="3200" b="1" dirty="0">
              <a:solidFill>
                <a:srgbClr val="0070C0"/>
              </a:solidFill>
            </a:endParaRPr>
          </a:p>
          <a:p>
            <a:pPr marL="1428750" lvl="2" indent="-514350">
              <a:buFont typeface="+mj-lt"/>
              <a:buAutoNum type="alphaLcPeriod"/>
            </a:pPr>
            <a:r>
              <a:rPr lang="es-ES" sz="2800" b="1" dirty="0" smtClean="0"/>
              <a:t>Experto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s-ES" sz="2800" b="1" dirty="0" smtClean="0"/>
              <a:t>Creador</a:t>
            </a:r>
            <a:endParaRPr lang="es-ES" sz="2800" b="1" dirty="0"/>
          </a:p>
          <a:p>
            <a:pPr marL="1428750" lvl="2" indent="-514350">
              <a:buFont typeface="+mj-lt"/>
              <a:buAutoNum type="alphaLcPeriod"/>
            </a:pPr>
            <a:r>
              <a:rPr lang="es-ES" sz="2800" b="1" dirty="0"/>
              <a:t>Alta cohesión 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s-ES" sz="2800" b="1" dirty="0"/>
              <a:t>Bajo Acoplamiento</a:t>
            </a:r>
          </a:p>
          <a:p>
            <a:pPr marL="1428750" lvl="2" indent="-514350">
              <a:buFont typeface="+mj-lt"/>
              <a:buAutoNum type="alphaLcPeriod"/>
            </a:pPr>
            <a:r>
              <a:rPr lang="es-ES" sz="2800" b="1" dirty="0"/>
              <a:t>Controlador</a:t>
            </a:r>
            <a:endParaRPr lang="en-US" sz="2800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304144"/>
            <a:ext cx="11049407" cy="1981200"/>
          </a:xfrm>
          <a:prstGeom prst="rect">
            <a:avLst/>
          </a:prstGeom>
          <a:ln w="1270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62196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7620000" cy="1387474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- EXPERTO </a:t>
            </a:r>
            <a:b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</a:br>
            <a:r>
              <a:rPr lang="es-ES" sz="2000" dirty="0" smtClean="0"/>
              <a:t>.</a:t>
            </a:r>
            <a:r>
              <a:rPr lang="es-ES" sz="6600" b="1" dirty="0" smtClean="0"/>
              <a:t> </a:t>
            </a:r>
            <a:r>
              <a:rPr lang="es-ES" sz="2700" b="1" dirty="0"/>
              <a:t>General </a:t>
            </a:r>
            <a:r>
              <a:rPr lang="es-ES" sz="2700" b="1" dirty="0" err="1"/>
              <a:t>Responsibility</a:t>
            </a:r>
            <a:r>
              <a:rPr lang="es-ES" sz="2700" b="1" dirty="0"/>
              <a:t> </a:t>
            </a:r>
            <a:r>
              <a:rPr lang="es-ES" sz="2700" b="1" dirty="0" err="1"/>
              <a:t>Assignment</a:t>
            </a:r>
            <a:r>
              <a:rPr lang="es-ES" sz="2700" b="1" dirty="0"/>
              <a:t> Software </a:t>
            </a:r>
            <a:r>
              <a:rPr lang="es-ES" sz="2700" b="1" dirty="0" err="1"/>
              <a:t>Patterns</a:t>
            </a:r>
            <a:endParaRPr lang="en-US" sz="2700" b="1" dirty="0"/>
          </a:p>
        </p:txBody>
      </p:sp>
      <p:sp>
        <p:nvSpPr>
          <p:cNvPr id="3" name="Rectángulo 2"/>
          <p:cNvSpPr/>
          <p:nvPr/>
        </p:nvSpPr>
        <p:spPr>
          <a:xfrm>
            <a:off x="838200" y="2056288"/>
            <a:ext cx="10515600" cy="16312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El patrón Experto en información </a:t>
            </a:r>
            <a:r>
              <a:rPr lang="es-ES" sz="2400" b="1" dirty="0" smtClean="0"/>
              <a:t>nos muestra como característica y ventaja en </a:t>
            </a:r>
            <a:r>
              <a:rPr lang="es-ES" sz="2400" b="1" dirty="0"/>
              <a:t>el diseño del software que la responsabilidad de la creación de un objeto o la implementación de un método, debe recaer sobre la clase que conoce toda la información necesaria para crearlo</a:t>
            </a:r>
            <a:r>
              <a:rPr lang="es-ES" sz="2800" dirty="0" smtClean="0">
                <a:solidFill>
                  <a:srgbClr val="000000"/>
                </a:solidFill>
                <a:latin typeface="Lora"/>
              </a:rPr>
              <a:t>.</a:t>
            </a:r>
            <a:endParaRPr lang="en-US" sz="2800" dirty="0"/>
          </a:p>
        </p:txBody>
      </p:sp>
      <p:sp>
        <p:nvSpPr>
          <p:cNvPr id="8" name="Rectángulo 7"/>
          <p:cNvSpPr/>
          <p:nvPr/>
        </p:nvSpPr>
        <p:spPr>
          <a:xfrm>
            <a:off x="811966" y="3991192"/>
            <a:ext cx="10541833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ES" sz="2400" b="1" dirty="0"/>
              <a:t>Es útil resaltar </a:t>
            </a:r>
            <a:r>
              <a:rPr lang="es-ES" sz="2400" b="1" dirty="0" smtClean="0"/>
              <a:t>como factor fundamental en su aplicación del Patrón  </a:t>
            </a:r>
            <a:r>
              <a:rPr lang="es-ES" sz="2400" b="1" dirty="0"/>
              <a:t>GRASP </a:t>
            </a:r>
            <a:r>
              <a:rPr lang="es-ES" sz="2400" b="1" dirty="0" smtClean="0"/>
              <a:t>Experto por que logra </a:t>
            </a:r>
            <a:r>
              <a:rPr lang="es-ES" sz="2400" b="1" dirty="0"/>
              <a:t>obtener un diseño con mayor cohesión y así la información se mantiene acoplada, en otras palabras se logra obtener información de nivel encapsulada</a:t>
            </a:r>
            <a:r>
              <a:rPr lang="es-ES" sz="2400" b="1" dirty="0" smtClean="0">
                <a:solidFill>
                  <a:srgbClr val="000000"/>
                </a:solidFill>
                <a:latin typeface="Lora"/>
              </a:rPr>
              <a:t>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34595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7871" y="1066674"/>
            <a:ext cx="10515600" cy="1311274"/>
          </a:xfrm>
        </p:spPr>
        <p:txBody>
          <a:bodyPr>
            <a:normAutofit fontScale="90000"/>
          </a:bodyPr>
          <a:lstStyle/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- EXPERTO </a:t>
            </a:r>
            <a:r>
              <a:rPr lang="es-ES" b="1" dirty="0" smtClean="0"/>
              <a:t/>
            </a:r>
            <a:br>
              <a:rPr lang="es-ES" b="1" dirty="0" smtClean="0"/>
            </a:br>
            <a:r>
              <a:rPr lang="es-ES" sz="2000" dirty="0" smtClean="0"/>
              <a:t>.</a:t>
            </a:r>
            <a:r>
              <a:rPr lang="es-ES" b="1" dirty="0"/>
              <a:t> </a:t>
            </a:r>
            <a:r>
              <a:rPr lang="es-ES" sz="2700" b="1" dirty="0"/>
              <a:t>General </a:t>
            </a:r>
            <a:r>
              <a:rPr lang="es-ES" sz="2700" b="1" dirty="0" err="1"/>
              <a:t>Responsibility</a:t>
            </a:r>
            <a:r>
              <a:rPr lang="es-ES" sz="2700" b="1" dirty="0"/>
              <a:t> </a:t>
            </a:r>
            <a:r>
              <a:rPr lang="es-ES" sz="2700" b="1" dirty="0" err="1"/>
              <a:t>Assignment</a:t>
            </a:r>
            <a:r>
              <a:rPr lang="es-ES" sz="2700" b="1" dirty="0"/>
              <a:t> Software </a:t>
            </a:r>
            <a:r>
              <a:rPr lang="es-ES" sz="2700" b="1" dirty="0" err="1"/>
              <a:t>Patterns</a:t>
            </a:r>
            <a:endParaRPr lang="en-US" sz="27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b="75458"/>
          <a:stretch/>
        </p:blipFill>
        <p:spPr>
          <a:xfrm>
            <a:off x="577884" y="4267200"/>
            <a:ext cx="11309316" cy="1155938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577884" y="2380446"/>
            <a:ext cx="110807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El patrón GRASP experto en la información representa a la clase que tiene los valores necesarios para cumplir la responsabilidad en el modelado </a:t>
            </a:r>
            <a:endParaRPr lang="en-US" sz="2400" b="1" dirty="0"/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574136" y="210734"/>
            <a:ext cx="4114800" cy="6561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05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1905000"/>
            <a:ext cx="11582400" cy="4038600"/>
          </a:xfrm>
          <a:prstGeom prst="rect">
            <a:avLst/>
          </a:prstGeom>
          <a:ln>
            <a:solidFill>
              <a:srgbClr val="D1052D"/>
            </a:solidFill>
          </a:ln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304801" y="365126"/>
            <a:ext cx="11048999" cy="1311274"/>
          </a:xfrm>
          <a:prstGeom prst="rect">
            <a:avLst/>
          </a:prstGeom>
        </p:spPr>
        <p:txBody>
          <a:bodyPr wrap="square" lIns="0" tIns="0" rIns="0" bIns="0">
            <a:normAutofit fontScale="90000" lnSpcReduction="10000"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- EXPERTO </a:t>
            </a:r>
            <a:r>
              <a:rPr lang="es-ES" b="1" kern="0" dirty="0" smtClean="0"/>
              <a:t/>
            </a:r>
            <a:br>
              <a:rPr lang="es-ES" b="1" kern="0" dirty="0" smtClean="0"/>
            </a:br>
            <a:r>
              <a:rPr lang="es-ES" sz="2000" kern="0" dirty="0" smtClean="0"/>
              <a:t>.</a:t>
            </a:r>
            <a:r>
              <a:rPr lang="es-ES" b="1" kern="0" dirty="0" smtClean="0"/>
              <a:t> </a:t>
            </a:r>
            <a:r>
              <a:rPr lang="es-ES" sz="2700" b="1" kern="0" dirty="0" smtClean="0"/>
              <a:t>General </a:t>
            </a:r>
            <a:r>
              <a:rPr lang="es-ES" sz="2700" b="1" kern="0" dirty="0" err="1" smtClean="0"/>
              <a:t>Responsibility</a:t>
            </a:r>
            <a:r>
              <a:rPr lang="es-ES" sz="2700" b="1" kern="0" dirty="0" smtClean="0"/>
              <a:t> </a:t>
            </a:r>
            <a:r>
              <a:rPr lang="es-ES" sz="2700" b="1" kern="0" dirty="0" err="1" smtClean="0"/>
              <a:t>Assignment</a:t>
            </a:r>
            <a:r>
              <a:rPr lang="es-ES" sz="2700" b="1" kern="0" dirty="0" smtClean="0"/>
              <a:t> Software </a:t>
            </a:r>
            <a:r>
              <a:rPr lang="es-ES" sz="2700" b="1" kern="0" dirty="0" err="1" smtClean="0"/>
              <a:t>Patterns</a:t>
            </a:r>
            <a:endParaRPr lang="en-US" sz="2700" b="1" kern="0" dirty="0"/>
          </a:p>
        </p:txBody>
      </p:sp>
    </p:spTree>
    <p:extLst>
      <p:ext uri="{BB962C8B-B14F-4D97-AF65-F5344CB8AC3E}">
        <p14:creationId xmlns:p14="http://schemas.microsoft.com/office/powerpoint/2010/main" val="250254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0596"/>
          </a:xfrm>
        </p:spPr>
        <p:txBody>
          <a:bodyPr>
            <a:normAutofit/>
          </a:bodyPr>
          <a:lstStyle/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- CREADOR </a:t>
            </a:r>
            <a:r>
              <a:rPr lang="es-ES" b="1" dirty="0" smtClean="0"/>
              <a:t/>
            </a:r>
            <a:br>
              <a:rPr lang="es-ES" b="1" dirty="0" smtClean="0"/>
            </a:br>
            <a:r>
              <a:rPr lang="es-ES" sz="2000" dirty="0" smtClean="0"/>
              <a:t>.</a:t>
            </a: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685800" y="1345722"/>
            <a:ext cx="1121865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/>
              <a:t>El patrón </a:t>
            </a:r>
            <a:r>
              <a:rPr lang="es-ES" sz="2400" b="1" dirty="0" smtClean="0"/>
              <a:t>creador entre las características y las principales ventajas es que ayuda </a:t>
            </a:r>
            <a:r>
              <a:rPr lang="es-ES" sz="2400" b="1" dirty="0"/>
              <a:t>a determinar quién debe ser el encargado de la creación (o instanciación) de nuevos objetos o clases. Además, la creación de instancias es una de las actividades más comunes en un sistema orientado a objetos</a:t>
            </a:r>
          </a:p>
          <a:p>
            <a:endParaRPr lang="es-ES" sz="2400" b="1" dirty="0">
              <a:solidFill>
                <a:srgbClr val="000000"/>
              </a:solidFill>
              <a:latin typeface="Lora"/>
            </a:endParaRPr>
          </a:p>
          <a:p>
            <a:r>
              <a:rPr lang="es-ES" sz="2400" b="1" dirty="0">
                <a:solidFill>
                  <a:srgbClr val="0070C0"/>
                </a:solidFill>
                <a:latin typeface="Lora"/>
              </a:rPr>
              <a:t>La nueva instancia debería ser creada por la clase que</a:t>
            </a:r>
            <a:r>
              <a:rPr lang="es-ES" sz="2400" b="1" dirty="0">
                <a:solidFill>
                  <a:srgbClr val="000000"/>
                </a:solidFill>
                <a:latin typeface="Lora"/>
              </a:rPr>
              <a:t>:</a:t>
            </a:r>
          </a:p>
          <a:p>
            <a:endParaRPr lang="es-ES" sz="2400" b="1" dirty="0">
              <a:solidFill>
                <a:srgbClr val="000000"/>
              </a:solidFill>
              <a:latin typeface="Lora"/>
            </a:endParaRPr>
          </a:p>
          <a:p>
            <a:pPr marL="457200" indent="-457200">
              <a:buFont typeface="+mj-lt"/>
              <a:buAutoNum type="alphaLcPeriod"/>
            </a:pPr>
            <a:r>
              <a:rPr lang="es-ES" sz="2400" b="1" dirty="0"/>
              <a:t>Posee la información necesaria para llevar a cabo la creación del objeto</a:t>
            </a:r>
          </a:p>
          <a:p>
            <a:pPr marL="457200" indent="-457200">
              <a:buFont typeface="+mj-lt"/>
              <a:buAutoNum type="alphaLcPeriod"/>
            </a:pPr>
            <a:r>
              <a:rPr lang="es-ES" sz="2400" b="1" dirty="0"/>
              <a:t>Utiliza directamente las instancias creadas del objeto</a:t>
            </a:r>
          </a:p>
          <a:p>
            <a:pPr marL="457200" indent="-457200">
              <a:buFont typeface="+mj-lt"/>
              <a:buAutoNum type="alphaLcPeriod"/>
            </a:pPr>
            <a:r>
              <a:rPr lang="es-ES" sz="2400" b="1" dirty="0"/>
              <a:t>Almacena o gestiona varias instancias de la clase</a:t>
            </a:r>
          </a:p>
          <a:p>
            <a:pPr marL="457200" indent="-457200">
              <a:buFont typeface="+mj-lt"/>
              <a:buAutoNum type="alphaLcPeriod"/>
            </a:pPr>
            <a:r>
              <a:rPr lang="es-ES" sz="2400" b="1" dirty="0"/>
              <a:t>Contiene o agrega la clase</a:t>
            </a:r>
            <a:r>
              <a:rPr lang="es-ES" sz="2800" b="1" dirty="0"/>
              <a:t>.</a:t>
            </a:r>
          </a:p>
          <a:p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51248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80596"/>
          </a:xfrm>
        </p:spPr>
        <p:txBody>
          <a:bodyPr>
            <a:normAutofit/>
          </a:bodyPr>
          <a:lstStyle/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- CREADOR </a:t>
            </a:r>
            <a:r>
              <a:rPr lang="es-ES" b="1" dirty="0" smtClean="0"/>
              <a:t/>
            </a:r>
            <a:br>
              <a:rPr lang="es-ES" b="1" dirty="0" smtClean="0"/>
            </a:br>
            <a:r>
              <a:rPr lang="es-ES" sz="2000" dirty="0" smtClean="0"/>
              <a:t>.</a:t>
            </a:r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685800" y="1143000"/>
            <a:ext cx="112776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 smtClean="0">
                <a:solidFill>
                  <a:srgbClr val="000000"/>
                </a:solidFill>
                <a:latin typeface="Lora"/>
              </a:rPr>
              <a:t>EL PATRÓN CREADOR PLANTEA QUE:</a:t>
            </a:r>
          </a:p>
          <a:p>
            <a:endParaRPr lang="es-ES" sz="2000" b="1" dirty="0" smtClean="0">
              <a:solidFill>
                <a:srgbClr val="000000"/>
              </a:solidFill>
              <a:latin typeface="Lora"/>
            </a:endParaRPr>
          </a:p>
          <a:p>
            <a:pPr marL="457200" indent="-457200">
              <a:buFont typeface="+mj-lt"/>
              <a:buAutoNum type="arabicPeriod"/>
            </a:pPr>
            <a:r>
              <a:rPr lang="es-ES" sz="2400" b="1" dirty="0"/>
              <a:t>Una de las </a:t>
            </a:r>
            <a:r>
              <a:rPr lang="es-ES" sz="2400" b="1" dirty="0" smtClean="0"/>
              <a:t>principales ventajas </a:t>
            </a:r>
            <a:r>
              <a:rPr lang="es-ES" sz="2400" b="1" dirty="0"/>
              <a:t>y </a:t>
            </a:r>
            <a:r>
              <a:rPr lang="es-ES" sz="2400" b="1" dirty="0" smtClean="0"/>
              <a:t>el uso de este patrón es </a:t>
            </a:r>
            <a:r>
              <a:rPr lang="es-ES" sz="2400" b="1" dirty="0"/>
              <a:t>el poder emplear este tipo de patrón es la visibilidad entre la clase creada y la clase creadora. </a:t>
            </a:r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r>
              <a:rPr lang="es-ES" sz="2400" b="1" dirty="0"/>
              <a:t>Una ventaja </a:t>
            </a:r>
            <a:r>
              <a:rPr lang="es-ES" sz="2400" b="1" dirty="0" smtClean="0"/>
              <a:t>y aplicación importante  </a:t>
            </a:r>
            <a:r>
              <a:rPr lang="es-ES" sz="2400" b="1" dirty="0"/>
              <a:t>en el </a:t>
            </a:r>
            <a:r>
              <a:rPr lang="es-ES" sz="2400" b="1" dirty="0" smtClean="0"/>
              <a:t>patrón de bajo </a:t>
            </a:r>
            <a:r>
              <a:rPr lang="es-ES" sz="2400" b="1" dirty="0"/>
              <a:t>acoplamiento, lo que </a:t>
            </a:r>
            <a:r>
              <a:rPr lang="es-ES" sz="2400" b="1" dirty="0" smtClean="0"/>
              <a:t>logra facilitar a tiempo el </a:t>
            </a:r>
            <a:r>
              <a:rPr lang="es-ES" sz="2400" b="1" dirty="0"/>
              <a:t>mantenimiento y la reutilización. </a:t>
            </a:r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r>
              <a:rPr lang="es-ES" sz="2400" b="1" dirty="0" smtClean="0"/>
              <a:t>En su aplicación de este patrón de diseño es útil  contar con el principio </a:t>
            </a:r>
            <a:r>
              <a:rPr lang="es-ES" sz="2400" b="1" dirty="0"/>
              <a:t>general </a:t>
            </a:r>
            <a:r>
              <a:rPr lang="es-ES" sz="2400" b="1" dirty="0" smtClean="0"/>
              <a:t>para la </a:t>
            </a:r>
            <a:r>
              <a:rPr lang="es-ES" sz="2400" b="1" dirty="0"/>
              <a:t>asignación de las responsabilidades </a:t>
            </a:r>
            <a:r>
              <a:rPr lang="es-ES" sz="2400" b="1" dirty="0" smtClean="0"/>
              <a:t>durante la creación</a:t>
            </a:r>
            <a:r>
              <a:rPr lang="es-ES" sz="2400" b="1" dirty="0"/>
              <a:t>. </a:t>
            </a:r>
          </a:p>
          <a:p>
            <a:pPr marL="457200" indent="-457200">
              <a:buFont typeface="+mj-lt"/>
              <a:buAutoNum type="arabicPeriod"/>
            </a:pPr>
            <a:endParaRPr lang="es-ES" sz="2400" b="1" dirty="0"/>
          </a:p>
          <a:p>
            <a:pPr marL="457200" indent="-457200">
              <a:buFont typeface="+mj-lt"/>
              <a:buAutoNum type="arabicPeriod"/>
            </a:pPr>
            <a:r>
              <a:rPr lang="es-ES" sz="2400" b="1" dirty="0" smtClean="0"/>
              <a:t>En este patrón, si se </a:t>
            </a:r>
            <a:r>
              <a:rPr lang="es-ES" sz="2400" b="1" dirty="0"/>
              <a:t>asignan correctamente las responsabilidades en el diseño puede mantener un bajo acoplamiento, mayor claridad, encapsulación y reutilización.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1578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465571" y="2209800"/>
            <a:ext cx="113569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/>
              <a:t>El patrón </a:t>
            </a:r>
            <a:r>
              <a:rPr lang="es-ES" sz="2400" b="1" dirty="0" smtClean="0"/>
              <a:t>denominado creador </a:t>
            </a:r>
            <a:r>
              <a:rPr lang="es-ES" sz="2400" b="1" dirty="0"/>
              <a:t>durante el modelado tiene como ventaja e importancia </a:t>
            </a:r>
            <a:r>
              <a:rPr lang="es-ES" sz="2400" b="1" dirty="0" smtClean="0"/>
              <a:t>principal el </a:t>
            </a:r>
            <a:r>
              <a:rPr lang="es-ES" sz="2400" b="1" dirty="0"/>
              <a:t>poder ayudar a determinar quién debe ser el encargado de la creación (o instanciación) de nuevos objetos o clases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/>
          <a:srcRect t="9720"/>
          <a:stretch/>
        </p:blipFill>
        <p:spPr>
          <a:xfrm>
            <a:off x="446832" y="3581400"/>
            <a:ext cx="11356932" cy="942852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74314" y="1057933"/>
            <a:ext cx="10515600" cy="98059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- CREADOR </a:t>
            </a:r>
            <a:r>
              <a:rPr lang="es-ES" b="1" kern="0" dirty="0" smtClean="0"/>
              <a:t/>
            </a:r>
            <a:br>
              <a:rPr lang="es-ES" b="1" kern="0" dirty="0" smtClean="0"/>
            </a:br>
            <a:r>
              <a:rPr lang="es-ES" sz="2000" kern="0" dirty="0" smtClean="0"/>
              <a:t>.</a:t>
            </a:r>
            <a:endParaRPr lang="en-US" kern="0" dirty="0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44A62F85-1502-4D7C-93F5-FDF5EB2D1026}"/>
              </a:ext>
            </a:extLst>
          </p:cNvPr>
          <p:cNvSpPr/>
          <p:nvPr/>
        </p:nvSpPr>
        <p:spPr>
          <a:xfrm>
            <a:off x="474314" y="230538"/>
            <a:ext cx="4114800" cy="6561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r>
              <a:rPr lang="es-ES" sz="3200" b="1" dirty="0" smtClean="0">
                <a:solidFill>
                  <a:schemeClr val="bg1"/>
                </a:solidFill>
              </a:rPr>
              <a:t>TEMARIO</a:t>
            </a:r>
            <a:endParaRPr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82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69" y="2362200"/>
            <a:ext cx="11094731" cy="37338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8" y="1205297"/>
            <a:ext cx="11094732" cy="948228"/>
          </a:xfrm>
          <a:prstGeom prst="rect">
            <a:avLst/>
          </a:prstGeom>
          <a:ln>
            <a:solidFill>
              <a:srgbClr val="D1052D"/>
            </a:solidFill>
          </a:ln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465571" y="457200"/>
            <a:ext cx="10515600" cy="98059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- CREADOR </a:t>
            </a:r>
            <a:r>
              <a:rPr lang="es-ES" b="1" kern="0" dirty="0" smtClean="0"/>
              <a:t/>
            </a:r>
            <a:br>
              <a:rPr lang="es-ES" b="1" kern="0" dirty="0" smtClean="0"/>
            </a:br>
            <a:r>
              <a:rPr lang="es-ES" sz="2000" kern="0" dirty="0" smtClean="0"/>
              <a:t>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51702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07" y="1295400"/>
            <a:ext cx="10890727" cy="4429604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465571" y="457200"/>
            <a:ext cx="10515600" cy="98059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- CREADOR </a:t>
            </a:r>
            <a:r>
              <a:rPr lang="es-ES" b="1" kern="0" dirty="0" smtClean="0"/>
              <a:t/>
            </a:r>
            <a:br>
              <a:rPr lang="es-ES" b="1" kern="0" dirty="0" smtClean="0"/>
            </a:br>
            <a:r>
              <a:rPr lang="es-ES" sz="2000" kern="0" dirty="0" smtClean="0"/>
              <a:t>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50456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81000" y="1143000"/>
            <a:ext cx="11582399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/>
              <a:t>Este tipo de patrón GRASP de alta cohesión posee como característica y ventajas que nos indica que la información almacenada de una clase debe ser coherente y debe estar en la medida de lo posible relacionada con la clase. Principales tipos:</a:t>
            </a:r>
          </a:p>
          <a:p>
            <a:r>
              <a:rPr lang="es-ES" sz="2400" b="1" dirty="0" smtClean="0">
                <a:solidFill>
                  <a:srgbClr val="0070C0"/>
                </a:solidFill>
              </a:rPr>
              <a:t>Tipos de Cohesión:</a:t>
            </a:r>
            <a:endParaRPr lang="es-ES" sz="2400" b="1" dirty="0">
              <a:solidFill>
                <a:srgbClr val="0070C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Cohesión Coincidente</a:t>
            </a:r>
            <a:r>
              <a:rPr lang="es-ES" dirty="0"/>
              <a:t>: El módulo realiza múltiples tareas, sin ninguna relación entre ellas</a:t>
            </a:r>
            <a:r>
              <a:rPr lang="es-ES" dirty="0" smtClean="0"/>
              <a:t>.</a:t>
            </a: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Cohesión Lógica</a:t>
            </a:r>
            <a:r>
              <a:rPr lang="es-ES" dirty="0"/>
              <a:t>: El módulo realiza múltiples tareas relacionadas, pero, en tiempo de ejecución, sólo una de ellas será llevada a cabo</a:t>
            </a:r>
            <a:r>
              <a:rPr lang="es-ES" dirty="0" smtClean="0"/>
              <a:t>.</a:t>
            </a: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Cohesión Temporal</a:t>
            </a:r>
            <a:r>
              <a:rPr lang="es-ES" dirty="0"/>
              <a:t>: Las tareas llevadas a cabo por un módulo tienen, como única relación "que deben ser ejecutadas al mismo tiempo".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Cohesión de Procedimiento</a:t>
            </a:r>
            <a:r>
              <a:rPr lang="es-ES" dirty="0"/>
              <a:t>: La única relación que guardan las tareas de un módulo es que corresponden a una secuencia de pasos propia del “producto”.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Cohesión de Comunicación</a:t>
            </a:r>
            <a:r>
              <a:rPr lang="es-ES" dirty="0"/>
              <a:t>: Las tareas corresponden a una secuencia de pasos propia del “producto” y todas afectan a los mismos datos.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Cohesión de Información</a:t>
            </a:r>
            <a:r>
              <a:rPr lang="es-ES" dirty="0"/>
              <a:t>: Las tareas llevadas a cabo por un módulo tienen su propio punto de arranque, su codificación independiente y trabajan sobre los mismos </a:t>
            </a:r>
            <a:r>
              <a:rPr lang="es-ES" dirty="0" smtClean="0"/>
              <a:t>datos.</a:t>
            </a:r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solidFill>
                  <a:srgbClr val="FF0000"/>
                </a:solidFill>
              </a:rPr>
              <a:t>Cohesión Funcional</a:t>
            </a:r>
            <a:r>
              <a:rPr lang="es-ES" dirty="0"/>
              <a:t>: Cuando el módulo ejecuta una y sólo una tarea, teniendo un único objetivo a cumplir, se dice que tiene </a:t>
            </a:r>
            <a:r>
              <a:rPr lang="es-ES" dirty="0" err="1"/>
              <a:t>Cohesividad</a:t>
            </a:r>
            <a:r>
              <a:rPr lang="es-ES" dirty="0"/>
              <a:t> Funcional.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381001" y="304800"/>
            <a:ext cx="8153399" cy="762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>
            <a:normAutofit fontScale="92500" lnSpcReduction="20000"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ALTA COHESIÓN </a:t>
            </a:r>
            <a:r>
              <a:rPr lang="es-ES" b="1" kern="0" dirty="0" smtClean="0"/>
              <a:t/>
            </a:r>
            <a:br>
              <a:rPr lang="es-ES" b="1" kern="0" dirty="0" smtClean="0"/>
            </a:br>
            <a:r>
              <a:rPr lang="es-ES" sz="2000" kern="0" dirty="0" smtClean="0"/>
              <a:t>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09249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58514" y="1143000"/>
            <a:ext cx="115286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Este tipo de patrón GRASP de alta cohesión indica como ventaja e importancia que la información almacenada de una clase debe ser coherente y debe estar en la medida de lo posible relacionada con la clase.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39" y="2590800"/>
            <a:ext cx="11489961" cy="3505201"/>
          </a:xfrm>
          <a:prstGeom prst="rect">
            <a:avLst/>
          </a:prstGeom>
          <a:ln>
            <a:solidFill>
              <a:srgbClr val="D1052D"/>
            </a:solidFill>
          </a:ln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381000" y="304800"/>
            <a:ext cx="8762999" cy="76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normAutofit fontScale="92500" lnSpcReduction="20000"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ALTA COHESIÓN </a:t>
            </a:r>
            <a:r>
              <a:rPr lang="es-ES" b="1" kern="0" dirty="0" smtClean="0"/>
              <a:t/>
            </a:r>
            <a:br>
              <a:rPr lang="es-ES" b="1" kern="0" dirty="0" smtClean="0"/>
            </a:br>
            <a:r>
              <a:rPr lang="es-ES" sz="2000" kern="0" dirty="0" smtClean="0"/>
              <a:t>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65873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24" y="1772881"/>
            <a:ext cx="10980275" cy="258940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510" y="4120690"/>
            <a:ext cx="10538301" cy="1895347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933391" y="1311216"/>
            <a:ext cx="89650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SOLUCIÓN</a:t>
            </a:r>
            <a:r>
              <a:rPr lang="es-ES" sz="2000" dirty="0" smtClean="0"/>
              <a:t>:  Asignar una responsabilidad de modo de que la cohesión sea primordial</a:t>
            </a:r>
            <a:endParaRPr lang="en-US" sz="20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381001" y="304800"/>
            <a:ext cx="8686800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>
            <a:normAutofit fontScale="92500" lnSpcReduction="20000"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ALTA COHESIÓN </a:t>
            </a:r>
            <a:r>
              <a:rPr lang="es-ES" b="1" kern="0" dirty="0" smtClean="0"/>
              <a:t/>
            </a:r>
            <a:br>
              <a:rPr lang="es-ES" b="1" kern="0" dirty="0" smtClean="0"/>
            </a:br>
            <a:r>
              <a:rPr lang="es-ES" sz="2000" kern="0" dirty="0" smtClean="0"/>
              <a:t>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73679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413479" y="1066800"/>
            <a:ext cx="11268232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 smtClean="0"/>
              <a:t>Este </a:t>
            </a:r>
            <a:r>
              <a:rPr lang="es-ES" sz="2400" b="1" dirty="0"/>
              <a:t>tipo</a:t>
            </a:r>
            <a:r>
              <a:rPr lang="es-ES" sz="2400" b="1" dirty="0" smtClean="0"/>
              <a:t> de patrón GRASP de bajo acoplamiento hace referencia como ventaja y característica a lograr tener </a:t>
            </a:r>
            <a:r>
              <a:rPr lang="es-ES" sz="2400" b="1" dirty="0"/>
              <a:t>las clases lo menos ligadas entre </a:t>
            </a:r>
            <a:r>
              <a:rPr lang="es-ES" sz="2400" b="1" dirty="0" smtClean="0"/>
              <a:t>sí. Como uso y aplicación es que </a:t>
            </a:r>
            <a:r>
              <a:rPr lang="es-ES" sz="2400" b="1" dirty="0"/>
              <a:t>en caso de producirse una modificación en alguna </a:t>
            </a:r>
            <a:r>
              <a:rPr lang="es-ES" sz="2400" b="1" dirty="0" smtClean="0"/>
              <a:t>de las clases del modelo se </a:t>
            </a:r>
            <a:r>
              <a:rPr lang="es-ES" sz="2400" b="1" dirty="0"/>
              <a:t>tenga la mínima repercusión posible en el resto de clases, potenciando la </a:t>
            </a:r>
            <a:r>
              <a:rPr lang="es-ES" sz="2400" b="1" dirty="0" smtClean="0"/>
              <a:t>reutilización </a:t>
            </a:r>
            <a:r>
              <a:rPr lang="es-ES" sz="2400" b="1" dirty="0"/>
              <a:t>y disminuyendo la dependencia </a:t>
            </a:r>
            <a:r>
              <a:rPr lang="es-ES" sz="2400" b="1" dirty="0" smtClean="0"/>
              <a:t>mutua entre clases.</a:t>
            </a:r>
            <a:endParaRPr lang="es-ES" sz="2400" b="1" dirty="0"/>
          </a:p>
          <a:p>
            <a:endParaRPr lang="es-ES" dirty="0" smtClean="0"/>
          </a:p>
          <a:p>
            <a:r>
              <a:rPr lang="es-ES" sz="2800" b="1" dirty="0" smtClean="0">
                <a:solidFill>
                  <a:srgbClr val="FF0000"/>
                </a:solidFill>
              </a:rPr>
              <a:t>Tipos de Bajo acoplamiento:</a:t>
            </a:r>
          </a:p>
          <a:p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rgbClr val="0070C0"/>
                </a:solidFill>
              </a:rPr>
              <a:t>Acoplamiento de Contenido</a:t>
            </a:r>
            <a:r>
              <a:rPr lang="es-ES" sz="2400" dirty="0"/>
              <a:t>: Cuando un módulo referencia directamente el contenido de otro módulo. (En lenguajes de alto nivel es muy raro)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rgbClr val="0070C0"/>
                </a:solidFill>
              </a:rPr>
              <a:t>Acoplamiento Común</a:t>
            </a:r>
            <a:r>
              <a:rPr lang="es-ES" sz="2400" b="1" dirty="0"/>
              <a:t>: </a:t>
            </a:r>
            <a:r>
              <a:rPr lang="es-ES" sz="2400" dirty="0"/>
              <a:t>Cuando dos módulos acceden (y afectan) a un mismo valor global.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400" b="1" dirty="0">
                <a:solidFill>
                  <a:srgbClr val="0070C0"/>
                </a:solidFill>
              </a:rPr>
              <a:t>Acoplamiento de Control</a:t>
            </a:r>
            <a:r>
              <a:rPr lang="es-ES" sz="2400" dirty="0"/>
              <a:t>: Cuando un módulo le envía a otro un elemento de control que determina la lógica de ejecución del mismo.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381000" y="304800"/>
            <a:ext cx="8762999" cy="76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normAutofit fontScale="85000" lnSpcReduction="10000"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BAJO ACOPLAMIENTO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27176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605555" y="1065551"/>
            <a:ext cx="110332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/>
              <a:t>Este tipo de patrón GRASP presenta como uso y ventaja en el bajo acoplamiento </a:t>
            </a:r>
            <a:r>
              <a:rPr lang="es-ES" sz="2400" b="1" dirty="0" smtClean="0"/>
              <a:t>a que nos indica </a:t>
            </a:r>
            <a:r>
              <a:rPr lang="es-ES" sz="2400" b="1" dirty="0"/>
              <a:t>que se debe tener las clases lo menos ligadas entre </a:t>
            </a:r>
            <a:r>
              <a:rPr lang="es-ES" sz="2400" b="1" dirty="0" smtClean="0"/>
              <a:t>sí. </a:t>
            </a:r>
            <a:endParaRPr lang="es-ES" sz="24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55" y="2209800"/>
            <a:ext cx="10900645" cy="3743864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381000" y="304800"/>
            <a:ext cx="8762999" cy="76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normAutofit fontScale="85000" lnSpcReduction="10000"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BAJO ACOPLAMIENTO</a:t>
            </a:r>
            <a:r>
              <a:rPr lang="es-ES" sz="2000" kern="0" dirty="0" smtClean="0"/>
              <a:t>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40982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74" y="1769343"/>
            <a:ext cx="10180606" cy="323355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55" y="5002899"/>
            <a:ext cx="9982243" cy="1245501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439546" y="1307678"/>
            <a:ext cx="105332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 smtClean="0">
                <a:solidFill>
                  <a:srgbClr val="0070C0"/>
                </a:solidFill>
              </a:rPr>
              <a:t>SOLUCIÓN</a:t>
            </a:r>
            <a:r>
              <a:rPr lang="es-ES" sz="2000" dirty="0" smtClean="0">
                <a:solidFill>
                  <a:srgbClr val="0070C0"/>
                </a:solidFill>
              </a:rPr>
              <a:t>:</a:t>
            </a:r>
            <a:r>
              <a:rPr lang="es-ES" sz="2000" dirty="0" smtClean="0"/>
              <a:t>  </a:t>
            </a:r>
            <a:r>
              <a:rPr lang="es-ES" sz="2000" b="1" dirty="0" smtClean="0"/>
              <a:t>Asignar una responsabilidad para mantener el bajo acoplamiento</a:t>
            </a:r>
            <a:endParaRPr lang="en-US" sz="2000" b="1" dirty="0"/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381000" y="304800"/>
            <a:ext cx="8762999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>
            <a:normAutofit fontScale="85000" lnSpcReduction="10000"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BAJO ACOPLAMIENTO</a:t>
            </a:r>
            <a:r>
              <a:rPr lang="es-ES" sz="2000" kern="0" dirty="0" smtClean="0"/>
              <a:t>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31684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81000" y="1371600"/>
            <a:ext cx="112776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El patrón de tipo controlador </a:t>
            </a:r>
            <a:r>
              <a:rPr lang="es-ES" sz="2400" b="1" dirty="0" smtClean="0"/>
              <a:t>presenta como ventaja y característica fundamental es que es un tipo de patrón </a:t>
            </a:r>
            <a:r>
              <a:rPr lang="es-ES" sz="2400" b="1" dirty="0"/>
              <a:t>que sirve como intermediario entre una determinada interfaz y el algoritmo que la implementa, de tal forma que es la que recibe los datos del usuario y la que los envía a las distintas clases según el método solicitado. Las características y </a:t>
            </a:r>
            <a:r>
              <a:rPr lang="es-ES" sz="2400" b="1" dirty="0" smtClean="0"/>
              <a:t>ventajas se presentan luego:</a:t>
            </a:r>
            <a:endParaRPr lang="es-ES" sz="2800" b="1" dirty="0"/>
          </a:p>
          <a:p>
            <a:endParaRPr lang="es-ES" sz="2400" dirty="0"/>
          </a:p>
          <a:p>
            <a:pPr marL="914400" lvl="1" indent="-457200">
              <a:buFont typeface="+mj-lt"/>
              <a:buAutoNum type="arabicPeriod"/>
            </a:pPr>
            <a:r>
              <a:rPr lang="es-ES" sz="2400" b="1" dirty="0">
                <a:solidFill>
                  <a:srgbClr val="0070C0"/>
                </a:solidFill>
              </a:rPr>
              <a:t>Este patrón </a:t>
            </a:r>
            <a:r>
              <a:rPr lang="es-ES" sz="2400" b="1" dirty="0" smtClean="0">
                <a:solidFill>
                  <a:srgbClr val="0070C0"/>
                </a:solidFill>
              </a:rPr>
              <a:t>en su aplicación sugiere </a:t>
            </a:r>
            <a:r>
              <a:rPr lang="es-ES" sz="2400" b="1" dirty="0">
                <a:solidFill>
                  <a:srgbClr val="0070C0"/>
                </a:solidFill>
              </a:rPr>
              <a:t>que la lógica de negocios debe estar separada de la capa de presentación, esto para aumentar la reutilización de código y a la vez tener un mayor control</a:t>
            </a:r>
            <a:r>
              <a:rPr lang="es-ES" sz="2400" b="1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endParaRPr lang="es-ES" sz="2400" b="1" dirty="0"/>
          </a:p>
          <a:p>
            <a:pPr marL="914400" lvl="1" indent="-457200" algn="just">
              <a:buFont typeface="+mj-lt"/>
              <a:buAutoNum type="arabicPeriod"/>
            </a:pPr>
            <a:r>
              <a:rPr lang="es-ES" sz="2400" b="1" dirty="0" smtClean="0">
                <a:solidFill>
                  <a:srgbClr val="0070C0"/>
                </a:solidFill>
              </a:rPr>
              <a:t>Recomienda </a:t>
            </a:r>
            <a:r>
              <a:rPr lang="es-ES" sz="2400" b="1" dirty="0">
                <a:solidFill>
                  <a:srgbClr val="0070C0"/>
                </a:solidFill>
              </a:rPr>
              <a:t>dividir los eventos del sistema en el mayor número de controladores para poder aumentar la cohesión y disminuir el acoplamiento</a:t>
            </a:r>
            <a:r>
              <a:rPr lang="es-ES" sz="2400" b="1" dirty="0"/>
              <a:t>.</a:t>
            </a:r>
            <a:endParaRPr lang="es-ES" sz="2000" b="1" dirty="0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381000" y="304800"/>
            <a:ext cx="8762999" cy="76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norm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CONTROLADOR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983025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381000" y="1723935"/>
            <a:ext cx="1140143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400" b="1" dirty="0"/>
              <a:t>Este patrón controlador sugiere que la lógica de negocios debe estar separada de la capa de presentación, esto para aumentar la reutilización de código y a la vez tener un mayor control.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76600"/>
            <a:ext cx="11096630" cy="2131721"/>
          </a:xfrm>
          <a:prstGeom prst="rect">
            <a:avLst/>
          </a:prstGeom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381000" y="381000"/>
            <a:ext cx="8762999" cy="76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>
            <a:norm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CONTROLADOR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6752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83173"/>
            <a:ext cx="10896600" cy="3019244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81000" y="1282456"/>
            <a:ext cx="1089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dirty="0"/>
              <a:t>Este patrón sugiere que la lógica de negocios debe estar separada de la capa de presentación, esto para aumentar la reutilización de código y a la vez tener un mayor control.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381000" y="381000"/>
            <a:ext cx="8762999" cy="76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0" rIns="0" bIns="0">
            <a:norm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CONTROLADOR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6918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8" y="1441870"/>
            <a:ext cx="11030262" cy="284384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/>
          <a:srcRect l="1812"/>
          <a:stretch/>
        </p:blipFill>
        <p:spPr>
          <a:xfrm>
            <a:off x="685800" y="4301951"/>
            <a:ext cx="10591800" cy="1717849"/>
          </a:xfrm>
          <a:prstGeom prst="rect">
            <a:avLst/>
          </a:prstGeom>
        </p:spPr>
      </p:pic>
      <p:sp>
        <p:nvSpPr>
          <p:cNvPr id="6" name="Título 1"/>
          <p:cNvSpPr txBox="1">
            <a:spLocks/>
          </p:cNvSpPr>
          <p:nvPr/>
        </p:nvSpPr>
        <p:spPr>
          <a:xfrm>
            <a:off x="381000" y="381000"/>
            <a:ext cx="8762999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lIns="0" tIns="0" rIns="0" bIns="0">
            <a:norm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ES" sz="4000" b="1" kern="1200" dirty="0" smtClean="0">
                <a:solidFill>
                  <a:srgbClr val="0070C0"/>
                </a:solidFill>
                <a:latin typeface="Berlin Sans FB Demi" panose="020E0802020502020306" pitchFamily="34" charset="0"/>
                <a:ea typeface="+mn-ea"/>
                <a:cs typeface="+mn-cs"/>
              </a:rPr>
              <a:t>PATRÓN GRASP – CONTROLADOR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85494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B727177-CD63-448F-86E2-C4B737A1688F}"/>
              </a:ext>
            </a:extLst>
          </p:cNvPr>
          <p:cNvSpPr txBox="1"/>
          <p:nvPr/>
        </p:nvSpPr>
        <p:spPr>
          <a:xfrm>
            <a:off x="685800" y="533400"/>
            <a:ext cx="11277600" cy="2683427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457834" marR="5080" indent="-445770">
              <a:spcBef>
                <a:spcPts val="345"/>
              </a:spcBef>
            </a:pPr>
            <a:r>
              <a:rPr lang="es-ES" sz="3600" b="1" spc="-5" dirty="0" smtClean="0">
                <a:solidFill>
                  <a:srgbClr val="FF0000"/>
                </a:solidFill>
                <a:latin typeface="Arial"/>
                <a:cs typeface="Arial"/>
              </a:rPr>
              <a:t>PREGUNTAS:</a:t>
            </a:r>
          </a:p>
          <a:p>
            <a:pPr marL="457834" marR="5080" indent="-445770" algn="just">
              <a:spcBef>
                <a:spcPts val="345"/>
              </a:spcBef>
            </a:pPr>
            <a:endParaRPr lang="es-ES" sz="3200" b="1" spc="-5" dirty="0" smtClean="0">
              <a:latin typeface="Arial"/>
              <a:cs typeface="Arial"/>
            </a:endParaRPr>
          </a:p>
          <a:p>
            <a:pPr marL="457834" marR="5080" indent="-445770" algn="just">
              <a:spcBef>
                <a:spcPts val="345"/>
              </a:spcBef>
            </a:pPr>
            <a:r>
              <a:rPr lang="es-ES" sz="3200" b="1" spc="-5" dirty="0" smtClean="0">
                <a:solidFill>
                  <a:srgbClr val="0070C0"/>
                </a:solidFill>
                <a:latin typeface="Arial"/>
                <a:cs typeface="Arial"/>
              </a:rPr>
              <a:t>¿Cuál es tu opinión acerca de?:</a:t>
            </a:r>
            <a:endParaRPr lang="es-ES" sz="3200" b="1" spc="-5" dirty="0">
              <a:solidFill>
                <a:srgbClr val="0070C0"/>
              </a:solidFill>
              <a:latin typeface="Arial"/>
              <a:cs typeface="Arial"/>
            </a:endParaRPr>
          </a:p>
          <a:p>
            <a:pPr marL="1829434" marR="5080" lvl="3" indent="-445770" algn="just">
              <a:spcBef>
                <a:spcPts val="345"/>
              </a:spcBef>
              <a:buFont typeface="Arial" panose="020B0604020202020204" pitchFamily="34" charset="0"/>
              <a:buChar char="•"/>
            </a:pPr>
            <a:r>
              <a:rPr lang="es-ES" sz="3200" b="1" i="1" dirty="0" smtClean="0"/>
              <a:t>Los Patrones </a:t>
            </a:r>
            <a:r>
              <a:rPr lang="es-ES" sz="3200" b="1" i="1" dirty="0"/>
              <a:t>Generales de Asignación de </a:t>
            </a:r>
            <a:r>
              <a:rPr lang="es-ES" sz="3200" b="1" i="1" dirty="0" smtClean="0"/>
              <a:t>Responsabilidad- GRASP en el modelado del software</a:t>
            </a:r>
            <a:endParaRPr lang="es-ES" sz="3200" b="1" i="1" spc="-5" dirty="0" smtClean="0">
              <a:latin typeface="Arial"/>
              <a:cs typeface="Arial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4461D143-19CF-4D8B-9B32-64AE4A532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38862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0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5807" y="457200"/>
            <a:ext cx="8722359" cy="615553"/>
          </a:xfrm>
        </p:spPr>
        <p:txBody>
          <a:bodyPr/>
          <a:lstStyle/>
          <a:p>
            <a:r>
              <a:rPr lang="es-ES" sz="4000" b="1" dirty="0" smtClean="0">
                <a:solidFill>
                  <a:srgbClr val="FF0000"/>
                </a:solidFill>
                <a:latin typeface="Berlin Sans FB Demi" panose="020E0802020502020306" pitchFamily="34" charset="0"/>
              </a:rPr>
              <a:t>ACTIVIDAD EN CLASE</a:t>
            </a:r>
            <a:endParaRPr lang="en-US" sz="4000" b="1" dirty="0">
              <a:solidFill>
                <a:srgbClr val="FF000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685800" y="1905000"/>
            <a:ext cx="11049000" cy="350865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ES" sz="2800" b="1" dirty="0" smtClean="0"/>
              <a:t>En forma grupal diseñar un mapa conceptual de acuerdo al logro de la sesión. 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 smtClean="0"/>
              <a:t>Diseñar una tabla y explicar un par de casos con ejemplos donde se aplique los diferentes patrones de GRASP</a:t>
            </a:r>
          </a:p>
          <a:p>
            <a:pPr marL="514350" indent="-514350">
              <a:buFont typeface="+mj-lt"/>
              <a:buAutoNum type="arabicPeriod"/>
            </a:pPr>
            <a:r>
              <a:rPr lang="es-ES" sz="2800" b="1" dirty="0" smtClean="0"/>
              <a:t>Exposición grupal en clase. </a:t>
            </a:r>
          </a:p>
          <a:p>
            <a:pPr marL="514350" indent="-514350">
              <a:buFont typeface="+mj-lt"/>
              <a:buAutoNum type="arabicPeriod"/>
            </a:pPr>
            <a:endParaRPr lang="es-ES" sz="2800" b="1" dirty="0" smtClean="0"/>
          </a:p>
          <a:p>
            <a:pPr marL="0" indent="0">
              <a:buNone/>
            </a:pPr>
            <a:endParaRPr lang="es-ES" sz="2800" b="1" dirty="0" smtClean="0"/>
          </a:p>
          <a:p>
            <a:pPr marL="0" indent="0">
              <a:buNone/>
            </a:pPr>
            <a:r>
              <a:rPr lang="es-ES" sz="3200" b="1" dirty="0" smtClean="0">
                <a:solidFill>
                  <a:srgbClr val="0070C0"/>
                </a:solidFill>
              </a:rPr>
              <a:t>Seguir las instrucciones del docente.</a:t>
            </a:r>
            <a:endParaRPr lang="en-US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60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F4F96B2-8257-4187-BF20-F9EA78F3DF01}"/>
              </a:ext>
            </a:extLst>
          </p:cNvPr>
          <p:cNvSpPr/>
          <p:nvPr/>
        </p:nvSpPr>
        <p:spPr>
          <a:xfrm>
            <a:off x="609600" y="609600"/>
            <a:ext cx="8534400" cy="838200"/>
          </a:xfrm>
          <a:custGeom>
            <a:avLst/>
            <a:gdLst/>
            <a:ahLst/>
            <a:cxnLst/>
            <a:rect l="l" t="t" r="r" b="b"/>
            <a:pathLst>
              <a:path w="9144635" h="700405">
                <a:moveTo>
                  <a:pt x="9027447" y="700199"/>
                </a:moveTo>
                <a:lnTo>
                  <a:pt x="116702" y="700199"/>
                </a:lnTo>
                <a:lnTo>
                  <a:pt x="71276" y="691028"/>
                </a:lnTo>
                <a:lnTo>
                  <a:pt x="34181" y="666018"/>
                </a:lnTo>
                <a:lnTo>
                  <a:pt x="9171" y="628923"/>
                </a:lnTo>
                <a:lnTo>
                  <a:pt x="0" y="583497"/>
                </a:lnTo>
                <a:lnTo>
                  <a:pt x="0" y="116702"/>
                </a:lnTo>
                <a:lnTo>
                  <a:pt x="9171" y="71276"/>
                </a:lnTo>
                <a:lnTo>
                  <a:pt x="34181" y="34181"/>
                </a:lnTo>
                <a:lnTo>
                  <a:pt x="71276" y="9171"/>
                </a:lnTo>
                <a:lnTo>
                  <a:pt x="116702" y="0"/>
                </a:lnTo>
                <a:lnTo>
                  <a:pt x="9027447" y="0"/>
                </a:lnTo>
                <a:lnTo>
                  <a:pt x="9072107" y="8883"/>
                </a:lnTo>
                <a:lnTo>
                  <a:pt x="9109968" y="34181"/>
                </a:lnTo>
                <a:lnTo>
                  <a:pt x="9135266" y="72042"/>
                </a:lnTo>
                <a:lnTo>
                  <a:pt x="9144149" y="116702"/>
                </a:lnTo>
                <a:lnTo>
                  <a:pt x="9144149" y="583497"/>
                </a:lnTo>
                <a:lnTo>
                  <a:pt x="9134978" y="628923"/>
                </a:lnTo>
                <a:lnTo>
                  <a:pt x="9109968" y="666018"/>
                </a:lnTo>
                <a:lnTo>
                  <a:pt x="9072873" y="691028"/>
                </a:lnTo>
                <a:lnTo>
                  <a:pt x="9027447" y="7001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4000" b="1" dirty="0" smtClean="0">
                <a:solidFill>
                  <a:schemeClr val="bg1"/>
                </a:solidFill>
              </a:rPr>
              <a:t>CASO PRACTICO</a:t>
            </a:r>
            <a:endParaRPr lang="es-ES" sz="4000" b="1" dirty="0">
              <a:solidFill>
                <a:schemeClr val="bg1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609600" y="1752600"/>
            <a:ext cx="108966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 smtClean="0"/>
              <a:t>En la próxima sesión deberá exponer lo siguiente:</a:t>
            </a:r>
          </a:p>
          <a:p>
            <a:pPr marL="514350" indent="-514350">
              <a:buFont typeface="+mj-lt"/>
              <a:buAutoNum type="alphaLcPeriod"/>
            </a:pPr>
            <a:endParaRPr lang="es-ES" sz="2800" b="1" dirty="0" smtClean="0"/>
          </a:p>
          <a:p>
            <a:pPr marL="514350" indent="-514350">
              <a:buFont typeface="+mj-lt"/>
              <a:buAutoNum type="alphaLcPeriod"/>
            </a:pPr>
            <a:r>
              <a:rPr lang="es-ES" sz="2800" b="1" dirty="0" smtClean="0"/>
              <a:t>Diseñar en forma grupal un caso práctico donde se aplique los  </a:t>
            </a:r>
            <a:r>
              <a:rPr lang="es-ES" sz="2800" b="1" dirty="0"/>
              <a:t>patrones de </a:t>
            </a:r>
            <a:r>
              <a:rPr lang="es-ES" sz="2800" b="1" dirty="0" smtClean="0"/>
              <a:t>diseño en el tipo GRASP. </a:t>
            </a:r>
          </a:p>
          <a:p>
            <a:pPr marL="514350" indent="-514350">
              <a:buFont typeface="+mj-lt"/>
              <a:buAutoNum type="alphaLcPeriod"/>
            </a:pPr>
            <a:endParaRPr lang="es-ES" sz="2800" b="1" dirty="0" smtClean="0"/>
          </a:p>
          <a:p>
            <a:pPr marL="514350" indent="-514350">
              <a:buFont typeface="+mj-lt"/>
              <a:buAutoNum type="alphaLcPeriod"/>
            </a:pPr>
            <a:r>
              <a:rPr lang="es-ES" sz="2800" b="1" dirty="0" smtClean="0"/>
              <a:t>En grupos se realizará la exposición de acuerdo a lo solicitado por el docente de aula.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s-ES" sz="2800" b="1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s-ES" sz="2800" b="1" dirty="0" smtClean="0"/>
              <a:t>Cada grupo seguirá las instrucciones del docente.</a:t>
            </a:r>
            <a:endParaRPr lang="es-ES" sz="2800" b="1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57957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Nombre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35EC088-AD41-45D0-BAA6-A29C3F48F9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1200" y="4347654"/>
            <a:ext cx="626891" cy="561824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4CCFC334-434E-4946-8150-7F52AD5BD21D}"/>
              </a:ext>
            </a:extLst>
          </p:cNvPr>
          <p:cNvSpPr txBox="1"/>
          <p:nvPr/>
        </p:nvSpPr>
        <p:spPr>
          <a:xfrm>
            <a:off x="1291737" y="1954256"/>
            <a:ext cx="7627325" cy="177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endParaRPr lang="es-ES" sz="2800" spc="-5" dirty="0" smtClean="0">
              <a:latin typeface="Arial MT"/>
              <a:cs typeface="Arial MT"/>
            </a:endParaRP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endParaRPr lang="es-ES" sz="2800" spc="-5" dirty="0">
              <a:latin typeface="Arial MT"/>
              <a:cs typeface="Arial MT"/>
            </a:endParaRP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s-ES" sz="2800" spc="-5" dirty="0" smtClean="0">
                <a:latin typeface="Arial MT"/>
                <a:cs typeface="Arial MT"/>
              </a:rPr>
              <a:t>Dos alumnos voluntarios</a:t>
            </a:r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2800" spc="-5" dirty="0" smtClean="0">
                <a:latin typeface="Arial MT"/>
                <a:cs typeface="Arial MT"/>
              </a:rPr>
              <a:t>¿</a:t>
            </a:r>
            <a:r>
              <a:rPr lang="es-ES" sz="2800" spc="-5" dirty="0" smtClean="0">
                <a:latin typeface="Arial MT"/>
                <a:cs typeface="Arial MT"/>
              </a:rPr>
              <a:t>Para </a:t>
            </a:r>
            <a:r>
              <a:rPr sz="2800" spc="-5" dirty="0" smtClean="0">
                <a:latin typeface="Arial MT"/>
                <a:cs typeface="Arial MT"/>
              </a:rPr>
              <a:t>participar</a:t>
            </a:r>
            <a:r>
              <a:rPr lang="es-ES" sz="2800" spc="-5" dirty="0" smtClean="0">
                <a:latin typeface="Arial MT"/>
                <a:cs typeface="Arial MT"/>
              </a:rPr>
              <a:t> en la clase</a:t>
            </a:r>
            <a:r>
              <a:rPr sz="2800" spc="-5" dirty="0" smtClean="0">
                <a:latin typeface="Arial MT"/>
                <a:cs typeface="Arial MT"/>
              </a:rPr>
              <a:t>?</a:t>
            </a:r>
            <a:r>
              <a:rPr lang="es-ES" sz="2800" spc="-5" dirty="0" smtClean="0">
                <a:latin typeface="Arial MT"/>
                <a:cs typeface="Arial MT"/>
              </a:rPr>
              <a:t> 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9D2CA911-F96C-4C2E-940C-40856F4E61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124200"/>
            <a:ext cx="2730890" cy="252033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307212" y="1188913"/>
            <a:ext cx="86106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solidFill>
                  <a:srgbClr val="D1052D"/>
                </a:solidFill>
              </a:rPr>
              <a:t> </a:t>
            </a:r>
            <a:r>
              <a:rPr lang="es-ES" sz="2800" b="1" dirty="0" smtClean="0"/>
              <a:t>PATRONES GENERALES DE ASIGNACIÓN DE RESPONSABILIDADES -GRASP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1446857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Nombre de la sesión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666999" y="3205089"/>
            <a:ext cx="89154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s-ES" sz="3200" spc="-5" dirty="0">
                <a:latin typeface="Arial"/>
                <a:cs typeface="Arial"/>
              </a:rPr>
              <a:t>¿</a:t>
            </a:r>
            <a:r>
              <a:rPr lang="es-ES" sz="3200" b="1" spc="-5" dirty="0">
                <a:latin typeface="Arial"/>
                <a:cs typeface="Arial"/>
              </a:rPr>
              <a:t>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se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les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hizo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más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dirty="0" smtClean="0">
                <a:latin typeface="Arial"/>
                <a:cs typeface="Arial"/>
              </a:rPr>
              <a:t>fácil en la clase </a:t>
            </a:r>
            <a:r>
              <a:rPr lang="es-ES" sz="3200" dirty="0" smtClean="0">
                <a:latin typeface="Arial"/>
                <a:cs typeface="Arial"/>
              </a:rPr>
              <a:t>?</a:t>
            </a:r>
            <a:endParaRPr lang="es-ES" sz="3200" dirty="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endParaRPr lang="es-ES" sz="3200" spc="-5" dirty="0" smtClean="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r>
              <a:rPr lang="es-ES" sz="3200" spc="-5" dirty="0" smtClean="0">
                <a:latin typeface="Arial"/>
                <a:cs typeface="Arial"/>
              </a:rPr>
              <a:t>¿</a:t>
            </a:r>
            <a:r>
              <a:rPr lang="es-ES" sz="3200" b="1" spc="-5" dirty="0">
                <a:latin typeface="Arial"/>
                <a:cs typeface="Arial"/>
              </a:rPr>
              <a:t>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se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les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hizo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más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 smtClean="0">
                <a:latin typeface="Arial"/>
                <a:cs typeface="Arial"/>
              </a:rPr>
              <a:t>retador en la clase</a:t>
            </a:r>
            <a:r>
              <a:rPr lang="es-ES" sz="3200" spc="-5" dirty="0" smtClean="0">
                <a:latin typeface="Arial"/>
                <a:cs typeface="Arial"/>
              </a:rPr>
              <a:t>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13" name="object 4">
            <a:extLst>
              <a:ext uri="{FF2B5EF4-FFF2-40B4-BE49-F238E27FC236}">
                <a16:creationId xmlns:a16="http://schemas.microsoft.com/office/drawing/2014/main" id="{92ED82CC-0303-4C90-82F6-3B913B77FAE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075158"/>
            <a:ext cx="1828800" cy="1307886"/>
          </a:xfrm>
          <a:prstGeom prst="rect">
            <a:avLst/>
          </a:prstGeom>
        </p:spPr>
      </p:pic>
      <p:pic>
        <p:nvPicPr>
          <p:cNvPr id="14" name="object 4">
            <a:extLst>
              <a:ext uri="{FF2B5EF4-FFF2-40B4-BE49-F238E27FC236}">
                <a16:creationId xmlns:a16="http://schemas.microsoft.com/office/drawing/2014/main" id="{DFA14601-CB10-4DE1-8C05-A33670A49A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A985DEC5-F30D-46A1-8619-3D91E66BBC7E}"/>
              </a:ext>
            </a:extLst>
          </p:cNvPr>
          <p:cNvSpPr txBox="1"/>
          <p:nvPr/>
        </p:nvSpPr>
        <p:spPr>
          <a:xfrm>
            <a:off x="0" y="974629"/>
            <a:ext cx="86106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 smtClean="0">
                <a:solidFill>
                  <a:srgbClr val="D1052D"/>
                </a:solidFill>
              </a:rPr>
              <a:t> </a:t>
            </a:r>
            <a:r>
              <a:rPr lang="es-ES" sz="2800" b="1" dirty="0" smtClean="0"/>
              <a:t>PATRONES GENERALES DE ASIGNACIÓN DE RESPONSABILIDADES -GRASP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411071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 smtClean="0">
                <a:solidFill>
                  <a:srgbClr val="FFFFFF"/>
                </a:solidFill>
                <a:latin typeface="Arial"/>
                <a:cs typeface="Arial"/>
              </a:rPr>
              <a:t>Aprendizajes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2243577" y="3149025"/>
            <a:ext cx="768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3200" b="1" spc="-5" dirty="0">
                <a:latin typeface="Arial"/>
                <a:cs typeface="Arial"/>
              </a:rPr>
              <a:t>¿Qué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hemos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aprendido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el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día</a:t>
            </a:r>
            <a:r>
              <a:rPr lang="es-ES" sz="3200" b="1" spc="-15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de</a:t>
            </a:r>
            <a:r>
              <a:rPr lang="es-ES" sz="3200" b="1" spc="-20" dirty="0">
                <a:latin typeface="Arial"/>
                <a:cs typeface="Arial"/>
              </a:rPr>
              <a:t> </a:t>
            </a:r>
            <a:r>
              <a:rPr lang="es-ES" sz="3200" b="1" spc="-5" dirty="0">
                <a:latin typeface="Arial"/>
                <a:cs typeface="Arial"/>
              </a:rPr>
              <a:t>hoy?</a:t>
            </a:r>
            <a:endParaRPr lang="es-ES" sz="3200" dirty="0">
              <a:latin typeface="Arial"/>
              <a:cs typeface="Arial"/>
            </a:endParaRP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F428FEBE-63F0-4356-811F-98BF885720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6673" y="318461"/>
            <a:ext cx="548164" cy="54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3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81001"/>
            <a:ext cx="8722359" cy="677108"/>
          </a:xfrm>
        </p:spPr>
        <p:txBody>
          <a:bodyPr/>
          <a:lstStyle/>
          <a:p>
            <a:r>
              <a:rPr lang="es-ES" sz="4400" b="1" dirty="0" smtClean="0">
                <a:solidFill>
                  <a:srgbClr val="FF0000"/>
                </a:solidFill>
                <a:latin typeface="Bodoni MT Black" panose="02070A03080606020203" pitchFamily="18" charset="0"/>
              </a:rPr>
              <a:t>CIERRE DE SESIÓN</a:t>
            </a:r>
            <a:endParaRPr lang="en-US" sz="4400" b="1" dirty="0">
              <a:solidFill>
                <a:srgbClr val="FF0000"/>
              </a:solidFill>
              <a:latin typeface="Bodoni MT Black" panose="02070A03080606020203" pitchFamily="18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437213" y="1371600"/>
            <a:ext cx="10358120" cy="3508653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sz="3200" b="1" dirty="0" smtClean="0"/>
              <a:t>                   </a:t>
            </a:r>
            <a:r>
              <a:rPr lang="es-ES" sz="3200" b="1" dirty="0" smtClean="0">
                <a:solidFill>
                  <a:srgbClr val="0070C0"/>
                </a:solidFill>
              </a:rPr>
              <a:t>¿ En la clase que hemos </a:t>
            </a:r>
            <a:r>
              <a:rPr lang="es-ES" sz="3200" b="1" dirty="0">
                <a:solidFill>
                  <a:srgbClr val="0070C0"/>
                </a:solidFill>
              </a:rPr>
              <a:t>aprendido </a:t>
            </a:r>
            <a:r>
              <a:rPr lang="es-ES" sz="3200" b="1" dirty="0" smtClean="0"/>
              <a:t>?</a:t>
            </a:r>
          </a:p>
          <a:p>
            <a:pPr marL="2857500" lvl="5" indent="-571500">
              <a:buFont typeface="Arial" panose="020B0604020202020204" pitchFamily="34" charset="0"/>
              <a:buChar char="•"/>
            </a:pPr>
            <a:r>
              <a:rPr lang="es-ES" sz="3200" b="1" dirty="0" smtClean="0"/>
              <a:t>Patrones GRASP en el diseño de Software</a:t>
            </a:r>
          </a:p>
          <a:p>
            <a:pPr marL="2857500" lvl="5" indent="-571500">
              <a:buFont typeface="Arial" panose="020B0604020202020204" pitchFamily="34" charset="0"/>
              <a:buChar char="•"/>
            </a:pPr>
            <a:r>
              <a:rPr lang="es-ES" sz="3200" b="1" dirty="0"/>
              <a:t>Introducción a Patrones GRASP</a:t>
            </a:r>
            <a:endParaRPr lang="es-ES" sz="3200" b="1" dirty="0" smtClean="0"/>
          </a:p>
          <a:p>
            <a:pPr marL="2857500" lvl="5" indent="-571500">
              <a:buFont typeface="Arial" panose="020B0604020202020204" pitchFamily="34" charset="0"/>
              <a:buChar char="•"/>
            </a:pPr>
            <a:r>
              <a:rPr lang="es-ES" sz="3200" b="1" dirty="0" smtClean="0"/>
              <a:t>Tipos de patrones GRASP</a:t>
            </a:r>
          </a:p>
          <a:p>
            <a:pPr marL="3314700" lvl="6" indent="-571500">
              <a:buFont typeface="Arial" panose="020B0604020202020204" pitchFamily="34" charset="0"/>
              <a:buChar char="•"/>
            </a:pPr>
            <a:r>
              <a:rPr lang="es-ES" sz="3200" b="1" dirty="0" smtClean="0"/>
              <a:t>Experto</a:t>
            </a:r>
            <a:r>
              <a:rPr lang="es-ES" sz="3200" b="1" dirty="0"/>
              <a:t>. Creador. Alta cohesión. Bajo </a:t>
            </a:r>
            <a:r>
              <a:rPr lang="es-ES" sz="3200" b="1" dirty="0" smtClean="0"/>
              <a:t>acoplamiento. Controlador. </a:t>
            </a:r>
            <a:endParaRPr lang="es-ES" sz="3200" b="1" dirty="0"/>
          </a:p>
          <a:p>
            <a:pPr marL="2857500" lvl="5" indent="-5715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9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Conclusiones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2751C15-745F-4C85-B21A-843C83F11E8E}"/>
              </a:ext>
            </a:extLst>
          </p:cNvPr>
          <p:cNvSpPr txBox="1"/>
          <p:nvPr/>
        </p:nvSpPr>
        <p:spPr>
          <a:xfrm>
            <a:off x="537922" y="1295400"/>
            <a:ext cx="10896600" cy="4342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3200" spc="-5" dirty="0" smtClean="0">
              <a:solidFill>
                <a:srgbClr val="0070C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800" b="1" i="1" spc="-5" dirty="0" smtClean="0">
                <a:latin typeface="Arial"/>
                <a:cs typeface="Arial"/>
              </a:rPr>
              <a:t>Estudiante: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s-ES" sz="2800" b="1" i="1" spc="-5" dirty="0" smtClean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2400" b="1" i="1" spc="-5" dirty="0" smtClean="0">
                <a:latin typeface="Arial"/>
                <a:cs typeface="Arial"/>
              </a:rPr>
              <a:t>En cada clase siempre tomar </a:t>
            </a:r>
            <a:r>
              <a:rPr lang="es-ES" sz="2400" b="1" i="1" spc="-5" dirty="0">
                <a:latin typeface="Arial"/>
                <a:cs typeface="Arial"/>
              </a:rPr>
              <a:t>apuntes de manera eficaz </a:t>
            </a:r>
            <a:r>
              <a:rPr lang="es-ES" sz="2400" b="1" i="1" spc="-5" dirty="0" smtClean="0">
                <a:latin typeface="Arial"/>
                <a:cs typeface="Arial"/>
              </a:rPr>
              <a:t>para lograr  </a:t>
            </a:r>
            <a:r>
              <a:rPr lang="es-ES" sz="2400" b="1" i="1" spc="-5" dirty="0">
                <a:latin typeface="Arial"/>
                <a:cs typeface="Arial"/>
              </a:rPr>
              <a:t>consolidar el  aprendizaje y prepararse para </a:t>
            </a:r>
            <a:r>
              <a:rPr lang="es-ES" sz="2400" b="1" i="1" spc="-5" dirty="0" smtClean="0">
                <a:latin typeface="Arial"/>
                <a:cs typeface="Arial"/>
              </a:rPr>
              <a:t>las evaluaciones y exámenes</a:t>
            </a:r>
            <a:r>
              <a:rPr lang="es-ES" sz="3200" spc="-5" dirty="0" smtClean="0">
                <a:latin typeface="Arial"/>
                <a:cs typeface="Arial"/>
              </a:rPr>
              <a:t>.</a:t>
            </a:r>
          </a:p>
          <a:p>
            <a:pPr marL="469900" indent="-4572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s-ES" sz="2400" b="1" i="1" spc="-5" dirty="0">
                <a:latin typeface="Arial"/>
                <a:cs typeface="Arial"/>
              </a:rPr>
              <a:t>El temario desarrollado </a:t>
            </a:r>
            <a:r>
              <a:rPr lang="es-ES" sz="2400" b="1" i="1" spc="-5" dirty="0" smtClean="0">
                <a:latin typeface="Arial"/>
                <a:cs typeface="Arial"/>
              </a:rPr>
              <a:t>nos permitió </a:t>
            </a:r>
            <a:r>
              <a:rPr lang="es-ES" sz="2400" b="1" i="1" spc="-5" dirty="0">
                <a:latin typeface="Arial"/>
                <a:cs typeface="Arial"/>
              </a:rPr>
              <a:t>comprender, analizar </a:t>
            </a:r>
            <a:r>
              <a:rPr lang="es-ES" sz="2400" b="1" i="1" spc="-5" dirty="0" smtClean="0">
                <a:latin typeface="Arial"/>
                <a:cs typeface="Arial"/>
              </a:rPr>
              <a:t>y saber utilizar los patrones generales de asignación de responsabilidades –GRASP en el diseño del software. </a:t>
            </a:r>
            <a:endParaRPr lang="es-PE" sz="2400" b="1" i="1" spc="-5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s-ES" sz="3200" spc="-5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5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3237432-5409-4010-913D-63C769E0C667}"/>
              </a:ext>
            </a:extLst>
          </p:cNvPr>
          <p:cNvSpPr txBox="1"/>
          <p:nvPr/>
        </p:nvSpPr>
        <p:spPr>
          <a:xfrm>
            <a:off x="381000" y="381000"/>
            <a:ext cx="4724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400" b="1" spc="-5" dirty="0">
                <a:solidFill>
                  <a:srgbClr val="FFFFFF"/>
                </a:solidFill>
                <a:latin typeface="Arial"/>
                <a:cs typeface="Arial"/>
              </a:rPr>
              <a:t>Tarea</a:t>
            </a:r>
            <a:endParaRPr lang="es-PE" sz="2400" dirty="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814BB19-1D9E-4067-AEBA-01A9345F4FE9}"/>
              </a:ext>
            </a:extLst>
          </p:cNvPr>
          <p:cNvSpPr txBox="1"/>
          <p:nvPr/>
        </p:nvSpPr>
        <p:spPr>
          <a:xfrm>
            <a:off x="3886200" y="3581400"/>
            <a:ext cx="6476999" cy="29540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90"/>
              </a:lnSpc>
            </a:pPr>
            <a:endParaRPr sz="3200" dirty="0">
              <a:latin typeface="Arial"/>
              <a:cs typeface="Arial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9" name="object 6">
            <a:extLst>
              <a:ext uri="{FF2B5EF4-FFF2-40B4-BE49-F238E27FC236}">
                <a16:creationId xmlns:a16="http://schemas.microsoft.com/office/drawing/2014/main" id="{40D386DC-46A8-4028-8651-49DAA78E864A}"/>
              </a:ext>
            </a:extLst>
          </p:cNvPr>
          <p:cNvSpPr txBox="1"/>
          <p:nvPr/>
        </p:nvSpPr>
        <p:spPr>
          <a:xfrm>
            <a:off x="1055948" y="1690498"/>
            <a:ext cx="10080101" cy="189090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79095" marR="5080" indent="-367030">
              <a:buChar char="●"/>
              <a:tabLst>
                <a:tab pos="379095" algn="l"/>
                <a:tab pos="379730" algn="l"/>
              </a:tabLst>
            </a:pPr>
            <a:r>
              <a:rPr lang="es-ES" sz="24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Para la clase siguiente y de forma grupal trabajar una </a:t>
            </a:r>
            <a:r>
              <a:rPr sz="2400" spc="-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activ</a:t>
            </a:r>
            <a:r>
              <a:rPr lang="es-ES" sz="2400" spc="-5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idad</a:t>
            </a:r>
            <a:r>
              <a:rPr sz="24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5" dirty="0">
                <a:latin typeface="Arial" panose="020B0604020202020204" pitchFamily="34" charset="0"/>
                <a:cs typeface="Arial" panose="020B0604020202020204" pitchFamily="34" charset="0"/>
              </a:rPr>
              <a:t>práctica </a:t>
            </a:r>
            <a:r>
              <a:rPr sz="2400" b="1" spc="-5" dirty="0">
                <a:latin typeface="Arial" panose="020B0604020202020204" pitchFamily="34" charset="0"/>
                <a:cs typeface="Arial" panose="020B0604020202020204" pitchFamily="34" charset="0"/>
              </a:rPr>
              <a:t>“Utilizando </a:t>
            </a:r>
            <a:r>
              <a:rPr lang="es-ES" sz="2400" b="1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los tipos de Patrones GRASP</a:t>
            </a:r>
            <a:r>
              <a:rPr sz="2400" spc="-49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spc="-490" dirty="0" smtClean="0">
                <a:latin typeface="Arial" panose="020B0604020202020204" pitchFamily="34" charset="0"/>
                <a:cs typeface="Arial" panose="020B0604020202020204" pitchFamily="34" charset="0"/>
              </a:rPr>
              <a:t>“  .   </a:t>
            </a:r>
          </a:p>
          <a:p>
            <a:pPr marL="379095" marR="5080" indent="-367030">
              <a:buChar char="●"/>
              <a:tabLst>
                <a:tab pos="379095" algn="l"/>
                <a:tab pos="379730" algn="l"/>
              </a:tabLst>
            </a:pPr>
            <a:endParaRPr lang="es-ES" sz="2400" spc="-49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marR="5080" indent="-367030">
              <a:buChar char="●"/>
              <a:tabLst>
                <a:tab pos="379095" algn="l"/>
                <a:tab pos="379730" algn="l"/>
              </a:tabLst>
            </a:pPr>
            <a:r>
              <a:rPr lang="es-ES" sz="2400" b="1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Es necesario utilizar software libre para construir el diseño de modelamiento de patrones</a:t>
            </a:r>
            <a:r>
              <a:rPr lang="es-ES" sz="2400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6C1EBD77-2009-467A-8F43-D98057869CA7}"/>
              </a:ext>
            </a:extLst>
          </p:cNvPr>
          <p:cNvSpPr txBox="1"/>
          <p:nvPr/>
        </p:nvSpPr>
        <p:spPr>
          <a:xfrm>
            <a:off x="1043456" y="4724400"/>
            <a:ext cx="9704133" cy="369332"/>
          </a:xfrm>
          <a:prstGeom prst="rect">
            <a:avLst/>
          </a:prstGeom>
          <a:solidFill>
            <a:srgbClr val="D9EAD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Nota:</a:t>
            </a:r>
            <a:r>
              <a:rPr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sz="2400" i="1" spc="-5" dirty="0" smtClean="0">
                <a:latin typeface="Arial" panose="020B0604020202020204" pitchFamily="34" charset="0"/>
                <a:cs typeface="Arial" panose="020B0604020202020204" pitchFamily="34" charset="0"/>
              </a:rPr>
              <a:t>olvides. R</a:t>
            </a:r>
            <a:r>
              <a:rPr lang="es-ES" sz="2400" i="1" spc="-1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evisar</a:t>
            </a:r>
            <a:r>
              <a:rPr lang="es-ES" sz="2400" i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i="1" spc="-10" dirty="0">
                <a:latin typeface="Arial" panose="020B0604020202020204" pitchFamily="34" charset="0"/>
                <a:cs typeface="Arial" panose="020B0604020202020204" pitchFamily="34" charset="0"/>
              </a:rPr>
              <a:t>tu plataforma </a:t>
            </a:r>
            <a:r>
              <a:rPr lang="es-ES" sz="2400" i="1" spc="-10" dirty="0" err="1">
                <a:latin typeface="Arial" panose="020B0604020202020204" pitchFamily="34" charset="0"/>
                <a:cs typeface="Arial" panose="020B0604020202020204" pitchFamily="34" charset="0"/>
              </a:rPr>
              <a:t>UTP+Class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49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3D49147-6665-4E3D-899C-D582AC68A260}"/>
              </a:ext>
            </a:extLst>
          </p:cNvPr>
          <p:cNvSpPr/>
          <p:nvPr/>
        </p:nvSpPr>
        <p:spPr>
          <a:xfrm>
            <a:off x="0" y="304801"/>
            <a:ext cx="5659755" cy="561824"/>
          </a:xfrm>
          <a:custGeom>
            <a:avLst/>
            <a:gdLst/>
            <a:ahLst/>
            <a:cxnLst/>
            <a:rect l="l" t="t" r="r" b="b"/>
            <a:pathLst>
              <a:path w="5659755" h="415290">
                <a:moveTo>
                  <a:pt x="5590548" y="414899"/>
                </a:moveTo>
                <a:lnTo>
                  <a:pt x="6651" y="414899"/>
                </a:lnTo>
                <a:lnTo>
                  <a:pt x="0" y="413557"/>
                </a:lnTo>
                <a:lnTo>
                  <a:pt x="0" y="1342"/>
                </a:lnTo>
                <a:lnTo>
                  <a:pt x="6651" y="0"/>
                </a:lnTo>
                <a:lnTo>
                  <a:pt x="5590548" y="0"/>
                </a:lnTo>
                <a:lnTo>
                  <a:pt x="5604102" y="1340"/>
                </a:lnTo>
                <a:lnTo>
                  <a:pt x="5639445" y="20253"/>
                </a:lnTo>
                <a:lnTo>
                  <a:pt x="5658358" y="55597"/>
                </a:lnTo>
                <a:lnTo>
                  <a:pt x="5659699" y="69151"/>
                </a:lnTo>
                <a:lnTo>
                  <a:pt x="5659699" y="345748"/>
                </a:lnTo>
                <a:lnTo>
                  <a:pt x="5654265" y="372665"/>
                </a:lnTo>
                <a:lnTo>
                  <a:pt x="5639446" y="394646"/>
                </a:lnTo>
                <a:lnTo>
                  <a:pt x="5617465" y="409465"/>
                </a:lnTo>
                <a:lnTo>
                  <a:pt x="5590548" y="414899"/>
                </a:lnTo>
                <a:close/>
              </a:path>
            </a:pathLst>
          </a:custGeom>
          <a:solidFill>
            <a:srgbClr val="D105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C43E916E-CF2E-42D4-96E7-92D72D2AC94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310" y="304802"/>
            <a:ext cx="561824" cy="56182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24A635F-D0BC-448C-963A-9F264D0DBAC1}"/>
              </a:ext>
            </a:extLst>
          </p:cNvPr>
          <p:cNvSpPr txBox="1"/>
          <p:nvPr/>
        </p:nvSpPr>
        <p:spPr>
          <a:xfrm>
            <a:off x="9144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MUCHAS</a:t>
            </a:r>
            <a:r>
              <a:rPr lang="es-ES" sz="3600" b="1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DIOS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s-ES" sz="36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BENDIGA!!!</a:t>
            </a:r>
            <a:endParaRPr lang="es-P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3D95F103-6F5F-4016-A9CD-2446F09D30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3800" y="1828800"/>
            <a:ext cx="1532381" cy="281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58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191E5126-E36B-4AD7-8091-51DA2789C594}"/>
              </a:ext>
            </a:extLst>
          </p:cNvPr>
          <p:cNvGrpSpPr/>
          <p:nvPr/>
        </p:nvGrpSpPr>
        <p:grpSpPr>
          <a:xfrm>
            <a:off x="2057400" y="152400"/>
            <a:ext cx="9906000" cy="4152900"/>
            <a:chOff x="2057400" y="152400"/>
            <a:chExt cx="9906000" cy="41529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185A945-435F-4D6F-A7D2-DE90E0F720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2552700"/>
              <a:ext cx="7856700" cy="1752600"/>
            </a:xfrm>
            <a:prstGeom prst="rect">
              <a:avLst/>
            </a:prstGeom>
          </p:spPr>
        </p:pic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9E930664-20E1-44C4-BD93-6761C99A64C5}"/>
                </a:ext>
              </a:extLst>
            </p:cNvPr>
            <p:cNvSpPr/>
            <p:nvPr/>
          </p:nvSpPr>
          <p:spPr>
            <a:xfrm>
              <a:off x="9144000" y="152400"/>
              <a:ext cx="2819400" cy="7627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916</TotalTime>
  <Words>2234</Words>
  <Application>Microsoft Office PowerPoint</Application>
  <PresentationFormat>Panorámica</PresentationFormat>
  <Paragraphs>210</Paragraphs>
  <Slides>43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2" baseType="lpstr">
      <vt:lpstr>Arial</vt:lpstr>
      <vt:lpstr>Arial MT</vt:lpstr>
      <vt:lpstr>Berlin Sans FB Demi</vt:lpstr>
      <vt:lpstr>Bodoni MT Black</vt:lpstr>
      <vt:lpstr>Calibri</vt:lpstr>
      <vt:lpstr>Calibri Light</vt:lpstr>
      <vt:lpstr>CentSchbkCyrill BT</vt:lpstr>
      <vt:lpstr>Lora</vt:lpstr>
      <vt:lpstr>Office Theme</vt:lpstr>
      <vt:lpstr>CURSO: DISEÑO DE PATRONES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¿QUÉ CARACTERÍSTICAS PRESENTAN LOS PATRONES GRASP?</vt:lpstr>
      <vt:lpstr>PATRONES GRASP EN EL DESARROLLO DEL SOFTWARE</vt:lpstr>
      <vt:lpstr>PATRONES GENERALES DE ASIGNACIÓN DE RESPONSABILIDADES: GRASP General Responsibility Assignment Software Patterns.</vt:lpstr>
      <vt:lpstr>En el modelado de sistemas las principales ventajas y las características que presentan los Patrones GRASP es que ayudan a establecer los principios de diseño para la elaboración de objetos y en un sistema de este mismo se encuentra que esta compuesto de varios objetos que envían mensajes a otros objetos para que realicen operaciones requeridas.   Los diagramas de interacción muestran estas operaciones gráficamente, a partir de los objetos en mutua interacción, y estos se responsabilizan de un tipo de actividad especifica.  </vt:lpstr>
      <vt:lpstr>TIPOS Y CLASIFICACIÓN DE PATRONES GRASP General Responsibility Assignment Software Patterns.</vt:lpstr>
      <vt:lpstr>PATRÓN GRASP - EXPERTO  . General Responsibility Assignment Software Patterns</vt:lpstr>
      <vt:lpstr>PATRÓN GRASP - EXPERTO  . General Responsibility Assignment Software Patterns</vt:lpstr>
      <vt:lpstr>Presentación de PowerPoint</vt:lpstr>
      <vt:lpstr>PATRÓN GRASP - CREADOR  .</vt:lpstr>
      <vt:lpstr>PATRÓN GRASP - CREADOR  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ACTIVIDAD EN CLASE</vt:lpstr>
      <vt:lpstr>Presentación de PowerPoint</vt:lpstr>
      <vt:lpstr>Presentación de PowerPoint</vt:lpstr>
      <vt:lpstr>Presentación de PowerPoint</vt:lpstr>
      <vt:lpstr>Presentación de PowerPoint</vt:lpstr>
      <vt:lpstr>CIERRE DE SESIÓN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VPC Networking</dc:title>
  <dc:creator>Julia</dc:creator>
  <cp:lastModifiedBy>user</cp:lastModifiedBy>
  <cp:revision>169</cp:revision>
  <dcterms:created xsi:type="dcterms:W3CDTF">2024-06-11T03:36:57Z</dcterms:created>
  <dcterms:modified xsi:type="dcterms:W3CDTF">2024-08-17T03:47:36Z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2020-06-18T00:00:00Z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2024-06-11T00:00:00Z</vt:filetime>
  </property>
</Properties>
</file>