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376" r:id="rId2"/>
    <p:sldId id="256" r:id="rId3"/>
    <p:sldId id="349" r:id="rId4"/>
    <p:sldId id="372" r:id="rId5"/>
    <p:sldId id="363" r:id="rId6"/>
    <p:sldId id="365" r:id="rId7"/>
    <p:sldId id="351" r:id="rId8"/>
    <p:sldId id="352" r:id="rId9"/>
    <p:sldId id="344" r:id="rId10"/>
    <p:sldId id="399" r:id="rId11"/>
    <p:sldId id="407" r:id="rId12"/>
    <p:sldId id="408" r:id="rId13"/>
    <p:sldId id="405" r:id="rId14"/>
    <p:sldId id="400" r:id="rId15"/>
    <p:sldId id="409" r:id="rId16"/>
    <p:sldId id="410" r:id="rId17"/>
    <p:sldId id="406" r:id="rId18"/>
    <p:sldId id="354" r:id="rId19"/>
    <p:sldId id="356" r:id="rId20"/>
    <p:sldId id="398" r:id="rId21"/>
    <p:sldId id="357" r:id="rId22"/>
    <p:sldId id="358" r:id="rId23"/>
    <p:sldId id="360" r:id="rId24"/>
    <p:sldId id="359" r:id="rId25"/>
    <p:sldId id="369" r:id="rId26"/>
    <p:sldId id="361" r:id="rId27"/>
    <p:sldId id="370" r:id="rId28"/>
    <p:sldId id="362" r:id="rId29"/>
    <p:sldId id="273" r:id="rId30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6/08/2024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vCeic31g9K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reactiveprogramming.io/blog/es/patrones-de-diseno/state" TargetMode="External"/><Relationship Id="rId3" Type="http://schemas.openxmlformats.org/officeDocument/2006/relationships/hyperlink" Target="https://www.youtube.com/watch?v=hDBOfyzFKEU" TargetMode="External"/><Relationship Id="rId7" Type="http://schemas.openxmlformats.org/officeDocument/2006/relationships/hyperlink" Target="https://refactoring.guru/es/design-patterns/behavioral-pattern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H9l3r8QoLC4&amp;pp=ygUPUGF0csOzbiBNZW1lbnRv" TargetMode="External"/><Relationship Id="rId5" Type="http://schemas.openxmlformats.org/officeDocument/2006/relationships/hyperlink" Target="https://www.youtube.com/watch?v=Q5CL1b-FD9E" TargetMode="External"/><Relationship Id="rId4" Type="http://schemas.openxmlformats.org/officeDocument/2006/relationships/hyperlink" Target="https://www.youtube.com/watch?v=Xq-ypMZfWPM&amp;pp=ygUPUGF0csOzbiBDb21uYW5k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arteles de normas de clase para imprimir">
            <a:extLst>
              <a:ext uri="{FF2B5EF4-FFF2-40B4-BE49-F238E27FC236}">
                <a16:creationId xmlns:a16="http://schemas.microsoft.com/office/drawing/2014/main" id="{43E7A42F-2528-479F-BB26-0D53F6690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6" t="6806" r="9223" b="15417"/>
          <a:stretch/>
        </p:blipFill>
        <p:spPr bwMode="auto">
          <a:xfrm>
            <a:off x="2400300" y="914400"/>
            <a:ext cx="73914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06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00112" y="1838144"/>
            <a:ext cx="10363199" cy="8749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85725" marR="5080" algn="ctr">
              <a:lnSpc>
                <a:spcPts val="6480"/>
              </a:lnSpc>
              <a:spcBef>
                <a:spcPts val="915"/>
              </a:spcBef>
            </a:pPr>
            <a:r>
              <a:rPr lang="es-ES" sz="4400" spc="-45" dirty="0">
                <a:latin typeface="CentSchbkCyrill BT" panose="02040603050705020303" pitchFamily="18" charset="-52"/>
              </a:rPr>
              <a:t>CURSO: DISEÑO DE PATRONES</a:t>
            </a:r>
            <a:endParaRPr sz="44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1938336" y="1644495"/>
            <a:ext cx="8286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CUARTA UNIDAD DE APRENDIZAJE: </a:t>
            </a:r>
            <a:r>
              <a:rPr lang="es-ES" dirty="0"/>
              <a:t>Patrones para interacción y responsabilidades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2000250" y="3179215"/>
            <a:ext cx="8224838" cy="2039020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</a:t>
            </a:r>
            <a:r>
              <a:rPr lang="es-PE" sz="3200" b="1" spc="-25" dirty="0" err="1">
                <a:solidFill>
                  <a:schemeClr val="bg1"/>
                </a:solidFill>
                <a:latin typeface="Arial"/>
                <a:cs typeface="Arial"/>
              </a:rPr>
              <a:t>N°</a:t>
            </a: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 13: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dirty="0">
                <a:solidFill>
                  <a:schemeClr val="bg1"/>
                </a:solidFill>
                <a:latin typeface="Arial"/>
                <a:cs typeface="Arial"/>
              </a:rPr>
              <a:t>Patrones Comportamiento: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>
                <a:solidFill>
                  <a:schemeClr val="bg1"/>
                </a:solidFill>
                <a:latin typeface="Arial"/>
                <a:cs typeface="Arial"/>
              </a:rPr>
              <a:t>Patrón </a:t>
            </a:r>
            <a:r>
              <a:rPr lang="es-PE" sz="3200" dirty="0" err="1">
                <a:solidFill>
                  <a:schemeClr val="bg1"/>
                </a:solidFill>
                <a:latin typeface="Arial"/>
                <a:cs typeface="Arial"/>
              </a:rPr>
              <a:t>Command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3200" dirty="0">
                <a:solidFill>
                  <a:schemeClr val="bg1"/>
                </a:solidFill>
                <a:latin typeface="Arial"/>
                <a:cs typeface="Arial"/>
              </a:rPr>
              <a:t>Patrón Memento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6096000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Lo que debemos tener en cuenta</a:t>
            </a:r>
            <a:endParaRPr lang="es-ES" sz="36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BAE54A3-FEA7-4128-BE56-05EC6E2420A4}"/>
              </a:ext>
            </a:extLst>
          </p:cNvPr>
          <p:cNvSpPr txBox="1"/>
          <p:nvPr/>
        </p:nvSpPr>
        <p:spPr>
          <a:xfrm>
            <a:off x="4419600" y="5101590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hlinkClick r:id="rId2"/>
              </a:rPr>
              <a:t>https://www.youtube.com/watch?v=vCeic31g9KQ</a:t>
            </a:r>
            <a:endParaRPr lang="es-PE" dirty="0"/>
          </a:p>
          <a:p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229C50-C6B9-4F06-B989-9E4E269BB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25" y="1019175"/>
            <a:ext cx="6744641" cy="3839111"/>
          </a:xfrm>
          <a:prstGeom prst="rect">
            <a:avLst/>
          </a:prstGeom>
        </p:spPr>
      </p:pic>
      <p:pic>
        <p:nvPicPr>
          <p:cNvPr id="1028" name="Picture 4" descr="Gigantes hacia la victoria - película: Ver online">
            <a:extLst>
              <a:ext uri="{FF2B5EF4-FFF2-40B4-BE49-F238E27FC236}">
                <a16:creationId xmlns:a16="http://schemas.microsoft.com/office/drawing/2014/main" id="{6960DDB6-B351-4EAF-A051-88B9B0EE2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29211"/>
            <a:ext cx="352626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242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C152C-A7D7-4BFD-A312-AC220D10B344}"/>
              </a:ext>
            </a:extLst>
          </p:cNvPr>
          <p:cNvSpPr txBox="1"/>
          <p:nvPr/>
        </p:nvSpPr>
        <p:spPr>
          <a:xfrm>
            <a:off x="838200" y="1137821"/>
            <a:ext cx="104394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u="sng" dirty="0"/>
              <a:t>ESTRUCTURE Y REPRESENTE LOS PATRONES </a:t>
            </a:r>
            <a:r>
              <a:rPr lang="es-ES" sz="2000" b="1" u="sng" dirty="0" err="1"/>
              <a:t>STATE</a:t>
            </a:r>
            <a:r>
              <a:rPr lang="es-ES" sz="2000" b="1" u="sng" dirty="0"/>
              <a:t> Y </a:t>
            </a:r>
            <a:r>
              <a:rPr lang="es-ES" sz="2000" b="1" u="sng" dirty="0" err="1"/>
              <a:t>OBSERVER</a:t>
            </a:r>
            <a:endParaRPr lang="es-ES" sz="2000" b="1" u="sng" dirty="0"/>
          </a:p>
          <a:p>
            <a:pPr algn="ctr"/>
            <a:endParaRPr lang="es-PE" b="1" u="sng" dirty="0"/>
          </a:p>
          <a:p>
            <a:pPr algn="just"/>
            <a:r>
              <a:rPr lang="es-PE" sz="2400" b="1" dirty="0"/>
              <a:t>Materiales Necesarios: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dirty="0"/>
              <a:t>Hojas BON (hojas de papel grandes)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dirty="0"/>
              <a:t>Rotuladores o bolígrafos de colores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dirty="0"/>
              <a:t>Pizarra y tizas o marcadores</a:t>
            </a:r>
          </a:p>
          <a:p>
            <a:pPr algn="just"/>
            <a:r>
              <a:rPr lang="es-PE" sz="2400" b="1" dirty="0"/>
              <a:t>Actividades: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Agruparse en pares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Trabajar en hoja bon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Cada pareja de trabajo estructure y represente los </a:t>
            </a:r>
            <a:r>
              <a:rPr lang="es-ES" sz="2800" b="1" dirty="0">
                <a:solidFill>
                  <a:srgbClr val="C00000"/>
                </a:solidFill>
              </a:rPr>
              <a:t>patrones </a:t>
            </a:r>
            <a:r>
              <a:rPr lang="es-ES" sz="2800" b="1" dirty="0" err="1">
                <a:solidFill>
                  <a:srgbClr val="C00000"/>
                </a:solidFill>
              </a:rPr>
              <a:t>State</a:t>
            </a:r>
            <a:r>
              <a:rPr lang="es-ES" sz="2800" b="1" dirty="0">
                <a:solidFill>
                  <a:srgbClr val="C00000"/>
                </a:solidFill>
              </a:rPr>
              <a:t> y </a:t>
            </a:r>
            <a:r>
              <a:rPr lang="es-ES" sz="2800" b="1" dirty="0" err="1">
                <a:solidFill>
                  <a:srgbClr val="C00000"/>
                </a:solidFill>
              </a:rPr>
              <a:t>Observer</a:t>
            </a:r>
            <a:endParaRPr lang="es-ES" sz="2800" b="1" dirty="0">
              <a:solidFill>
                <a:srgbClr val="C00000"/>
              </a:solidFill>
            </a:endParaRPr>
          </a:p>
          <a:p>
            <a:r>
              <a:rPr lang="es-ES" sz="2400" b="1" dirty="0"/>
              <a:t>Compartir y Diseñar: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Una vez que las parejas hayan terminado, compartir sus representaciones con el resto de la clase.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15172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2552700" y="2451828"/>
            <a:ext cx="7086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>
                <a:latin typeface="Arial MT"/>
                <a:cs typeface="Arial MT"/>
              </a:rPr>
              <a:t>Al finalizar la unidad el participante aplica los patrones de comportamiento y </a:t>
            </a:r>
            <a:r>
              <a:rPr lang="es-ES" sz="3200" spc="-5" dirty="0" err="1">
                <a:latin typeface="Arial MT"/>
                <a:cs typeface="Arial MT"/>
              </a:rPr>
              <a:t>antipatrones</a:t>
            </a:r>
            <a:r>
              <a:rPr lang="es-ES" sz="3200" spc="-5" dirty="0">
                <a:latin typeface="Arial MT"/>
                <a:cs typeface="Arial MT"/>
              </a:rPr>
              <a:t> para la solución de problemas.</a:t>
            </a: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B8F5EF-2F10-4D15-8873-813A4AC722E7}"/>
              </a:ext>
            </a:extLst>
          </p:cNvPr>
          <p:cNvSpPr txBox="1"/>
          <p:nvPr/>
        </p:nvSpPr>
        <p:spPr>
          <a:xfrm>
            <a:off x="838200" y="1319242"/>
            <a:ext cx="104660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Los patrones de comportamiento, como el Patrón </a:t>
            </a:r>
            <a:r>
              <a:rPr lang="es-ES" sz="2400" dirty="0" err="1"/>
              <a:t>Command</a:t>
            </a:r>
            <a:r>
              <a:rPr lang="es-ES" sz="2400" dirty="0"/>
              <a:t> y el Patrón Memento, son cruciales en el desarrollo profesional y laboral porque facilitan la gestión de las operaciones y el estado de los objetos en sistemas complejos. El Patrón </a:t>
            </a:r>
            <a:r>
              <a:rPr lang="es-ES" sz="2400" dirty="0" err="1"/>
              <a:t>Command</a:t>
            </a:r>
            <a:r>
              <a:rPr lang="es-ES" sz="2400" dirty="0"/>
              <a:t> permite encapsular solicitudes como objetos, promoviendo la </a:t>
            </a:r>
            <a:r>
              <a:rPr lang="es-ES" sz="2400" dirty="0" err="1"/>
              <a:t>desacoplación</a:t>
            </a:r>
            <a:r>
              <a:rPr lang="es-ES" sz="2400" dirty="0"/>
              <a:t> entre el emisor y el receptor de una acción, lo cual es fundamental en la implementación de operaciones reversibles y la creación de colas de comandos. Por otro lado, el Patrón Memento permite capturar y restaurar el estado de un objeto sin violar su encapsulación, siendo esencial para funcionalidades como la "deshacer" en editores de texto y otros sistemas donde el manejo del estado histórico es vital. Estos patrones, al proporcionar soluciones elegantes y reutilizables, mejoran la mantenibilidad, extensibilidad y flexibilidad del software, cualidades altamente valoradas en la ingeniería de software profesional.</a:t>
            </a:r>
          </a:p>
        </p:txBody>
      </p:sp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1600200" y="2890391"/>
            <a:ext cx="8991600" cy="1595309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solidFill>
                  <a:schemeClr val="bg1"/>
                </a:solidFill>
                <a:latin typeface="Arial"/>
                <a:cs typeface="Arial"/>
              </a:rPr>
              <a:t>Patrones Comportamiento: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>
                <a:solidFill>
                  <a:schemeClr val="bg1"/>
                </a:solidFill>
                <a:latin typeface="Arial"/>
                <a:cs typeface="Arial"/>
              </a:rPr>
              <a:t>Patrón </a:t>
            </a:r>
            <a:r>
              <a:rPr lang="es-PE" sz="3200" dirty="0" err="1">
                <a:solidFill>
                  <a:schemeClr val="bg1"/>
                </a:solidFill>
                <a:latin typeface="Arial"/>
                <a:cs typeface="Arial"/>
              </a:rPr>
              <a:t>Command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3200" dirty="0">
                <a:solidFill>
                  <a:schemeClr val="bg1"/>
                </a:solidFill>
                <a:latin typeface="Arial"/>
                <a:cs typeface="Arial"/>
              </a:rPr>
              <a:t>Patrón Memento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</a:t>
            </a:r>
            <a:r>
              <a:rPr lang="es-PE" sz="3600" b="1" spc="-25" dirty="0" err="1">
                <a:solidFill>
                  <a:srgbClr val="000000"/>
                </a:solidFill>
                <a:latin typeface="Arial"/>
                <a:cs typeface="Arial"/>
              </a:rPr>
              <a:t>N°</a:t>
            </a: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 13: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Command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CEE95-4960-4E8B-B2CD-C41F62449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331" y="2816424"/>
            <a:ext cx="99393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sz="2400" dirty="0"/>
              <a:t>El Patrón Memento permite capturar y externalizar el estado interno de un objeto sin violar su encapsulación, de manera que el objeto pueda ser restaurado a este estado más tarde.</a:t>
            </a: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3155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803B67-33CD-4402-B7B2-F5EC9F9ECF5A}"/>
              </a:ext>
            </a:extLst>
          </p:cNvPr>
          <p:cNvSpPr txBox="1"/>
          <p:nvPr/>
        </p:nvSpPr>
        <p:spPr>
          <a:xfrm>
            <a:off x="1143000" y="2133600"/>
            <a:ext cx="9829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Importancia</a:t>
            </a:r>
            <a:r>
              <a:rPr lang="es-ES" sz="2400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Es esencial en aplicaciones que requieren la capacidad de deshacer y rehacer operaciones, como editores de texto, juegos y sistemas de control de versiones.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42D1DC-2D8B-4813-BC18-2A6A533FF3B0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Command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0004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1D5FCC57-72E5-4698-BCAA-44E35CE10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676451"/>
              </p:ext>
            </p:extLst>
          </p:nvPr>
        </p:nvGraphicFramePr>
        <p:xfrm>
          <a:off x="762000" y="1790760"/>
          <a:ext cx="10591800" cy="4420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95900">
                  <a:extLst>
                    <a:ext uri="{9D8B030D-6E8A-4147-A177-3AD203B41FA5}">
                      <a16:colId xmlns:a16="http://schemas.microsoft.com/office/drawing/2014/main" val="1964471261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2574347033"/>
                    </a:ext>
                  </a:extLst>
                </a:gridCol>
              </a:tblGrid>
              <a:tr h="31959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000" u="none" strike="noStrike" dirty="0">
                          <a:effectLst/>
                        </a:rPr>
                        <a:t>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000" u="none" strike="noStrike" dirty="0">
                          <a:effectLst/>
                        </a:rPr>
                        <a:t>Desventajas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249405"/>
                  </a:ext>
                </a:extLst>
              </a:tr>
              <a:tr h="955202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Desacopla el objeto que invoca la operación del objeto que la realiza.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Puede aumentar la complejidad del código al requerir la creación de numerosas clases de comandos.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966149"/>
                  </a:ext>
                </a:extLst>
              </a:tr>
              <a:tr h="876639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Facilita la implementación de operaciones reversibles (</a:t>
                      </a:r>
                      <a:r>
                        <a:rPr lang="es-ES" sz="2000" u="none" strike="noStrike" dirty="0" err="1">
                          <a:effectLst/>
                        </a:rPr>
                        <a:t>undo</a:t>
                      </a:r>
                      <a:r>
                        <a:rPr lang="es-ES" sz="2000" u="none" strike="noStrike" dirty="0">
                          <a:effectLst/>
                        </a:rPr>
                        <a:t>/redo).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Puede resultar en una sobrecarga si se abusa de su implementación para operaciones simples.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71444"/>
                  </a:ext>
                </a:extLst>
              </a:tr>
              <a:tr h="637400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Permite encolar y registrar comandos.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Puede requerir más memoria y recursos, ya que cada comando es un objeto separado.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62522"/>
                  </a:ext>
                </a:extLst>
              </a:tr>
              <a:tr h="955202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Simplifica la extensión de funcionalidades al agregar nuevos comandos sin modificar código existente.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Puede ser difícil de depurar si se acumulan demasiados comandos en una cola.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430759"/>
                  </a:ext>
                </a:extLst>
              </a:tr>
              <a:tr h="637400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Facilita la implementación de transacciones y operaciones diferidas.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Puede introducir latencia si la cola de comandos se vuelve demasiado grande.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21" marR="1721" marT="17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404296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713E5BCD-59B1-4D18-8C7C-506F6FBBB118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 err="1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Command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7459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162050" y="990600"/>
            <a:ext cx="9867900" cy="312200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dirty="0"/>
              <a:t>¿Qué situaciones en la vida diaria pueden ayudar a visualizar cómo el patrón </a:t>
            </a:r>
            <a:r>
              <a:rPr lang="es-ES" sz="4000" b="1" dirty="0" err="1"/>
              <a:t>Command</a:t>
            </a:r>
            <a:r>
              <a:rPr lang="es-ES" sz="4000" b="1" dirty="0"/>
              <a:t> permite encapsular una solicitud como un objeto, promoviendo la separación entre el emisor y el receptor de una acción?</a:t>
            </a:r>
            <a:endParaRPr sz="4000" b="1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8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8DF284-4734-416C-A2E9-8625336CBDEA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>
                <a:solidFill>
                  <a:schemeClr val="accent5">
                    <a:lumMod val="50000"/>
                  </a:schemeClr>
                </a:solidFill>
              </a:rPr>
              <a:t>Memento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E207CB-1485-4D34-9C69-7EDBB83C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94466"/>
            <a:ext cx="9601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</a:t>
            </a: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sz="2400" dirty="0"/>
              <a:t>El Patrón Memento permite capturar y externalizar el estado interno de un objeto sin violar su encapsulación, de manera que el objeto pueda ser restaurado a este estado más tarde.</a:t>
            </a: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6287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F5856E-33C2-4C2C-9FA1-096D8F8F9B2B}"/>
              </a:ext>
            </a:extLst>
          </p:cNvPr>
          <p:cNvSpPr txBox="1"/>
          <p:nvPr/>
        </p:nvSpPr>
        <p:spPr>
          <a:xfrm>
            <a:off x="1143000" y="2057400"/>
            <a:ext cx="9372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Importancia</a:t>
            </a:r>
            <a:r>
              <a:rPr lang="es-ES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Es esencial en aplicaciones que requieren la capacidad de deshacer y rehacer operaciones, como editores de texto, juegos y sistemas de control de versiones.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363CAC-A760-4700-B592-A97240D8A573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>
                <a:solidFill>
                  <a:schemeClr val="accent5">
                    <a:lumMod val="50000"/>
                  </a:schemeClr>
                </a:solidFill>
              </a:rPr>
              <a:t>Memento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5917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29D628-1CF6-4D1A-B51A-36311750CB2E}"/>
              </a:ext>
            </a:extLst>
          </p:cNvPr>
          <p:cNvSpPr txBox="1"/>
          <p:nvPr/>
        </p:nvSpPr>
        <p:spPr>
          <a:xfrm>
            <a:off x="609600" y="609600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FF0000"/>
                </a:solidFill>
                <a:latin typeface="Arial"/>
                <a:cs typeface="Arial"/>
              </a:rPr>
              <a:t>Patrones Comportamiento</a:t>
            </a:r>
            <a:endParaRPr lang="es-PE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670740-10EA-4646-8C14-D38E0DF614C3}"/>
              </a:ext>
            </a:extLst>
          </p:cNvPr>
          <p:cNvSpPr txBox="1"/>
          <p:nvPr/>
        </p:nvSpPr>
        <p:spPr>
          <a:xfrm>
            <a:off x="1143000" y="1295400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Patrón </a:t>
            </a:r>
            <a:r>
              <a:rPr lang="es-ES" sz="2400" b="1" dirty="0">
                <a:solidFill>
                  <a:schemeClr val="accent5">
                    <a:lumMod val="50000"/>
                  </a:schemeClr>
                </a:solidFill>
              </a:rPr>
              <a:t>Memento</a:t>
            </a:r>
            <a:endParaRPr lang="es-ES" sz="2400" b="1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63292D9-2B11-49B0-98A0-D0A90774D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160678"/>
              </p:ext>
            </p:extLst>
          </p:nvPr>
        </p:nvGraphicFramePr>
        <p:xfrm>
          <a:off x="609600" y="1757065"/>
          <a:ext cx="10787064" cy="4582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3532">
                  <a:extLst>
                    <a:ext uri="{9D8B030D-6E8A-4147-A177-3AD203B41FA5}">
                      <a16:colId xmlns:a16="http://schemas.microsoft.com/office/drawing/2014/main" val="1360772915"/>
                    </a:ext>
                  </a:extLst>
                </a:gridCol>
                <a:gridCol w="5393532">
                  <a:extLst>
                    <a:ext uri="{9D8B030D-6E8A-4147-A177-3AD203B41FA5}">
                      <a16:colId xmlns:a16="http://schemas.microsoft.com/office/drawing/2014/main" val="1866459458"/>
                    </a:ext>
                  </a:extLst>
                </a:gridCol>
              </a:tblGrid>
              <a:tr h="3507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000" b="1" u="none" strike="noStrike" dirty="0">
                          <a:effectLst/>
                        </a:rPr>
                        <a:t>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2000" b="1" u="none" strike="noStrike" dirty="0">
                          <a:effectLst/>
                        </a:rPr>
                        <a:t>Desventajas</a:t>
                      </a:r>
                      <a:endParaRPr lang="es-P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523200"/>
                  </a:ext>
                </a:extLst>
              </a:tr>
              <a:tr h="280598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Mantiene la encapsulación del estado interno del objeto.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Puede consumir mucha memoria si se crean demasiados mementos.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830453"/>
                  </a:ext>
                </a:extLst>
              </a:tr>
              <a:tr h="420897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Facilita la implementación de funcionalidades de deshacer y rehacer.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La administración de los mementos puede ser compleja y requiere un manejo cuidadoso del ciclo de vida de los objetos.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719411"/>
                  </a:ext>
                </a:extLst>
              </a:tr>
              <a:tr h="350748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PE" sz="2000" u="none" strike="noStrike" dirty="0">
                          <a:effectLst/>
                        </a:rPr>
                        <a:t> Permite restaurar estados anteriores fácilmente.</a:t>
                      </a:r>
                      <a:endParaRPr lang="es-P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Puede ser ineficiente si el estado del objeto es muy grande y se necesita guardar muchas versiones.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880296"/>
                  </a:ext>
                </a:extLst>
              </a:tr>
              <a:tr h="385823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Ayuda en la implementación de sistemas de control de versiones y puntos de control en juegos.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Incrementa la complejidad del diseño al requerir la creación y gestión de múltiples mementos.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579104"/>
                  </a:ext>
                </a:extLst>
              </a:tr>
              <a:tr h="385823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Es útil para guardar y restaurar estados en simulaciones y procesos de larga duración.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>
                          <a:effectLst/>
                        </a:rPr>
                        <a:t>Requiere una cuidadosa planificación para determinar cuándo y cuántos mementos deben ser guardados.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4" marR="1754" marT="175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67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196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047750" y="1261372"/>
            <a:ext cx="10096500" cy="25064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dirty="0"/>
              <a:t>¿Qué situaciones en la vida diaria pueden ayudar a visualizar cómo el patrón Memento permite capturar y restaurar el estado de un objeto sin violar su encapsulación?</a:t>
            </a:r>
            <a:endParaRPr sz="4000" b="1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32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0" y="2819400"/>
            <a:ext cx="12192000" cy="12192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5886D6-5B28-4586-B236-615F21BBB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8672" y="3084034"/>
            <a:ext cx="363465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bg1"/>
                </a:solidFill>
                <a:latin typeface="Rubik"/>
              </a:rPr>
              <a:t>Caso</a:t>
            </a:r>
            <a:r>
              <a:rPr b="1" spc="-90" dirty="0">
                <a:solidFill>
                  <a:schemeClr val="bg1"/>
                </a:solidFill>
                <a:latin typeface="Rubik"/>
              </a:rPr>
              <a:t> </a:t>
            </a:r>
            <a:r>
              <a:rPr b="1" spc="-5" dirty="0">
                <a:solidFill>
                  <a:schemeClr val="bg1"/>
                </a:solidFill>
                <a:latin typeface="Rubik"/>
              </a:rPr>
              <a:t>práctico</a:t>
            </a:r>
          </a:p>
        </p:txBody>
      </p:sp>
    </p:spTree>
    <p:extLst>
      <p:ext uri="{BB962C8B-B14F-4D97-AF65-F5344CB8AC3E}">
        <p14:creationId xmlns:p14="http://schemas.microsoft.com/office/powerpoint/2010/main" val="3460638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" y="11811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767DAF2-5F2A-46B9-9A40-40D847114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354" y="1757198"/>
            <a:ext cx="5543342" cy="334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" y="11811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00C99C7-1770-4C4A-BC46-D866C6DDB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92917"/>
            <a:ext cx="5427168" cy="327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12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dirty="0">
                <a:latin typeface="Arial"/>
                <a:cs typeface="Arial"/>
              </a:rPr>
              <a:t>fácil?</a:t>
            </a: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retador?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618011"/>
            <a:ext cx="2047300" cy="20473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8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2644170"/>
            <a:ext cx="768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spc="-5" dirty="0">
                <a:latin typeface="Arial"/>
                <a:cs typeface="Arial"/>
              </a:rPr>
              <a:t>Tomar apuntes de manera eficaz ayuda a consolidar el  aprendizaje y prepararse para los exámenes.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E22592B-C9AA-4B2C-9DFD-042BF015F65D}"/>
              </a:ext>
            </a:extLst>
          </p:cNvPr>
          <p:cNvSpPr txBox="1"/>
          <p:nvPr/>
        </p:nvSpPr>
        <p:spPr>
          <a:xfrm>
            <a:off x="1485900" y="1536174"/>
            <a:ext cx="9220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En conclusión, dominar los patrones de comportamiento como </a:t>
            </a:r>
            <a:r>
              <a:rPr lang="es-ES" sz="2400" dirty="0" err="1"/>
              <a:t>Command</a:t>
            </a:r>
            <a:r>
              <a:rPr lang="es-ES" sz="2400" dirty="0"/>
              <a:t> y Memento no solo enriquece las habilidades técnicas de los desarrolladores, sino que también les proporciona herramientas efectivas para diseñar sistemas más robustos y flexibles. La aplicación de estos patrones en el ámbito profesional mejora significativamente la capacidad de manejar operaciones complejas y estados de objetos de manera ordenada y eficiente, lo que resulta en software de mayor calidad y más fácil de mantener y extender. Por ello, su conocimiento y aplicación son indispensables en la práctica diaria del desarrollo de software.</a:t>
            </a:r>
          </a:p>
        </p:txBody>
      </p:sp>
    </p:spTree>
    <p:extLst>
      <p:ext uri="{BB962C8B-B14F-4D97-AF65-F5344CB8AC3E}">
        <p14:creationId xmlns:p14="http://schemas.microsoft.com/office/powerpoint/2010/main" val="3581686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Entrega de manera escrita, en la siguiente clase.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AF4600A-95C6-4A92-B5BF-BB4183F5EFEF}"/>
              </a:ext>
            </a:extLst>
          </p:cNvPr>
          <p:cNvSpPr txBox="1"/>
          <p:nvPr/>
        </p:nvSpPr>
        <p:spPr>
          <a:xfrm>
            <a:off x="723900" y="1691035"/>
            <a:ext cx="10744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2000" b="1" dirty="0"/>
              <a:t>Características Principales</a:t>
            </a:r>
            <a:r>
              <a:rPr lang="es-E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dirty="0"/>
              <a:t>Describe al menos cinco características claves de los dos patrones que vimos hoy en clase: </a:t>
            </a:r>
            <a:r>
              <a:rPr lang="es-ES" sz="2000" b="1" dirty="0"/>
              <a:t>Patrón </a:t>
            </a:r>
            <a:r>
              <a:rPr lang="es-ES" sz="2000" b="1" dirty="0" err="1"/>
              <a:t>Command</a:t>
            </a:r>
            <a:r>
              <a:rPr lang="es-ES" sz="2000" b="1" dirty="0"/>
              <a:t> - Patrón Memento</a:t>
            </a:r>
            <a:r>
              <a:rPr lang="es-ES" sz="2000" dirty="0"/>
              <a:t>. Para cada característica, explica qué es y por qué es importante.</a:t>
            </a:r>
          </a:p>
          <a:p>
            <a:pPr lvl="1"/>
            <a:endParaRPr lang="es-ES" sz="2000" dirty="0"/>
          </a:p>
          <a:p>
            <a:pPr>
              <a:buFont typeface="+mj-lt"/>
              <a:buAutoNum type="arabicPeriod"/>
            </a:pPr>
            <a:r>
              <a:rPr lang="es-ES" sz="2000" b="1" dirty="0"/>
              <a:t>Casos de Uso</a:t>
            </a:r>
            <a:r>
              <a:rPr lang="es-E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dirty="0"/>
              <a:t>Investiga y describe al menos tres casos de uso o ejemplos de empresas que utilizan </a:t>
            </a:r>
            <a:r>
              <a:rPr lang="es-ES" sz="2000" b="1" dirty="0"/>
              <a:t>Patrón </a:t>
            </a:r>
            <a:r>
              <a:rPr lang="es-ES" sz="2000" b="1"/>
              <a:t>Command</a:t>
            </a:r>
            <a:r>
              <a:rPr lang="es-ES" sz="2000" b="1" dirty="0"/>
              <a:t> - Patrón Memento</a:t>
            </a:r>
            <a:r>
              <a:rPr lang="es-ES" sz="2000" dirty="0"/>
              <a:t>.</a:t>
            </a:r>
          </a:p>
          <a:p>
            <a:pPr lvl="1"/>
            <a:endParaRPr lang="es-ES" sz="2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B913813-9D6A-4621-9C68-57F927714A26}"/>
              </a:ext>
            </a:extLst>
          </p:cNvPr>
          <p:cNvSpPr txBox="1"/>
          <p:nvPr/>
        </p:nvSpPr>
        <p:spPr>
          <a:xfrm>
            <a:off x="2590799" y="1122202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Patrones Comportamiento (Patrón </a:t>
            </a:r>
            <a:r>
              <a:rPr lang="es-ES" sz="2000" b="1" dirty="0" err="1"/>
              <a:t>Command</a:t>
            </a:r>
            <a:r>
              <a:rPr lang="es-ES" sz="2000" b="1" dirty="0"/>
              <a:t> - Patrón Memento)</a:t>
            </a:r>
          </a:p>
        </p:txBody>
      </p:sp>
    </p:spTree>
    <p:extLst>
      <p:ext uri="{BB962C8B-B14F-4D97-AF65-F5344CB8AC3E}">
        <p14:creationId xmlns:p14="http://schemas.microsoft.com/office/powerpoint/2010/main" val="740398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Recursos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olvides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PE" sz="2400" i="1" spc="-5" dirty="0" err="1">
                <a:latin typeface="Arial" panose="020B0604020202020204" pitchFamily="34" charset="0"/>
                <a:cs typeface="Arial" panose="020B0604020202020204" pitchFamily="34" charset="0"/>
              </a:rPr>
              <a:t>ambién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revisar tu plataforma </a:t>
            </a:r>
            <a:r>
              <a:rPr lang="es-ES" sz="2400" i="1" spc="-10" dirty="0" err="1">
                <a:latin typeface="Arial" panose="020B0604020202020204" pitchFamily="34" charset="0"/>
                <a:cs typeface="Arial" panose="020B0604020202020204" pitchFamily="34" charset="0"/>
              </a:rPr>
              <a:t>UTP+Class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B0927F-97D1-45B4-AE70-5270DFA95140}"/>
              </a:ext>
            </a:extLst>
          </p:cNvPr>
          <p:cNvSpPr txBox="1"/>
          <p:nvPr/>
        </p:nvSpPr>
        <p:spPr>
          <a:xfrm>
            <a:off x="1028700" y="1371600"/>
            <a:ext cx="101346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1.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1</a:t>
            </a:r>
            <a:r>
              <a:rPr lang="es-ES" dirty="0"/>
              <a:t>: </a:t>
            </a:r>
            <a:r>
              <a:rPr lang="es-ES" dirty="0">
                <a:hlinkClick r:id="rId3"/>
              </a:rPr>
              <a:t>https://www.youtube.com/watch?v=hDBOfyzFKEU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2</a:t>
            </a:r>
            <a:r>
              <a:rPr lang="es-ES" dirty="0"/>
              <a:t>: </a:t>
            </a:r>
            <a:r>
              <a:rPr lang="es-ES" dirty="0">
                <a:hlinkClick r:id="rId4"/>
              </a:rPr>
              <a:t>https://www.youtube.com/watch?v=Xq-ypMZfWPM&amp;pp=ygUPUGF0csOzbiBDb21uYW5k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3</a:t>
            </a:r>
            <a:r>
              <a:rPr lang="es-ES" dirty="0"/>
              <a:t>: </a:t>
            </a:r>
            <a:r>
              <a:rPr lang="es-ES" dirty="0">
                <a:hlinkClick r:id="rId5"/>
              </a:rPr>
              <a:t>https://www.youtube.com/watch?v=Q5CL1b-FD9E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4</a:t>
            </a:r>
            <a:r>
              <a:rPr lang="es-ES" dirty="0"/>
              <a:t>: </a:t>
            </a:r>
            <a:r>
              <a:rPr lang="es-ES" dirty="0">
                <a:hlinkClick r:id="rId6"/>
              </a:rPr>
              <a:t>https://www.youtube.com/watch?v=H9l3r8QoLC4&amp;pp=ygUPUGF0csOzbiBNZW1lbnRv</a:t>
            </a:r>
            <a:endParaRPr lang="es-ES" dirty="0"/>
          </a:p>
          <a:p>
            <a:endParaRPr lang="es-ES" dirty="0"/>
          </a:p>
          <a:p>
            <a:r>
              <a:rPr lang="es-ES" sz="2400" b="1" dirty="0"/>
              <a:t>2. Páginas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Página Web 1</a:t>
            </a:r>
            <a:r>
              <a:rPr lang="es-ES" dirty="0"/>
              <a:t>: </a:t>
            </a:r>
            <a:r>
              <a:rPr lang="es-ES" dirty="0">
                <a:hlinkClick r:id="rId7"/>
              </a:rPr>
              <a:t>https://refactoring.guru/es/design-patterns/behavioral-patterns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Página Web 2</a:t>
            </a:r>
            <a:r>
              <a:rPr lang="es-ES" dirty="0"/>
              <a:t>: </a:t>
            </a:r>
            <a:r>
              <a:rPr lang="es-ES" dirty="0">
                <a:hlinkClick r:id="rId8"/>
              </a:rPr>
              <a:t>https://reactiveprogramming.io/blog/es/patrones-de-diseno/state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9968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1214</Words>
  <Application>Microsoft Office PowerPoint</Application>
  <PresentationFormat>Panorámica</PresentationFormat>
  <Paragraphs>117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Arial</vt:lpstr>
      <vt:lpstr>Arial MT</vt:lpstr>
      <vt:lpstr>Calibri</vt:lpstr>
      <vt:lpstr>Calibri Light</vt:lpstr>
      <vt:lpstr>CentSchbkCyrill BT</vt:lpstr>
      <vt:lpstr>helvetica neue</vt:lpstr>
      <vt:lpstr>Rubik</vt:lpstr>
      <vt:lpstr>Office Theme</vt:lpstr>
      <vt:lpstr>Presentación de PowerPoint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práctico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Ronald Ayra Pinto</cp:lastModifiedBy>
  <cp:revision>124</cp:revision>
  <dcterms:created xsi:type="dcterms:W3CDTF">2024-06-11T03:36:57Z</dcterms:created>
  <dcterms:modified xsi:type="dcterms:W3CDTF">2024-08-06T22:39:38Z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