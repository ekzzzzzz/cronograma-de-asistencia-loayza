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9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94" r:id="rId23"/>
    <p:sldId id="29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6" r:id="rId38"/>
    <p:sldId id="297" r:id="rId39"/>
    <p:sldId id="289" r:id="rId40"/>
    <p:sldId id="290" r:id="rId41"/>
    <p:sldId id="291" r:id="rId42"/>
    <p:sldId id="292" r:id="rId43"/>
  </p:sldIdLst>
  <p:sldSz cx="12192000" cy="6858000"/>
  <p:notesSz cx="12192000" cy="6858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Roboto Medium" panose="020F0502020204030204" pitchFamily="34" charset="0"/>
      <p:regular r:id="rId49"/>
      <p:bold r:id="rId50"/>
      <p:italic r:id="rId51"/>
      <p:boldItalic r:id="rId52"/>
    </p:embeddedFont>
    <p:embeddedFont>
      <p:font typeface="Verdana" panose="020B0604030504040204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jHNe7VwcY/4XsKh2A3VmlIjqzF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30D02D-53AB-6E4F-AB41-04823BD0FE38}" v="3" dt="2024-08-24T00:04:11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30"/>
  </p:normalViewPr>
  <p:slideViewPr>
    <p:cSldViewPr snapToGrid="0">
      <p:cViewPr varScale="1">
        <p:scale>
          <a:sx n="87" d="100"/>
          <a:sy n="87" d="100"/>
        </p:scale>
        <p:origin x="1000" y="1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redo Guevara" userId="822736fb38a4d5d6" providerId="LiveId" clId="{A630D02D-53AB-6E4F-AB41-04823BD0FE38}"/>
    <pc:docChg chg="undo custSel addSld modSld">
      <pc:chgData name="Alfredo Guevara" userId="822736fb38a4d5d6" providerId="LiveId" clId="{A630D02D-53AB-6E4F-AB41-04823BD0FE38}" dt="2024-08-24T00:08:09.433" v="185" actId="1076"/>
      <pc:docMkLst>
        <pc:docMk/>
      </pc:docMkLst>
      <pc:sldChg chg="modSp mod">
        <pc:chgData name="Alfredo Guevara" userId="822736fb38a4d5d6" providerId="LiveId" clId="{A630D02D-53AB-6E4F-AB41-04823BD0FE38}" dt="2024-08-23T23:24:41.863" v="13" actId="20577"/>
        <pc:sldMkLst>
          <pc:docMk/>
          <pc:sldMk cId="0" sldId="256"/>
        </pc:sldMkLst>
        <pc:spChg chg="mod">
          <ac:chgData name="Alfredo Guevara" userId="822736fb38a4d5d6" providerId="LiveId" clId="{A630D02D-53AB-6E4F-AB41-04823BD0FE38}" dt="2024-08-23T23:24:41.863" v="13" actId="20577"/>
          <ac:spMkLst>
            <pc:docMk/>
            <pc:sldMk cId="0" sldId="256"/>
            <ac:spMk id="66" creationId="{00000000-0000-0000-0000-000000000000}"/>
          </ac:spMkLst>
        </pc:spChg>
      </pc:sldChg>
      <pc:sldChg chg="modSp mod">
        <pc:chgData name="Alfredo Guevara" userId="822736fb38a4d5d6" providerId="LiveId" clId="{A630D02D-53AB-6E4F-AB41-04823BD0FE38}" dt="2024-08-23T23:32:37.969" v="77" actId="20577"/>
        <pc:sldMkLst>
          <pc:docMk/>
          <pc:sldMk cId="0" sldId="257"/>
        </pc:sldMkLst>
        <pc:spChg chg="mod">
          <ac:chgData name="Alfredo Guevara" userId="822736fb38a4d5d6" providerId="LiveId" clId="{A630D02D-53AB-6E4F-AB41-04823BD0FE38}" dt="2024-08-23T23:29:49.858" v="29" actId="20577"/>
          <ac:spMkLst>
            <pc:docMk/>
            <pc:sldMk cId="0" sldId="257"/>
            <ac:spMk id="71" creationId="{00000000-0000-0000-0000-000000000000}"/>
          </ac:spMkLst>
        </pc:spChg>
        <pc:spChg chg="mod">
          <ac:chgData name="Alfredo Guevara" userId="822736fb38a4d5d6" providerId="LiveId" clId="{A630D02D-53AB-6E4F-AB41-04823BD0FE38}" dt="2024-08-23T23:32:37.969" v="77" actId="20577"/>
          <ac:spMkLst>
            <pc:docMk/>
            <pc:sldMk cId="0" sldId="257"/>
            <ac:spMk id="73" creationId="{00000000-0000-0000-0000-000000000000}"/>
          </ac:spMkLst>
        </pc:spChg>
      </pc:sldChg>
      <pc:sldChg chg="addSp delSp modSp mod">
        <pc:chgData name="Alfredo Guevara" userId="822736fb38a4d5d6" providerId="LiveId" clId="{A630D02D-53AB-6E4F-AB41-04823BD0FE38}" dt="2024-08-23T23:35:40.918" v="82" actId="14100"/>
        <pc:sldMkLst>
          <pc:docMk/>
          <pc:sldMk cId="0" sldId="258"/>
        </pc:sldMkLst>
        <pc:spChg chg="mod">
          <ac:chgData name="Alfredo Guevara" userId="822736fb38a4d5d6" providerId="LiveId" clId="{A630D02D-53AB-6E4F-AB41-04823BD0FE38}" dt="2024-08-23T23:32:56.309" v="79" actId="14100"/>
          <ac:spMkLst>
            <pc:docMk/>
            <pc:sldMk cId="0" sldId="258"/>
            <ac:spMk id="80" creationId="{00000000-0000-0000-0000-000000000000}"/>
          </ac:spMkLst>
        </pc:spChg>
        <pc:spChg chg="del mod">
          <ac:chgData name="Alfredo Guevara" userId="822736fb38a4d5d6" providerId="LiveId" clId="{A630D02D-53AB-6E4F-AB41-04823BD0FE38}" dt="2024-08-23T23:29:35.252" v="16"/>
          <ac:spMkLst>
            <pc:docMk/>
            <pc:sldMk cId="0" sldId="258"/>
            <ac:spMk id="82" creationId="{00000000-0000-0000-0000-000000000000}"/>
          </ac:spMkLst>
        </pc:spChg>
        <pc:picChg chg="add mod">
          <ac:chgData name="Alfredo Guevara" userId="822736fb38a4d5d6" providerId="LiveId" clId="{A630D02D-53AB-6E4F-AB41-04823BD0FE38}" dt="2024-08-23T23:35:40.918" v="82" actId="14100"/>
          <ac:picMkLst>
            <pc:docMk/>
            <pc:sldMk cId="0" sldId="258"/>
            <ac:picMk id="3" creationId="{D9E7710F-BA0F-9A90-2673-FF97C8F084D8}"/>
          </ac:picMkLst>
        </pc:picChg>
      </pc:sldChg>
      <pc:sldChg chg="modSp add mod">
        <pc:chgData name="Alfredo Guevara" userId="822736fb38a4d5d6" providerId="LiveId" clId="{A630D02D-53AB-6E4F-AB41-04823BD0FE38}" dt="2024-08-23T23:41:43.543" v="106" actId="207"/>
        <pc:sldMkLst>
          <pc:docMk/>
          <pc:sldMk cId="902363407" sldId="293"/>
        </pc:sldMkLst>
        <pc:spChg chg="mod">
          <ac:chgData name="Alfredo Guevara" userId="822736fb38a4d5d6" providerId="LiveId" clId="{A630D02D-53AB-6E4F-AB41-04823BD0FE38}" dt="2024-08-23T23:41:43.543" v="106" actId="207"/>
          <ac:spMkLst>
            <pc:docMk/>
            <pc:sldMk cId="902363407" sldId="293"/>
            <ac:spMk id="73" creationId="{00000000-0000-0000-0000-000000000000}"/>
          </ac:spMkLst>
        </pc:spChg>
      </pc:sldChg>
      <pc:sldChg chg="addSp modSp add mod">
        <pc:chgData name="Alfredo Guevara" userId="822736fb38a4d5d6" providerId="LiveId" clId="{A630D02D-53AB-6E4F-AB41-04823BD0FE38}" dt="2024-08-23T23:54:41.635" v="128" actId="1076"/>
        <pc:sldMkLst>
          <pc:docMk/>
          <pc:sldMk cId="3815575312" sldId="294"/>
        </pc:sldMkLst>
        <pc:spChg chg="add mod">
          <ac:chgData name="Alfredo Guevara" userId="822736fb38a4d5d6" providerId="LiveId" clId="{A630D02D-53AB-6E4F-AB41-04823BD0FE38}" dt="2024-08-23T23:54:41.635" v="128" actId="1076"/>
          <ac:spMkLst>
            <pc:docMk/>
            <pc:sldMk cId="3815575312" sldId="294"/>
            <ac:spMk id="2" creationId="{4121B94E-6F29-D508-0DC5-E254740A29C7}"/>
          </ac:spMkLst>
        </pc:spChg>
        <pc:spChg chg="mod">
          <ac:chgData name="Alfredo Guevara" userId="822736fb38a4d5d6" providerId="LiveId" clId="{A630D02D-53AB-6E4F-AB41-04823BD0FE38}" dt="2024-08-23T23:53:04.146" v="122" actId="1076"/>
          <ac:spMkLst>
            <pc:docMk/>
            <pc:sldMk cId="3815575312" sldId="294"/>
            <ac:spMk id="221" creationId="{00000000-0000-0000-0000-000000000000}"/>
          </ac:spMkLst>
        </pc:spChg>
      </pc:sldChg>
      <pc:sldChg chg="modSp add mod">
        <pc:chgData name="Alfredo Guevara" userId="822736fb38a4d5d6" providerId="LiveId" clId="{A630D02D-53AB-6E4F-AB41-04823BD0FE38}" dt="2024-08-23T23:57:12.749" v="140" actId="255"/>
        <pc:sldMkLst>
          <pc:docMk/>
          <pc:sldMk cId="335517709" sldId="295"/>
        </pc:sldMkLst>
        <pc:spChg chg="mod">
          <ac:chgData name="Alfredo Guevara" userId="822736fb38a4d5d6" providerId="LiveId" clId="{A630D02D-53AB-6E4F-AB41-04823BD0FE38}" dt="2024-08-23T23:57:12.749" v="140" actId="255"/>
          <ac:spMkLst>
            <pc:docMk/>
            <pc:sldMk cId="335517709" sldId="295"/>
            <ac:spMk id="2" creationId="{4121B94E-6F29-D508-0DC5-E254740A29C7}"/>
          </ac:spMkLst>
        </pc:spChg>
        <pc:spChg chg="mod">
          <ac:chgData name="Alfredo Guevara" userId="822736fb38a4d5d6" providerId="LiveId" clId="{A630D02D-53AB-6E4F-AB41-04823BD0FE38}" dt="2024-08-23T23:55:10.316" v="131"/>
          <ac:spMkLst>
            <pc:docMk/>
            <pc:sldMk cId="335517709" sldId="295"/>
            <ac:spMk id="221" creationId="{00000000-0000-0000-0000-000000000000}"/>
          </ac:spMkLst>
        </pc:spChg>
      </pc:sldChg>
      <pc:sldChg chg="addSp modSp add mod">
        <pc:chgData name="Alfredo Guevara" userId="822736fb38a4d5d6" providerId="LiveId" clId="{A630D02D-53AB-6E4F-AB41-04823BD0FE38}" dt="2024-08-24T00:08:09.433" v="185" actId="1076"/>
        <pc:sldMkLst>
          <pc:docMk/>
          <pc:sldMk cId="949319692" sldId="296"/>
        </pc:sldMkLst>
        <pc:spChg chg="add mod">
          <ac:chgData name="Alfredo Guevara" userId="822736fb38a4d5d6" providerId="LiveId" clId="{A630D02D-53AB-6E4F-AB41-04823BD0FE38}" dt="2024-08-24T00:08:09.433" v="185" actId="1076"/>
          <ac:spMkLst>
            <pc:docMk/>
            <pc:sldMk cId="949319692" sldId="296"/>
            <ac:spMk id="2" creationId="{518EDE07-2029-31E6-3BAC-9396634D8246}"/>
          </ac:spMkLst>
        </pc:spChg>
        <pc:spChg chg="mod">
          <ac:chgData name="Alfredo Guevara" userId="822736fb38a4d5d6" providerId="LiveId" clId="{A630D02D-53AB-6E4F-AB41-04823BD0FE38}" dt="2024-08-24T00:08:03.461" v="184" actId="255"/>
          <ac:spMkLst>
            <pc:docMk/>
            <pc:sldMk cId="949319692" sldId="296"/>
            <ac:spMk id="328" creationId="{00000000-0000-0000-0000-000000000000}"/>
          </ac:spMkLst>
        </pc:spChg>
      </pc:sldChg>
      <pc:sldChg chg="modSp add mod">
        <pc:chgData name="Alfredo Guevara" userId="822736fb38a4d5d6" providerId="LiveId" clId="{A630D02D-53AB-6E4F-AB41-04823BD0FE38}" dt="2024-08-24T00:07:49.929" v="183" actId="6549"/>
        <pc:sldMkLst>
          <pc:docMk/>
          <pc:sldMk cId="714116835" sldId="297"/>
        </pc:sldMkLst>
        <pc:spChg chg="mod">
          <ac:chgData name="Alfredo Guevara" userId="822736fb38a4d5d6" providerId="LiveId" clId="{A630D02D-53AB-6E4F-AB41-04823BD0FE38}" dt="2024-08-24T00:07:18.385" v="175" actId="1076"/>
          <ac:spMkLst>
            <pc:docMk/>
            <pc:sldMk cId="714116835" sldId="297"/>
            <ac:spMk id="2" creationId="{518EDE07-2029-31E6-3BAC-9396634D8246}"/>
          </ac:spMkLst>
        </pc:spChg>
        <pc:spChg chg="mod">
          <ac:chgData name="Alfredo Guevara" userId="822736fb38a4d5d6" providerId="LiveId" clId="{A630D02D-53AB-6E4F-AB41-04823BD0FE38}" dt="2024-08-24T00:07:49.929" v="183" actId="6549"/>
          <ac:spMkLst>
            <pc:docMk/>
            <pc:sldMk cId="714116835" sldId="297"/>
            <ac:spMk id="3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5701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3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fdfaee476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g2efdfaee4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82642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04785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83051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57387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body" idx="1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body" idx="2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5"/>
          <p:cNvSpPr/>
          <p:nvPr/>
        </p:nvSpPr>
        <p:spPr>
          <a:xfrm>
            <a:off x="376313" y="348595"/>
            <a:ext cx="3205083" cy="818999"/>
          </a:xfrm>
          <a:custGeom>
            <a:avLst/>
            <a:gdLst/>
            <a:ahLst/>
            <a:cxnLst/>
            <a:rect l="l" t="t" r="r" b="b"/>
            <a:pathLst>
              <a:path w="4305684" h="1165910" extrusionOk="0">
                <a:moveTo>
                  <a:pt x="0" y="0"/>
                </a:moveTo>
                <a:lnTo>
                  <a:pt x="4305684" y="0"/>
                </a:lnTo>
                <a:lnTo>
                  <a:pt x="4305684" y="1165910"/>
                </a:lnTo>
                <a:lnTo>
                  <a:pt x="0" y="1165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35"/>
          <p:cNvGrpSpPr/>
          <p:nvPr/>
        </p:nvGrpSpPr>
        <p:grpSpPr>
          <a:xfrm>
            <a:off x="-9143" y="6005473"/>
            <a:ext cx="12201144" cy="818999"/>
            <a:chOff x="0" y="-47625"/>
            <a:chExt cx="4908254" cy="252121"/>
          </a:xfrm>
        </p:grpSpPr>
        <p:sp>
          <p:nvSpPr>
            <p:cNvPr id="38" name="Google Shape;38;p35"/>
            <p:cNvSpPr/>
            <p:nvPr/>
          </p:nvSpPr>
          <p:spPr>
            <a:xfrm>
              <a:off x="0" y="0"/>
              <a:ext cx="4908254" cy="204496"/>
            </a:xfrm>
            <a:custGeom>
              <a:avLst/>
              <a:gdLst/>
              <a:ahLst/>
              <a:cxnLst/>
              <a:rect l="l" t="t" r="r" b="b"/>
              <a:pathLst>
                <a:path w="4908254" h="204496" extrusionOk="0">
                  <a:moveTo>
                    <a:pt x="0" y="0"/>
                  </a:moveTo>
                  <a:lnTo>
                    <a:pt x="4908254" y="0"/>
                  </a:lnTo>
                  <a:lnTo>
                    <a:pt x="4908254" y="204496"/>
                  </a:lnTo>
                  <a:lnTo>
                    <a:pt x="0" y="204496"/>
                  </a:lnTo>
                  <a:close/>
                </a:path>
              </a:pathLst>
            </a:custGeom>
            <a:solidFill>
              <a:srgbClr val="343434">
                <a:alpha val="7725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5"/>
            <p:cNvSpPr txBox="1"/>
            <p:nvPr/>
          </p:nvSpPr>
          <p:spPr>
            <a:xfrm>
              <a:off x="0" y="-47625"/>
              <a:ext cx="4908254" cy="2521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2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" name="Google Shape;40;p35"/>
          <p:cNvCxnSpPr/>
          <p:nvPr/>
        </p:nvCxnSpPr>
        <p:spPr>
          <a:xfrm>
            <a:off x="9829800" y="450317"/>
            <a:ext cx="0" cy="5911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35"/>
          <p:cNvSpPr txBox="1"/>
          <p:nvPr/>
        </p:nvSpPr>
        <p:spPr>
          <a:xfrm>
            <a:off x="9982200" y="450317"/>
            <a:ext cx="1854823" cy="59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3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rPr>
              <a:t>FACULTADAD DE INGENIERÍA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9"/>
          <p:cNvSpPr txBox="1">
            <a:spLocks noGrp="1"/>
          </p:cNvSpPr>
          <p:nvPr>
            <p:ph type="dt" idx="10"/>
          </p:nvPr>
        </p:nvSpPr>
        <p:spPr>
          <a:xfrm>
            <a:off x="609600" y="6500835"/>
            <a:ext cx="2844800" cy="22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ftr" idx="11"/>
          </p:nvPr>
        </p:nvSpPr>
        <p:spPr>
          <a:xfrm>
            <a:off x="4165600" y="6500835"/>
            <a:ext cx="3860800" cy="22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sldNum" idx="12"/>
          </p:nvPr>
        </p:nvSpPr>
        <p:spPr>
          <a:xfrm>
            <a:off x="8737600" y="6500835"/>
            <a:ext cx="2844800" cy="22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527382" y="1268760"/>
            <a:ext cx="11203367" cy="4881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  <a:defRPr sz="1600" i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  <a:defRPr sz="1600" i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  <a:defRPr sz="1600" i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  <a:defRPr sz="1600" i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  <a:defRPr sz="1600" i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title"/>
          </p:nvPr>
        </p:nvSpPr>
        <p:spPr>
          <a:xfrm>
            <a:off x="527381" y="116632"/>
            <a:ext cx="10214928" cy="79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500"/>
              <a:buFont typeface="Calibri"/>
              <a:buNone/>
              <a:defRPr sz="2500" b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>
  <p:cSld name="구역 머리글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911424" y="263691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59" name="Google Shape;5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/>
          </p:nvPr>
        </p:nvSpPr>
        <p:spPr>
          <a:xfrm>
            <a:off x="1734819" y="2965741"/>
            <a:ext cx="8722359" cy="111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200" rIns="0" bIns="0" anchor="t" anchorCtr="0">
            <a:spAutoFit/>
          </a:bodyPr>
          <a:lstStyle/>
          <a:p>
            <a:pPr marL="3268979" marR="5080" lvl="0" indent="-3253104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1788" y="370720"/>
            <a:ext cx="4828423" cy="1077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"/>
          <p:cNvSpPr txBox="1"/>
          <p:nvPr/>
        </p:nvSpPr>
        <p:spPr>
          <a:xfrm>
            <a:off x="6486144" y="5897381"/>
            <a:ext cx="6096000" cy="6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 dirty="0">
                <a:solidFill>
                  <a:srgbClr val="D1052D"/>
                </a:solidFill>
                <a:latin typeface="Arial"/>
                <a:ea typeface="Arial"/>
                <a:cs typeface="Arial"/>
                <a:sym typeface="Arial"/>
              </a:rPr>
              <a:t>DOCENTE:</a:t>
            </a:r>
            <a:endParaRPr sz="1800" b="1" i="0" u="none" strike="noStrike" cap="none" dirty="0">
              <a:solidFill>
                <a:srgbClr val="D1052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Equipo Docente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699506" y="646344"/>
            <a:ext cx="616459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1" i="0" u="none" strike="noStrike" cap="none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MOTIVACIÓN: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238087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 txBox="1"/>
          <p:nvPr/>
        </p:nvSpPr>
        <p:spPr>
          <a:xfrm>
            <a:off x="492242" y="1686613"/>
            <a:ext cx="1088289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32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¿Qué entiendes acerca de ?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s-ES" sz="3200" b="1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32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1.Principio de  de Inversión de Dependencia (DIP)  y</a:t>
            </a:r>
          </a:p>
          <a:p>
            <a:pPr algn="just">
              <a:buSzPts val="4400"/>
            </a:pPr>
            <a:endParaRPr lang="es-PE" sz="3200" b="1" dirty="0">
              <a:solidFill>
                <a:srgbClr val="262626"/>
              </a:solidFill>
              <a:latin typeface="Calibri"/>
              <a:cs typeface="Calibri"/>
            </a:endParaRPr>
          </a:p>
          <a:p>
            <a:pPr algn="just">
              <a:buSzPts val="4400"/>
            </a:pPr>
            <a:r>
              <a:rPr lang="es-PE" sz="3200" b="1" dirty="0">
                <a:solidFill>
                  <a:srgbClr val="262626"/>
                </a:solidFill>
                <a:latin typeface="Calibri"/>
                <a:cs typeface="Calibri"/>
              </a:rPr>
              <a:t>2. Principio de segregación de interfaces(ISP)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s-ES" sz="3200" dirty="0"/>
          </a:p>
        </p:txBody>
      </p:sp>
      <p:pic>
        <p:nvPicPr>
          <p:cNvPr id="74" name="Google Shape;7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9403" y="5891702"/>
            <a:ext cx="445171" cy="445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699506" y="646344"/>
            <a:ext cx="616459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1" i="0" u="none" strike="noStrike" cap="none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MOTIVACIÓN: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238087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 txBox="1"/>
          <p:nvPr/>
        </p:nvSpPr>
        <p:spPr>
          <a:xfrm>
            <a:off x="492242" y="1686613"/>
            <a:ext cx="10882894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24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Principio de Inversión de Dependencia (DIP): Establece que los módulos de alto nivel no deben depender de módulos de bajo nivel; ambos deben depender de abstracciones (interfaces). Además, las abstracciones no deben depender de los detalles, sino que los detalles deben depender de las abstracciones. </a:t>
            </a:r>
            <a:r>
              <a:rPr lang="es-ES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Esto promueve la flexibilidad y facilita cambios en el código.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s-ES" sz="2400" b="1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24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Principio de Segregación de Interfaces (ISP): Sostiene que los clientes no deberían verse forzados a depender de interfaces que no usan. En lugar de tener interfaces grandes y monolíticas, es mejor dividirlas en </a:t>
            </a:r>
            <a:r>
              <a:rPr lang="es-ES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interfaces más específicas </a:t>
            </a:r>
            <a:r>
              <a:rPr lang="es-ES" sz="24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para que los clientes solo implementen lo que realmente necesitan. </a:t>
            </a:r>
            <a:r>
              <a:rPr lang="es-ES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Esto mejora la cohesión y reduce el acoplamiento</a:t>
            </a:r>
            <a:r>
              <a:rPr lang="es-ES" sz="3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ES" sz="3200" dirty="0">
              <a:solidFill>
                <a:srgbClr val="FF0000"/>
              </a:solidFill>
            </a:endParaRPr>
          </a:p>
        </p:txBody>
      </p:sp>
      <p:pic>
        <p:nvPicPr>
          <p:cNvPr id="74" name="Google Shape;7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9403" y="5891702"/>
            <a:ext cx="445171" cy="4451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363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/>
        </p:nvSpPr>
        <p:spPr>
          <a:xfrm>
            <a:off x="2834027" y="155037"/>
            <a:ext cx="685566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CONOCIMIENTOS PREVIOS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519" y="155037"/>
            <a:ext cx="2483508" cy="55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9E7710F-BA0F-9A90-2673-FF97C8F08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95" y="742950"/>
            <a:ext cx="11023071" cy="56725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8022" y="332656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>
            <a:spLocks noGrp="1"/>
          </p:cNvSpPr>
          <p:nvPr>
            <p:ph type="title" idx="4294967295"/>
          </p:nvPr>
        </p:nvSpPr>
        <p:spPr>
          <a:xfrm rot="625">
            <a:off x="548640" y="1560077"/>
            <a:ext cx="3384550" cy="142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LOGRO DE LA SESIÓN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103258" y="2362200"/>
            <a:ext cx="6098344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finalizar la unidad el participante identifica los principios de diseño de los patrones de software para la solución de problemas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8022" y="332656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 txBox="1">
            <a:spLocks noGrp="1"/>
          </p:cNvSpPr>
          <p:nvPr>
            <p:ph type="title" idx="4294967295"/>
          </p:nvPr>
        </p:nvSpPr>
        <p:spPr>
          <a:xfrm rot="625">
            <a:off x="234584" y="1925918"/>
            <a:ext cx="5105439" cy="142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IMPORTANCIA DE LA SESIÓN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6324600" y="2178576"/>
            <a:ext cx="534924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aplicación de los patrones de software a permitirá solucionar los problemas habituales de software planteados.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fdfaee476_0_0"/>
          <p:cNvSpPr txBox="1"/>
          <p:nvPr/>
        </p:nvSpPr>
        <p:spPr>
          <a:xfrm>
            <a:off x="654942" y="1917068"/>
            <a:ext cx="11268833" cy="3023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4400" b="1" i="0" u="none" strike="noStrike" cap="none">
                <a:solidFill>
                  <a:srgbClr val="D1052D"/>
                </a:solidFill>
                <a:latin typeface="Arial"/>
                <a:ea typeface="Arial"/>
                <a:cs typeface="Arial"/>
                <a:sym typeface="Arial"/>
              </a:rPr>
              <a:t>TEMA :</a:t>
            </a:r>
            <a:endParaRPr/>
          </a:p>
          <a:p>
            <a:pPr marL="127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4400" b="1" i="0" u="none" strike="noStrike" cap="none">
              <a:solidFill>
                <a:srgbClr val="D1052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8500" marR="0" lvl="0" indent="-6858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lang="es-ES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 sz="1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98500" marR="0" lvl="0" indent="-5588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98500" marR="0" lvl="0" indent="-6858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lang="es-ES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g2efdfaee476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54597" y="332656"/>
            <a:ext cx="2483508" cy="553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09" name="Google Shape;109;p8"/>
          <p:cNvSpPr txBox="1"/>
          <p:nvPr/>
        </p:nvSpPr>
        <p:spPr>
          <a:xfrm>
            <a:off x="336804" y="1173445"/>
            <a:ext cx="99410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0" name="Google Shape;110;p8"/>
          <p:cNvSpPr txBox="1"/>
          <p:nvPr/>
        </p:nvSpPr>
        <p:spPr>
          <a:xfrm>
            <a:off x="336804" y="2025908"/>
            <a:ext cx="11148581" cy="483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uno de los cinco principios SOLID de la programación orientada a objetos. Este principio tiene como objetivo reducir la dependencia de clases de alto nivel respecto a clases de bajo nivel, promoviendo así un código más flexible y fácil de mantener.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Establece dos reglas principales: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módulos de alto nivel no deben depender de módulos de bajo nivel. Ambos deben depender de abstracciones.</a:t>
            </a:r>
            <a:endParaRPr/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abstracciones no deben depender de los detalles. Los detalles deben depender de abstracciones.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336804" y="1173445"/>
            <a:ext cx="99410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336804" y="2025908"/>
            <a:ext cx="11148581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términos más simples, esto significa que las clases que realizan operaciones importantes (alto nivel) no deben estar acopladas directamente a clases que realizan tareas específicas (bajo nivel).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su lugar, ambas deberían depender de interfaces o abstracciones.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6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25" name="Google Shape;125;p36"/>
          <p:cNvSpPr txBox="1"/>
          <p:nvPr/>
        </p:nvSpPr>
        <p:spPr>
          <a:xfrm>
            <a:off x="1860804" y="1283173"/>
            <a:ext cx="9941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26" name="Google Shape;126;p36"/>
          <p:cNvSpPr txBox="1"/>
          <p:nvPr/>
        </p:nvSpPr>
        <p:spPr>
          <a:xfrm>
            <a:off x="336804" y="1977534"/>
            <a:ext cx="11148581" cy="5165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Importancia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Flexibilidad: 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cambiar las implementaciones de bajo nivel sin afectar a las de alto nivel.</a:t>
            </a:r>
            <a:endParaRPr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Mantenibilidad: 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la modificación del código y la corrección de errores.</a:t>
            </a:r>
            <a:endParaRPr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Testabilidad: 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Hace que sea más sencillo realizar pruebas unitarias al permitir el uso de simulaciones (mocks).</a:t>
            </a:r>
            <a:endParaRPr/>
          </a:p>
          <a:p>
            <a:pPr marL="12700" marR="508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33" name="Google Shape;133;p37"/>
          <p:cNvSpPr txBox="1"/>
          <p:nvPr/>
        </p:nvSpPr>
        <p:spPr>
          <a:xfrm>
            <a:off x="336804" y="1283173"/>
            <a:ext cx="99410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Ventaja</a:t>
            </a:r>
            <a:endParaRPr/>
          </a:p>
        </p:txBody>
      </p:sp>
      <p:sp>
        <p:nvSpPr>
          <p:cNvPr id="134" name="Google Shape;134;p37"/>
          <p:cNvSpPr txBox="1"/>
          <p:nvPr/>
        </p:nvSpPr>
        <p:spPr>
          <a:xfrm>
            <a:off x="573024" y="2968837"/>
            <a:ext cx="10777728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Aumenta la Flexibilidad: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depender de abstracciones (interfaces), puedes cambiar las implementaciones concretas sin modificar el código que utiliza estas abstracciones.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NotificationService usa una interfaz MessageService, puedes cambiar de EmailService a SMSService sin modificar NotificationService.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41" name="Google Shape;141;p38"/>
          <p:cNvSpPr txBox="1"/>
          <p:nvPr/>
        </p:nvSpPr>
        <p:spPr>
          <a:xfrm>
            <a:off x="336804" y="1283173"/>
            <a:ext cx="99410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Ventaja</a:t>
            </a:r>
            <a:endParaRPr/>
          </a:p>
        </p:txBody>
      </p:sp>
      <p:sp>
        <p:nvSpPr>
          <p:cNvPr id="142" name="Google Shape;142;p38"/>
          <p:cNvSpPr txBox="1"/>
          <p:nvPr/>
        </p:nvSpPr>
        <p:spPr>
          <a:xfrm>
            <a:off x="512064" y="2643842"/>
            <a:ext cx="10777728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 startAt="2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 la Mantenibilidad: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reducir el acoplamiento entre clases, los cambios en una clase no afectan directamente a otras clases.</a:t>
            </a:r>
            <a:endParaRPr/>
          </a:p>
          <a:p>
            <a:pPr marL="457200" marR="0" lvl="0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 necesitas actualizar la lógica de EmailService, no tienes que tocar el código de NotificationService, siempre y cuando EmailService siga cumpliendo con la interfaz MessageService.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9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49" name="Google Shape;149;p39"/>
          <p:cNvSpPr txBox="1"/>
          <p:nvPr/>
        </p:nvSpPr>
        <p:spPr>
          <a:xfrm>
            <a:off x="336804" y="1283173"/>
            <a:ext cx="99410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Ventaja</a:t>
            </a:r>
            <a:endParaRPr/>
          </a:p>
        </p:txBody>
      </p:sp>
      <p:sp>
        <p:nvSpPr>
          <p:cNvPr id="150" name="Google Shape;150;p39"/>
          <p:cNvSpPr txBox="1"/>
          <p:nvPr/>
        </p:nvSpPr>
        <p:spPr>
          <a:xfrm>
            <a:off x="524256" y="2716994"/>
            <a:ext cx="10777728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 startAt="3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la Pruebas: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más sencillo realizar pruebas unitarias porque puedes usar simulaciones (mocks) de las interfaces.</a:t>
            </a:r>
            <a:endParaRPr/>
          </a:p>
          <a:p>
            <a:pPr marL="457200" marR="0" lvl="0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Puedes probar NotificationService usando un mock de MessageService, sin necesidad de enviar correos electrónicos reales.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0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57" name="Google Shape;157;p40"/>
          <p:cNvSpPr txBox="1"/>
          <p:nvPr/>
        </p:nvSpPr>
        <p:spPr>
          <a:xfrm>
            <a:off x="336804" y="1283173"/>
            <a:ext cx="99410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Ventaja</a:t>
            </a:r>
            <a:endParaRPr/>
          </a:p>
        </p:txBody>
      </p:sp>
      <p:sp>
        <p:nvSpPr>
          <p:cNvPr id="158" name="Google Shape;158;p40"/>
          <p:cNvSpPr txBox="1"/>
          <p:nvPr/>
        </p:nvSpPr>
        <p:spPr>
          <a:xfrm>
            <a:off x="524256" y="2716994"/>
            <a:ext cx="10777728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 startAt="4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Promueve el Diseño Modular: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Fomenta la creación de módulos independientes que pueden ser desarrollados y mantenidos por separado.</a:t>
            </a:r>
            <a:endParaRPr/>
          </a:p>
          <a:p>
            <a:pPr marL="51435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6575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Los equipos pueden trabajar en diferentes implementaciones de MessageService sin interferir en el desarrollo de NotificationService.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1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65" name="Google Shape;165;p41"/>
          <p:cNvSpPr txBox="1"/>
          <p:nvPr/>
        </p:nvSpPr>
        <p:spPr>
          <a:xfrm>
            <a:off x="336804" y="1283173"/>
            <a:ext cx="99410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Desventaja</a:t>
            </a:r>
            <a:endParaRPr/>
          </a:p>
        </p:txBody>
      </p:sp>
      <p:sp>
        <p:nvSpPr>
          <p:cNvPr id="166" name="Google Shape;166;p41"/>
          <p:cNvSpPr txBox="1"/>
          <p:nvPr/>
        </p:nvSpPr>
        <p:spPr>
          <a:xfrm>
            <a:off x="524256" y="2716994"/>
            <a:ext cx="10777728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Aumento de la Complejidad Inicial: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introducción de abstracciones (interfaces) puede hacer que el diseño inicial sea más complejo.</a:t>
            </a:r>
            <a:endParaRPr/>
          </a:p>
          <a:p>
            <a:pPr marL="51435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Definir interfaces como MessageService y asegurarse de que las implementaciones como EmailService y SMSService las cumplan requiere tiempo y esfuerzo adicional.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2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73" name="Google Shape;173;p42"/>
          <p:cNvSpPr txBox="1"/>
          <p:nvPr/>
        </p:nvSpPr>
        <p:spPr>
          <a:xfrm>
            <a:off x="336804" y="1283173"/>
            <a:ext cx="99410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Desventaja</a:t>
            </a:r>
            <a:endParaRPr/>
          </a:p>
        </p:txBody>
      </p:sp>
      <p:sp>
        <p:nvSpPr>
          <p:cNvPr id="174" name="Google Shape;174;p42"/>
          <p:cNvSpPr txBox="1"/>
          <p:nvPr/>
        </p:nvSpPr>
        <p:spPr>
          <a:xfrm>
            <a:off x="524256" y="2716994"/>
            <a:ext cx="10777728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 startAt="2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Sobrecarga en Pequeños Proyectos: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proyectos pequeños, el uso de muchas abstracciones puede ser innecesario y sobrecargar el diseño.</a:t>
            </a:r>
            <a:endParaRPr/>
          </a:p>
          <a:p>
            <a:pPr marL="51435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una pequeña aplicación de consola, la introducción de interfaces para cada servicio puede resultar excesiva.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3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81" name="Google Shape;181;p43"/>
          <p:cNvSpPr txBox="1"/>
          <p:nvPr/>
        </p:nvSpPr>
        <p:spPr>
          <a:xfrm>
            <a:off x="336804" y="1283173"/>
            <a:ext cx="99410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Desventaja</a:t>
            </a:r>
            <a:endParaRPr/>
          </a:p>
        </p:txBody>
      </p:sp>
      <p:sp>
        <p:nvSpPr>
          <p:cNvPr id="182" name="Google Shape;182;p43"/>
          <p:cNvSpPr txBox="1"/>
          <p:nvPr/>
        </p:nvSpPr>
        <p:spPr>
          <a:xfrm>
            <a:off x="524256" y="2716994"/>
            <a:ext cx="10777728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 startAt="3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Requiere Buen Conocimiento de Diseño: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desarrolladores deben tener un buen entendimiento de los principios SOLID y de diseño orientado a objetos para aplicar correctamente el DIP.</a:t>
            </a:r>
            <a:endParaRPr/>
          </a:p>
          <a:p>
            <a:pPr marL="51435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6575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Los nuevos desarrolladores pueden tener dificultades para entender cuándo y cómo aplicar el DIP adecuadamente.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4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89" name="Google Shape;189;p44"/>
          <p:cNvSpPr txBox="1"/>
          <p:nvPr/>
        </p:nvSpPr>
        <p:spPr>
          <a:xfrm>
            <a:off x="336804" y="1283173"/>
            <a:ext cx="99410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Desventaja</a:t>
            </a:r>
            <a:endParaRPr/>
          </a:p>
        </p:txBody>
      </p:sp>
      <p:sp>
        <p:nvSpPr>
          <p:cNvPr id="190" name="Google Shape;190;p44"/>
          <p:cNvSpPr txBox="1"/>
          <p:nvPr/>
        </p:nvSpPr>
        <p:spPr>
          <a:xfrm>
            <a:off x="524256" y="2716994"/>
            <a:ext cx="10777728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0" indent="-7429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 startAt="4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Potencial de Sobre-Ingeniería: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Existe el riesgo de introducir abstracciones innecesarias, lo que puede complicar el código sin un beneficio claro.</a:t>
            </a:r>
            <a:endParaRPr/>
          </a:p>
          <a:p>
            <a:pPr marL="742950" marR="0" lvl="0" indent="-565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9138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Crear una interfaz para un servicio que nunca cambiará de implementación puede ser un esfuerzo desperdiciado.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45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197" name="Google Shape;197;p45"/>
          <p:cNvSpPr txBox="1"/>
          <p:nvPr/>
        </p:nvSpPr>
        <p:spPr>
          <a:xfrm>
            <a:off x="312420" y="1029236"/>
            <a:ext cx="11184636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Supongamos que tenemos una aplicación que envía notificaciones a los usuarios. La clase de alto nivel NotificationService depende de una clase de bajo nivel EmailService para enviar correos electrónicos.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5"/>
          <p:cNvSpPr txBox="1"/>
          <p:nvPr/>
        </p:nvSpPr>
        <p:spPr>
          <a:xfrm>
            <a:off x="451104" y="2859286"/>
            <a:ext cx="6096000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EmailService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void sendEmail(String message)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Código para enviar un correo electrónico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NotificationService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private EmailService emailService;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NotificationService()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this.emailService = new EmailService();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/>
          </a:p>
        </p:txBody>
      </p:sp>
      <p:sp>
        <p:nvSpPr>
          <p:cNvPr id="199" name="Google Shape;199;p45"/>
          <p:cNvSpPr txBox="1"/>
          <p:nvPr/>
        </p:nvSpPr>
        <p:spPr>
          <a:xfrm>
            <a:off x="6199241" y="2634246"/>
            <a:ext cx="6096000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void sendNotification(String message)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emailService.sendEmail(message);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cxnSp>
        <p:nvCxnSpPr>
          <p:cNvPr id="200" name="Google Shape;200;p45"/>
          <p:cNvCxnSpPr/>
          <p:nvPr/>
        </p:nvCxnSpPr>
        <p:spPr>
          <a:xfrm>
            <a:off x="6108192" y="2886456"/>
            <a:ext cx="0" cy="347472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201" name="Google Shape;201;p45"/>
          <p:cNvSpPr/>
          <p:nvPr/>
        </p:nvSpPr>
        <p:spPr>
          <a:xfrm>
            <a:off x="10488995" y="4027718"/>
            <a:ext cx="1428509" cy="475488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 DIP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5"/>
          <p:cNvSpPr txBox="1"/>
          <p:nvPr/>
        </p:nvSpPr>
        <p:spPr>
          <a:xfrm>
            <a:off x="6597788" y="5167044"/>
            <a:ext cx="5152253" cy="1323439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este caso, NotificationService depende directamente de EmailService. Si queremos cambiar la forma en que enviamos notificaciones (por ejemplo, usando SMS en lugar de correo electrónico), tendríamos que modificar NotificationService.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6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09" name="Google Shape;209;p46"/>
          <p:cNvSpPr txBox="1"/>
          <p:nvPr/>
        </p:nvSpPr>
        <p:spPr>
          <a:xfrm>
            <a:off x="312420" y="1029236"/>
            <a:ext cx="11184636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Solución:</a:t>
            </a:r>
            <a:endParaRPr sz="40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46"/>
          <p:cNvCxnSpPr/>
          <p:nvPr/>
        </p:nvCxnSpPr>
        <p:spPr>
          <a:xfrm>
            <a:off x="6108192" y="2886456"/>
            <a:ext cx="0" cy="347472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211" name="Google Shape;211;p46"/>
          <p:cNvSpPr/>
          <p:nvPr/>
        </p:nvSpPr>
        <p:spPr>
          <a:xfrm>
            <a:off x="10320527" y="1808154"/>
            <a:ext cx="1428509" cy="475488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 DIP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6"/>
          <p:cNvSpPr txBox="1"/>
          <p:nvPr/>
        </p:nvSpPr>
        <p:spPr>
          <a:xfrm>
            <a:off x="312420" y="2134552"/>
            <a:ext cx="6096000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 MessageService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void sendMessage(String message);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EmailService implements MessageService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void sendMessage(String message)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Código para enviar un correo electrónico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SMSService implements MessageService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void sendMessage(String message)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// Código para enviar un SMS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13" name="Google Shape;213;p46"/>
          <p:cNvSpPr txBox="1"/>
          <p:nvPr/>
        </p:nvSpPr>
        <p:spPr>
          <a:xfrm>
            <a:off x="6284585" y="2043112"/>
            <a:ext cx="6096000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NotificationService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private MessageService messageService;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NotificationService(MessageService messageService)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this.messageService = messageService;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void sendNotification(String message)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messageService.sendMessage(message);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14" name="Google Shape;214;p46"/>
          <p:cNvSpPr/>
          <p:nvPr/>
        </p:nvSpPr>
        <p:spPr>
          <a:xfrm>
            <a:off x="6609132" y="5608320"/>
            <a:ext cx="5435718" cy="109728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Ahora, NotificationService depende de la interfaz MessageService en lugar de una implementación concreta. Esto permite que NotificationService sea más flexible y fácil de mantener.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21" name="Google Shape;221;p47"/>
          <p:cNvSpPr txBox="1"/>
          <p:nvPr/>
        </p:nvSpPr>
        <p:spPr>
          <a:xfrm>
            <a:off x="312420" y="1029236"/>
            <a:ext cx="11184636" cy="644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1: Sistema de Envío de Notificaciones</a:t>
            </a:r>
            <a:endParaRPr dirty="0"/>
          </a:p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Contexto: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Tienes que desarrollar un sistema que envía notificaciones. El sistema debe ser capaz de enviar notificaciones por diferentes canales, como correo electrónico o mensajes SMS.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Aplicar el DIP para que el sistema de notificaciones sea flexible y extensible.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Instrucciones: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la interfaz </a:t>
            </a:r>
            <a:r>
              <a:rPr lang="es-E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Notifier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 dos clases concretas </a:t>
            </a:r>
            <a:r>
              <a:rPr lang="es-E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EmailNotifier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s-E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SMSNotifier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 la clase </a:t>
            </a:r>
            <a:r>
              <a:rPr lang="es-E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NotificationService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depende de la interfaz </a:t>
            </a:r>
            <a:r>
              <a:rPr lang="es-E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Notifier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 la implementación.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21" name="Google Shape;221;p47"/>
          <p:cNvSpPr txBox="1"/>
          <p:nvPr/>
        </p:nvSpPr>
        <p:spPr>
          <a:xfrm>
            <a:off x="341916" y="797838"/>
            <a:ext cx="11184636" cy="62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//Definición de la Interfaz `Notifier`: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interface Notifier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void send(String message, String recipient);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//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Implementaciones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Concretas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EmailNotifier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EmailNotifier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implements Notifier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@Override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send(String message, String recipient)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System.out.println("Enviando correo electrónico a " + recipient + " con el mensaje: '" + message + "'");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SMSNotifier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SMSNotifier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implements Notifier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@Override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send(String message, String recipient)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System.out.println("Enviando SMS a " + recipient + " con el mensaje: '" + message + "'");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121B94E-6F29-D508-0DC5-E254740A29C7}"/>
              </a:ext>
            </a:extLst>
          </p:cNvPr>
          <p:cNvSpPr txBox="1"/>
          <p:nvPr/>
        </p:nvSpPr>
        <p:spPr>
          <a:xfrm>
            <a:off x="7433186" y="1613118"/>
            <a:ext cx="539791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`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NotificationService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`: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NotificationService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private final Notifier notifier;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NotificationService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(Notifier notifier)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this.notifier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notifier;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sendNotification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(String message, String recipient)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notifier.send(message, recipient);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5575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21" name="Google Shape;221;p47"/>
          <p:cNvSpPr txBox="1"/>
          <p:nvPr/>
        </p:nvSpPr>
        <p:spPr>
          <a:xfrm>
            <a:off x="341916" y="797838"/>
            <a:ext cx="11184636" cy="4370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Prueba de la Implementación: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Main {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static void main(String[]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args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Notifier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emailNotifier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new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EmailNotifier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Notifier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smsNotifier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new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SMSNotifier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NotificationService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emailService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new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NotificationService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emailNotifier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NotificationService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smsService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new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NotificationService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smsNotifier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emailService.sendNotification("Hola, tienes un nuevo correo.", "correo@ejemplo.com");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smsService.sendNotification("Hola, tienes un nuevo SMS.", "+123456789");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121B94E-6F29-D508-0DC5-E254740A29C7}"/>
              </a:ext>
            </a:extLst>
          </p:cNvPr>
          <p:cNvSpPr txBox="1"/>
          <p:nvPr/>
        </p:nvSpPr>
        <p:spPr>
          <a:xfrm>
            <a:off x="1430594" y="4108083"/>
            <a:ext cx="907025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Explicación: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Interfaz `Notifier: Define un método `send` que es implementado por clases concretas como `EmailNotifier` y `SMSNotifier`.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Implementaciones Concretas: `EmailNotifier` y `SMSNotifier` implementan la interfaz `Notifier`, cada una con su propia lógica para enviar notificaciones.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Clase `NotificationService: Depende de la interfaz `Notifier`, lo que le permite ser flexible y adaptable a diferentes tipos de notificaciones sin cambiar su lógica interna.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Prueba: Se crea una instancia de `NotificationService` con diferentes implementaciones de `Notifier` (correo electrónico y SMS) y se envían notificaciones usando ambas.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5517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28" name="Google Shape;228;p48"/>
          <p:cNvSpPr txBox="1"/>
          <p:nvPr/>
        </p:nvSpPr>
        <p:spPr>
          <a:xfrm>
            <a:off x="312420" y="1029236"/>
            <a:ext cx="11184636" cy="625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Inversión de Dependencia (DIP)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E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2: Sistema de Almacenamiento de Datos</a:t>
            </a:r>
            <a:endParaRPr/>
          </a:p>
          <a:p>
            <a:pPr marL="4508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Contexto:</a:t>
            </a: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Desarrolla un sistema para almacenar datos. El sistema debe ser capaz de almacenar datos en diferentes lugares, como archivos o bases de datos.</a:t>
            </a:r>
            <a:endParaRPr/>
          </a:p>
          <a:p>
            <a:pPr marL="4508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Aplicar el DIP para hacer que el sistema de almacenamiento sea flexible y fácil de cambiar.</a:t>
            </a:r>
            <a:endParaRPr/>
          </a:p>
          <a:p>
            <a:pPr marL="4508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Instrucciones:</a:t>
            </a: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la interfaz DataStorage.</a:t>
            </a:r>
            <a:endParaRPr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 dos clases concretas FileStorage y databaseStorege.</a:t>
            </a:r>
            <a:endParaRPr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 la clase DataService que depende de la interfaz DataStorage.</a:t>
            </a:r>
            <a:endParaRPr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 la implementación.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9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35" name="Google Shape;235;p49"/>
          <p:cNvSpPr txBox="1"/>
          <p:nvPr/>
        </p:nvSpPr>
        <p:spPr>
          <a:xfrm>
            <a:off x="312420" y="1029236"/>
            <a:ext cx="11184636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/>
        </p:nvSpPr>
        <p:spPr>
          <a:xfrm>
            <a:off x="402336" y="2466307"/>
            <a:ext cx="1109472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Establece que un cliente no debe verse forzado a depender de interfaces que no utiliza. En otras palabras, las interfaces deben ser específicas y centradas en un único propósito, para que las clases implementen solo los métodos que realmente necesitan.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0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43" name="Google Shape;243;p50"/>
          <p:cNvSpPr txBox="1"/>
          <p:nvPr/>
        </p:nvSpPr>
        <p:spPr>
          <a:xfrm>
            <a:off x="312420" y="1029236"/>
            <a:ext cx="11184636" cy="136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Importancia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0"/>
          <p:cNvSpPr txBox="1"/>
          <p:nvPr/>
        </p:nvSpPr>
        <p:spPr>
          <a:xfrm>
            <a:off x="402336" y="2466307"/>
            <a:ext cx="11094720" cy="363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Evita el Acoplamiento: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Minimiza el acoplamiento entre clases, lo que significa que las clases no dependen de métodos que no utilizan.</a:t>
            </a:r>
            <a:endParaRPr/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Cambios: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hacer cambios en una parte del sistema sin afectar otras partes que no están relacionadas.</a:t>
            </a:r>
            <a:endParaRPr/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 la Comprensión: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Hace que el código sea más fácil de entender porque cada interfaz tiene un propósito claro y limitado.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1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51" name="Google Shape;251;p51"/>
          <p:cNvSpPr txBox="1"/>
          <p:nvPr/>
        </p:nvSpPr>
        <p:spPr>
          <a:xfrm>
            <a:off x="312420" y="1029236"/>
            <a:ext cx="11184636" cy="136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1"/>
          <p:cNvSpPr txBox="1"/>
          <p:nvPr/>
        </p:nvSpPr>
        <p:spPr>
          <a:xfrm>
            <a:off x="312420" y="2563100"/>
            <a:ext cx="11094720" cy="335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Flexibilidad: 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interfaces pequeñas y específicas permiten que las clases implementen solo lo que necesitan.</a:t>
            </a:r>
            <a:endParaRPr/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Beneficio: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Esto facilita la adición de nuevas funcionalidades y la modificación de las existentes sin afectar a otras partes del sistema.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52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59" name="Google Shape;259;p52"/>
          <p:cNvSpPr txBox="1"/>
          <p:nvPr/>
        </p:nvSpPr>
        <p:spPr>
          <a:xfrm>
            <a:off x="312420" y="1029236"/>
            <a:ext cx="11184636" cy="136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2"/>
          <p:cNvSpPr txBox="1"/>
          <p:nvPr/>
        </p:nvSpPr>
        <p:spPr>
          <a:xfrm>
            <a:off x="312420" y="2563100"/>
            <a:ext cx="1109472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 startAt="2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Mantenibilidad: 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Interfaces especializadas hacen que el código sea más fácil de mantener.</a:t>
            </a:r>
            <a:endParaRPr/>
          </a:p>
          <a:p>
            <a:pPr marL="514350" marR="0" lvl="0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6575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Beneficio: 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Cambios en una interfaz no afectan a las clases que no la utilizan, reduciendo el riesgo de errores y facilitando las actualizaciones.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3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67" name="Google Shape;267;p53"/>
          <p:cNvSpPr txBox="1"/>
          <p:nvPr/>
        </p:nvSpPr>
        <p:spPr>
          <a:xfrm>
            <a:off x="312420" y="1029236"/>
            <a:ext cx="11184636" cy="136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3"/>
          <p:cNvSpPr txBox="1"/>
          <p:nvPr/>
        </p:nvSpPr>
        <p:spPr>
          <a:xfrm>
            <a:off x="312420" y="2563100"/>
            <a:ext cx="1109472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 startAt="3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Claridad: 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interfaces que tienen un propósito claro y específico son más fáciles de entender.</a:t>
            </a:r>
            <a:endParaRPr/>
          </a:p>
          <a:p>
            <a:pPr marL="51435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6575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Beneficio: 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a los desarrolladores comprender qué hace cada parte del sistema y cómo encaja en el todo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54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75" name="Google Shape;275;p54"/>
          <p:cNvSpPr txBox="1"/>
          <p:nvPr/>
        </p:nvSpPr>
        <p:spPr>
          <a:xfrm>
            <a:off x="312420" y="1029236"/>
            <a:ext cx="11184636" cy="136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4"/>
          <p:cNvSpPr txBox="1"/>
          <p:nvPr/>
        </p:nvSpPr>
        <p:spPr>
          <a:xfrm>
            <a:off x="312420" y="2563100"/>
            <a:ext cx="11094720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Complejidad Inicial: 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Diseñar muchas interfaces pequeñas puede hacer que el sistema parezca más complejo al principio.</a:t>
            </a:r>
            <a:endParaRPr/>
          </a:p>
          <a:p>
            <a:pPr marL="457200" marR="0" lvl="0" indent="-254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Los desarrolladores pueden necesitar un tiempo para aprender cómo interactúan las múltiples interfaces y cómo usarlas correctamente.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55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83" name="Google Shape;283;p55"/>
          <p:cNvSpPr txBox="1"/>
          <p:nvPr/>
        </p:nvSpPr>
        <p:spPr>
          <a:xfrm>
            <a:off x="312420" y="1029236"/>
            <a:ext cx="11184636" cy="136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5"/>
          <p:cNvSpPr txBox="1"/>
          <p:nvPr/>
        </p:nvSpPr>
        <p:spPr>
          <a:xfrm>
            <a:off x="312420" y="2563100"/>
            <a:ext cx="1109472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 startAt="2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Interfaces: 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Puede llevar a una gran cantidad de interfaces si no se gestiona adecuadamente.</a:t>
            </a:r>
            <a:endParaRPr/>
          </a:p>
          <a:p>
            <a:pPr marL="51435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6575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número elevado de interfaces puede dificultar la navegación y el mantenimiento del sistema si no se tiene una estrategia clara para organizarlas.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56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91" name="Google Shape;291;p56"/>
          <p:cNvSpPr txBox="1"/>
          <p:nvPr/>
        </p:nvSpPr>
        <p:spPr>
          <a:xfrm>
            <a:off x="312420" y="1029236"/>
            <a:ext cx="11184636" cy="136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6"/>
          <p:cNvSpPr txBox="1"/>
          <p:nvPr/>
        </p:nvSpPr>
        <p:spPr>
          <a:xfrm>
            <a:off x="312420" y="2563100"/>
            <a:ext cx="11094720" cy="335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 startAt="3"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Sobreabundancia de Interfaces: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Puede haber una tendencia a crear muchas interfaces para casos específicos.</a:t>
            </a:r>
            <a:endParaRPr/>
          </a:p>
          <a:p>
            <a:pPr marL="514350" marR="0" lvl="0" indent="-387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6575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Esto puede llevar a una sobreabundancia que, en lugar de ayudar, puede complicar la estructura del código.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57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299" name="Google Shape;299;p57"/>
          <p:cNvSpPr txBox="1"/>
          <p:nvPr/>
        </p:nvSpPr>
        <p:spPr>
          <a:xfrm>
            <a:off x="312420" y="1029236"/>
            <a:ext cx="11184636" cy="188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lang="es-E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Imagina que tienes una interfaz Machine con métodos para impresoras y escáneres: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7"/>
          <p:cNvSpPr txBox="1"/>
          <p:nvPr/>
        </p:nvSpPr>
        <p:spPr>
          <a:xfrm>
            <a:off x="4279392" y="2804639"/>
            <a:ext cx="609600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 </a:t>
            </a:r>
            <a:r>
              <a:rPr lang="es-ES" sz="3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Machine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void print();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void scan();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void fax();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301" name="Google Shape;301;p57"/>
          <p:cNvSpPr txBox="1"/>
          <p:nvPr/>
        </p:nvSpPr>
        <p:spPr>
          <a:xfrm>
            <a:off x="363474" y="5468912"/>
            <a:ext cx="1156030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 tienes una impresora que solo necesita imprimir y un escáner que solo necesita escanear, ambos se verán obligados a implementar métodos que no usan.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8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08" name="Google Shape;308;p58"/>
          <p:cNvSpPr txBox="1"/>
          <p:nvPr/>
        </p:nvSpPr>
        <p:spPr>
          <a:xfrm>
            <a:off x="312420" y="1029236"/>
            <a:ext cx="11184636" cy="123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Solución:</a:t>
            </a: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8"/>
          <p:cNvSpPr txBox="1"/>
          <p:nvPr/>
        </p:nvSpPr>
        <p:spPr>
          <a:xfrm>
            <a:off x="6315456" y="1993792"/>
            <a:ext cx="6583680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 </a:t>
            </a:r>
            <a:r>
              <a:rPr lang="es-E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Printer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void print();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 </a:t>
            </a:r>
            <a:r>
              <a:rPr lang="es-E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Scanner 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void scan();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 </a:t>
            </a:r>
            <a:r>
              <a:rPr lang="es-E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FaxMachine</a:t>
            </a: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void fax();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8"/>
          <p:cNvSpPr txBox="1"/>
          <p:nvPr/>
        </p:nvSpPr>
        <p:spPr>
          <a:xfrm>
            <a:off x="312420" y="3240286"/>
            <a:ext cx="391668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Divide la interfaz en interfaces más específicas: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58"/>
          <p:cNvCxnSpPr/>
          <p:nvPr/>
        </p:nvCxnSpPr>
        <p:spPr>
          <a:xfrm>
            <a:off x="5010912" y="2268037"/>
            <a:ext cx="0" cy="360850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9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18" name="Google Shape;318;p59"/>
          <p:cNvSpPr txBox="1"/>
          <p:nvPr/>
        </p:nvSpPr>
        <p:spPr>
          <a:xfrm>
            <a:off x="312420" y="1029236"/>
            <a:ext cx="11184636" cy="123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Solución:</a:t>
            </a: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9"/>
          <p:cNvSpPr txBox="1"/>
          <p:nvPr/>
        </p:nvSpPr>
        <p:spPr>
          <a:xfrm>
            <a:off x="4828032" y="1958474"/>
            <a:ext cx="7815072" cy="446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lang="es-E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InkjetPrinter</a:t>
            </a: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implements Printer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void print()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System.out.println("Imprimiendo documento...");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lang="es-E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DocumentScanner</a:t>
            </a: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implements Scanner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void scan()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System.out.println("Escaneando documento...");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9"/>
          <p:cNvSpPr txBox="1"/>
          <p:nvPr/>
        </p:nvSpPr>
        <p:spPr>
          <a:xfrm>
            <a:off x="312420" y="3166323"/>
            <a:ext cx="435559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Ahora, las impresoras y escáneres implementan solo las interfaces que necesitan: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59"/>
          <p:cNvCxnSpPr/>
          <p:nvPr/>
        </p:nvCxnSpPr>
        <p:spPr>
          <a:xfrm>
            <a:off x="4511040" y="2268037"/>
            <a:ext cx="0" cy="360850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0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28" name="Google Shape;328;p60"/>
          <p:cNvSpPr txBox="1"/>
          <p:nvPr/>
        </p:nvSpPr>
        <p:spPr>
          <a:xfrm>
            <a:off x="312420" y="1029236"/>
            <a:ext cx="11184636" cy="621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1: Sistema de Multimedia</a:t>
            </a:r>
            <a:endParaRPr dirty="0"/>
          </a:p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Contexto: 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 un sistema para manejar dispositivos multimedia. Algunos dispositivos solo reproducen audio, otros solo reproducen video, y otros manejan ambos.</a:t>
            </a: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Aplicar el ISP para crear interfaces específicas para cada tipo de dispositivo.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Instrucciones:</a:t>
            </a: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las interfaces específicas.</a:t>
            </a:r>
            <a:endParaRPr dirty="0"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 las clases correspondientes.</a:t>
            </a:r>
            <a:endParaRPr dirty="0"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 la implementación.</a:t>
            </a:r>
            <a:endParaRPr dirty="0"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0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28" name="Google Shape;328;p60"/>
          <p:cNvSpPr txBox="1"/>
          <p:nvPr/>
        </p:nvSpPr>
        <p:spPr>
          <a:xfrm>
            <a:off x="312420" y="1029236"/>
            <a:ext cx="586740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Definición de las Interfaces: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public interface AudioPlayer {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void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playAudio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s-P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s-P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public interface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VideoPlayer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es-P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void playVideo();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Implementaciones Concretas: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Dispositivo que solo reproduce audio (`AudioDevice`):</a:t>
            </a:r>
          </a:p>
          <a:p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AudioDevice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implements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AudioPlayer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es-P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@Override</a:t>
            </a:r>
            <a:endParaRPr lang="es-P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playAudio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{</a:t>
            </a:r>
            <a:endParaRPr lang="es-P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Reproduciendo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audio...");</a:t>
            </a:r>
            <a:endParaRPr lang="es-P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s-PE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28;p60">
            <a:extLst>
              <a:ext uri="{FF2B5EF4-FFF2-40B4-BE49-F238E27FC236}">
                <a16:creationId xmlns:a16="http://schemas.microsoft.com/office/drawing/2014/main" id="{518EDE07-2029-31E6-3BAC-9396634D8246}"/>
              </a:ext>
            </a:extLst>
          </p:cNvPr>
          <p:cNvSpPr txBox="1"/>
          <p:nvPr/>
        </p:nvSpPr>
        <p:spPr>
          <a:xfrm>
            <a:off x="6096000" y="797838"/>
            <a:ext cx="5867400" cy="6586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Dispositivo que solo reproduce video (`VideoDevice`):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VideoDevice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implements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VideoPlayer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@Override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playVideo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Reproduciendo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video...");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Dispositivo que reproduce ambos (`MultimediaDevice`):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MultimediaDevice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implements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AudioPlayer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VideoPlayer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@Override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playAudio() {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System.out.println("Reproduciendo audio en dispositivo multimedia...");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@Override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playVideo() {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System.out.println("Reproduciendo video en dispositivo multimedia...");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93196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0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28" name="Google Shape;328;p60"/>
          <p:cNvSpPr txBox="1"/>
          <p:nvPr/>
        </p:nvSpPr>
        <p:spPr>
          <a:xfrm>
            <a:off x="312420" y="797838"/>
            <a:ext cx="5867400" cy="630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P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Prueba de la Implementación:</a:t>
            </a:r>
          </a:p>
          <a:p>
            <a:r>
              <a:rPr lang="es-P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public class Main {</a:t>
            </a:r>
          </a:p>
          <a:p>
            <a:r>
              <a:rPr lang="es-P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static void main(String[]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{</a:t>
            </a:r>
            <a:endParaRPr lang="es-PE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AudioPlayer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audioDevice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new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AudioDevice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s-PE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VideoPlayer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videoDevice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new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VideoDevice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s-PE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s-P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MultimediaDevice multimediaDevice = new MultimediaDevice();</a:t>
            </a:r>
          </a:p>
          <a:p>
            <a:r>
              <a:rPr lang="es-P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audioDevice.playAudio();</a:t>
            </a:r>
          </a:p>
          <a:p>
            <a:r>
              <a:rPr lang="es-P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videoDevice.playVideo();</a:t>
            </a:r>
          </a:p>
          <a:p>
            <a:r>
              <a:rPr lang="es-P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multimediaDevice.playAudio();</a:t>
            </a:r>
          </a:p>
          <a:p>
            <a:r>
              <a:rPr lang="es-P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multimediaDevice.playVideo();</a:t>
            </a:r>
          </a:p>
          <a:p>
            <a:r>
              <a:rPr lang="es-P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r>
              <a:rPr lang="es-PE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28;p60">
            <a:extLst>
              <a:ext uri="{FF2B5EF4-FFF2-40B4-BE49-F238E27FC236}">
                <a16:creationId xmlns:a16="http://schemas.microsoft.com/office/drawing/2014/main" id="{518EDE07-2029-31E6-3BAC-9396634D8246}"/>
              </a:ext>
            </a:extLst>
          </p:cNvPr>
          <p:cNvSpPr txBox="1"/>
          <p:nvPr/>
        </p:nvSpPr>
        <p:spPr>
          <a:xfrm>
            <a:off x="6012180" y="1029236"/>
            <a:ext cx="5867400" cy="603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Explicación: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Interfaces `AudioPlayer` y `VideoPlayer: Definen métodos específicos para reproducir audio y video, respectivamente. Esto permite que las clases que implementan estas interfaces solo dependan de los métodos que realmente necesitan.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Implementaciones Concretas: Cada clase concreta (`AudioDevice`, `VideoDevice`, `MultimediaDevice`) implementa solo las interfaces que necesita: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- `AudioDevice` implementa `AudioPlayer` y solo puede reproducir audio.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- `VideoDevice` implementa `VideoPlayer` y solo puede reproducir video.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- `MultimediaDevice` implementa ambas interfaces (`AudioPlayer` y `VideoPlayer`), por lo que puede reproducir tanto audio como video.</a:t>
            </a:r>
          </a:p>
          <a:p>
            <a:r>
              <a:rPr lang="es-P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Prueba: En la clase `Main`, se prueba la funcionalidad de cada dispositivo para asegurarse de que solo utilicen los métodos correspondientes a sus capacidades.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41168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7241" y="152400"/>
            <a:ext cx="2483508" cy="55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61"/>
          <p:cNvSpPr txBox="1"/>
          <p:nvPr/>
        </p:nvSpPr>
        <p:spPr>
          <a:xfrm>
            <a:off x="2651760" y="243840"/>
            <a:ext cx="5867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DISEÑO DE PATRONES</a:t>
            </a:r>
            <a:endParaRPr/>
          </a:p>
        </p:txBody>
      </p:sp>
      <p:sp>
        <p:nvSpPr>
          <p:cNvPr id="335" name="Google Shape;335;p61"/>
          <p:cNvSpPr txBox="1"/>
          <p:nvPr/>
        </p:nvSpPr>
        <p:spPr>
          <a:xfrm>
            <a:off x="312420" y="1029236"/>
            <a:ext cx="11184636" cy="597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Principio de Segregación de Interfaces (ISP)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s-E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Práctico 2: Sistema de Pago</a:t>
            </a:r>
            <a:endParaRPr/>
          </a:p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Contexto: </a:t>
            </a: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 un sistema de pago que maneje diferentes métodos de pago. Algunos métodos procesan pagos en línea, otros en tiendas físicas</a:t>
            </a:r>
            <a:r>
              <a:rPr lang="es-E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Aplicar el ISP para definir interfaces específicas para diferentes tipos de procesamiento de pagos.</a:t>
            </a:r>
            <a:endParaRPr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Instrucciones:</a:t>
            </a: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las interfaces específicas.</a:t>
            </a:r>
            <a:endParaRPr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 las clases correspondientes.</a:t>
            </a:r>
            <a:endParaRPr/>
          </a:p>
          <a:p>
            <a:pPr marL="7937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 la implementación.</a:t>
            </a:r>
            <a:endParaRPr/>
          </a:p>
          <a:p>
            <a:pPr marL="45085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62"/>
          <p:cNvGrpSpPr/>
          <p:nvPr/>
        </p:nvGrpSpPr>
        <p:grpSpPr>
          <a:xfrm>
            <a:off x="499871" y="2301481"/>
            <a:ext cx="7876033" cy="3733558"/>
            <a:chOff x="-494462" y="-159598"/>
            <a:chExt cx="3293463" cy="1474986"/>
          </a:xfrm>
        </p:grpSpPr>
        <p:sp>
          <p:nvSpPr>
            <p:cNvPr id="341" name="Google Shape;341;p62"/>
            <p:cNvSpPr/>
            <p:nvPr/>
          </p:nvSpPr>
          <p:spPr>
            <a:xfrm>
              <a:off x="-494462" y="-159598"/>
              <a:ext cx="3293463" cy="1474986"/>
            </a:xfrm>
            <a:custGeom>
              <a:avLst/>
              <a:gdLst/>
              <a:ahLst/>
              <a:cxnLst/>
              <a:rect l="l" t="t" r="r" b="b"/>
              <a:pathLst>
                <a:path w="2486406" h="1146351" extrusionOk="0">
                  <a:moveTo>
                    <a:pt x="71889" y="0"/>
                  </a:moveTo>
                  <a:lnTo>
                    <a:pt x="2414517" y="0"/>
                  </a:lnTo>
                  <a:cubicBezTo>
                    <a:pt x="2433583" y="0"/>
                    <a:pt x="2451869" y="7574"/>
                    <a:pt x="2465350" y="21056"/>
                  </a:cubicBezTo>
                  <a:cubicBezTo>
                    <a:pt x="2478832" y="34538"/>
                    <a:pt x="2486406" y="52823"/>
                    <a:pt x="2486406" y="71889"/>
                  </a:cubicBezTo>
                  <a:lnTo>
                    <a:pt x="2486406" y="1074462"/>
                  </a:lnTo>
                  <a:cubicBezTo>
                    <a:pt x="2486406" y="1093528"/>
                    <a:pt x="2478832" y="1111813"/>
                    <a:pt x="2465350" y="1125295"/>
                  </a:cubicBezTo>
                  <a:cubicBezTo>
                    <a:pt x="2451869" y="1138777"/>
                    <a:pt x="2433583" y="1146351"/>
                    <a:pt x="2414517" y="1146351"/>
                  </a:cubicBezTo>
                  <a:lnTo>
                    <a:pt x="71889" y="1146351"/>
                  </a:lnTo>
                  <a:cubicBezTo>
                    <a:pt x="52823" y="1146351"/>
                    <a:pt x="34538" y="1138777"/>
                    <a:pt x="21056" y="1125295"/>
                  </a:cubicBezTo>
                  <a:cubicBezTo>
                    <a:pt x="7574" y="1111813"/>
                    <a:pt x="0" y="1093528"/>
                    <a:pt x="0" y="1074462"/>
                  </a:cubicBezTo>
                  <a:lnTo>
                    <a:pt x="0" y="71889"/>
                  </a:lnTo>
                  <a:cubicBezTo>
                    <a:pt x="0" y="52823"/>
                    <a:pt x="7574" y="34538"/>
                    <a:pt x="21056" y="21056"/>
                  </a:cubicBezTo>
                  <a:cubicBezTo>
                    <a:pt x="34538" y="7574"/>
                    <a:pt x="52823" y="0"/>
                    <a:pt x="718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Principio de Inversión de Dependencia (DIP):</a:t>
              </a:r>
              <a:b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 DIP dice que las clases deben depender de abstracciones (interfaces) y no de clases concretas. Las abstracciones deben definir la funcionalidad y las implementaciones concretas deben ajustarse a esas abstracciones. Esto mejora la flexibilidad y facilita los cambios en el código.</a:t>
              </a:r>
              <a:endParaRPr/>
            </a:p>
            <a:p>
              <a:pPr marL="342900" marR="0" lvl="0" indent="-3429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s-E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Principio de Segregación de Interfaces (ISP):</a:t>
              </a:r>
              <a:b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s-E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 ISP establece que las interfaces deben ser específicas y pequeñas, adaptadas a las necesidades de los clientes. Las clases no deben implementar métodos que no necesitan. Esto hace el código más claro y manejable.</a:t>
              </a:r>
              <a:endParaRPr/>
            </a:p>
          </p:txBody>
        </p:sp>
        <p:sp>
          <p:nvSpPr>
            <p:cNvPr id="342" name="Google Shape;342;p62"/>
            <p:cNvSpPr txBox="1"/>
            <p:nvPr/>
          </p:nvSpPr>
          <p:spPr>
            <a:xfrm>
              <a:off x="0" y="-47625"/>
              <a:ext cx="2486406" cy="11939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just" rtl="0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" name="Google Shape;343;p62"/>
          <p:cNvGrpSpPr/>
          <p:nvPr/>
        </p:nvGrpSpPr>
        <p:grpSpPr>
          <a:xfrm>
            <a:off x="-116008" y="-120549"/>
            <a:ext cx="12424017" cy="253060"/>
            <a:chOff x="0" y="-47625"/>
            <a:chExt cx="4908254" cy="99975"/>
          </a:xfrm>
        </p:grpSpPr>
        <p:sp>
          <p:nvSpPr>
            <p:cNvPr id="344" name="Google Shape;344;p62"/>
            <p:cNvSpPr/>
            <p:nvPr/>
          </p:nvSpPr>
          <p:spPr>
            <a:xfrm>
              <a:off x="0" y="0"/>
              <a:ext cx="4908254" cy="52350"/>
            </a:xfrm>
            <a:custGeom>
              <a:avLst/>
              <a:gdLst/>
              <a:ahLst/>
              <a:cxnLst/>
              <a:rect l="l" t="t" r="r" b="b"/>
              <a:pathLst>
                <a:path w="4908254" h="52350" extrusionOk="0">
                  <a:moveTo>
                    <a:pt x="0" y="0"/>
                  </a:moveTo>
                  <a:lnTo>
                    <a:pt x="4908254" y="0"/>
                  </a:lnTo>
                  <a:lnTo>
                    <a:pt x="4908254" y="52350"/>
                  </a:lnTo>
                  <a:lnTo>
                    <a:pt x="0" y="52350"/>
                  </a:lnTo>
                  <a:close/>
                </a:path>
              </a:pathLst>
            </a:custGeom>
            <a:solidFill>
              <a:srgbClr val="343434">
                <a:alpha val="7725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62"/>
            <p:cNvSpPr txBox="1"/>
            <p:nvPr/>
          </p:nvSpPr>
          <p:spPr>
            <a:xfrm>
              <a:off x="0" y="-47625"/>
              <a:ext cx="4908254" cy="99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" name="Google Shape;346;p62"/>
          <p:cNvSpPr txBox="1"/>
          <p:nvPr/>
        </p:nvSpPr>
        <p:spPr>
          <a:xfrm>
            <a:off x="268950" y="1248143"/>
            <a:ext cx="7981380" cy="89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85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/>
          </a:p>
        </p:txBody>
      </p:sp>
      <p:pic>
        <p:nvPicPr>
          <p:cNvPr id="347" name="Google Shape;347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6329" y="1761026"/>
            <a:ext cx="2761945" cy="384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63"/>
          <p:cNvGrpSpPr/>
          <p:nvPr/>
        </p:nvGrpSpPr>
        <p:grpSpPr>
          <a:xfrm>
            <a:off x="1529572" y="2366977"/>
            <a:ext cx="4057060" cy="899493"/>
            <a:chOff x="0" y="-95250"/>
            <a:chExt cx="1602789" cy="355356"/>
          </a:xfrm>
        </p:grpSpPr>
        <p:sp>
          <p:nvSpPr>
            <p:cNvPr id="353" name="Google Shape;353;p63"/>
            <p:cNvSpPr/>
            <p:nvPr/>
          </p:nvSpPr>
          <p:spPr>
            <a:xfrm>
              <a:off x="0" y="0"/>
              <a:ext cx="1602789" cy="260106"/>
            </a:xfrm>
            <a:custGeom>
              <a:avLst/>
              <a:gdLst/>
              <a:ahLst/>
              <a:cxnLst/>
              <a:rect l="l" t="t" r="r" b="b"/>
              <a:pathLst>
                <a:path w="1602789" h="260106" extrusionOk="0">
                  <a:moveTo>
                    <a:pt x="1399589" y="0"/>
                  </a:moveTo>
                  <a:cubicBezTo>
                    <a:pt x="1511813" y="0"/>
                    <a:pt x="1602789" y="58227"/>
                    <a:pt x="1602789" y="130053"/>
                  </a:cubicBezTo>
                  <a:cubicBezTo>
                    <a:pt x="1602789" y="201879"/>
                    <a:pt x="1511813" y="260106"/>
                    <a:pt x="1399589" y="260106"/>
                  </a:cubicBezTo>
                  <a:lnTo>
                    <a:pt x="203200" y="260106"/>
                  </a:lnTo>
                  <a:cubicBezTo>
                    <a:pt x="90976" y="260106"/>
                    <a:pt x="0" y="201879"/>
                    <a:pt x="0" y="130053"/>
                  </a:cubicBezTo>
                  <a:cubicBezTo>
                    <a:pt x="0" y="58227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3"/>
            <p:cNvSpPr txBox="1"/>
            <p:nvPr/>
          </p:nvSpPr>
          <p:spPr>
            <a:xfrm>
              <a:off x="0" y="-95250"/>
              <a:ext cx="1602789" cy="3553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338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 QUÉ HE APRENDIDO ?</a:t>
              </a:r>
              <a:endParaRPr/>
            </a:p>
          </p:txBody>
        </p:sp>
      </p:grpSp>
      <p:grpSp>
        <p:nvGrpSpPr>
          <p:cNvPr id="355" name="Google Shape;355;p63"/>
          <p:cNvGrpSpPr/>
          <p:nvPr/>
        </p:nvGrpSpPr>
        <p:grpSpPr>
          <a:xfrm>
            <a:off x="608261" y="2537719"/>
            <a:ext cx="799110" cy="799110"/>
            <a:chOff x="0" y="0"/>
            <a:chExt cx="812800" cy="812800"/>
          </a:xfrm>
        </p:grpSpPr>
        <p:sp>
          <p:nvSpPr>
            <p:cNvPr id="356" name="Google Shape;356;p6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63"/>
            <p:cNvSpPr txBox="1"/>
            <p:nvPr/>
          </p:nvSpPr>
          <p:spPr>
            <a:xfrm>
              <a:off x="152400" y="66675"/>
              <a:ext cx="5080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15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58" name="Google Shape;358;p63"/>
          <p:cNvGrpSpPr/>
          <p:nvPr/>
        </p:nvGrpSpPr>
        <p:grpSpPr>
          <a:xfrm>
            <a:off x="1126315" y="3413309"/>
            <a:ext cx="806515" cy="806515"/>
            <a:chOff x="0" y="0"/>
            <a:chExt cx="812800" cy="812800"/>
          </a:xfrm>
        </p:grpSpPr>
        <p:sp>
          <p:nvSpPr>
            <p:cNvPr id="359" name="Google Shape;359;p6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63"/>
            <p:cNvSpPr txBox="1"/>
            <p:nvPr/>
          </p:nvSpPr>
          <p:spPr>
            <a:xfrm>
              <a:off x="152400" y="66675"/>
              <a:ext cx="5080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15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61" name="Google Shape;361;p63"/>
          <p:cNvGrpSpPr/>
          <p:nvPr/>
        </p:nvGrpSpPr>
        <p:grpSpPr>
          <a:xfrm>
            <a:off x="2176486" y="3247229"/>
            <a:ext cx="4797677" cy="897572"/>
            <a:chOff x="0" y="-95250"/>
            <a:chExt cx="1895378" cy="354596"/>
          </a:xfrm>
        </p:grpSpPr>
        <p:sp>
          <p:nvSpPr>
            <p:cNvPr id="362" name="Google Shape;362;p63"/>
            <p:cNvSpPr/>
            <p:nvPr/>
          </p:nvSpPr>
          <p:spPr>
            <a:xfrm>
              <a:off x="0" y="0"/>
              <a:ext cx="1895378" cy="259346"/>
            </a:xfrm>
            <a:custGeom>
              <a:avLst/>
              <a:gdLst/>
              <a:ahLst/>
              <a:cxnLst/>
              <a:rect l="l" t="t" r="r" b="b"/>
              <a:pathLst>
                <a:path w="1895378" h="259346" extrusionOk="0">
                  <a:moveTo>
                    <a:pt x="1692178" y="0"/>
                  </a:moveTo>
                  <a:cubicBezTo>
                    <a:pt x="1804402" y="0"/>
                    <a:pt x="1895378" y="58057"/>
                    <a:pt x="1895378" y="129673"/>
                  </a:cubicBezTo>
                  <a:cubicBezTo>
                    <a:pt x="1895378" y="201290"/>
                    <a:pt x="1804402" y="259346"/>
                    <a:pt x="1692178" y="259346"/>
                  </a:cubicBezTo>
                  <a:lnTo>
                    <a:pt x="203200" y="259346"/>
                  </a:lnTo>
                  <a:cubicBezTo>
                    <a:pt x="90976" y="259346"/>
                    <a:pt x="0" y="201290"/>
                    <a:pt x="0" y="129673"/>
                  </a:cubicBezTo>
                  <a:cubicBezTo>
                    <a:pt x="0" y="58057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63"/>
            <p:cNvSpPr txBox="1"/>
            <p:nvPr/>
          </p:nvSpPr>
          <p:spPr>
            <a:xfrm>
              <a:off x="0" y="-95250"/>
              <a:ext cx="1895377" cy="3545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338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 CÓMO LO HE APRENDIDO ?</a:t>
              </a:r>
              <a:endParaRPr/>
            </a:p>
          </p:txBody>
        </p:sp>
      </p:grpSp>
      <p:grpSp>
        <p:nvGrpSpPr>
          <p:cNvPr id="364" name="Google Shape;364;p63"/>
          <p:cNvGrpSpPr/>
          <p:nvPr/>
        </p:nvGrpSpPr>
        <p:grpSpPr>
          <a:xfrm>
            <a:off x="2766055" y="4101965"/>
            <a:ext cx="4811666" cy="1006804"/>
            <a:chOff x="0" y="-76200"/>
            <a:chExt cx="1900905" cy="397749"/>
          </a:xfrm>
        </p:grpSpPr>
        <p:sp>
          <p:nvSpPr>
            <p:cNvPr id="365" name="Google Shape;365;p63"/>
            <p:cNvSpPr/>
            <p:nvPr/>
          </p:nvSpPr>
          <p:spPr>
            <a:xfrm>
              <a:off x="0" y="0"/>
              <a:ext cx="1900905" cy="321549"/>
            </a:xfrm>
            <a:custGeom>
              <a:avLst/>
              <a:gdLst/>
              <a:ahLst/>
              <a:cxnLst/>
              <a:rect l="l" t="t" r="r" b="b"/>
              <a:pathLst>
                <a:path w="1900905" h="321549" extrusionOk="0">
                  <a:moveTo>
                    <a:pt x="1697705" y="0"/>
                  </a:moveTo>
                  <a:cubicBezTo>
                    <a:pt x="1809930" y="0"/>
                    <a:pt x="1900905" y="71981"/>
                    <a:pt x="1900905" y="160775"/>
                  </a:cubicBezTo>
                  <a:cubicBezTo>
                    <a:pt x="1900905" y="249568"/>
                    <a:pt x="1809930" y="321549"/>
                    <a:pt x="1697705" y="321549"/>
                  </a:cubicBezTo>
                  <a:lnTo>
                    <a:pt x="203200" y="321549"/>
                  </a:lnTo>
                  <a:cubicBezTo>
                    <a:pt x="90976" y="321549"/>
                    <a:pt x="0" y="249568"/>
                    <a:pt x="0" y="160775"/>
                  </a:cubicBezTo>
                  <a:cubicBezTo>
                    <a:pt x="0" y="71981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63"/>
            <p:cNvSpPr txBox="1"/>
            <p:nvPr/>
          </p:nvSpPr>
          <p:spPr>
            <a:xfrm>
              <a:off x="0" y="-76200"/>
              <a:ext cx="1900905" cy="397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26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 QUÉ HA RESULTADO MÁS FÁCIL, MÁS DIFICIL O MÁS NOVEDOSO ?</a:t>
              </a:r>
              <a:endParaRPr/>
            </a:p>
          </p:txBody>
        </p:sp>
      </p:grpSp>
      <p:grpSp>
        <p:nvGrpSpPr>
          <p:cNvPr id="367" name="Google Shape;367;p63"/>
          <p:cNvGrpSpPr/>
          <p:nvPr/>
        </p:nvGrpSpPr>
        <p:grpSpPr>
          <a:xfrm>
            <a:off x="1769525" y="4294045"/>
            <a:ext cx="813922" cy="813922"/>
            <a:chOff x="0" y="0"/>
            <a:chExt cx="812800" cy="812800"/>
          </a:xfrm>
        </p:grpSpPr>
        <p:sp>
          <p:nvSpPr>
            <p:cNvPr id="368" name="Google Shape;368;p6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63"/>
            <p:cNvSpPr txBox="1"/>
            <p:nvPr/>
          </p:nvSpPr>
          <p:spPr>
            <a:xfrm>
              <a:off x="152400" y="66675"/>
              <a:ext cx="5080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15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70" name="Google Shape;370;p63"/>
          <p:cNvGrpSpPr/>
          <p:nvPr/>
        </p:nvGrpSpPr>
        <p:grpSpPr>
          <a:xfrm>
            <a:off x="2359094" y="5257210"/>
            <a:ext cx="813922" cy="813922"/>
            <a:chOff x="0" y="0"/>
            <a:chExt cx="812800" cy="812800"/>
          </a:xfrm>
        </p:grpSpPr>
        <p:sp>
          <p:nvSpPr>
            <p:cNvPr id="371" name="Google Shape;371;p6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63"/>
            <p:cNvSpPr txBox="1"/>
            <p:nvPr/>
          </p:nvSpPr>
          <p:spPr>
            <a:xfrm>
              <a:off x="152400" y="66675"/>
              <a:ext cx="508000" cy="593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15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373" name="Google Shape;373;p63"/>
          <p:cNvGrpSpPr/>
          <p:nvPr/>
        </p:nvGrpSpPr>
        <p:grpSpPr>
          <a:xfrm>
            <a:off x="3314364" y="5064328"/>
            <a:ext cx="4500609" cy="1006804"/>
            <a:chOff x="0" y="-76200"/>
            <a:chExt cx="1778018" cy="397749"/>
          </a:xfrm>
        </p:grpSpPr>
        <p:sp>
          <p:nvSpPr>
            <p:cNvPr id="374" name="Google Shape;374;p63"/>
            <p:cNvSpPr/>
            <p:nvPr/>
          </p:nvSpPr>
          <p:spPr>
            <a:xfrm>
              <a:off x="0" y="0"/>
              <a:ext cx="1778018" cy="321549"/>
            </a:xfrm>
            <a:custGeom>
              <a:avLst/>
              <a:gdLst/>
              <a:ahLst/>
              <a:cxnLst/>
              <a:rect l="l" t="t" r="r" b="b"/>
              <a:pathLst>
                <a:path w="1778018" h="321549" extrusionOk="0">
                  <a:moveTo>
                    <a:pt x="1574818" y="0"/>
                  </a:moveTo>
                  <a:cubicBezTo>
                    <a:pt x="1687042" y="0"/>
                    <a:pt x="1778018" y="71981"/>
                    <a:pt x="1778018" y="160775"/>
                  </a:cubicBezTo>
                  <a:cubicBezTo>
                    <a:pt x="1778018" y="249568"/>
                    <a:pt x="1687042" y="321549"/>
                    <a:pt x="1574818" y="321549"/>
                  </a:cubicBezTo>
                  <a:lnTo>
                    <a:pt x="203200" y="321549"/>
                  </a:lnTo>
                  <a:cubicBezTo>
                    <a:pt x="90976" y="321549"/>
                    <a:pt x="0" y="249568"/>
                    <a:pt x="0" y="160775"/>
                  </a:cubicBezTo>
                  <a:cubicBezTo>
                    <a:pt x="0" y="71981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73737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63"/>
            <p:cNvSpPr txBox="1"/>
            <p:nvPr/>
          </p:nvSpPr>
          <p:spPr>
            <a:xfrm>
              <a:off x="0" y="-76200"/>
              <a:ext cx="1778018" cy="397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26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 CÓMO LO PUEDO MEJORAR?</a:t>
              </a:r>
              <a:endParaRPr/>
            </a:p>
            <a:p>
              <a:pPr marL="0" marR="0" lvl="0" indent="0" algn="ctr" rtl="0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26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¿PARA QUÉ ME HA SERVIDO?</a:t>
              </a:r>
              <a:endParaRPr/>
            </a:p>
          </p:txBody>
        </p:sp>
      </p:grpSp>
      <p:sp>
        <p:nvSpPr>
          <p:cNvPr id="376" name="Google Shape;376;p63"/>
          <p:cNvSpPr/>
          <p:nvPr/>
        </p:nvSpPr>
        <p:spPr>
          <a:xfrm>
            <a:off x="8167290" y="2488590"/>
            <a:ext cx="3223061" cy="3389452"/>
          </a:xfrm>
          <a:custGeom>
            <a:avLst/>
            <a:gdLst/>
            <a:ahLst/>
            <a:cxnLst/>
            <a:rect l="l" t="t" r="r" b="b"/>
            <a:pathLst>
              <a:path w="4136262" h="4349797" extrusionOk="0">
                <a:moveTo>
                  <a:pt x="0" y="0"/>
                </a:moveTo>
                <a:lnTo>
                  <a:pt x="4136261" y="0"/>
                </a:lnTo>
                <a:lnTo>
                  <a:pt x="4136261" y="4349797"/>
                </a:lnTo>
                <a:lnTo>
                  <a:pt x="0" y="4349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3"/>
          <p:cNvSpPr txBox="1"/>
          <p:nvPr/>
        </p:nvSpPr>
        <p:spPr>
          <a:xfrm>
            <a:off x="131506" y="1286041"/>
            <a:ext cx="7981380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3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METACOGNICIÓN</a:t>
            </a:r>
            <a:endParaRPr/>
          </a:p>
        </p:txBody>
      </p:sp>
      <p:grpSp>
        <p:nvGrpSpPr>
          <p:cNvPr id="378" name="Google Shape;378;p63"/>
          <p:cNvGrpSpPr/>
          <p:nvPr/>
        </p:nvGrpSpPr>
        <p:grpSpPr>
          <a:xfrm>
            <a:off x="-116008" y="-120549"/>
            <a:ext cx="12424017" cy="253060"/>
            <a:chOff x="0" y="-47625"/>
            <a:chExt cx="4908254" cy="99975"/>
          </a:xfrm>
        </p:grpSpPr>
        <p:sp>
          <p:nvSpPr>
            <p:cNvPr id="379" name="Google Shape;379;p63"/>
            <p:cNvSpPr/>
            <p:nvPr/>
          </p:nvSpPr>
          <p:spPr>
            <a:xfrm>
              <a:off x="0" y="0"/>
              <a:ext cx="4908254" cy="52350"/>
            </a:xfrm>
            <a:custGeom>
              <a:avLst/>
              <a:gdLst/>
              <a:ahLst/>
              <a:cxnLst/>
              <a:rect l="l" t="t" r="r" b="b"/>
              <a:pathLst>
                <a:path w="4908254" h="52350" extrusionOk="0">
                  <a:moveTo>
                    <a:pt x="0" y="0"/>
                  </a:moveTo>
                  <a:lnTo>
                    <a:pt x="4908254" y="0"/>
                  </a:lnTo>
                  <a:lnTo>
                    <a:pt x="4908254" y="52350"/>
                  </a:lnTo>
                  <a:lnTo>
                    <a:pt x="0" y="52350"/>
                  </a:lnTo>
                  <a:close/>
                </a:path>
              </a:pathLst>
            </a:custGeom>
            <a:solidFill>
              <a:srgbClr val="343434">
                <a:alpha val="7725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63"/>
            <p:cNvSpPr txBox="1"/>
            <p:nvPr/>
          </p:nvSpPr>
          <p:spPr>
            <a:xfrm>
              <a:off x="0" y="-47625"/>
              <a:ext cx="4908254" cy="99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199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63"/>
          <p:cNvSpPr txBox="1"/>
          <p:nvPr/>
        </p:nvSpPr>
        <p:spPr>
          <a:xfrm>
            <a:off x="1126315" y="5570422"/>
            <a:ext cx="1168168" cy="233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PLANIFICAR</a:t>
            </a:r>
            <a:endParaRPr/>
          </a:p>
        </p:txBody>
      </p:sp>
      <p:sp>
        <p:nvSpPr>
          <p:cNvPr id="382" name="Google Shape;382;p63"/>
          <p:cNvSpPr txBox="1"/>
          <p:nvPr/>
        </p:nvSpPr>
        <p:spPr>
          <a:xfrm>
            <a:off x="136625" y="3087448"/>
            <a:ext cx="1197471" cy="4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 CONSCIENTE</a:t>
            </a:r>
            <a:endParaRPr/>
          </a:p>
        </p:txBody>
      </p:sp>
      <p:sp>
        <p:nvSpPr>
          <p:cNvPr id="383" name="Google Shape;383;p63"/>
          <p:cNvSpPr txBox="1"/>
          <p:nvPr/>
        </p:nvSpPr>
        <p:spPr>
          <a:xfrm>
            <a:off x="136625" y="4115113"/>
            <a:ext cx="1197471" cy="245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8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DESCRIBIR</a:t>
            </a:r>
            <a:endParaRPr/>
          </a:p>
        </p:txBody>
      </p:sp>
      <p:sp>
        <p:nvSpPr>
          <p:cNvPr id="384" name="Google Shape;384;p63"/>
          <p:cNvSpPr txBox="1"/>
          <p:nvPr/>
        </p:nvSpPr>
        <p:spPr>
          <a:xfrm>
            <a:off x="572055" y="4856913"/>
            <a:ext cx="1197471" cy="245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8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"/>
          <p:cNvSpPr txBox="1"/>
          <p:nvPr/>
        </p:nvSpPr>
        <p:spPr>
          <a:xfrm>
            <a:off x="734042" y="2187071"/>
            <a:ext cx="10723917" cy="2146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7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71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/>
          </a:p>
        </p:txBody>
      </p:sp>
      <p:grpSp>
        <p:nvGrpSpPr>
          <p:cNvPr id="390" name="Google Shape;390;p64"/>
          <p:cNvGrpSpPr/>
          <p:nvPr/>
        </p:nvGrpSpPr>
        <p:grpSpPr>
          <a:xfrm>
            <a:off x="3985931" y="4272738"/>
            <a:ext cx="4529942" cy="664964"/>
            <a:chOff x="0" y="-47625"/>
            <a:chExt cx="1789607" cy="262702"/>
          </a:xfrm>
        </p:grpSpPr>
        <p:sp>
          <p:nvSpPr>
            <p:cNvPr id="391" name="Google Shape;391;p64"/>
            <p:cNvSpPr/>
            <p:nvPr/>
          </p:nvSpPr>
          <p:spPr>
            <a:xfrm>
              <a:off x="0" y="0"/>
              <a:ext cx="1789607" cy="215077"/>
            </a:xfrm>
            <a:custGeom>
              <a:avLst/>
              <a:gdLst/>
              <a:ahLst/>
              <a:cxnLst/>
              <a:rect l="l" t="t" r="r" b="b"/>
              <a:pathLst>
                <a:path w="1789607" h="215077" extrusionOk="0">
                  <a:moveTo>
                    <a:pt x="0" y="0"/>
                  </a:moveTo>
                  <a:lnTo>
                    <a:pt x="1789607" y="0"/>
                  </a:lnTo>
                  <a:lnTo>
                    <a:pt x="1789607" y="215077"/>
                  </a:lnTo>
                  <a:lnTo>
                    <a:pt x="0" y="215077"/>
                  </a:lnTo>
                  <a:close/>
                </a:path>
              </a:pathLst>
            </a:custGeom>
            <a:solidFill>
              <a:srgbClr val="21161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64"/>
            <p:cNvSpPr txBox="1"/>
            <p:nvPr/>
          </p:nvSpPr>
          <p:spPr>
            <a:xfrm>
              <a:off x="0" y="-47625"/>
              <a:ext cx="1789607" cy="262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575" tIns="39575" rIns="39575" bIns="39575" anchor="ctr" anchorCtr="0">
              <a:noAutofit/>
            </a:bodyPr>
            <a:lstStyle/>
            <a:p>
              <a:pPr marL="0" marR="0" lvl="0" indent="0" algn="ctr" rtl="0">
                <a:lnSpc>
                  <a:spcPct val="139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36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 LA UTP SABEMOS QUE TODO ES POSIBLE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3127</Words>
  <Application>Microsoft Macintosh PowerPoint</Application>
  <PresentationFormat>Panorámica</PresentationFormat>
  <Paragraphs>422</Paragraphs>
  <Slides>42</Slides>
  <Notes>42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7" baseType="lpstr">
      <vt:lpstr>Roboto Medium</vt:lpstr>
      <vt:lpstr>Calibri</vt:lpstr>
      <vt:lpstr>Arial</vt:lpstr>
      <vt:lpstr>Verdana</vt:lpstr>
      <vt:lpstr>Office Theme</vt:lpstr>
      <vt:lpstr>DISEÑO DE PATRONES</vt:lpstr>
      <vt:lpstr>Presentación de PowerPoint</vt:lpstr>
      <vt:lpstr>Presentación de PowerPoint</vt:lpstr>
      <vt:lpstr>Presentación de PowerPoint</vt:lpstr>
      <vt:lpstr>LOGRO DE LA SESIÓN</vt:lpstr>
      <vt:lpstr>IMPORTANCIA DE LA SESIÓN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PATRONES</dc:title>
  <dc:creator>Julia</dc:creator>
  <cp:lastModifiedBy>Alfredo Guevara</cp:lastModifiedBy>
  <cp:revision>1</cp:revision>
  <dcterms:created xsi:type="dcterms:W3CDTF">2024-06-11T03:36:57Z</dcterms:created>
  <dcterms:modified xsi:type="dcterms:W3CDTF">2024-08-24T00:08:26Z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