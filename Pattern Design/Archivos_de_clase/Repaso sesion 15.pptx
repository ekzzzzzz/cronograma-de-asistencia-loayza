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349" r:id="rId3"/>
    <p:sldId id="363" r:id="rId4"/>
    <p:sldId id="365" r:id="rId5"/>
    <p:sldId id="351" r:id="rId6"/>
    <p:sldId id="352" r:id="rId7"/>
    <p:sldId id="344" r:id="rId8"/>
    <p:sldId id="391" r:id="rId9"/>
    <p:sldId id="390" r:id="rId10"/>
    <p:sldId id="382" r:id="rId11"/>
    <p:sldId id="396" r:id="rId12"/>
    <p:sldId id="389" r:id="rId13"/>
    <p:sldId id="399" r:id="rId14"/>
    <p:sldId id="402" r:id="rId15"/>
    <p:sldId id="401" r:id="rId16"/>
    <p:sldId id="403" r:id="rId17"/>
    <p:sldId id="406" r:id="rId18"/>
    <p:sldId id="353" r:id="rId19"/>
    <p:sldId id="357" r:id="rId20"/>
    <p:sldId id="358" r:id="rId21"/>
    <p:sldId id="359" r:id="rId22"/>
    <p:sldId id="360" r:id="rId23"/>
    <p:sldId id="362" r:id="rId24"/>
    <p:sldId id="273" r:id="rId25"/>
  </p:sldIdLst>
  <p:sldSz cx="12192000" cy="6858000"/>
  <p:notesSz cx="12192000" cy="6858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D1052D"/>
    <a:srgbClr val="BEC3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115" d="100"/>
          <a:sy n="115" d="100"/>
        </p:scale>
        <p:origin x="396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9654E5-2B86-4061-BA67-8AB4A0612CCD}" type="datetimeFigureOut">
              <a:rPr lang="es-PE" smtClean="0"/>
              <a:t>9/08/2024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29008C-742E-4A65-BF8A-7341D8FA003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62588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734820" y="1015746"/>
            <a:ext cx="8722359" cy="1763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6939" y="1784350"/>
            <a:ext cx="4892675" cy="4026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660005" y="1784350"/>
            <a:ext cx="3527425" cy="4026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8/9/2024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8/9/2024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8/9/2024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09676"/>
            <a:ext cx="1035812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93493"/>
            <a:ext cx="10358120" cy="1858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990600" y="2210522"/>
            <a:ext cx="10363199" cy="889346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3268979" marR="5080" indent="-3253104" algn="ctr">
              <a:lnSpc>
                <a:spcPts val="6480"/>
              </a:lnSpc>
              <a:spcBef>
                <a:spcPts val="915"/>
              </a:spcBef>
            </a:pPr>
            <a:r>
              <a:rPr lang="es-ES" sz="4800" spc="-45" dirty="0">
                <a:latin typeface="CentSchbkCyrill BT" panose="02040603050705020303" pitchFamily="18" charset="-52"/>
              </a:rPr>
              <a:t>CURSO: </a:t>
            </a:r>
            <a:r>
              <a:rPr lang="es-ES" sz="4800" spc="-45" dirty="0" smtClean="0">
                <a:latin typeface="CentSchbkCyrill BT" panose="02040603050705020303" pitchFamily="18" charset="-52"/>
              </a:rPr>
              <a:t>DISEÑO DE PATRONES</a:t>
            </a:r>
            <a:endParaRPr sz="4800" spc="-35" dirty="0">
              <a:latin typeface="CentSchbkCyrill BT" panose="02040603050705020303" pitchFamily="18" charset="-52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985DEC5-F30D-46A1-8619-3D91E66BBC7E}"/>
              </a:ext>
            </a:extLst>
          </p:cNvPr>
          <p:cNvSpPr txBox="1"/>
          <p:nvPr/>
        </p:nvSpPr>
        <p:spPr>
          <a:xfrm>
            <a:off x="2781299" y="1869307"/>
            <a:ext cx="6629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solidFill>
                  <a:srgbClr val="D1052D"/>
                </a:solidFill>
              </a:rPr>
              <a:t>PRIMERA UNIDAD DE APRENDIZAJE 2</a:t>
            </a:r>
            <a:endParaRPr lang="es-PE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51E8A21-5A38-43E7-AE9D-98AA48814941}"/>
              </a:ext>
            </a:extLst>
          </p:cNvPr>
          <p:cNvSpPr txBox="1"/>
          <p:nvPr/>
        </p:nvSpPr>
        <p:spPr>
          <a:xfrm>
            <a:off x="2043111" y="3517911"/>
            <a:ext cx="8258176" cy="1090042"/>
          </a:xfrm>
          <a:prstGeom prst="rect">
            <a:avLst/>
          </a:prstGeom>
          <a:solidFill>
            <a:srgbClr val="D1052D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PE" sz="3200" b="1" spc="-25" dirty="0">
                <a:solidFill>
                  <a:schemeClr val="bg1"/>
                </a:solidFill>
                <a:latin typeface="Arial"/>
                <a:cs typeface="Arial"/>
              </a:rPr>
              <a:t>SESIÓN N° </a:t>
            </a:r>
            <a:r>
              <a:rPr lang="es-PE" sz="3200" b="1" spc="-25" dirty="0" smtClean="0">
                <a:solidFill>
                  <a:schemeClr val="bg1"/>
                </a:solidFill>
                <a:latin typeface="Arial"/>
                <a:cs typeface="Arial"/>
              </a:rPr>
              <a:t>15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PE" sz="3200" b="1" spc="-25" dirty="0" smtClean="0">
                <a:solidFill>
                  <a:schemeClr val="bg1"/>
                </a:solidFill>
                <a:latin typeface="Arial"/>
                <a:cs typeface="Arial"/>
              </a:rPr>
              <a:t>Repaso</a:t>
            </a:r>
            <a:endParaRPr lang="es-PE" sz="3200" b="1" spc="85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79D4BDE-00D9-4634-BFF4-101BA4E8B52C}"/>
              </a:ext>
            </a:extLst>
          </p:cNvPr>
          <p:cNvSpPr txBox="1"/>
          <p:nvPr/>
        </p:nvSpPr>
        <p:spPr>
          <a:xfrm>
            <a:off x="3048000" y="5715000"/>
            <a:ext cx="716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PE" sz="1800" b="1" spc="-25" dirty="0">
                <a:solidFill>
                  <a:srgbClr val="D1052D"/>
                </a:solidFill>
                <a:latin typeface="Arial"/>
                <a:cs typeface="Arial"/>
              </a:rPr>
              <a:t>DOCENTES DE </a:t>
            </a:r>
            <a:r>
              <a:rPr lang="es-PE" sz="1800" b="1" spc="-25" dirty="0" smtClean="0">
                <a:solidFill>
                  <a:srgbClr val="D1052D"/>
                </a:solidFill>
                <a:latin typeface="Arial"/>
                <a:cs typeface="Arial"/>
              </a:rPr>
              <a:t>UTP </a:t>
            </a:r>
            <a:r>
              <a:rPr lang="es-PE" b="1" spc="-25" dirty="0" smtClean="0">
                <a:solidFill>
                  <a:srgbClr val="D1052D"/>
                </a:solidFill>
                <a:latin typeface="Arial"/>
                <a:cs typeface="Arial"/>
              </a:rPr>
              <a:t>SISTEMAS</a:t>
            </a:r>
            <a:endParaRPr lang="es-PE" sz="1800" dirty="0">
              <a:latin typeface="Arial"/>
              <a:cs typeface="Arial"/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B5B956ED-21D5-4069-B69B-4CE9E409433F}"/>
              </a:ext>
            </a:extLst>
          </p:cNvPr>
          <p:cNvGrpSpPr/>
          <p:nvPr/>
        </p:nvGrpSpPr>
        <p:grpSpPr>
          <a:xfrm>
            <a:off x="3681788" y="152400"/>
            <a:ext cx="8281612" cy="1295400"/>
            <a:chOff x="3681788" y="152400"/>
            <a:chExt cx="8281612" cy="12954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81788" y="370720"/>
              <a:ext cx="4828423" cy="1077080"/>
            </a:xfrm>
            <a:prstGeom prst="rect">
              <a:avLst/>
            </a:prstGeom>
          </p:spPr>
        </p:pic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EBA6524E-EDB1-4440-AE90-883F7F1FD18C}"/>
                </a:ext>
              </a:extLst>
            </p:cNvPr>
            <p:cNvSpPr/>
            <p:nvPr/>
          </p:nvSpPr>
          <p:spPr>
            <a:xfrm>
              <a:off x="9144000" y="152400"/>
              <a:ext cx="2819400" cy="7627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Motivación para el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aprendizaje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9328E6EB-B063-4713-BFB4-0B0FA772187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23651" y="313451"/>
            <a:ext cx="524749" cy="524749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4D11C75D-199E-45B8-BA8D-17CD6C160246}"/>
              </a:ext>
            </a:extLst>
          </p:cNvPr>
          <p:cNvSpPr txBox="1"/>
          <p:nvPr/>
        </p:nvSpPr>
        <p:spPr>
          <a:xfrm>
            <a:off x="728225" y="1600200"/>
            <a:ext cx="10515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b="1" spc="-5" dirty="0">
                <a:latin typeface="Arial"/>
                <a:cs typeface="Arial"/>
              </a:rPr>
              <a:t>Lo que debemos tener en </a:t>
            </a:r>
            <a:r>
              <a:rPr lang="es-ES" sz="3600" b="1" spc="-5" dirty="0" smtClean="0">
                <a:latin typeface="Arial"/>
                <a:cs typeface="Arial"/>
              </a:rPr>
              <a:t>cuenta:</a:t>
            </a:r>
          </a:p>
          <a:p>
            <a:pPr algn="ctr"/>
            <a:endParaRPr lang="es-ES" sz="3600" b="1" spc="-5" dirty="0">
              <a:latin typeface="Arial"/>
              <a:cs typeface="Arial"/>
            </a:endParaRPr>
          </a:p>
        </p:txBody>
      </p:sp>
      <p:pic>
        <p:nvPicPr>
          <p:cNvPr id="11" name="object 6">
            <a:extLst>
              <a:ext uri="{FF2B5EF4-FFF2-40B4-BE49-F238E27FC236}">
                <a16:creationId xmlns:a16="http://schemas.microsoft.com/office/drawing/2014/main" id="{E52C9474-7154-4724-A72B-B537E889D3D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53600" y="6184229"/>
            <a:ext cx="445171" cy="445171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347AE2A4-CC8F-4B06-A81C-DB8416DF06EB}"/>
              </a:ext>
            </a:extLst>
          </p:cNvPr>
          <p:cNvSpPr txBox="1"/>
          <p:nvPr/>
        </p:nvSpPr>
        <p:spPr>
          <a:xfrm>
            <a:off x="10198771" y="6222148"/>
            <a:ext cx="17646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14300">
              <a:lnSpc>
                <a:spcPct val="100000"/>
              </a:lnSpc>
              <a:spcBef>
                <a:spcPts val="1345"/>
              </a:spcBef>
            </a:pPr>
            <a:r>
              <a:rPr lang="es-PE" sz="2000" b="1" dirty="0">
                <a:latin typeface="Arial"/>
                <a:cs typeface="Arial"/>
              </a:rPr>
              <a:t>5</a:t>
            </a:r>
            <a:r>
              <a:rPr lang="es-PE" sz="2000" b="1" spc="-55" dirty="0">
                <a:latin typeface="Arial"/>
                <a:cs typeface="Arial"/>
              </a:rPr>
              <a:t> </a:t>
            </a:r>
            <a:r>
              <a:rPr lang="es-PE" sz="2000" b="1" spc="-5" dirty="0">
                <a:latin typeface="Arial"/>
                <a:cs typeface="Arial"/>
              </a:rPr>
              <a:t>minutos</a:t>
            </a:r>
            <a:endParaRPr lang="es-PE" sz="2000" dirty="0">
              <a:latin typeface="Arial"/>
              <a:cs typeface="Arial"/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3048000" y="4800600"/>
            <a:ext cx="55762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https://www.youtube.com/watch?v=JI_THVXPToQ&amp;t=12s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0" y="2800529"/>
            <a:ext cx="2790825" cy="176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243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Recordando</a:t>
            </a:r>
            <a:r>
              <a:rPr sz="24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aprendizajes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9328E6EB-B063-4713-BFB4-0B0FA772187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23651" y="313451"/>
            <a:ext cx="524749" cy="524749"/>
          </a:xfrm>
          <a:prstGeom prst="rect">
            <a:avLst/>
          </a:prstGeom>
        </p:spPr>
      </p:pic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D11C75D-199E-45B8-BA8D-17CD6C160246}"/>
              </a:ext>
            </a:extLst>
          </p:cNvPr>
          <p:cNvSpPr txBox="1"/>
          <p:nvPr/>
        </p:nvSpPr>
        <p:spPr>
          <a:xfrm>
            <a:off x="2590800" y="2981235"/>
            <a:ext cx="7010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b="1" spc="-5" dirty="0">
                <a:latin typeface="Arial"/>
                <a:cs typeface="Arial"/>
              </a:rPr>
              <a:t>¿Qué</a:t>
            </a:r>
            <a:r>
              <a:rPr lang="es-ES" sz="3600" b="1" spc="-20" dirty="0">
                <a:latin typeface="Arial"/>
                <a:cs typeface="Arial"/>
              </a:rPr>
              <a:t> </a:t>
            </a:r>
            <a:r>
              <a:rPr lang="es-ES" sz="3600" b="1" spc="-5" dirty="0">
                <a:latin typeface="Arial"/>
                <a:cs typeface="Arial"/>
              </a:rPr>
              <a:t>vimos</a:t>
            </a:r>
            <a:r>
              <a:rPr lang="es-ES" sz="3600" b="1" spc="-20" dirty="0">
                <a:latin typeface="Arial"/>
                <a:cs typeface="Arial"/>
              </a:rPr>
              <a:t> </a:t>
            </a:r>
            <a:r>
              <a:rPr lang="es-ES" sz="3600" b="1" spc="-5" dirty="0">
                <a:latin typeface="Arial"/>
                <a:cs typeface="Arial"/>
              </a:rPr>
              <a:t>en</a:t>
            </a:r>
            <a:r>
              <a:rPr lang="es-ES" sz="3600" b="1" spc="-20" dirty="0">
                <a:latin typeface="Arial"/>
                <a:cs typeface="Arial"/>
              </a:rPr>
              <a:t> </a:t>
            </a:r>
            <a:r>
              <a:rPr lang="es-ES" sz="3600" b="1" spc="-5" dirty="0">
                <a:latin typeface="Arial"/>
                <a:cs typeface="Arial"/>
              </a:rPr>
              <a:t>la</a:t>
            </a:r>
            <a:r>
              <a:rPr lang="es-ES" sz="3600" b="1" spc="-20" dirty="0">
                <a:latin typeface="Arial"/>
                <a:cs typeface="Arial"/>
              </a:rPr>
              <a:t> </a:t>
            </a:r>
            <a:r>
              <a:rPr lang="es-ES" sz="3600" b="1" spc="-5" dirty="0">
                <a:latin typeface="Arial"/>
                <a:cs typeface="Arial"/>
              </a:rPr>
              <a:t>sesión</a:t>
            </a:r>
            <a:r>
              <a:rPr lang="es-ES" sz="3600" b="1" spc="-20" dirty="0">
                <a:latin typeface="Arial"/>
                <a:cs typeface="Arial"/>
              </a:rPr>
              <a:t> </a:t>
            </a:r>
            <a:r>
              <a:rPr lang="es-ES" sz="3600" b="1" spc="-5" dirty="0">
                <a:latin typeface="Arial"/>
                <a:cs typeface="Arial"/>
              </a:rPr>
              <a:t>anterior?</a:t>
            </a:r>
            <a:endParaRPr lang="es-ES" sz="36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7175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Recordando</a:t>
            </a:r>
            <a:r>
              <a:rPr sz="24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aprendizajes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9328E6EB-B063-4713-BFB4-0B0FA772187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23651" y="313451"/>
            <a:ext cx="524749" cy="524749"/>
          </a:xfrm>
          <a:prstGeom prst="rect">
            <a:avLst/>
          </a:prstGeom>
        </p:spPr>
      </p:pic>
      <p:sp>
        <p:nvSpPr>
          <p:cNvPr id="3" name="Rectángulo 2"/>
          <p:cNvSpPr/>
          <p:nvPr/>
        </p:nvSpPr>
        <p:spPr>
          <a:xfrm>
            <a:off x="3429000" y="4724400"/>
            <a:ext cx="47873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https://www.youtube.com/watch?v=hJPFurVSyjY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7143" y="2209800"/>
            <a:ext cx="5211049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727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Logro de la sesión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2A6F3E7-9979-4364-9955-A30A48479D96}"/>
              </a:ext>
            </a:extLst>
          </p:cNvPr>
          <p:cNvSpPr txBox="1"/>
          <p:nvPr/>
        </p:nvSpPr>
        <p:spPr>
          <a:xfrm>
            <a:off x="1618297" y="3042791"/>
            <a:ext cx="94488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spc="-5" dirty="0">
                <a:latin typeface="Arial MT"/>
                <a:cs typeface="Arial MT"/>
              </a:rPr>
              <a:t>Al finalizar la unidad el </a:t>
            </a:r>
            <a:r>
              <a:rPr lang="es-ES" sz="3200" spc="-5" dirty="0" smtClean="0">
                <a:latin typeface="Arial MT"/>
                <a:cs typeface="Arial MT"/>
              </a:rPr>
              <a:t>participante identifica los patrones estructurales.</a:t>
            </a:r>
            <a:endParaRPr lang="es-ES" sz="3200" dirty="0">
              <a:latin typeface="Arial MT"/>
              <a:cs typeface="Arial MT"/>
            </a:endParaRPr>
          </a:p>
        </p:txBody>
      </p:sp>
      <p:pic>
        <p:nvPicPr>
          <p:cNvPr id="11" name="object 6">
            <a:extLst>
              <a:ext uri="{FF2B5EF4-FFF2-40B4-BE49-F238E27FC236}">
                <a16:creationId xmlns:a16="http://schemas.microsoft.com/office/drawing/2014/main" id="{C7336562-8237-4C19-BF2E-C16CE9CE1CB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83622" y="292547"/>
            <a:ext cx="559075" cy="559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228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Importancia de la sesión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2A6F3E7-9979-4364-9955-A30A48479D96}"/>
              </a:ext>
            </a:extLst>
          </p:cNvPr>
          <p:cNvSpPr txBox="1"/>
          <p:nvPr/>
        </p:nvSpPr>
        <p:spPr>
          <a:xfrm>
            <a:off x="990600" y="2468935"/>
            <a:ext cx="105918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spc="-5" dirty="0" smtClean="0">
                <a:latin typeface="Arial MT"/>
                <a:cs typeface="Arial MT"/>
              </a:rPr>
              <a:t>Es importante implementar los patrones ya que nos ayuda a generar las buenas practicas de programación.</a:t>
            </a:r>
            <a:endParaRPr lang="es-ES" sz="3200" spc="-5" dirty="0">
              <a:latin typeface="Arial MT"/>
              <a:cs typeface="Arial MT"/>
            </a:endParaRPr>
          </a:p>
        </p:txBody>
      </p:sp>
      <p:pic>
        <p:nvPicPr>
          <p:cNvPr id="12" name="object 10">
            <a:extLst>
              <a:ext uri="{FF2B5EF4-FFF2-40B4-BE49-F238E27FC236}">
                <a16:creationId xmlns:a16="http://schemas.microsoft.com/office/drawing/2014/main" id="{BD6947E1-33EA-4945-AA08-BDC665508EC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17875" y="304800"/>
            <a:ext cx="506725" cy="561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9802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9CD923E2-6C48-4276-9BEB-1846D11A67A4}"/>
              </a:ext>
            </a:extLst>
          </p:cNvPr>
          <p:cNvSpPr txBox="1"/>
          <p:nvPr/>
        </p:nvSpPr>
        <p:spPr>
          <a:xfrm>
            <a:off x="1966912" y="2890391"/>
            <a:ext cx="8258176" cy="584775"/>
          </a:xfrm>
          <a:prstGeom prst="rect">
            <a:avLst/>
          </a:prstGeom>
          <a:solidFill>
            <a:srgbClr val="D1052D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s-PE" sz="3200" dirty="0" smtClean="0">
                <a:solidFill>
                  <a:schemeClr val="bg1"/>
                </a:solidFill>
                <a:latin typeface="Arial"/>
                <a:cs typeface="Arial"/>
              </a:rPr>
              <a:t> Repaso de temas sesión 11, 12, 13 y 14.</a:t>
            </a:r>
            <a:endParaRPr lang="es-PE" sz="32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452D0D8-40D1-4D69-8E9B-067B07521DBF}"/>
              </a:ext>
            </a:extLst>
          </p:cNvPr>
          <p:cNvSpPr txBox="1"/>
          <p:nvPr/>
        </p:nvSpPr>
        <p:spPr>
          <a:xfrm>
            <a:off x="4076700" y="1991427"/>
            <a:ext cx="403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PE" sz="3600" b="1" spc="-25" dirty="0">
                <a:solidFill>
                  <a:srgbClr val="000000"/>
                </a:solidFill>
                <a:latin typeface="Arial"/>
                <a:cs typeface="Arial"/>
              </a:rPr>
              <a:t>SESIÓN N° </a:t>
            </a:r>
            <a:r>
              <a:rPr lang="es-PE" sz="3600" b="1" spc="-25" dirty="0" smtClean="0">
                <a:solidFill>
                  <a:srgbClr val="000000"/>
                </a:solidFill>
                <a:latin typeface="Arial"/>
                <a:cs typeface="Arial"/>
              </a:rPr>
              <a:t>15:</a:t>
            </a:r>
            <a:endParaRPr lang="es-PE" sz="3600" b="1" spc="85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44A62F85-1502-4D7C-93F5-FDF5EB2D1026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31BDD320-46CF-4CF8-8ED7-B9CC2CD22623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s-PE" sz="2400" b="1" spc="-5" dirty="0">
                <a:solidFill>
                  <a:srgbClr val="FFFFFF"/>
                </a:solidFill>
                <a:latin typeface="Arial"/>
                <a:cs typeface="Arial"/>
              </a:rPr>
              <a:t>emario</a:t>
            </a:r>
            <a:endParaRPr lang="es-PE" sz="2400" dirty="0">
              <a:latin typeface="Arial"/>
              <a:cs typeface="Arial"/>
            </a:endParaRPr>
          </a:p>
        </p:txBody>
      </p:sp>
      <p:pic>
        <p:nvPicPr>
          <p:cNvPr id="10" name="object 7">
            <a:extLst>
              <a:ext uri="{FF2B5EF4-FFF2-40B4-BE49-F238E27FC236}">
                <a16:creationId xmlns:a16="http://schemas.microsoft.com/office/drawing/2014/main" id="{229EF982-4AD6-41B4-B055-812DA365FB4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23651" y="313451"/>
            <a:ext cx="524749" cy="524749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25EB02CA-766A-4A3B-83E2-2CF011B7FD7D}"/>
              </a:ext>
            </a:extLst>
          </p:cNvPr>
          <p:cNvSpPr txBox="1"/>
          <p:nvPr/>
        </p:nvSpPr>
        <p:spPr>
          <a:xfrm>
            <a:off x="365760" y="973304"/>
            <a:ext cx="53578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spc="-5" dirty="0">
                <a:latin typeface="Arial"/>
                <a:cs typeface="Arial"/>
              </a:rPr>
              <a:t>¡Que no se te escape nada de tu clase!:</a:t>
            </a:r>
            <a:endParaRPr lang="es-ES"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021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990600" y="901125"/>
            <a:ext cx="103632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algn="ctr"/>
            <a:r>
              <a:rPr lang="es-ES" sz="3200" b="1" dirty="0" smtClean="0">
                <a:solidFill>
                  <a:schemeClr val="tx2"/>
                </a:solidFill>
                <a:latin typeface="Arial" panose="020B0604020202020204" pitchFamily="34" charset="0"/>
              </a:rPr>
              <a:t>Patrones Estructurales</a:t>
            </a:r>
          </a:p>
        </p:txBody>
      </p:sp>
      <p:sp>
        <p:nvSpPr>
          <p:cNvPr id="3" name="Rectángulo 2"/>
          <p:cNvSpPr/>
          <p:nvPr/>
        </p:nvSpPr>
        <p:spPr>
          <a:xfrm>
            <a:off x="838200" y="1652885"/>
            <a:ext cx="10515600" cy="12940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b="1" dirty="0">
                <a:solidFill>
                  <a:schemeClr val="tx2"/>
                </a:solidFill>
                <a:latin typeface="PT Sans"/>
              </a:rPr>
              <a:t>Proxy</a:t>
            </a:r>
            <a:r>
              <a:rPr lang="es-ES" dirty="0">
                <a:solidFill>
                  <a:srgbClr val="444444"/>
                </a:solidFill>
                <a:latin typeface="PT Sans"/>
              </a:rPr>
              <a:t> es un patrón de diseño estructural que te permite proporcionar un sustituto o marcador de posición para otro objeto. Un proxy controla el acceso al objeto original, permitiéndote hacer algo antes o después de que la solicitud llegue al objeto original.</a:t>
            </a:r>
            <a:endParaRPr lang="en-U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3048000"/>
            <a:ext cx="5359812" cy="328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929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143000"/>
            <a:ext cx="8263378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849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762000" y="1447800"/>
            <a:ext cx="10134600" cy="1892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b="1" dirty="0">
                <a:solidFill>
                  <a:schemeClr val="tx2"/>
                </a:solidFill>
                <a:latin typeface="PT Sans"/>
              </a:rPr>
              <a:t>Bridge</a:t>
            </a:r>
            <a:r>
              <a:rPr lang="es-ES" dirty="0">
                <a:solidFill>
                  <a:srgbClr val="444444"/>
                </a:solidFill>
                <a:latin typeface="PT Sans"/>
              </a:rPr>
              <a:t> es un patrón de diseño estructural que te permite dividir una clase grande, o un grupo de clases estrechamente relacionadas, en dos jerarquías separadas (abstracción e implementación) que pueden desarrollarse independientemente la una de la otra.</a:t>
            </a:r>
          </a:p>
          <a:p>
            <a:r>
              <a:rPr lang="es-ES" dirty="0"/>
              <a:t/>
            </a:r>
            <a:br>
              <a:rPr lang="es-ES" dirty="0"/>
            </a:br>
            <a:endParaRPr lang="en-US" dirty="0"/>
          </a:p>
        </p:txBody>
      </p:sp>
      <p:sp>
        <p:nvSpPr>
          <p:cNvPr id="6" name="Rectángulo 5"/>
          <p:cNvSpPr/>
          <p:nvPr/>
        </p:nvSpPr>
        <p:spPr>
          <a:xfrm>
            <a:off x="762000" y="762000"/>
            <a:ext cx="103632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algn="ctr"/>
            <a:r>
              <a:rPr lang="es-ES" sz="3200" b="1" dirty="0" smtClean="0">
                <a:solidFill>
                  <a:schemeClr val="tx2"/>
                </a:solidFill>
                <a:latin typeface="Arial" panose="020B0604020202020204" pitchFamily="34" charset="0"/>
              </a:rPr>
              <a:t>Patrones Estructurales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895600"/>
            <a:ext cx="5381625" cy="3396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332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371599"/>
            <a:ext cx="6838950" cy="4418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329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691342" y="579760"/>
            <a:ext cx="103632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algn="ctr"/>
            <a:r>
              <a:rPr lang="es-ES" sz="3200" b="1" dirty="0" smtClean="0">
                <a:solidFill>
                  <a:schemeClr val="tx2"/>
                </a:solidFill>
                <a:latin typeface="Arial" panose="020B0604020202020204" pitchFamily="34" charset="0"/>
              </a:rPr>
              <a:t>Patrones Comportamiento</a:t>
            </a:r>
          </a:p>
        </p:txBody>
      </p:sp>
      <p:sp>
        <p:nvSpPr>
          <p:cNvPr id="4" name="Rectángulo 3"/>
          <p:cNvSpPr/>
          <p:nvPr/>
        </p:nvSpPr>
        <p:spPr>
          <a:xfrm>
            <a:off x="713508" y="1376350"/>
            <a:ext cx="1102129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dirty="0">
                <a:solidFill>
                  <a:srgbClr val="444444"/>
                </a:solidFill>
                <a:latin typeface="PT Sans"/>
              </a:rPr>
              <a:t>Los patrones de comportamiento tratan con algoritmos y la asignación de responsabilidades entre objetos.</a:t>
            </a:r>
            <a:endParaRPr lang="en-US" dirty="0"/>
          </a:p>
        </p:txBody>
      </p:sp>
      <p:sp>
        <p:nvSpPr>
          <p:cNvPr id="5" name="Rectángulo 4"/>
          <p:cNvSpPr/>
          <p:nvPr/>
        </p:nvSpPr>
        <p:spPr>
          <a:xfrm>
            <a:off x="735674" y="2172958"/>
            <a:ext cx="1084672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400" b="1" dirty="0">
                <a:solidFill>
                  <a:schemeClr val="tx2"/>
                </a:solidFill>
                <a:latin typeface="PT Sans"/>
              </a:rPr>
              <a:t>State</a:t>
            </a:r>
            <a:r>
              <a:rPr lang="es-ES" dirty="0">
                <a:solidFill>
                  <a:srgbClr val="444444"/>
                </a:solidFill>
                <a:latin typeface="PT Sans"/>
              </a:rPr>
              <a:t> es un patrón de diseño de comportamiento que permite a un objeto alterar su comportamiento cuando su estado interno cambia. Parece como si el objeto cambiara su clase.</a:t>
            </a:r>
            <a:endParaRPr lang="en-U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3124200"/>
            <a:ext cx="4795838" cy="3009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54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76400"/>
            <a:ext cx="8229600" cy="3972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5809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762000" y="762000"/>
            <a:ext cx="103632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algn="ctr"/>
            <a:r>
              <a:rPr lang="es-ES" sz="3200" b="1" dirty="0" smtClean="0">
                <a:solidFill>
                  <a:schemeClr val="tx2"/>
                </a:solidFill>
                <a:latin typeface="Arial" panose="020B0604020202020204" pitchFamily="34" charset="0"/>
              </a:rPr>
              <a:t>Patrones Comportamiento</a:t>
            </a:r>
          </a:p>
        </p:txBody>
      </p:sp>
      <p:sp>
        <p:nvSpPr>
          <p:cNvPr id="3" name="Rectángulo 2"/>
          <p:cNvSpPr/>
          <p:nvPr/>
        </p:nvSpPr>
        <p:spPr>
          <a:xfrm>
            <a:off x="990600" y="1676400"/>
            <a:ext cx="10363200" cy="969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2000" b="1" dirty="0">
                <a:solidFill>
                  <a:schemeClr val="tx2"/>
                </a:solidFill>
                <a:latin typeface="PT Sans"/>
              </a:rPr>
              <a:t>Memento</a:t>
            </a:r>
            <a:r>
              <a:rPr lang="es-ES" dirty="0">
                <a:solidFill>
                  <a:srgbClr val="444444"/>
                </a:solidFill>
                <a:latin typeface="PT Sans"/>
              </a:rPr>
              <a:t> es un patrón de diseño de comportamiento que te permite guardar y restaurar el estado previo de un objeto sin revelar los detalles de su implementación.</a:t>
            </a:r>
            <a:endParaRPr lang="en-U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0" y="2645896"/>
            <a:ext cx="5319713" cy="351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8253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219200"/>
            <a:ext cx="7620000" cy="4511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6721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1600200" y="1856169"/>
            <a:ext cx="96774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dirty="0">
                <a:solidFill>
                  <a:srgbClr val="444444"/>
                </a:solidFill>
                <a:latin typeface="PT Sans"/>
              </a:rPr>
              <a:t>S</a:t>
            </a:r>
            <a:r>
              <a:rPr lang="es-ES" dirty="0" smtClean="0">
                <a:solidFill>
                  <a:srgbClr val="444444"/>
                </a:solidFill>
                <a:latin typeface="PT Sans"/>
              </a:rPr>
              <a:t>on </a:t>
            </a:r>
            <a:r>
              <a:rPr lang="es-ES" dirty="0">
                <a:solidFill>
                  <a:srgbClr val="444444"/>
                </a:solidFill>
                <a:latin typeface="PT Sans"/>
              </a:rPr>
              <a:t>soluciones a problemas de diseño que, aunque pueden parecer válidas en un principio, resultan ser ineficaces o perjudiciales a largo plazo. </a:t>
            </a:r>
            <a:r>
              <a:rPr lang="es-ES" dirty="0">
                <a:solidFill>
                  <a:srgbClr val="444444"/>
                </a:solidFill>
                <a:latin typeface="PT Sans"/>
              </a:rPr>
              <a:t>Son prácticas comunes que, al ser mal aplicadas, llevan a problemas en el mantenimiento, escalabilidad y comprensión del código. </a:t>
            </a:r>
            <a:r>
              <a:rPr lang="es-ES" dirty="0">
                <a:solidFill>
                  <a:srgbClr val="444444"/>
                </a:solidFill>
                <a:latin typeface="PT Sans"/>
              </a:rPr>
              <a:t>El término "antipatrón" es una forma de destacar que la solución propuesta es una mala práctica o una forma incorrecta de abordar un problema.</a:t>
            </a:r>
            <a:endParaRPr lang="en-US" dirty="0">
              <a:solidFill>
                <a:srgbClr val="444444"/>
              </a:solidFill>
              <a:latin typeface="PT Sans"/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1752600" y="1260396"/>
            <a:ext cx="24032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tx2"/>
                </a:solidFill>
                <a:latin typeface="Arial" panose="020B0604020202020204" pitchFamily="34" charset="0"/>
              </a:rPr>
              <a:t>Antipatrones</a:t>
            </a:r>
            <a:endParaRPr lang="en-US" sz="2800" dirty="0">
              <a:solidFill>
                <a:schemeClr val="tx2"/>
              </a:solidFill>
            </a:endParaRPr>
          </a:p>
        </p:txBody>
      </p:sp>
      <p:pic>
        <p:nvPicPr>
          <p:cNvPr id="1026" name="Picture 2" descr="➤ 3 Tipos de Antipatrón SCRUM que tu equipo debe evitar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3581400"/>
            <a:ext cx="4340225" cy="2577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21316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685800" y="838200"/>
            <a:ext cx="10820400" cy="56630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800" b="1" dirty="0">
                <a:solidFill>
                  <a:schemeClr val="tx2"/>
                </a:solidFill>
                <a:latin typeface="Arial" panose="020B0604020202020204" pitchFamily="34" charset="0"/>
              </a:rPr>
              <a:t>Tipos de antipatrones de </a:t>
            </a:r>
            <a:r>
              <a:rPr lang="es-ES" sz="2800" b="1" dirty="0" smtClean="0">
                <a:solidFill>
                  <a:schemeClr val="tx2"/>
                </a:solidFill>
                <a:latin typeface="Arial" panose="020B0604020202020204" pitchFamily="34" charset="0"/>
              </a:rPr>
              <a:t>diseño</a:t>
            </a:r>
          </a:p>
          <a:p>
            <a:endParaRPr lang="es-ES" sz="2800" b="1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algn="just"/>
            <a:r>
              <a:rPr lang="es-ES" dirty="0">
                <a:solidFill>
                  <a:srgbClr val="000000"/>
                </a:solidFill>
                <a:latin typeface="Inter"/>
              </a:rPr>
              <a:t>Podemos encontrarnos con diferentes tipos de antipatrones:</a:t>
            </a:r>
            <a:endParaRPr lang="es-ES" dirty="0"/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s-ES" dirty="0"/>
              <a:t/>
            </a:r>
            <a:br>
              <a:rPr lang="es-ES" dirty="0"/>
            </a:br>
            <a:r>
              <a:rPr lang="es-ES" b="1" dirty="0">
                <a:solidFill>
                  <a:srgbClr val="000000"/>
                </a:solidFill>
                <a:latin typeface="Inter"/>
              </a:rPr>
              <a:t>Antipatrones de diseño de software</a:t>
            </a:r>
            <a:r>
              <a:rPr lang="es-ES" dirty="0">
                <a:solidFill>
                  <a:srgbClr val="000000"/>
                </a:solidFill>
                <a:latin typeface="Inter"/>
              </a:rPr>
              <a:t>, como podría ser generar una clase muy gorda, dotarla de demasiados atributos, demasiados métodos y haciéndola responsable de, por ejemplo, prácticamente toda la lógica del negocio de la aplicación que esté llevando</a:t>
            </a:r>
            <a:r>
              <a:rPr lang="es-ES" dirty="0" smtClean="0">
                <a:solidFill>
                  <a:srgbClr val="000000"/>
                </a:solidFill>
                <a:latin typeface="Inter"/>
              </a:rPr>
              <a:t>.</a:t>
            </a:r>
          </a:p>
          <a:p>
            <a:pPr algn="just" fontAlgn="base"/>
            <a:endParaRPr lang="es-ES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rgbClr val="000000"/>
                </a:solidFill>
                <a:latin typeface="Inter"/>
              </a:rPr>
              <a:t>Antipatrones de diseño Orientado a Objetos</a:t>
            </a:r>
            <a:r>
              <a:rPr lang="es-ES" dirty="0">
                <a:solidFill>
                  <a:srgbClr val="000000"/>
                </a:solidFill>
                <a:latin typeface="Inter"/>
              </a:rPr>
              <a:t>, como podría ser la </a:t>
            </a:r>
            <a:r>
              <a:rPr lang="es-ES" b="1" dirty="0" err="1">
                <a:solidFill>
                  <a:srgbClr val="000000"/>
                </a:solidFill>
                <a:latin typeface="Inter"/>
              </a:rPr>
              <a:t>Singletonitis</a:t>
            </a:r>
            <a:r>
              <a:rPr lang="es-ES" dirty="0">
                <a:solidFill>
                  <a:srgbClr val="000000"/>
                </a:solidFill>
                <a:latin typeface="Inter"/>
              </a:rPr>
              <a:t>, que es el abuso del patrón de diseño </a:t>
            </a:r>
            <a:r>
              <a:rPr lang="es-ES" dirty="0" err="1">
                <a:solidFill>
                  <a:srgbClr val="000000"/>
                </a:solidFill>
                <a:latin typeface="Inter"/>
              </a:rPr>
              <a:t>Singleton</a:t>
            </a:r>
            <a:r>
              <a:rPr lang="es-ES" dirty="0">
                <a:solidFill>
                  <a:srgbClr val="000000"/>
                </a:solidFill>
                <a:latin typeface="Inter"/>
              </a:rPr>
              <a:t>, y que se considera una mala práctica</a:t>
            </a:r>
            <a:r>
              <a:rPr lang="es-ES" dirty="0" smtClean="0">
                <a:solidFill>
                  <a:srgbClr val="000000"/>
                </a:solidFill>
                <a:latin typeface="Inter"/>
              </a:rPr>
              <a:t>.</a:t>
            </a:r>
          </a:p>
          <a:p>
            <a:pPr algn="just" fontAlgn="base"/>
            <a:endParaRPr lang="es-ES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rgbClr val="000000"/>
                </a:solidFill>
                <a:latin typeface="Inter"/>
              </a:rPr>
              <a:t>Antipatrones de programación</a:t>
            </a:r>
            <a:r>
              <a:rPr lang="es-ES" dirty="0">
                <a:solidFill>
                  <a:srgbClr val="000000"/>
                </a:solidFill>
                <a:latin typeface="Inter"/>
              </a:rPr>
              <a:t>, cómo podría ser el conocido código espagueti, que consiste en construir sistemas sin estructuras y difícilmente comprensibles</a:t>
            </a:r>
            <a:r>
              <a:rPr lang="es-ES" dirty="0" smtClean="0">
                <a:solidFill>
                  <a:srgbClr val="000000"/>
                </a:solidFill>
                <a:latin typeface="Inter"/>
              </a:rPr>
              <a:t>.</a:t>
            </a:r>
          </a:p>
          <a:p>
            <a:pPr algn="just" fontAlgn="base"/>
            <a:endParaRPr lang="es-ES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rgbClr val="000000"/>
                </a:solidFill>
                <a:latin typeface="Inter"/>
              </a:rPr>
              <a:t>Antipatrones metodológicos</a:t>
            </a:r>
            <a:r>
              <a:rPr lang="es-ES" dirty="0">
                <a:solidFill>
                  <a:srgbClr val="000000"/>
                </a:solidFill>
                <a:latin typeface="Inter"/>
              </a:rPr>
              <a:t>, como por ejemplo hacer programación de copiar pegar trozos de código en lugar de intentar hacer soluciones genéricas.</a:t>
            </a:r>
            <a:endParaRPr lang="es-ES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/>
            <a:r>
              <a:rPr lang="es-ES" dirty="0">
                <a:solidFill>
                  <a:srgbClr val="000000"/>
                </a:solidFill>
                <a:latin typeface="Inter"/>
              </a:rPr>
              <a:t>Estos son solo algunos de los antipatrones que nos van a llevar a implementar malas soluciones.</a:t>
            </a:r>
            <a:endParaRPr lang="es-ES" dirty="0"/>
          </a:p>
          <a:p>
            <a:r>
              <a:rPr lang="es-ES" dirty="0"/>
              <a:t/>
            </a:r>
            <a:br>
              <a:rPr lang="es-E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22301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4B727177-CD63-448F-86E2-C4B737A1688F}"/>
              </a:ext>
            </a:extLst>
          </p:cNvPr>
          <p:cNvSpPr txBox="1"/>
          <p:nvPr/>
        </p:nvSpPr>
        <p:spPr>
          <a:xfrm>
            <a:off x="1600200" y="1524000"/>
            <a:ext cx="8342504" cy="250645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457834" marR="5080" indent="-445770" algn="ctr">
              <a:spcBef>
                <a:spcPts val="345"/>
              </a:spcBef>
            </a:pPr>
            <a:r>
              <a:rPr sz="4000" b="1" spc="-5" dirty="0">
                <a:latin typeface="Arial"/>
                <a:cs typeface="Arial"/>
              </a:rPr>
              <a:t>¿Les parece que </a:t>
            </a:r>
            <a:r>
              <a:rPr lang="es-PE" sz="4000" b="1" spc="-5" dirty="0" smtClean="0">
                <a:latin typeface="Arial"/>
                <a:cs typeface="Arial"/>
              </a:rPr>
              <a:t>los </a:t>
            </a:r>
            <a:r>
              <a:rPr lang="es-PE" sz="4000" b="1" spc="-5" dirty="0" smtClean="0">
                <a:latin typeface="Arial"/>
                <a:cs typeface="Arial"/>
              </a:rPr>
              <a:t>patrones de Comportamiento son </a:t>
            </a:r>
            <a:r>
              <a:rPr lang="es-PE" sz="4000" b="1" spc="-5" dirty="0" smtClean="0">
                <a:latin typeface="Arial"/>
                <a:cs typeface="Arial"/>
              </a:rPr>
              <a:t>importantes para el desarrollo de software</a:t>
            </a:r>
            <a:r>
              <a:rPr sz="4000" b="1" spc="-5" dirty="0" smtClean="0">
                <a:latin typeface="Arial"/>
                <a:cs typeface="Arial"/>
              </a:rPr>
              <a:t>?</a:t>
            </a:r>
            <a:r>
              <a:rPr sz="4000" b="1" spc="-15" dirty="0" smtClean="0">
                <a:latin typeface="Arial"/>
                <a:cs typeface="Arial"/>
              </a:rPr>
              <a:t> </a:t>
            </a:r>
            <a:r>
              <a:rPr sz="4000" b="1" spc="-5" dirty="0">
                <a:latin typeface="Arial"/>
                <a:cs typeface="Arial"/>
              </a:rPr>
              <a:t>¿Por</a:t>
            </a:r>
            <a:r>
              <a:rPr sz="4000" b="1" spc="-10" dirty="0">
                <a:latin typeface="Arial"/>
                <a:cs typeface="Arial"/>
              </a:rPr>
              <a:t> </a:t>
            </a:r>
            <a:r>
              <a:rPr sz="4000" b="1" spc="-5" dirty="0">
                <a:latin typeface="Arial"/>
                <a:cs typeface="Arial"/>
              </a:rPr>
              <a:t>qué?</a:t>
            </a:r>
            <a:endParaRPr sz="4000" dirty="0">
              <a:latin typeface="Arial"/>
              <a:cs typeface="Arial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4461D143-19CF-4D8B-9B32-64AE4A532D8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43600" y="449580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5210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 smtClean="0">
                <a:solidFill>
                  <a:srgbClr val="FFFFFF"/>
                </a:solidFill>
                <a:latin typeface="Arial"/>
                <a:cs typeface="Arial"/>
              </a:rPr>
              <a:t>Repaso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pic>
        <p:nvPicPr>
          <p:cNvPr id="10" name="object 5">
            <a:extLst>
              <a:ext uri="{FF2B5EF4-FFF2-40B4-BE49-F238E27FC236}">
                <a16:creationId xmlns:a16="http://schemas.microsoft.com/office/drawing/2014/main" id="{435EC088-AD41-45D0-BAA6-A29C3F48F98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3909" y="304800"/>
            <a:ext cx="626891" cy="561824"/>
          </a:xfrm>
          <a:prstGeom prst="rect">
            <a:avLst/>
          </a:prstGeom>
        </p:spPr>
      </p:pic>
      <p:sp>
        <p:nvSpPr>
          <p:cNvPr id="9" name="object 3">
            <a:extLst>
              <a:ext uri="{FF2B5EF4-FFF2-40B4-BE49-F238E27FC236}">
                <a16:creationId xmlns:a16="http://schemas.microsoft.com/office/drawing/2014/main" id="{4CCFC334-434E-4946-8150-7F52AD5BD21D}"/>
              </a:ext>
            </a:extLst>
          </p:cNvPr>
          <p:cNvSpPr txBox="1"/>
          <p:nvPr/>
        </p:nvSpPr>
        <p:spPr>
          <a:xfrm>
            <a:off x="2282337" y="1780300"/>
            <a:ext cx="762732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Arial MT"/>
                <a:cs typeface="Arial MT"/>
              </a:rPr>
              <a:t>¿Quién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quisiera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participar?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(2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voluntarios)</a:t>
            </a:r>
          </a:p>
        </p:txBody>
      </p:sp>
      <p:pic>
        <p:nvPicPr>
          <p:cNvPr id="11" name="object 5">
            <a:extLst>
              <a:ext uri="{FF2B5EF4-FFF2-40B4-BE49-F238E27FC236}">
                <a16:creationId xmlns:a16="http://schemas.microsoft.com/office/drawing/2014/main" id="{9D2CA911-F96C-4C2E-940C-40856F4E615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30555" y="2895600"/>
            <a:ext cx="2730890" cy="2520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0496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 smtClean="0">
                <a:solidFill>
                  <a:srgbClr val="FFFFFF"/>
                </a:solidFill>
                <a:latin typeface="Arial"/>
                <a:cs typeface="Arial"/>
              </a:rPr>
              <a:t>Repaso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2751C15-745F-4C85-B21A-843C83F11E8E}"/>
              </a:ext>
            </a:extLst>
          </p:cNvPr>
          <p:cNvSpPr txBox="1"/>
          <p:nvPr/>
        </p:nvSpPr>
        <p:spPr>
          <a:xfrm>
            <a:off x="3039354" y="1831852"/>
            <a:ext cx="6096000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680"/>
              </a:spcBef>
            </a:pPr>
            <a:r>
              <a:rPr lang="es-ES" sz="3200" spc="-5" dirty="0">
                <a:latin typeface="Arial"/>
                <a:cs typeface="Arial"/>
              </a:rPr>
              <a:t>¿Qué</a:t>
            </a:r>
            <a:r>
              <a:rPr lang="es-ES" sz="3200" spc="-20" dirty="0">
                <a:latin typeface="Arial"/>
                <a:cs typeface="Arial"/>
              </a:rPr>
              <a:t> </a:t>
            </a:r>
            <a:r>
              <a:rPr lang="es-ES" sz="3200" spc="-5" dirty="0">
                <a:latin typeface="Arial"/>
                <a:cs typeface="Arial"/>
              </a:rPr>
              <a:t>se</a:t>
            </a:r>
            <a:r>
              <a:rPr lang="es-ES" sz="3200" spc="-15" dirty="0">
                <a:latin typeface="Arial"/>
                <a:cs typeface="Arial"/>
              </a:rPr>
              <a:t> </a:t>
            </a:r>
            <a:r>
              <a:rPr lang="es-ES" sz="3200" spc="-5" dirty="0">
                <a:latin typeface="Arial"/>
                <a:cs typeface="Arial"/>
              </a:rPr>
              <a:t>les</a:t>
            </a:r>
            <a:r>
              <a:rPr lang="es-ES" sz="3200" spc="-20" dirty="0">
                <a:latin typeface="Arial"/>
                <a:cs typeface="Arial"/>
              </a:rPr>
              <a:t> </a:t>
            </a:r>
            <a:r>
              <a:rPr lang="es-ES" sz="3200" spc="-5" dirty="0">
                <a:latin typeface="Arial"/>
                <a:cs typeface="Arial"/>
              </a:rPr>
              <a:t>hizo</a:t>
            </a:r>
            <a:r>
              <a:rPr lang="es-ES" sz="3200" spc="-15" dirty="0">
                <a:latin typeface="Arial"/>
                <a:cs typeface="Arial"/>
              </a:rPr>
              <a:t> </a:t>
            </a:r>
            <a:r>
              <a:rPr lang="es-ES" sz="3200" spc="-5" dirty="0">
                <a:latin typeface="Arial"/>
                <a:cs typeface="Arial"/>
              </a:rPr>
              <a:t>más</a:t>
            </a:r>
            <a:r>
              <a:rPr lang="es-ES" sz="3200" spc="-20" dirty="0">
                <a:latin typeface="Arial"/>
                <a:cs typeface="Arial"/>
              </a:rPr>
              <a:t> </a:t>
            </a:r>
            <a:r>
              <a:rPr lang="es-ES" sz="3200" dirty="0">
                <a:latin typeface="Arial"/>
                <a:cs typeface="Arial"/>
              </a:rPr>
              <a:t>fácil?</a:t>
            </a:r>
          </a:p>
          <a:p>
            <a:pPr algn="ctr">
              <a:lnSpc>
                <a:spcPct val="100000"/>
              </a:lnSpc>
              <a:spcBef>
                <a:spcPts val="585"/>
              </a:spcBef>
            </a:pPr>
            <a:r>
              <a:rPr lang="es-ES" sz="3200" spc="-5" dirty="0">
                <a:latin typeface="Arial"/>
                <a:cs typeface="Arial"/>
              </a:rPr>
              <a:t>¿Qué</a:t>
            </a:r>
            <a:r>
              <a:rPr lang="es-ES" sz="3200" spc="-20" dirty="0">
                <a:latin typeface="Arial"/>
                <a:cs typeface="Arial"/>
              </a:rPr>
              <a:t> </a:t>
            </a:r>
            <a:r>
              <a:rPr lang="es-ES" sz="3200" spc="-5" dirty="0">
                <a:latin typeface="Arial"/>
                <a:cs typeface="Arial"/>
              </a:rPr>
              <a:t>se</a:t>
            </a:r>
            <a:r>
              <a:rPr lang="es-ES" sz="3200" spc="-20" dirty="0">
                <a:latin typeface="Arial"/>
                <a:cs typeface="Arial"/>
              </a:rPr>
              <a:t> </a:t>
            </a:r>
            <a:r>
              <a:rPr lang="es-ES" sz="3200" spc="-5" dirty="0">
                <a:latin typeface="Arial"/>
                <a:cs typeface="Arial"/>
              </a:rPr>
              <a:t>les</a:t>
            </a:r>
            <a:r>
              <a:rPr lang="es-ES" sz="3200" spc="-20" dirty="0">
                <a:latin typeface="Arial"/>
                <a:cs typeface="Arial"/>
              </a:rPr>
              <a:t> </a:t>
            </a:r>
            <a:r>
              <a:rPr lang="es-ES" sz="3200" spc="-5" dirty="0">
                <a:latin typeface="Arial"/>
                <a:cs typeface="Arial"/>
              </a:rPr>
              <a:t>hizo</a:t>
            </a:r>
            <a:r>
              <a:rPr lang="es-ES" sz="3200" spc="-15" dirty="0">
                <a:latin typeface="Arial"/>
                <a:cs typeface="Arial"/>
              </a:rPr>
              <a:t> </a:t>
            </a:r>
            <a:r>
              <a:rPr lang="es-ES" sz="3200" spc="-5" dirty="0">
                <a:latin typeface="Arial"/>
                <a:cs typeface="Arial"/>
              </a:rPr>
              <a:t>más</a:t>
            </a:r>
            <a:r>
              <a:rPr lang="es-ES" sz="3200" spc="-20" dirty="0">
                <a:latin typeface="Arial"/>
                <a:cs typeface="Arial"/>
              </a:rPr>
              <a:t> </a:t>
            </a:r>
            <a:r>
              <a:rPr lang="es-ES" sz="3200" spc="-5" dirty="0">
                <a:latin typeface="Arial"/>
                <a:cs typeface="Arial"/>
              </a:rPr>
              <a:t>retador?</a:t>
            </a:r>
            <a:endParaRPr lang="es-ES" sz="3200" dirty="0">
              <a:latin typeface="Arial"/>
              <a:cs typeface="Arial"/>
            </a:endParaRPr>
          </a:p>
        </p:txBody>
      </p:sp>
      <p:pic>
        <p:nvPicPr>
          <p:cNvPr id="13" name="object 4">
            <a:extLst>
              <a:ext uri="{FF2B5EF4-FFF2-40B4-BE49-F238E27FC236}">
                <a16:creationId xmlns:a16="http://schemas.microsoft.com/office/drawing/2014/main" id="{92ED82CC-0303-4C90-82F6-3B913B77FAE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3000" y="3618011"/>
            <a:ext cx="2047300" cy="2047300"/>
          </a:xfrm>
          <a:prstGeom prst="rect">
            <a:avLst/>
          </a:prstGeom>
        </p:spPr>
      </p:pic>
      <p:pic>
        <p:nvPicPr>
          <p:cNvPr id="14" name="object 4">
            <a:extLst>
              <a:ext uri="{FF2B5EF4-FFF2-40B4-BE49-F238E27FC236}">
                <a16:creationId xmlns:a16="http://schemas.microsoft.com/office/drawing/2014/main" id="{DFA14601-CB10-4DE1-8C05-A33670A49AD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6673" y="318461"/>
            <a:ext cx="548164" cy="548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9287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Aprendizajes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2751C15-745F-4C85-B21A-843C83F11E8E}"/>
              </a:ext>
            </a:extLst>
          </p:cNvPr>
          <p:cNvSpPr txBox="1"/>
          <p:nvPr/>
        </p:nvSpPr>
        <p:spPr>
          <a:xfrm>
            <a:off x="2243577" y="3149025"/>
            <a:ext cx="7687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ES" sz="3200" b="1" spc="-5" dirty="0">
                <a:latin typeface="Arial"/>
                <a:cs typeface="Arial"/>
              </a:rPr>
              <a:t>¿Qué</a:t>
            </a:r>
            <a:r>
              <a:rPr lang="es-ES" sz="3200" b="1" spc="-20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hemos</a:t>
            </a:r>
            <a:r>
              <a:rPr lang="es-ES" sz="3200" b="1" spc="-15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aprendido</a:t>
            </a:r>
            <a:r>
              <a:rPr lang="es-ES" sz="3200" b="1" spc="-15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el</a:t>
            </a:r>
            <a:r>
              <a:rPr lang="es-ES" sz="3200" b="1" spc="-15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día</a:t>
            </a:r>
            <a:r>
              <a:rPr lang="es-ES" sz="3200" b="1" spc="-15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de</a:t>
            </a:r>
            <a:r>
              <a:rPr lang="es-ES" sz="3200" b="1" spc="-20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hoy?</a:t>
            </a:r>
            <a:endParaRPr lang="es-ES" sz="3200" dirty="0">
              <a:latin typeface="Arial"/>
              <a:cs typeface="Arial"/>
            </a:endParaRPr>
          </a:p>
        </p:txBody>
      </p:sp>
      <p:pic>
        <p:nvPicPr>
          <p:cNvPr id="9" name="object 4">
            <a:extLst>
              <a:ext uri="{FF2B5EF4-FFF2-40B4-BE49-F238E27FC236}">
                <a16:creationId xmlns:a16="http://schemas.microsoft.com/office/drawing/2014/main" id="{F428FEBE-63F0-4356-811F-98BF885720B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6673" y="318461"/>
            <a:ext cx="548164" cy="548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1511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Conclusiones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C43E916E-CF2E-42D4-96E7-92D72D2AC9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05310" y="304802"/>
            <a:ext cx="561824" cy="561824"/>
          </a:xfrm>
          <a:prstGeom prst="rect">
            <a:avLst/>
          </a:prstGeom>
        </p:spPr>
      </p:pic>
      <p:sp>
        <p:nvSpPr>
          <p:cNvPr id="9" name="Rectángulo 8"/>
          <p:cNvSpPr/>
          <p:nvPr/>
        </p:nvSpPr>
        <p:spPr>
          <a:xfrm>
            <a:off x="1143000" y="1750129"/>
            <a:ext cx="10287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3600" dirty="0" smtClean="0"/>
              <a:t>Todos tiene el mismo propósito</a:t>
            </a:r>
          </a:p>
          <a:p>
            <a:pPr algn="just"/>
            <a:endParaRPr lang="es-ES" sz="3600" dirty="0" smtClean="0"/>
          </a:p>
          <a:p>
            <a:pPr algn="just"/>
            <a:r>
              <a:rPr lang="es-ES" sz="4000" i="1" dirty="0" smtClean="0">
                <a:solidFill>
                  <a:schemeClr val="tx2"/>
                </a:solidFill>
              </a:rPr>
              <a:t>"</a:t>
            </a:r>
            <a:r>
              <a:rPr lang="es-ES" sz="4000" i="1" dirty="0">
                <a:solidFill>
                  <a:schemeClr val="tx2"/>
                </a:solidFill>
              </a:rPr>
              <a:t>Para crear código comprensible, legible y comprobable en el que muchos desarrolladores puedan trabajar en colaboración."</a:t>
            </a:r>
            <a:endParaRPr lang="en-US" sz="4000" i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46017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C43E916E-CF2E-42D4-96E7-92D72D2AC9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05310" y="304802"/>
            <a:ext cx="561824" cy="561824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324A635F-D0BC-448C-963A-9F264D0DBAC1}"/>
              </a:ext>
            </a:extLst>
          </p:cNvPr>
          <p:cNvSpPr txBox="1"/>
          <p:nvPr/>
        </p:nvSpPr>
        <p:spPr>
          <a:xfrm>
            <a:off x="1388225" y="344701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b="1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GRACIAS</a:t>
            </a:r>
            <a:endParaRPr lang="es-P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object 3">
            <a:extLst>
              <a:ext uri="{FF2B5EF4-FFF2-40B4-BE49-F238E27FC236}">
                <a16:creationId xmlns:a16="http://schemas.microsoft.com/office/drawing/2014/main" id="{3D95F103-6F5F-4016-A9CD-2446F09D302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67600" y="1216152"/>
            <a:ext cx="3056381" cy="4425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5828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191E5126-E36B-4AD7-8091-51DA2789C594}"/>
              </a:ext>
            </a:extLst>
          </p:cNvPr>
          <p:cNvGrpSpPr/>
          <p:nvPr/>
        </p:nvGrpSpPr>
        <p:grpSpPr>
          <a:xfrm>
            <a:off x="2057400" y="152400"/>
            <a:ext cx="9906000" cy="4152900"/>
            <a:chOff x="2057400" y="152400"/>
            <a:chExt cx="9906000" cy="4152900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A185A945-435F-4D6F-A7D2-DE90E0F7205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57400" y="2552700"/>
              <a:ext cx="7856700" cy="1752600"/>
            </a:xfrm>
            <a:prstGeom prst="rect">
              <a:avLst/>
            </a:prstGeom>
          </p:spPr>
        </p:pic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9E930664-20E1-44C4-BD93-6761C99A64C5}"/>
                </a:ext>
              </a:extLst>
            </p:cNvPr>
            <p:cNvSpPr/>
            <p:nvPr/>
          </p:nvSpPr>
          <p:spPr>
            <a:xfrm>
              <a:off x="9144000" y="152400"/>
              <a:ext cx="2819400" cy="7627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1024</TotalTime>
  <Words>608</Words>
  <Application>Microsoft Office PowerPoint</Application>
  <PresentationFormat>Panorámica</PresentationFormat>
  <Paragraphs>58</Paragraphs>
  <Slides>24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32" baseType="lpstr">
      <vt:lpstr>Arial</vt:lpstr>
      <vt:lpstr>Arial MT</vt:lpstr>
      <vt:lpstr>Calibri</vt:lpstr>
      <vt:lpstr>Calibri Light</vt:lpstr>
      <vt:lpstr>CentSchbkCyrill BT</vt:lpstr>
      <vt:lpstr>Inter</vt:lpstr>
      <vt:lpstr>PT Sans</vt:lpstr>
      <vt:lpstr>Office Theme</vt:lpstr>
      <vt:lpstr>CURSO: DISEÑO DE PATRONES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VPC Networking</dc:title>
  <dc:creator>Julia</dc:creator>
  <cp:lastModifiedBy>user</cp:lastModifiedBy>
  <cp:revision>93</cp:revision>
  <dcterms:created xsi:type="dcterms:W3CDTF">2024-06-11T03:36:57Z</dcterms:created>
  <dcterms:modified xsi:type="dcterms:W3CDTF">2024-08-10T03:34:53Z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2020-06-18T00:00:00Z</vt:filetime>
  </property>
  <property fmtid="{D5CDD505-2E9C-101B-9397-08002B2CF9AE}" pid="3" name="Creator">
    <vt:lpwstr>Microsoft® PowerPoint® para Office 365</vt:lpwstr>
  </property>
  <property fmtid="{D5CDD505-2E9C-101B-9397-08002B2CF9AE}" pid="4" name="LastSaved">
    <vt:filetime>2024-06-11T00:00:00Z</vt:filetime>
  </property>
</Properties>
</file>