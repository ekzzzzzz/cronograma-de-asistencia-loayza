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349" r:id="rId3"/>
    <p:sldId id="372" r:id="rId4"/>
    <p:sldId id="399" r:id="rId5"/>
    <p:sldId id="363" r:id="rId6"/>
    <p:sldId id="365" r:id="rId7"/>
    <p:sldId id="351" r:id="rId8"/>
    <p:sldId id="352" r:id="rId9"/>
    <p:sldId id="344" r:id="rId10"/>
    <p:sldId id="384" r:id="rId11"/>
    <p:sldId id="385" r:id="rId12"/>
    <p:sldId id="386" r:id="rId13"/>
    <p:sldId id="387" r:id="rId14"/>
    <p:sldId id="388" r:id="rId15"/>
    <p:sldId id="389" r:id="rId16"/>
    <p:sldId id="396" r:id="rId17"/>
    <p:sldId id="383" r:id="rId18"/>
    <p:sldId id="390" r:id="rId19"/>
    <p:sldId id="391" r:id="rId20"/>
    <p:sldId id="392" r:id="rId21"/>
    <p:sldId id="393" r:id="rId22"/>
    <p:sldId id="394" r:id="rId23"/>
    <p:sldId id="395" r:id="rId24"/>
    <p:sldId id="397" r:id="rId25"/>
    <p:sldId id="353" r:id="rId26"/>
    <p:sldId id="354" r:id="rId27"/>
    <p:sldId id="356" r:id="rId28"/>
    <p:sldId id="398" r:id="rId29"/>
    <p:sldId id="357" r:id="rId30"/>
    <p:sldId id="358" r:id="rId31"/>
    <p:sldId id="360" r:id="rId32"/>
    <p:sldId id="359" r:id="rId33"/>
    <p:sldId id="369" r:id="rId34"/>
    <p:sldId id="361" r:id="rId35"/>
    <p:sldId id="370" r:id="rId36"/>
    <p:sldId id="362" r:id="rId37"/>
    <p:sldId id="273" r:id="rId38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23/10/2024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_faLeDoMBY" TargetMode="External"/><Relationship Id="rId7" Type="http://schemas.openxmlformats.org/officeDocument/2006/relationships/hyperlink" Target="https://refactoring.guru/es/design-patterns/proxy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iveprogramming.io/blog/es/patrones-de-diseno/proxy" TargetMode="External"/><Relationship Id="rId5" Type="http://schemas.openxmlformats.org/officeDocument/2006/relationships/hyperlink" Target="https://www.youtube.com/watch?v=XmHPq-EdLOU" TargetMode="External"/><Relationship Id="rId4" Type="http://schemas.openxmlformats.org/officeDocument/2006/relationships/hyperlink" Target="https://www.youtube.com/watch?v=LUJbqdthTzA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8749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85725" marR="5080" algn="ctr">
              <a:lnSpc>
                <a:spcPts val="6480"/>
              </a:lnSpc>
              <a:spcBef>
                <a:spcPts val="915"/>
              </a:spcBef>
            </a:pPr>
            <a:r>
              <a:rPr lang="es-ES" sz="4400" spc="-45" dirty="0">
                <a:latin typeface="CentSchbkCyrill BT" panose="02040603050705020303" pitchFamily="18" charset="-52"/>
              </a:rPr>
              <a:t>CURSO: DISEÑO DE PATRONES</a:t>
            </a:r>
            <a:endParaRPr sz="44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2767012" y="1644495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TERCERA UNIDAD DE APRENDIZAJE: </a:t>
            </a:r>
            <a:r>
              <a:rPr lang="es-ES" dirty="0"/>
              <a:t>Patrones Estructurales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000250" y="3179215"/>
            <a:ext cx="8224838" cy="2100575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</a:t>
            </a:r>
            <a:r>
              <a:rPr lang="es-PE" sz="3200" b="1" spc="-25" dirty="0" err="1">
                <a:solidFill>
                  <a:schemeClr val="bg1"/>
                </a:solidFill>
                <a:latin typeface="Arial"/>
                <a:cs typeface="Arial"/>
              </a:rPr>
              <a:t>N°</a:t>
            </a: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 11: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Patrones Estructurales: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</a:rPr>
              <a:t>Patrón Proxy.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</a:rPr>
              <a:t>Patrón Bridge. 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cuenta</a:t>
            </a:r>
            <a:endParaRPr lang="es-ES" sz="36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1647BCE3-D14B-44FA-ED0F-0F615E61C1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B01C2B3-63D3-A120-515E-138DF2346B12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31FB23C-B474-2FAC-4CC3-6156E56C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42824"/>
            <a:ext cx="9525000" cy="52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4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8FEC9056-6D87-63D9-FA3B-7FDE794EC084}"/>
              </a:ext>
            </a:extLst>
          </p:cNvPr>
          <p:cNvSpPr/>
          <p:nvPr/>
        </p:nvSpPr>
        <p:spPr>
          <a:xfrm>
            <a:off x="2743200" y="1969532"/>
            <a:ext cx="7152323" cy="3663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647BCE3-D14B-44FA-ED0F-0F615E61C1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B01C2B3-63D3-A120-515E-138DF2346B12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FD035BB-3293-8FB0-6004-222DA6409757}"/>
              </a:ext>
            </a:extLst>
          </p:cNvPr>
          <p:cNvSpPr/>
          <p:nvPr/>
        </p:nvSpPr>
        <p:spPr>
          <a:xfrm>
            <a:off x="416257" y="1143000"/>
            <a:ext cx="10134600" cy="51054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37466-BA7B-DED4-2D1D-5F46F11C639E}"/>
              </a:ext>
            </a:extLst>
          </p:cNvPr>
          <p:cNvSpPr txBox="1"/>
          <p:nvPr/>
        </p:nvSpPr>
        <p:spPr>
          <a:xfrm>
            <a:off x="4419600" y="13716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SISTEMA DE GESTIÓN DE TAXI APLICATIVO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C8B70C-6F15-40DB-4B58-D066A5D77BAF}"/>
              </a:ext>
            </a:extLst>
          </p:cNvPr>
          <p:cNvSpPr txBox="1"/>
          <p:nvPr/>
        </p:nvSpPr>
        <p:spPr>
          <a:xfrm>
            <a:off x="2829877" y="1969532"/>
            <a:ext cx="181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AFILIACIONES</a:t>
            </a: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5C459A-F0C2-6E1C-89A5-2D01F1FA97FE}"/>
              </a:ext>
            </a:extLst>
          </p:cNvPr>
          <p:cNvSpPr txBox="1"/>
          <p:nvPr/>
        </p:nvSpPr>
        <p:spPr>
          <a:xfrm>
            <a:off x="4750593" y="1953736"/>
            <a:ext cx="181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SERVICIOS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AFE67D-5108-9759-1969-784413B57A88}"/>
              </a:ext>
            </a:extLst>
          </p:cNvPr>
          <p:cNvSpPr txBox="1"/>
          <p:nvPr/>
        </p:nvSpPr>
        <p:spPr>
          <a:xfrm>
            <a:off x="7391400" y="1949439"/>
            <a:ext cx="181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PREDICCIONES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AE2EAD3-989B-16C6-E609-0D9EDB4A6348}"/>
              </a:ext>
            </a:extLst>
          </p:cNvPr>
          <p:cNvSpPr txBox="1"/>
          <p:nvPr/>
        </p:nvSpPr>
        <p:spPr>
          <a:xfrm>
            <a:off x="465402" y="2369964"/>
            <a:ext cx="2364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AFILIAR CONDUCTOR</a:t>
            </a:r>
          </a:p>
          <a:p>
            <a:r>
              <a:rPr lang="es-MX" dirty="0"/>
              <a:t>AFILIAR PASAJERO</a:t>
            </a:r>
          </a:p>
          <a:p>
            <a:r>
              <a:rPr lang="es-MX" dirty="0"/>
              <a:t>AFILIAR VEHICULO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268052-E7B7-7CF9-2BB1-8FA179DA9464}"/>
              </a:ext>
            </a:extLst>
          </p:cNvPr>
          <p:cNvSpPr txBox="1"/>
          <p:nvPr/>
        </p:nvSpPr>
        <p:spPr>
          <a:xfrm>
            <a:off x="465402" y="3324394"/>
            <a:ext cx="2364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SOLICITAR SERVICIO</a:t>
            </a:r>
          </a:p>
          <a:p>
            <a:r>
              <a:rPr lang="es-MX" dirty="0"/>
              <a:t>CONFIRMAR SERVICIO</a:t>
            </a:r>
          </a:p>
          <a:p>
            <a:r>
              <a:rPr lang="es-MX" dirty="0"/>
              <a:t>PAGAR SERVICIO</a:t>
            </a:r>
          </a:p>
          <a:p>
            <a:r>
              <a:rPr lang="es-MX" dirty="0"/>
              <a:t>VALORAR SERVICIO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0200CF1-375B-80EA-E0D0-3FE263C72AFC}"/>
              </a:ext>
            </a:extLst>
          </p:cNvPr>
          <p:cNvSpPr txBox="1"/>
          <p:nvPr/>
        </p:nvSpPr>
        <p:spPr>
          <a:xfrm>
            <a:off x="514547" y="4514671"/>
            <a:ext cx="2364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DEMANDA DEL SERVICIO</a:t>
            </a:r>
          </a:p>
          <a:p>
            <a:r>
              <a:rPr lang="es-MX" dirty="0"/>
              <a:t>GASTO PROMEDIO</a:t>
            </a:r>
            <a:endParaRPr lang="es-PE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5889389-3F96-A52F-FFDC-E66390DDB335}"/>
              </a:ext>
            </a:extLst>
          </p:cNvPr>
          <p:cNvSpPr/>
          <p:nvPr/>
        </p:nvSpPr>
        <p:spPr>
          <a:xfrm>
            <a:off x="2829877" y="2369964"/>
            <a:ext cx="7152323" cy="311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E87D77-D4A3-E50A-450E-C2F39D85BF3D}"/>
              </a:ext>
            </a:extLst>
          </p:cNvPr>
          <p:cNvSpPr txBox="1"/>
          <p:nvPr/>
        </p:nvSpPr>
        <p:spPr>
          <a:xfrm>
            <a:off x="3237362" y="2680037"/>
            <a:ext cx="28216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NOMBRES</a:t>
            </a:r>
          </a:p>
          <a:p>
            <a:r>
              <a:rPr lang="es-MX" dirty="0"/>
              <a:t>APELLIDOS</a:t>
            </a:r>
          </a:p>
          <a:p>
            <a:r>
              <a:rPr lang="es-MX" dirty="0"/>
              <a:t>TELEFONO</a:t>
            </a:r>
          </a:p>
          <a:p>
            <a:r>
              <a:rPr lang="es-MX" dirty="0"/>
              <a:t>DIRECCION</a:t>
            </a:r>
          </a:p>
          <a:p>
            <a:r>
              <a:rPr lang="es-MX" dirty="0"/>
              <a:t>LICENCIA CONDUCIR</a:t>
            </a:r>
          </a:p>
          <a:p>
            <a:r>
              <a:rPr lang="es-MX" dirty="0"/>
              <a:t>ESTADO CIVIL</a:t>
            </a:r>
          </a:p>
          <a:p>
            <a:r>
              <a:rPr lang="es-MX" dirty="0"/>
              <a:t>NACIONALIDAD</a:t>
            </a:r>
            <a:endParaRPr lang="es-PE" dirty="0"/>
          </a:p>
        </p:txBody>
      </p:sp>
      <p:sp>
        <p:nvSpPr>
          <p:cNvPr id="15" name="Botón de acción: en blanco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73ADECE-4096-A47A-4A18-BEF6606825A7}"/>
              </a:ext>
            </a:extLst>
          </p:cNvPr>
          <p:cNvSpPr/>
          <p:nvPr/>
        </p:nvSpPr>
        <p:spPr>
          <a:xfrm>
            <a:off x="5483557" y="2831629"/>
            <a:ext cx="1298243" cy="63971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CCCCA9-FC47-6D8B-4E70-A3731187870B}"/>
              </a:ext>
            </a:extLst>
          </p:cNvPr>
          <p:cNvSpPr txBox="1"/>
          <p:nvPr/>
        </p:nvSpPr>
        <p:spPr>
          <a:xfrm>
            <a:off x="3117376" y="2367002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AFILIAR CONDUCTOR</a:t>
            </a:r>
            <a:endParaRPr lang="es-PE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9409530-1B80-27DC-B19E-76624C8DF5AB}"/>
              </a:ext>
            </a:extLst>
          </p:cNvPr>
          <p:cNvSpPr/>
          <p:nvPr/>
        </p:nvSpPr>
        <p:spPr>
          <a:xfrm>
            <a:off x="4267200" y="5791200"/>
            <a:ext cx="1216357" cy="15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A6DDAFA-55E7-424C-7C6B-2033B1A68F86}"/>
              </a:ext>
            </a:extLst>
          </p:cNvPr>
          <p:cNvSpPr/>
          <p:nvPr/>
        </p:nvSpPr>
        <p:spPr>
          <a:xfrm>
            <a:off x="7163248" y="5812817"/>
            <a:ext cx="1216357" cy="15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ADB2729-1CF8-B132-7F35-06E5044708D8}"/>
              </a:ext>
            </a:extLst>
          </p:cNvPr>
          <p:cNvSpPr/>
          <p:nvPr/>
        </p:nvSpPr>
        <p:spPr>
          <a:xfrm>
            <a:off x="2743200" y="1969532"/>
            <a:ext cx="7010400" cy="34907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superiores redondeadas 20">
            <a:extLst>
              <a:ext uri="{FF2B5EF4-FFF2-40B4-BE49-F238E27FC236}">
                <a16:creationId xmlns:a16="http://schemas.microsoft.com/office/drawing/2014/main" id="{897447F0-73F7-C144-C206-521F3CC9473B}"/>
              </a:ext>
            </a:extLst>
          </p:cNvPr>
          <p:cNvSpPr/>
          <p:nvPr/>
        </p:nvSpPr>
        <p:spPr>
          <a:xfrm>
            <a:off x="2743200" y="1949439"/>
            <a:ext cx="7391400" cy="349071"/>
          </a:xfrm>
          <a:prstGeom prst="round2Same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2020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8BB5DA0-071E-3A4E-C0E4-81AED7634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990555"/>
            <a:ext cx="9982199" cy="502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2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2552700" y="2644170"/>
            <a:ext cx="7086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participante aplica los patrones estructurales para la solución de problemas.</a:t>
            </a: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B8F5EF-2F10-4D15-8873-813A4AC722E7}"/>
              </a:ext>
            </a:extLst>
          </p:cNvPr>
          <p:cNvSpPr txBox="1"/>
          <p:nvPr/>
        </p:nvSpPr>
        <p:spPr>
          <a:xfrm>
            <a:off x="1308737" y="2174829"/>
            <a:ext cx="9525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/>
              <a:t>Los patrones estructurales son fundamentales en el diseño de software porque proporcionan soluciones elegantes y reutilizables para problemas comunes relacionados con la composición de clases y objetos. Entender estos patrones mejora la capacidad de diseñar sistemas robustos y escalables</a:t>
            </a:r>
            <a:r>
              <a:rPr lang="es-ES" sz="2800" b="1" dirty="0"/>
              <a:t> </a:t>
            </a:r>
            <a:r>
              <a:rPr lang="es-ES" sz="2800" dirty="0"/>
              <a:t>en tu vida profesional.</a:t>
            </a:r>
          </a:p>
        </p:txBody>
      </p:sp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966912" y="2890391"/>
            <a:ext cx="8258176" cy="1582484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Patrones Estructurales: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</a:rPr>
              <a:t>Patrón Proxy.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</a:rPr>
              <a:t>Patrón Bridge. 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</a:t>
            </a:r>
            <a:r>
              <a:rPr lang="es-PE" sz="3600" b="1" spc="-25" dirty="0" err="1">
                <a:solidFill>
                  <a:srgbClr val="000000"/>
                </a:solidFill>
                <a:latin typeface="Arial"/>
                <a:cs typeface="Arial"/>
              </a:rPr>
              <a:t>N°</a:t>
            </a: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 11: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274CC4-F50B-4ECB-ADA9-813BE53B0E87}"/>
              </a:ext>
            </a:extLst>
          </p:cNvPr>
          <p:cNvSpPr txBox="1"/>
          <p:nvPr/>
        </p:nvSpPr>
        <p:spPr>
          <a:xfrm>
            <a:off x="633412" y="1524000"/>
            <a:ext cx="52339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Definición:</a:t>
            </a:r>
          </a:p>
          <a:p>
            <a:pPr algn="just"/>
            <a:endParaRPr lang="es-ES" sz="2800" b="1" dirty="0"/>
          </a:p>
          <a:p>
            <a:pPr algn="just"/>
            <a:r>
              <a:rPr lang="es-ES" sz="2800" dirty="0"/>
              <a:t>El patrón Proxy proporciona un sustituto o marcador de posición para otro objeto para controlar el acceso a él. Se utiliza para proporcionar un objeto que actúe como un intermediario o representante de otro objeto.</a:t>
            </a:r>
          </a:p>
        </p:txBody>
      </p:sp>
    </p:spTree>
    <p:extLst>
      <p:ext uri="{BB962C8B-B14F-4D97-AF65-F5344CB8AC3E}">
        <p14:creationId xmlns:p14="http://schemas.microsoft.com/office/powerpoint/2010/main" val="6538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274CC4-F50B-4ECB-ADA9-813BE53B0E87}"/>
              </a:ext>
            </a:extLst>
          </p:cNvPr>
          <p:cNvSpPr txBox="1"/>
          <p:nvPr/>
        </p:nvSpPr>
        <p:spPr>
          <a:xfrm>
            <a:off x="633412" y="1524000"/>
            <a:ext cx="52339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Importancia:</a:t>
            </a:r>
          </a:p>
          <a:p>
            <a:pPr algn="just"/>
            <a:endParaRPr lang="es-ES" sz="2800" b="1" dirty="0"/>
          </a:p>
          <a:p>
            <a:pPr algn="just"/>
            <a:r>
              <a:rPr lang="es-ES" sz="2800" dirty="0"/>
              <a:t>El patrón Proxy es crucial cuando se necesita un intermediario para acceder a un objeto, lo que puede incluir control de acceso, mejoras de rendimiento, administración de recursos, etc.</a:t>
            </a:r>
          </a:p>
        </p:txBody>
      </p:sp>
    </p:spTree>
    <p:extLst>
      <p:ext uri="{BB962C8B-B14F-4D97-AF65-F5344CB8AC3E}">
        <p14:creationId xmlns:p14="http://schemas.microsoft.com/office/powerpoint/2010/main" val="404640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274CC4-F50B-4ECB-ADA9-813BE53B0E87}"/>
              </a:ext>
            </a:extLst>
          </p:cNvPr>
          <p:cNvSpPr txBox="1"/>
          <p:nvPr/>
        </p:nvSpPr>
        <p:spPr>
          <a:xfrm>
            <a:off x="633412" y="1524000"/>
            <a:ext cx="5233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Ventajas y Desventajas: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73BB4F2-A9E1-457F-8F6A-FCE3BD427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918936"/>
              </p:ext>
            </p:extLst>
          </p:nvPr>
        </p:nvGraphicFramePr>
        <p:xfrm>
          <a:off x="762000" y="2438400"/>
          <a:ext cx="10439400" cy="3276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05618">
                  <a:extLst>
                    <a:ext uri="{9D8B030D-6E8A-4147-A177-3AD203B41FA5}">
                      <a16:colId xmlns:a16="http://schemas.microsoft.com/office/drawing/2014/main" val="4037420398"/>
                    </a:ext>
                  </a:extLst>
                </a:gridCol>
                <a:gridCol w="5833782">
                  <a:extLst>
                    <a:ext uri="{9D8B030D-6E8A-4147-A177-3AD203B41FA5}">
                      <a16:colId xmlns:a16="http://schemas.microsoft.com/office/drawing/2014/main" val="1298933902"/>
                    </a:ext>
                  </a:extLst>
                </a:gridCol>
              </a:tblGrid>
              <a:tr h="45454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u="none" strike="noStrike" dirty="0">
                          <a:effectLst/>
                        </a:rPr>
                        <a:t>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u="none" strike="noStrike" dirty="0">
                          <a:effectLst/>
                        </a:rPr>
                        <a:t>Desventajas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872167"/>
                  </a:ext>
                </a:extLst>
              </a:tr>
              <a:tr h="779766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Control de acceso a objetos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Introduce un nivel adicional de indirection (indirección)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31078"/>
                  </a:ext>
                </a:extLst>
              </a:tr>
              <a:tr h="684364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Mejora de rendimiento (carga diferida)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Puede ser más complejo de implementar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65248"/>
                  </a:ext>
                </a:extLst>
              </a:tr>
              <a:tr h="903383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Administración de recursos (como conexiones de red)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2000" u="none" strike="noStrike">
                          <a:effectLst/>
                        </a:rPr>
                        <a:t>Puede introducir latencia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850333"/>
                  </a:ext>
                </a:extLst>
              </a:tr>
              <a:tr h="454543">
                <a:tc>
                  <a:txBody>
                    <a:bodyPr/>
                    <a:lstStyle/>
                    <a:p>
                      <a:pPr algn="l" fontAlgn="ctr"/>
                      <a:r>
                        <a:rPr lang="es-PE" sz="2000" u="none" strike="noStrike">
                          <a:effectLst/>
                        </a:rPr>
                        <a:t>Seguridad adicional</a:t>
                      </a:r>
                      <a:endParaRPr lang="es-P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Puede ser más difícil de depurar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73" marR="3873" marT="38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875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339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274CC4-F50B-4ECB-ADA9-813BE53B0E87}"/>
              </a:ext>
            </a:extLst>
          </p:cNvPr>
          <p:cNvSpPr txBox="1"/>
          <p:nvPr/>
        </p:nvSpPr>
        <p:spPr>
          <a:xfrm>
            <a:off x="633412" y="1524000"/>
            <a:ext cx="52339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Problema que resuelve:</a:t>
            </a:r>
            <a:r>
              <a:rPr lang="es-ES" sz="2800" dirty="0"/>
              <a:t>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patrón Proxy resuelve el problema de controlar el acceso a un objeto, que puede incluir la necesidad de cargar el objeto a demanda, restringir el acceso por razones de seguridad o monitorear el acceso al objeto.</a:t>
            </a:r>
          </a:p>
        </p:txBody>
      </p:sp>
    </p:spTree>
    <p:extLst>
      <p:ext uri="{BB962C8B-B14F-4D97-AF65-F5344CB8AC3E}">
        <p14:creationId xmlns:p14="http://schemas.microsoft.com/office/powerpoint/2010/main" val="1520640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274CC4-F50B-4ECB-ADA9-813BE53B0E87}"/>
              </a:ext>
            </a:extLst>
          </p:cNvPr>
          <p:cNvSpPr txBox="1"/>
          <p:nvPr/>
        </p:nvSpPr>
        <p:spPr>
          <a:xfrm>
            <a:off x="633412" y="1524000"/>
            <a:ext cx="59197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Cómo usar el patrón:</a:t>
            </a:r>
          </a:p>
          <a:p>
            <a:endParaRPr lang="es-ES" sz="2800" dirty="0"/>
          </a:p>
          <a:p>
            <a:pPr marL="514350" indent="-514350" algn="just">
              <a:buFont typeface="+mj-lt"/>
              <a:buAutoNum type="arabicPeriod"/>
            </a:pPr>
            <a:r>
              <a:rPr lang="es-ES" sz="2800" dirty="0"/>
              <a:t>Identificar el objeto que necesita un control de acceso.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2800" dirty="0"/>
              <a:t>Crear una clase Proxy que tenga la misma interfaz que el objeto real.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2800" dirty="0"/>
              <a:t>Implementar métodos en la clase Proxy que deleguen la solicitud al objeto real o proporcionen la funcionalidad adicional.</a:t>
            </a:r>
          </a:p>
        </p:txBody>
      </p:sp>
    </p:spTree>
    <p:extLst>
      <p:ext uri="{BB962C8B-B14F-4D97-AF65-F5344CB8AC3E}">
        <p14:creationId xmlns:p14="http://schemas.microsoft.com/office/powerpoint/2010/main" val="16030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C3A61A-3250-44F9-8EDD-BAAA8670CCA5}"/>
              </a:ext>
            </a:extLst>
          </p:cNvPr>
          <p:cNvSpPr txBox="1"/>
          <p:nvPr/>
        </p:nvSpPr>
        <p:spPr>
          <a:xfrm>
            <a:off x="685800" y="1447800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Tipos de </a:t>
            </a:r>
            <a:r>
              <a:rPr lang="es-ES" sz="2400" b="1" dirty="0" err="1"/>
              <a:t>Proxies</a:t>
            </a:r>
            <a:r>
              <a:rPr lang="es-ES" sz="2400" b="1" dirty="0"/>
              <a:t>:</a:t>
            </a:r>
          </a:p>
          <a:p>
            <a:pPr algn="just"/>
            <a:endParaRPr lang="es-E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Virtual Proxy:</a:t>
            </a:r>
            <a:r>
              <a:rPr lang="es-ES" sz="2400" dirty="0"/>
              <a:t> Retrasa la creación y la carga del objeto hasta que sea necesario.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 err="1"/>
              <a:t>Protection</a:t>
            </a:r>
            <a:r>
              <a:rPr lang="es-ES" sz="2400" b="1" dirty="0"/>
              <a:t> Proxy:</a:t>
            </a:r>
            <a:r>
              <a:rPr lang="es-ES" sz="2400" dirty="0"/>
              <a:t> Controla el acceso a un objeto, permitiendo diferentes permisos para diferentes usuarios.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Remote Proxy:</a:t>
            </a:r>
            <a:r>
              <a:rPr lang="es-ES" sz="2400" dirty="0"/>
              <a:t> Proporciona un proxy local para un objeto en un espacio de direcciones diferente.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Smart Proxy:</a:t>
            </a:r>
            <a:r>
              <a:rPr lang="es-ES" sz="2400" dirty="0"/>
              <a:t> Proporciona funcionalidades adicionales como el seguimiento de referencias o la contabilidad de los recursos.</a:t>
            </a:r>
          </a:p>
        </p:txBody>
      </p:sp>
    </p:spTree>
    <p:extLst>
      <p:ext uri="{BB962C8B-B14F-4D97-AF65-F5344CB8AC3E}">
        <p14:creationId xmlns:p14="http://schemas.microsoft.com/office/powerpoint/2010/main" val="1802155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Proxy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2B2653-BB00-4E21-B12B-04DF151F7431}"/>
              </a:ext>
            </a:extLst>
          </p:cNvPr>
          <p:cNvSpPr txBox="1"/>
          <p:nvPr/>
        </p:nvSpPr>
        <p:spPr>
          <a:xfrm>
            <a:off x="638175" y="1447800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Ejemplo de Diagrama (</a:t>
            </a:r>
            <a:r>
              <a:rPr lang="es-PE" sz="2400" dirty="0" err="1"/>
              <a:t>UML</a:t>
            </a:r>
            <a:r>
              <a:rPr lang="es-PE" sz="2400" dirty="0"/>
              <a:t>):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C1E676-A677-4B32-BD9A-30AE881BD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146" y="2362200"/>
            <a:ext cx="745053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033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409700" y="1828800"/>
            <a:ext cx="9372600" cy="189090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latin typeface="Arial"/>
                <a:cs typeface="Arial"/>
              </a:rPr>
              <a:t>¿Qué ejemplos de la vida real pueden ayudar a entender mejor el patrón Proxy?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6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EABC1A-D552-4E18-BFA8-4A190D02D9E2}"/>
              </a:ext>
            </a:extLst>
          </p:cNvPr>
          <p:cNvSpPr txBox="1"/>
          <p:nvPr/>
        </p:nvSpPr>
        <p:spPr>
          <a:xfrm>
            <a:off x="609600" y="1443841"/>
            <a:ext cx="5257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Definición:</a:t>
            </a:r>
            <a:r>
              <a:rPr lang="es-ES" sz="2800" dirty="0"/>
              <a:t>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patrón Bridge separa la abstracción de su implementación, permitiendo que ambas varíen independientemente. Esto se logra mediante el uso de una interfaz abstracta para las implementaciones concretas.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521140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AA933C-3FE6-4A86-9147-0A77D669AB99}"/>
              </a:ext>
            </a:extLst>
          </p:cNvPr>
          <p:cNvSpPr txBox="1"/>
          <p:nvPr/>
        </p:nvSpPr>
        <p:spPr>
          <a:xfrm>
            <a:off x="609600" y="1447800"/>
            <a:ext cx="533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Importancia:</a:t>
            </a:r>
            <a:r>
              <a:rPr lang="es-ES" sz="2800" dirty="0"/>
              <a:t>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patrón Bridge es importante para manejar la complejidad en sistemas grandes y evitar la explosión de clases debido a las múltiples variantes de una implementación.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817316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F778DB-D36C-44BF-B0FC-7397FE997C79}"/>
              </a:ext>
            </a:extLst>
          </p:cNvPr>
          <p:cNvSpPr txBox="1"/>
          <p:nvPr/>
        </p:nvSpPr>
        <p:spPr>
          <a:xfrm>
            <a:off x="623887" y="1295400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/>
              <a:t>Ventajas y Desventajas: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E4BAF79-4DA9-45A6-82CC-6E73B77D5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54053"/>
              </p:ext>
            </p:extLst>
          </p:nvPr>
        </p:nvGraphicFramePr>
        <p:xfrm>
          <a:off x="638174" y="1952982"/>
          <a:ext cx="10715626" cy="3609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7813">
                  <a:extLst>
                    <a:ext uri="{9D8B030D-6E8A-4147-A177-3AD203B41FA5}">
                      <a16:colId xmlns:a16="http://schemas.microsoft.com/office/drawing/2014/main" val="3124775377"/>
                    </a:ext>
                  </a:extLst>
                </a:gridCol>
                <a:gridCol w="5357813">
                  <a:extLst>
                    <a:ext uri="{9D8B030D-6E8A-4147-A177-3AD203B41FA5}">
                      <a16:colId xmlns:a16="http://schemas.microsoft.com/office/drawing/2014/main" val="2883250310"/>
                    </a:ext>
                  </a:extLst>
                </a:gridCol>
              </a:tblGrid>
              <a:tr h="45188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b="1" u="none" strike="noStrike" dirty="0">
                          <a:effectLst/>
                        </a:rPr>
                        <a:t>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b="1" u="none" strike="noStrike" dirty="0">
                          <a:effectLst/>
                        </a:rPr>
                        <a:t>Desventajas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991286"/>
                  </a:ext>
                </a:extLst>
              </a:tr>
              <a:tr h="89872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Permite variar la implementación independientemente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Puede incrementar la complejidad inicial del diseño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72931"/>
                  </a:ext>
                </a:extLst>
              </a:tr>
              <a:tr h="908412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Fomenta la reutilización de código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Requiere más esfuerzo para establecer correctamente las jerarquías de clases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232283"/>
                  </a:ext>
                </a:extLst>
              </a:tr>
              <a:tr h="89872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Reduce el acoplamiento entre la abstracción y la implementación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Introduce un nivel adicional de indirección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365385"/>
                  </a:ext>
                </a:extLst>
              </a:tr>
              <a:tr h="451883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Facilita la extensión de clases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P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43" marR="3443" marT="3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32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587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16CE5A-E439-4F17-AF79-A3DC55E03818}"/>
              </a:ext>
            </a:extLst>
          </p:cNvPr>
          <p:cNvSpPr txBox="1"/>
          <p:nvPr/>
        </p:nvSpPr>
        <p:spPr>
          <a:xfrm>
            <a:off x="642937" y="1371600"/>
            <a:ext cx="53006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/>
              <a:t>Problema que resuelve:</a:t>
            </a:r>
            <a:r>
              <a:rPr lang="es-ES" sz="2800" dirty="0"/>
              <a:t>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patrón Bridge resuelve el problema de cómo manejar la variación de múltiples implementaciones sin afectar las abstracciones que las utilizan, permitiendo una mayor flexibilidad y escalabilidad en el diseño del sistema.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219186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02B16A-DBE7-4266-9D47-8D9465DDF5AC}"/>
              </a:ext>
            </a:extLst>
          </p:cNvPr>
          <p:cNvSpPr txBox="1"/>
          <p:nvPr/>
        </p:nvSpPr>
        <p:spPr>
          <a:xfrm>
            <a:off x="647700" y="1447800"/>
            <a:ext cx="52959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Cómo usar el patrón:</a:t>
            </a:r>
          </a:p>
          <a:p>
            <a:endParaRPr lang="es-E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Definir una jerarquía de clases para las abstracciones.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Definir una jerarquía de clases para las implementaciones.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Crear una referencia en la clase de abstracción a una interfaz de implementación.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Desarrollar clases concretas que implementen la interfaz de implementación.</a:t>
            </a:r>
          </a:p>
        </p:txBody>
      </p:sp>
    </p:spTree>
    <p:extLst>
      <p:ext uri="{BB962C8B-B14F-4D97-AF65-F5344CB8AC3E}">
        <p14:creationId xmlns:p14="http://schemas.microsoft.com/office/powerpoint/2010/main" val="3662321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BCA7C1-7E94-459C-810F-471C5F2B95E7}"/>
              </a:ext>
            </a:extLst>
          </p:cNvPr>
          <p:cNvSpPr txBox="1"/>
          <p:nvPr/>
        </p:nvSpPr>
        <p:spPr>
          <a:xfrm>
            <a:off x="609600" y="1524000"/>
            <a:ext cx="533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Tipos de Bridge:</a:t>
            </a:r>
          </a:p>
          <a:p>
            <a:pPr algn="just"/>
            <a:endParaRPr lang="es-E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b="1" dirty="0"/>
              <a:t>Implementación Estándar:</a:t>
            </a:r>
            <a:r>
              <a:rPr lang="es-ES" sz="2400" dirty="0"/>
              <a:t> La implementación más común donde la abstracción y la implementación están completamente desacopladas.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b="1" dirty="0"/>
              <a:t>Extended Bridge:</a:t>
            </a:r>
            <a:r>
              <a:rPr lang="es-ES" sz="2400" dirty="0"/>
              <a:t> Permite extender tanto la jerarquía de la abstracción como la de la implementación independientemente.</a:t>
            </a:r>
          </a:p>
        </p:txBody>
      </p:sp>
    </p:spTree>
    <p:extLst>
      <p:ext uri="{BB962C8B-B14F-4D97-AF65-F5344CB8AC3E}">
        <p14:creationId xmlns:p14="http://schemas.microsoft.com/office/powerpoint/2010/main" val="3210439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9F934-25D4-40A3-A3C6-182B69B14BEF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PE" sz="2800" b="1" i="0" dirty="0">
                <a:solidFill>
                  <a:srgbClr val="333333"/>
                </a:solidFill>
                <a:effectLst/>
                <a:latin typeface="helvetica neue"/>
              </a:rPr>
              <a:t>Patrones Estructurales - Bridge</a:t>
            </a:r>
          </a:p>
        </p:txBody>
      </p:sp>
      <p:pic>
        <p:nvPicPr>
          <p:cNvPr id="5122" name="Picture 2" descr="Bridge">
            <a:extLst>
              <a:ext uri="{FF2B5EF4-FFF2-40B4-BE49-F238E27FC236}">
                <a16:creationId xmlns:a16="http://schemas.microsoft.com/office/drawing/2014/main" id="{BBE0EF79-3F52-440C-90AB-A43D876B2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008776"/>
            <a:ext cx="6071888" cy="423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51D9EEA-7FEC-4ECD-BB41-A328D6A8E4C0}"/>
              </a:ext>
            </a:extLst>
          </p:cNvPr>
          <p:cNvSpPr txBox="1"/>
          <p:nvPr/>
        </p:nvSpPr>
        <p:spPr>
          <a:xfrm>
            <a:off x="609600" y="1357312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Ejemplo de Diagrama (</a:t>
            </a:r>
            <a:r>
              <a:rPr lang="es-PE" sz="2400" dirty="0" err="1"/>
              <a:t>UML</a:t>
            </a:r>
            <a:r>
              <a:rPr lang="es-PE" sz="2400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126716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409700" y="1752600"/>
            <a:ext cx="9372600" cy="189090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latin typeface="Arial"/>
                <a:cs typeface="Arial"/>
              </a:rPr>
              <a:t>¿Cómo afecta el uso del patrón Bridge a la escalabilidad y mantenibilidad del código?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21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0" y="28194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5886D6-5B28-4586-B236-615F21BB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bg1"/>
                </a:solidFill>
                <a:latin typeface="Rubik"/>
              </a:rPr>
              <a:t>Caso</a:t>
            </a:r>
            <a:r>
              <a:rPr b="1" spc="-90" dirty="0">
                <a:solidFill>
                  <a:schemeClr val="bg1"/>
                </a:solidFill>
                <a:latin typeface="Rubik"/>
              </a:rPr>
              <a:t> </a:t>
            </a:r>
            <a:r>
              <a:rPr b="1" spc="-5" dirty="0">
                <a:solidFill>
                  <a:schemeClr val="bg1"/>
                </a:solidFill>
                <a:latin typeface="Rubik"/>
              </a:rPr>
              <a:t>práctico</a:t>
            </a:r>
          </a:p>
        </p:txBody>
      </p:sp>
    </p:spTree>
    <p:extLst>
      <p:ext uri="{BB962C8B-B14F-4D97-AF65-F5344CB8AC3E}">
        <p14:creationId xmlns:p14="http://schemas.microsoft.com/office/powerpoint/2010/main" val="346063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F283F88-1566-4073-B95F-D2FBE262C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755" y="1841816"/>
            <a:ext cx="5882305" cy="347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29FD72E-C8E8-4DDE-A800-BB3F0B6A6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755" y="1869117"/>
            <a:ext cx="5756039" cy="34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12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2644170"/>
            <a:ext cx="768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spc="-5" dirty="0">
                <a:latin typeface="Arial"/>
                <a:cs typeface="Arial"/>
              </a:rPr>
              <a:t>Tomar apuntes de manera eficaz ayuda a consolidar el  aprendizaje y prepararse para los exámenes.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9863D4F-D063-472A-B103-309BAE4C534C}"/>
              </a:ext>
            </a:extLst>
          </p:cNvPr>
          <p:cNvSpPr txBox="1"/>
          <p:nvPr/>
        </p:nvSpPr>
        <p:spPr>
          <a:xfrm>
            <a:off x="723900" y="920621"/>
            <a:ext cx="10744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Proxy</a:t>
            </a:r>
          </a:p>
          <a:p>
            <a:pPr algn="just"/>
            <a:r>
              <a:rPr lang="es-ES" sz="2000" dirty="0"/>
              <a:t>El patrón Proxy proporciona un sustituto o marcador de posición para otro objeto con el fin de controlar el acceso a él. Se utiliza para realizar ciertas acciones antes o después de que una solicitud llegue al objeto real. Los </a:t>
            </a:r>
            <a:r>
              <a:rPr lang="es-ES" sz="2000" dirty="0" err="1"/>
              <a:t>proxies</a:t>
            </a:r>
            <a:r>
              <a:rPr lang="es-ES" sz="2000" dirty="0"/>
              <a:t> se pueden usar para: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Controlar el acceso a un recurso costoso o sensible.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Proveer un objeto sustituto que diferirá la creación del objeto real hasta que sea necesario (carga diferida).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Añadir funcionalidad adicional (como el almacenamiento en caché) sin modificar el objeto real.</a:t>
            </a:r>
          </a:p>
          <a:p>
            <a:pPr algn="just"/>
            <a:r>
              <a:rPr lang="es-ES" sz="2000" b="1" dirty="0"/>
              <a:t>Bridge</a:t>
            </a:r>
          </a:p>
          <a:p>
            <a:pPr algn="just"/>
            <a:r>
              <a:rPr lang="es-ES" sz="2000" dirty="0"/>
              <a:t>El patrón Bridge separa una abstracción de su implementación para que ambos puedan variar independientemente. Este patrón es útil cuando las implementaciones de una abstracción pueden cambiar con frecuencia o cuando se requiere la implementación en múltiples plataformas. El Bridge: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Permite cambiar las implementaciones sin modificar las abstracciones.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Facilita la extensión de ambas jerarquías (abstracción e implementación) de manera independiente.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Es útil en sistemas que deben soportar múltiples variantes de un conjunto de características.</a:t>
            </a:r>
          </a:p>
        </p:txBody>
      </p:sp>
    </p:spTree>
    <p:extLst>
      <p:ext uri="{BB962C8B-B14F-4D97-AF65-F5344CB8AC3E}">
        <p14:creationId xmlns:p14="http://schemas.microsoft.com/office/powerpoint/2010/main" val="3581686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Entrega de informe actualizado, en la siguiente clase.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F4600A-95C6-4A92-B5BF-BB4183F5EFEF}"/>
              </a:ext>
            </a:extLst>
          </p:cNvPr>
          <p:cNvSpPr txBox="1"/>
          <p:nvPr/>
        </p:nvSpPr>
        <p:spPr>
          <a:xfrm>
            <a:off x="723899" y="1122749"/>
            <a:ext cx="1074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Patrones Proxy y Bridge</a:t>
            </a:r>
          </a:p>
          <a:p>
            <a:endParaRPr lang="es-ES" sz="2000" b="1" dirty="0"/>
          </a:p>
          <a:p>
            <a:pPr lvl="1"/>
            <a:endParaRPr lang="es-ES" sz="2000" dirty="0"/>
          </a:p>
          <a:p>
            <a:pPr>
              <a:buFont typeface="+mj-lt"/>
              <a:buAutoNum type="arabicPeriod"/>
            </a:pPr>
            <a:r>
              <a:rPr lang="es-ES" sz="2000" b="1" dirty="0"/>
              <a:t>Casos de Uso</a:t>
            </a:r>
            <a:r>
              <a:rPr lang="es-E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dirty="0"/>
              <a:t>Aplicar a la interface gráfica de usuario de un módulo que utilizan Proxy y Bridge.</a:t>
            </a:r>
          </a:p>
          <a:p>
            <a:pPr lvl="1"/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740398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Recursos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olvides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PE" sz="2400" i="1" spc="-5" dirty="0" err="1">
                <a:latin typeface="Arial" panose="020B0604020202020204" pitchFamily="34" charset="0"/>
                <a:cs typeface="Arial" panose="020B0604020202020204" pitchFamily="34" charset="0"/>
              </a:rPr>
              <a:t>ambién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revisar tu plataforma </a:t>
            </a:r>
            <a:r>
              <a:rPr lang="es-ES" sz="2400" i="1" spc="-10" dirty="0" err="1">
                <a:latin typeface="Arial" panose="020B0604020202020204" pitchFamily="34" charset="0"/>
                <a:cs typeface="Arial" panose="020B0604020202020204" pitchFamily="34" charset="0"/>
              </a:rPr>
              <a:t>UTP+Class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B0927F-97D1-45B4-AE70-5270DFA95140}"/>
              </a:ext>
            </a:extLst>
          </p:cNvPr>
          <p:cNvSpPr txBox="1"/>
          <p:nvPr/>
        </p:nvSpPr>
        <p:spPr>
          <a:xfrm>
            <a:off x="1028699" y="1365177"/>
            <a:ext cx="10134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1.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1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https://www.youtube.com/watch?v=s_faLeDoMBY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2</a:t>
            </a:r>
            <a:r>
              <a:rPr lang="es-ES" dirty="0"/>
              <a:t>: </a:t>
            </a:r>
            <a:r>
              <a:rPr lang="es-ES" dirty="0">
                <a:hlinkClick r:id="rId4"/>
              </a:rPr>
              <a:t>https://www.youtube.com/watch?v=LUJbqdthTzA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3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https://www.youtube.com/watch?v=XmHPq-EdLOU</a:t>
            </a:r>
            <a:endParaRPr lang="es-ES" dirty="0"/>
          </a:p>
          <a:p>
            <a:endParaRPr lang="es-ES" sz="2400" b="1" dirty="0"/>
          </a:p>
          <a:p>
            <a:r>
              <a:rPr lang="es-ES" sz="2400" b="1" dirty="0"/>
              <a:t>2. Páginas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1</a:t>
            </a:r>
            <a:r>
              <a:rPr lang="es-ES" dirty="0"/>
              <a:t>: </a:t>
            </a:r>
            <a:r>
              <a:rPr lang="es-ES" dirty="0">
                <a:hlinkClick r:id="rId6"/>
              </a:rPr>
              <a:t>https://reactiveprogramming.io/blog/es/patrones-de-diseno/proxy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2</a:t>
            </a:r>
            <a:r>
              <a:rPr lang="es-ES" dirty="0"/>
              <a:t>: </a:t>
            </a:r>
            <a:r>
              <a:rPr lang="es-ES" dirty="0">
                <a:hlinkClick r:id="rId7"/>
              </a:rPr>
              <a:t>https://refactoring.guru/es/design-patterns/proxy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9968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1221</Words>
  <Application>Microsoft Office PowerPoint</Application>
  <PresentationFormat>Panorámica</PresentationFormat>
  <Paragraphs>166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5" baseType="lpstr">
      <vt:lpstr>Arial</vt:lpstr>
      <vt:lpstr>Arial MT</vt:lpstr>
      <vt:lpstr>Calibri</vt:lpstr>
      <vt:lpstr>Calibri Light</vt:lpstr>
      <vt:lpstr>CentSchbkCyrill BT</vt:lpstr>
      <vt:lpstr>helvetica neue</vt:lpstr>
      <vt:lpstr>Rubik</vt:lpstr>
      <vt:lpstr>Office Theme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práctico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Alfredo Guevara</cp:lastModifiedBy>
  <cp:revision>94</cp:revision>
  <dcterms:created xsi:type="dcterms:W3CDTF">2024-06-11T03:36:57Z</dcterms:created>
  <dcterms:modified xsi:type="dcterms:W3CDTF">2024-10-23T15:47:26Z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