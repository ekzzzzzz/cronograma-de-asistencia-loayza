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12192000" cy="6858000"/>
  <p:embeddedFontLst>
    <p:embeddedFont>
      <p:font typeface="PT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joBuZG/PrwJrAs3hjnfqfPH4ez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TSans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TSans-italic.fntdata"/><Relationship Id="rId16" Type="http://schemas.openxmlformats.org/officeDocument/2006/relationships/slide" Target="slides/slide11.xml"/><Relationship Id="rId38" Type="http://schemas.openxmlformats.org/officeDocument/2006/relationships/font" Target="fonts/PT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 txBox="1"/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6"/>
          <p:cNvSpPr txBox="1"/>
          <p:nvPr>
            <p:ph idx="1" type="body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2" type="body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7"/>
          <p:cNvSpPr txBox="1"/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Relationship Id="rId4" Type="http://schemas.openxmlformats.org/officeDocument/2006/relationships/image" Target="../media/image2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>
            <p:ph type="ctrTitle"/>
          </p:nvPr>
        </p:nvSpPr>
        <p:spPr>
          <a:xfrm>
            <a:off x="990600" y="2210522"/>
            <a:ext cx="10363199" cy="88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00">
            <a:spAutoFit/>
          </a:bodyPr>
          <a:lstStyle/>
          <a:p>
            <a:pPr indent="-3253104" lvl="0" marL="3268979" marR="508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>
                <a:latin typeface="Arial"/>
                <a:ea typeface="Arial"/>
                <a:cs typeface="Arial"/>
                <a:sym typeface="Arial"/>
              </a:rPr>
              <a:t>CURSO: DISEÑO DE PATRONES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2781299" y="1869307"/>
            <a:ext cx="6629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D1052D"/>
                </a:solidFill>
                <a:latin typeface="Calibri"/>
                <a:ea typeface="Calibri"/>
                <a:cs typeface="Calibri"/>
                <a:sym typeface="Calibri"/>
              </a:rPr>
              <a:t>PRIMERA UNIDAD DE APRENDIZAJE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2043111" y="3517911"/>
            <a:ext cx="8258176" cy="1090042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SESIÓN N° 10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3048000" y="5715000"/>
            <a:ext cx="7162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D1052D"/>
                </a:solidFill>
                <a:latin typeface="Arial"/>
                <a:ea typeface="Arial"/>
                <a:cs typeface="Arial"/>
                <a:sym typeface="Arial"/>
              </a:rPr>
              <a:t>DOCENTES DE UTP SISTEMAS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1"/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52" name="Google Shape;5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1"/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Motivación para el aprendizaje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651" y="313451"/>
            <a:ext cx="524749" cy="5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609600" y="2209800"/>
            <a:ext cx="10515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que debemos tener en cuenta: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3600" y="6184229"/>
            <a:ext cx="445171" cy="44517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minutos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048000" y="3657600"/>
            <a:ext cx="49411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https://www.youtube.com/watch?v=L-MLM7VJr8g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Recordando los aprendizajes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651" y="313451"/>
            <a:ext cx="524749" cy="5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vimos en la sesión anterior?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Recordando los aprendizajes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651" y="313451"/>
            <a:ext cx="524749" cy="5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2611755" y="5512511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https://youtu.be/_KZkbL0MMbQ?feature=shared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8400" y="1499030"/>
            <a:ext cx="7193002" cy="391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Logro de la sesión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1618297" y="3042791"/>
            <a:ext cx="9448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finalizar la unidad el participante identifica los patrones creacionales.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3622" y="292547"/>
            <a:ext cx="559075" cy="559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Importancia de la sesión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990600" y="2468935"/>
            <a:ext cx="10591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importante implementar los patrones ya que nos ayuda a generar las buenas </a:t>
            </a:r>
            <a:r>
              <a:rPr lang="es-ES" sz="3200">
                <a:solidFill>
                  <a:schemeClr val="dk1"/>
                </a:solidFill>
              </a:rPr>
              <a:t>prácticas</a:t>
            </a: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programación.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7875" y="304800"/>
            <a:ext cx="506725" cy="561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/>
        </p:nvSpPr>
        <p:spPr>
          <a:xfrm>
            <a:off x="1966912" y="2890391"/>
            <a:ext cx="8258176" cy="584775"/>
          </a:xfrm>
          <a:prstGeom prst="rect">
            <a:avLst/>
          </a:prstGeom>
          <a:solidFill>
            <a:srgbClr val="D1052D"/>
          </a:soli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s-E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Repaso de temas sesión 06, 07, 08 y 09.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4076700" y="1991427"/>
            <a:ext cx="4038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SESIÓN N° 10: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Temario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651" y="313451"/>
            <a:ext cx="524749" cy="5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¡Que no se te escape nada de tu clase!: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914400" y="990600"/>
            <a:ext cx="10363200" cy="2398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Patrones Creacionales</a:t>
            </a:r>
            <a:endParaRPr/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Singleton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es un patrón de diseño creacional que nos permite asegurarnos de que una clase tenga una única instancia, a la vez que proporciona un punto de acceso global a dicha instancia.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2895600"/>
            <a:ext cx="5491163" cy="334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457200"/>
            <a:ext cx="7010400" cy="5712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/>
          <p:nvPr/>
        </p:nvSpPr>
        <p:spPr>
          <a:xfrm>
            <a:off x="762000" y="914400"/>
            <a:ext cx="10363200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Patrones Creacionales</a:t>
            </a:r>
            <a:endParaRPr/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Prototype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es un patrón de diseño creacional que nos permite copiar objetos existentes sin que el código dependa de sus clases.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2743200"/>
            <a:ext cx="4691063" cy="3117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371600"/>
            <a:ext cx="8132805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/>
          <p:nvPr/>
        </p:nvSpPr>
        <p:spPr>
          <a:xfrm>
            <a:off x="1295400" y="1607096"/>
            <a:ext cx="99060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Factory</a:t>
            </a:r>
            <a:r>
              <a:rPr lang="es-ES" sz="1800">
                <a:solidFill>
                  <a:srgbClr val="444444"/>
                </a:solidFill>
                <a:latin typeface="PT Sans"/>
                <a:ea typeface="PT Sans"/>
                <a:cs typeface="PT Sans"/>
                <a:sym typeface="PT Sans"/>
              </a:rPr>
              <a:t> es un patrón de diseño creacional que proporciona una interfaz para crear objetos en una superclase, mientras permite a las subclases alterar el tipo de objetos que se crearán.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3276600" y="838200"/>
            <a:ext cx="46153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Patrones Creacionales</a:t>
            </a:r>
            <a:endParaRPr/>
          </a:p>
        </p:txBody>
      </p:sp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2560906"/>
            <a:ext cx="5867400" cy="3647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600200"/>
            <a:ext cx="762893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/>
          <p:nvPr/>
        </p:nvSpPr>
        <p:spPr>
          <a:xfrm>
            <a:off x="1295400" y="1607096"/>
            <a:ext cx="1021080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Abstract Factory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patrón de diseño creacional que nos permite producir familias de objetos relacionados sin especificar sus clases concretas.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3429000" y="762000"/>
            <a:ext cx="46153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Patrones Creacionales</a:t>
            </a:r>
            <a:endParaRPr/>
          </a:p>
        </p:txBody>
      </p:sp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1" y="2454198"/>
            <a:ext cx="6019800" cy="3937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143000"/>
            <a:ext cx="7339263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/>
          <p:nvPr/>
        </p:nvSpPr>
        <p:spPr>
          <a:xfrm>
            <a:off x="990600" y="1371600"/>
            <a:ext cx="10210800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Builder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es un patrón de diseño creacional que nos permite construir objetos complejos paso a paso. El patrón nos permite producir distintos tipos y representaciones de un objeto empleando el mismo código de construcción.</a:t>
            </a:r>
            <a:b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548149" y="533400"/>
            <a:ext cx="46153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Patrones Creacionales</a:t>
            </a:r>
            <a:endParaRPr/>
          </a:p>
        </p:txBody>
      </p:sp>
      <p:pic>
        <p:nvPicPr>
          <p:cNvPr id="163" name="Google Shape;1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2300" y="2438400"/>
            <a:ext cx="5867400" cy="3803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295400"/>
            <a:ext cx="8042618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3394537" y="762000"/>
            <a:ext cx="4684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Patrones Estructurales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914400" y="1364786"/>
            <a:ext cx="10134600" cy="878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444444"/>
                </a:solidFill>
                <a:latin typeface="PT Sans"/>
                <a:ea typeface="PT Sans"/>
                <a:cs typeface="PT Sans"/>
                <a:sym typeface="PT Sans"/>
              </a:rPr>
              <a:t>Los patrones estructurales explican cómo ensamblar objetos y clases en estructuras más grandes, a la vez que se mantiene la flexibilidad y eficiencia de estas estructuras.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38200" y="2667000"/>
            <a:ext cx="1066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Adapter</a:t>
            </a:r>
            <a:r>
              <a:rPr lang="es-ES" sz="1800">
                <a:solidFill>
                  <a:srgbClr val="444444"/>
                </a:solidFill>
                <a:latin typeface="PT Sans"/>
                <a:ea typeface="PT Sans"/>
                <a:cs typeface="PT Sans"/>
                <a:sym typeface="PT Sans"/>
              </a:rPr>
              <a:t> es un patrón de diseño estructural que permite la colaboración entre objetos con interfaces incompatibles.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0246" y="3313331"/>
            <a:ext cx="4583907" cy="3072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676400"/>
            <a:ext cx="675322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/>
          <p:nvPr/>
        </p:nvSpPr>
        <p:spPr>
          <a:xfrm>
            <a:off x="3581400" y="381000"/>
            <a:ext cx="4684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Patrones Estructurales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85800" y="1224170"/>
            <a:ext cx="10668000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Facade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es un patrón de diseño estructural que proporciona una interfaz simplificada a una biblioteca, un framework o cualquier otro grupo complejo de clases.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438400"/>
            <a:ext cx="5219459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1381" y="3352800"/>
            <a:ext cx="6096934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3581400" y="609600"/>
            <a:ext cx="4684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Patrones Estructurales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38200" y="1447800"/>
            <a:ext cx="10515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Decorator</a:t>
            </a:r>
            <a:r>
              <a:rPr lang="es-ES" sz="1800">
                <a:solidFill>
                  <a:srgbClr val="444444"/>
                </a:solidFill>
                <a:latin typeface="PT Sans"/>
                <a:ea typeface="PT Sans"/>
                <a:cs typeface="PT Sans"/>
                <a:sym typeface="PT Sans"/>
              </a:rPr>
              <a:t> es un patrón de diseño estructural que te permite añadir funcionalidades a objetos colocando estos objetos dentro de objetos encapsuladores especiales que contienen estas funcionalidades.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2514600"/>
            <a:ext cx="5095875" cy="3374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143000"/>
            <a:ext cx="7371173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3581400" y="609600"/>
            <a:ext cx="4684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Patrones Estructurales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818148" y="1412332"/>
            <a:ext cx="10210800" cy="878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Composite</a:t>
            </a:r>
            <a:r>
              <a:rPr lang="es-ES" sz="1800">
                <a:solidFill>
                  <a:srgbClr val="444444"/>
                </a:solidFill>
                <a:latin typeface="PT Sans"/>
                <a:ea typeface="PT Sans"/>
                <a:cs typeface="PT Sans"/>
                <a:sym typeface="PT Sans"/>
              </a:rPr>
              <a:t> es un patrón de diseño estructural que te permite componer objetos en estructuras de árbol y trabajar con esas estructuras como si fueran objetos individuales.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8975" y="2483926"/>
            <a:ext cx="5036721" cy="363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676400"/>
            <a:ext cx="8447448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/>
        </p:nvSpPr>
        <p:spPr>
          <a:xfrm>
            <a:off x="1600200" y="1524000"/>
            <a:ext cx="8342504" cy="3122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445770" lvl="0" marL="457834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¿Les parece que los patrones Creacionales y Estructurales son importantes para el desarrollo de software? ¿Por qué?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4495800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909" y="304800"/>
            <a:ext cx="626891" cy="5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6"/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¿Quién quisiera participar? (2 voluntarios)</a:t>
            </a:r>
            <a:endParaRPr/>
          </a:p>
        </p:txBody>
      </p:sp>
      <p:pic>
        <p:nvPicPr>
          <p:cNvPr id="229" name="Google Shape;22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0555" y="2895600"/>
            <a:ext cx="2730890" cy="2520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3039354" y="1831852"/>
            <a:ext cx="6096000" cy="11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se les hizo más fácil?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se les hizo más retador?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3618011"/>
            <a:ext cx="2047300" cy="204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673" y="318461"/>
            <a:ext cx="548164" cy="54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8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hemos aprendido el día de hoy?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673" y="318461"/>
            <a:ext cx="548164" cy="54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5310" y="304802"/>
            <a:ext cx="561824" cy="5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9"/>
          <p:cNvSpPr/>
          <p:nvPr/>
        </p:nvSpPr>
        <p:spPr>
          <a:xfrm>
            <a:off x="1143000" y="1750129"/>
            <a:ext cx="102870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tiene el mismo propósito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4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"Para crear código comprensible, legible y comprobable en el que muchos desarrolladores puedan trabajar en colaboración."</a:t>
            </a:r>
            <a:endParaRPr i="1" sz="4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5310" y="304802"/>
            <a:ext cx="561824" cy="5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 txBox="1"/>
          <p:nvPr/>
        </p:nvSpPr>
        <p:spPr>
          <a:xfrm>
            <a:off x="1388225" y="3447011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7600" y="1216152"/>
            <a:ext cx="3056381" cy="4425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31"/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271" name="Google Shape;271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31"/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2024-06-11T03:36:57Z</dcterms:created>
  <dc:creator>Julia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