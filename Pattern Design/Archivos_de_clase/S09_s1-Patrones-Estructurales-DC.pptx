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12192000" cy="6858000"/>
  <p:embeddedFontLst>
    <p:embeddedFont>
      <p:font typeface="Roboto"/>
      <p:regular r:id="rId37"/>
      <p:bold r:id="rId38"/>
      <p:italic r:id="rId39"/>
      <p:boldItalic r:id="rId40"/>
    </p:embeddedFont>
    <p:embeddedFont>
      <p:font typeface="Rubik"/>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5" roundtripDataSignature="AMtx7mj8GRx7coF6iEYcR1rfgVYEQL5h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5.xml"/><Relationship Id="rId42" Type="http://schemas.openxmlformats.org/officeDocument/2006/relationships/font" Target="fonts/Rubik-bold.fntdata"/><Relationship Id="rId41" Type="http://schemas.openxmlformats.org/officeDocument/2006/relationships/font" Target="fonts/Rubik-regular.fntdata"/><Relationship Id="rId22" Type="http://schemas.openxmlformats.org/officeDocument/2006/relationships/slide" Target="slides/slide17.xml"/><Relationship Id="rId44" Type="http://schemas.openxmlformats.org/officeDocument/2006/relationships/font" Target="fonts/Rubik-boldItalic.fntdata"/><Relationship Id="rId21" Type="http://schemas.openxmlformats.org/officeDocument/2006/relationships/slide" Target="slides/slide16.xml"/><Relationship Id="rId43" Type="http://schemas.openxmlformats.org/officeDocument/2006/relationships/font" Target="fonts/Rubik-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italic.fntdata"/><Relationship Id="rId16" Type="http://schemas.openxmlformats.org/officeDocument/2006/relationships/slide" Target="slides/slide11.xml"/><Relationship Id="rId38" Type="http://schemas.openxmlformats.org/officeDocument/2006/relationships/font" Target="fonts/Robo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P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22" name="Google Shape;122;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29" name="Google Shape;129;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36" name="Google Shape;136;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43" name="Google Shape;143;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51" name="Google Shape;151;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58" name="Google Shape;158;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65" name="Google Shape;165;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72" name="Google Shape;172;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79" name="Google Shape;179;p1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86" name="Google Shape;186;p1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93" name="Google Shape;193;p1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2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2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2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3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sp>
        <p:nvSpPr>
          <p:cNvPr id="16" name="Google Shape;16;p33"/>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3"/>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34"/>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4"/>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3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3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36"/>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6"/>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36"/>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3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37"/>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PE"/>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3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PE"/>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1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type="ctrTitle"/>
          </p:nvPr>
        </p:nvSpPr>
        <p:spPr>
          <a:xfrm>
            <a:off x="900112" y="1838144"/>
            <a:ext cx="10363199" cy="905056"/>
          </a:xfrm>
          <a:prstGeom prst="rect">
            <a:avLst/>
          </a:prstGeom>
          <a:noFill/>
          <a:ln>
            <a:noFill/>
          </a:ln>
        </p:spPr>
        <p:txBody>
          <a:bodyPr anchorCtr="0" anchor="t" bIns="0" lIns="0" spcFirstLastPara="1" rIns="0" wrap="square" tIns="116200">
            <a:spAutoFit/>
          </a:bodyPr>
          <a:lstStyle/>
          <a:p>
            <a:pPr indent="-3253104" lvl="0" marL="3268979" marR="5080" rtl="0" algn="ctr">
              <a:lnSpc>
                <a:spcPct val="135000"/>
              </a:lnSpc>
              <a:spcBef>
                <a:spcPts val="0"/>
              </a:spcBef>
              <a:spcAft>
                <a:spcPts val="0"/>
              </a:spcAft>
              <a:buNone/>
            </a:pPr>
            <a:r>
              <a:rPr lang="es-PE" sz="4800">
                <a:latin typeface="Arial"/>
                <a:ea typeface="Arial"/>
                <a:cs typeface="Arial"/>
                <a:sym typeface="Arial"/>
              </a:rPr>
              <a:t>CURSO: DISEÑO DE PATRONES</a:t>
            </a:r>
            <a:endParaRPr sz="4800">
              <a:latin typeface="Arial"/>
              <a:ea typeface="Arial"/>
              <a:cs typeface="Arial"/>
              <a:sym typeface="Arial"/>
            </a:endParaRPr>
          </a:p>
        </p:txBody>
      </p:sp>
      <p:sp>
        <p:nvSpPr>
          <p:cNvPr id="48" name="Google Shape;48;p1"/>
          <p:cNvSpPr txBox="1"/>
          <p:nvPr/>
        </p:nvSpPr>
        <p:spPr>
          <a:xfrm>
            <a:off x="2767012" y="1644495"/>
            <a:ext cx="6629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PE" sz="1800" u="none" cap="none" strike="noStrike">
                <a:solidFill>
                  <a:srgbClr val="D1052D"/>
                </a:solidFill>
                <a:latin typeface="Calibri"/>
                <a:ea typeface="Calibri"/>
                <a:cs typeface="Calibri"/>
                <a:sym typeface="Calibri"/>
              </a:rPr>
              <a:t>PRIMERA UNIDAD DE APRENDIZAJE 3: Patrones estructurales</a:t>
            </a:r>
            <a:r>
              <a:rPr b="0" i="0" lang="es-PE" sz="1800" u="none" cap="none" strike="noStrike">
                <a:solidFill>
                  <a:schemeClr val="dk1"/>
                </a:solidFill>
                <a:latin typeface="Verdana"/>
                <a:ea typeface="Verdana"/>
                <a:cs typeface="Verdana"/>
                <a:sym typeface="Verdana"/>
              </a:rPr>
              <a:t> </a:t>
            </a:r>
            <a:endParaRPr b="0" i="0" sz="1800" u="none" cap="none" strike="noStrike">
              <a:solidFill>
                <a:schemeClr val="dk1"/>
              </a:solidFill>
              <a:latin typeface="Calibri"/>
              <a:ea typeface="Calibri"/>
              <a:cs typeface="Calibri"/>
              <a:sym typeface="Calibri"/>
            </a:endParaRPr>
          </a:p>
        </p:txBody>
      </p:sp>
      <p:sp>
        <p:nvSpPr>
          <p:cNvPr id="49" name="Google Shape;49;p1"/>
          <p:cNvSpPr txBox="1"/>
          <p:nvPr/>
        </p:nvSpPr>
        <p:spPr>
          <a:xfrm>
            <a:off x="1966912" y="3179215"/>
            <a:ext cx="8258176" cy="1595309"/>
          </a:xfrm>
          <a:prstGeom prst="rect">
            <a:avLst/>
          </a:prstGeom>
          <a:solidFill>
            <a:srgbClr val="D1052D"/>
          </a:solid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PE" sz="3200" u="none" cap="none" strike="noStrike">
                <a:solidFill>
                  <a:schemeClr val="lt1"/>
                </a:solidFill>
                <a:latin typeface="Arial"/>
                <a:ea typeface="Arial"/>
                <a:cs typeface="Arial"/>
                <a:sym typeface="Arial"/>
              </a:rPr>
              <a:t>SESIÓN N° 09:</a:t>
            </a:r>
            <a:endParaRPr b="1" i="0" sz="3200" u="none" cap="none" strike="noStrike">
              <a:solidFill>
                <a:schemeClr val="lt1"/>
              </a:solidFill>
              <a:latin typeface="Arial"/>
              <a:ea typeface="Arial"/>
              <a:cs typeface="Arial"/>
              <a:sym typeface="Arial"/>
            </a:endParaRPr>
          </a:p>
          <a:p>
            <a:pPr indent="0" lvl="0" marL="12700" marR="0" rtl="0" algn="l">
              <a:lnSpc>
                <a:spcPct val="100000"/>
              </a:lnSpc>
              <a:spcBef>
                <a:spcPts val="100"/>
              </a:spcBef>
              <a:spcAft>
                <a:spcPts val="0"/>
              </a:spcAft>
              <a:buNone/>
            </a:pPr>
            <a:r>
              <a:rPr b="1" i="0" lang="es-PE" sz="3200" u="none" cap="none" strike="noStrike">
                <a:solidFill>
                  <a:schemeClr val="lt1"/>
                </a:solidFill>
                <a:latin typeface="Calibri"/>
                <a:ea typeface="Calibri"/>
                <a:cs typeface="Calibri"/>
                <a:sym typeface="Calibri"/>
              </a:rPr>
              <a:t>Patrones Estructurales: </a:t>
            </a:r>
            <a:endParaRPr/>
          </a:p>
          <a:p>
            <a:pPr indent="0" lvl="0" marL="12700" marR="0" rtl="0" algn="l">
              <a:lnSpc>
                <a:spcPct val="100000"/>
              </a:lnSpc>
              <a:spcBef>
                <a:spcPts val="100"/>
              </a:spcBef>
              <a:spcAft>
                <a:spcPts val="0"/>
              </a:spcAft>
              <a:buNone/>
            </a:pPr>
            <a:r>
              <a:rPr b="1" i="0" lang="es-PE" sz="3200" u="none" cap="none" strike="noStrike">
                <a:solidFill>
                  <a:schemeClr val="lt1"/>
                </a:solidFill>
                <a:latin typeface="Calibri"/>
                <a:ea typeface="Calibri"/>
                <a:cs typeface="Calibri"/>
                <a:sym typeface="Calibri"/>
              </a:rPr>
              <a:t>Patrón Decorator. Patrón Composite</a:t>
            </a:r>
            <a:endParaRPr b="0" i="0" sz="3200" u="none" cap="none" strike="noStrike">
              <a:solidFill>
                <a:schemeClr val="lt1"/>
              </a:solidFill>
              <a:latin typeface="Arial"/>
              <a:ea typeface="Arial"/>
              <a:cs typeface="Arial"/>
              <a:sym typeface="Arial"/>
            </a:endParaRPr>
          </a:p>
        </p:txBody>
      </p:sp>
      <p:sp>
        <p:nvSpPr>
          <p:cNvPr id="50" name="Google Shape;50;p1"/>
          <p:cNvSpPr txBox="1"/>
          <p:nvPr/>
        </p:nvSpPr>
        <p:spPr>
          <a:xfrm>
            <a:off x="3048000" y="5715000"/>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PE" sz="1800" u="none" cap="none" strike="noStrike">
                <a:solidFill>
                  <a:srgbClr val="D1052D"/>
                </a:solidFill>
                <a:latin typeface="Arial"/>
                <a:ea typeface="Arial"/>
                <a:cs typeface="Arial"/>
                <a:sym typeface="Arial"/>
              </a:rPr>
              <a:t>DOCENTES DE UTP</a:t>
            </a:r>
            <a:endParaRPr/>
          </a:p>
          <a:p>
            <a:pPr indent="0" lvl="0" marL="12700" marR="0" rtl="0" algn="ctr">
              <a:lnSpc>
                <a:spcPct val="100000"/>
              </a:lnSpc>
              <a:spcBef>
                <a:spcPts val="100"/>
              </a:spcBef>
              <a:spcAft>
                <a:spcPts val="0"/>
              </a:spcAft>
              <a:buNone/>
            </a:pPr>
            <a:r>
              <a:rPr b="1" i="0" lang="es-PE" sz="1800" u="none" cap="none" strike="noStrike">
                <a:solidFill>
                  <a:srgbClr val="D1052D"/>
                </a:solidFill>
                <a:latin typeface="Arial"/>
                <a:ea typeface="Arial"/>
                <a:cs typeface="Arial"/>
                <a:sym typeface="Arial"/>
              </a:rPr>
              <a:t>SISTEMAS</a:t>
            </a:r>
            <a:endParaRPr b="0" i="0" sz="1800" u="none" cap="none" strike="noStrike">
              <a:solidFill>
                <a:schemeClr val="dk1"/>
              </a:solidFill>
              <a:latin typeface="Arial"/>
              <a:ea typeface="Arial"/>
              <a:cs typeface="Arial"/>
              <a:sym typeface="Arial"/>
            </a:endParaRPr>
          </a:p>
        </p:txBody>
      </p:sp>
      <p:grpSp>
        <p:nvGrpSpPr>
          <p:cNvPr id="51" name="Google Shape;51;p1"/>
          <p:cNvGrpSpPr/>
          <p:nvPr/>
        </p:nvGrpSpPr>
        <p:grpSpPr>
          <a:xfrm>
            <a:off x="3681788" y="152400"/>
            <a:ext cx="8281612" cy="1295400"/>
            <a:chOff x="3681788" y="152400"/>
            <a:chExt cx="8281612" cy="1295400"/>
          </a:xfrm>
        </p:grpSpPr>
        <p:pic>
          <p:nvPicPr>
            <p:cNvPr id="52" name="Google Shape;52;p1"/>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53" name="Google Shape;53;p1"/>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60" name="Google Shape;60;p2"/>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61" name="Google Shape;61;p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62" name="Google Shape;62;p2"/>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PE" sz="3600">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63" name="Google Shape;63;p2"/>
          <p:cNvPicPr preferRelativeResize="0"/>
          <p:nvPr/>
        </p:nvPicPr>
        <p:blipFill rotWithShape="1">
          <a:blip r:embed="rId4">
            <a:alphaModFix/>
          </a:blip>
          <a:srcRect b="0" l="0" r="0" t="0"/>
          <a:stretch/>
        </p:blipFill>
        <p:spPr>
          <a:xfrm>
            <a:off x="9753600" y="6184229"/>
            <a:ext cx="445171" cy="445171"/>
          </a:xfrm>
          <a:prstGeom prst="rect">
            <a:avLst/>
          </a:prstGeom>
          <a:noFill/>
          <a:ln>
            <a:noFill/>
          </a:ln>
        </p:spPr>
      </p:pic>
      <p:sp>
        <p:nvSpPr>
          <p:cNvPr id="64" name="Google Shape;64;p2"/>
          <p:cNvSpPr txBox="1"/>
          <p:nvPr/>
        </p:nvSpPr>
        <p:spPr>
          <a:xfrm>
            <a:off x="10198771" y="6222148"/>
            <a:ext cx="1764629" cy="400110"/>
          </a:xfrm>
          <a:prstGeom prst="rect">
            <a:avLst/>
          </a:prstGeom>
          <a:noFill/>
          <a:ln>
            <a:noFill/>
          </a:ln>
        </p:spPr>
        <p:txBody>
          <a:bodyPr anchorCtr="0" anchor="t" bIns="45700" lIns="91425" spcFirstLastPara="1" rIns="91425" wrap="square" tIns="45700">
            <a:spAutoFit/>
          </a:bodyPr>
          <a:lstStyle/>
          <a:p>
            <a:pPr indent="0" lvl="0" marL="0" marR="114300" rtl="0" algn="l">
              <a:lnSpc>
                <a:spcPct val="100000"/>
              </a:lnSpc>
              <a:spcBef>
                <a:spcPts val="0"/>
              </a:spcBef>
              <a:spcAft>
                <a:spcPts val="0"/>
              </a:spcAft>
              <a:buNone/>
            </a:pPr>
            <a:r>
              <a:rPr b="1" lang="es-PE" sz="2000">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71" name="Google Shape;71;p3"/>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72" name="Google Shape;72;p3"/>
          <p:cNvSpPr/>
          <p:nvPr/>
        </p:nvSpPr>
        <p:spPr>
          <a:xfrm>
            <a:off x="990600" y="836474"/>
            <a:ext cx="9601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PE" sz="2400" cap="none">
                <a:solidFill>
                  <a:srgbClr val="262626"/>
                </a:solidFill>
                <a:latin typeface="Calibri"/>
                <a:ea typeface="Calibri"/>
                <a:cs typeface="Calibri"/>
                <a:sym typeface="Calibri"/>
              </a:rPr>
              <a:t>¿QUÉ SON PATRONES decorator y composite?</a:t>
            </a:r>
            <a:endParaRPr/>
          </a:p>
        </p:txBody>
      </p:sp>
      <p:sp>
        <p:nvSpPr>
          <p:cNvPr id="73" name="Google Shape;73;p3"/>
          <p:cNvSpPr txBox="1"/>
          <p:nvPr/>
        </p:nvSpPr>
        <p:spPr>
          <a:xfrm>
            <a:off x="533400" y="1309902"/>
            <a:ext cx="11049000"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2400">
                <a:solidFill>
                  <a:schemeClr val="dk1"/>
                </a:solidFill>
                <a:latin typeface="Calibri"/>
                <a:ea typeface="Calibri"/>
                <a:cs typeface="Calibri"/>
                <a:sym typeface="Calibri"/>
              </a:rPr>
              <a:t>Decorator</a:t>
            </a:r>
            <a:r>
              <a:rPr lang="es-PE" sz="2400">
                <a:solidFill>
                  <a:schemeClr val="dk1"/>
                </a:solidFill>
                <a:latin typeface="Calibri"/>
                <a:ea typeface="Calibri"/>
                <a:cs typeface="Calibri"/>
                <a:sym typeface="Calibri"/>
              </a:rPr>
              <a:t>: Permite agregar funcionalidades adicionales a un objeto de manera dinámica sin modificar su estructura. Es útil para extender las capacidades de un objeto de forma flexible.</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rPr b="1" lang="es-PE" sz="2400">
                <a:solidFill>
                  <a:schemeClr val="dk1"/>
                </a:solidFill>
                <a:latin typeface="Calibri"/>
                <a:ea typeface="Calibri"/>
                <a:cs typeface="Calibri"/>
                <a:sym typeface="Calibri"/>
              </a:rPr>
              <a:t>Composite</a:t>
            </a:r>
            <a:r>
              <a:rPr lang="es-PE" sz="2400">
                <a:solidFill>
                  <a:schemeClr val="dk1"/>
                </a:solidFill>
                <a:latin typeface="Calibri"/>
                <a:ea typeface="Calibri"/>
                <a:cs typeface="Calibri"/>
                <a:sym typeface="Calibri"/>
              </a:rPr>
              <a:t>: Permite tratar de manera uniforme objetos individuales y composiciones de objetos. Es útil para representar jerarquías de objetos, donde tanto los objetos simples como las composiciones pueden ser tratados de la misma manera.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0" name="Google Shape;80;p4"/>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81" name="Google Shape;81;p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82" name="Google Shape;82;p4"/>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PE" sz="3600">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9" name="Google Shape;89;p5"/>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pic>
        <p:nvPicPr>
          <p:cNvPr id="90" name="Google Shape;90;p5"/>
          <p:cNvPicPr preferRelativeResize="0"/>
          <p:nvPr/>
        </p:nvPicPr>
        <p:blipFill rotWithShape="1">
          <a:blip r:embed="rId4">
            <a:alphaModFix/>
          </a:blip>
          <a:srcRect b="0" l="0" r="0" t="0"/>
          <a:stretch/>
        </p:blipFill>
        <p:spPr>
          <a:xfrm>
            <a:off x="381000" y="910868"/>
            <a:ext cx="11201400" cy="54899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97" name="Google Shape;97;p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98" name="Google Shape;98;p6"/>
          <p:cNvSpPr txBox="1"/>
          <p:nvPr/>
        </p:nvSpPr>
        <p:spPr>
          <a:xfrm>
            <a:off x="2552700" y="4332800"/>
            <a:ext cx="7086600"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PE" sz="2400">
                <a:solidFill>
                  <a:schemeClr val="dk1"/>
                </a:solidFill>
                <a:latin typeface="Arial"/>
                <a:ea typeface="Arial"/>
                <a:cs typeface="Arial"/>
                <a:sym typeface="Arial"/>
              </a:rPr>
              <a:t>Al final de la sesión el estudiante aplica patrones estructurales: </a:t>
            </a:r>
            <a:endParaRPr/>
          </a:p>
          <a:p>
            <a:pPr indent="0" lvl="0" marL="0" marR="0" rtl="0" algn="ctr">
              <a:spcBef>
                <a:spcPts val="0"/>
              </a:spcBef>
              <a:spcAft>
                <a:spcPts val="0"/>
              </a:spcAft>
              <a:buNone/>
            </a:pPr>
            <a:r>
              <a:rPr lang="es-PE" sz="2400">
                <a:solidFill>
                  <a:schemeClr val="dk1"/>
                </a:solidFill>
                <a:latin typeface="Arial"/>
                <a:ea typeface="Arial"/>
                <a:cs typeface="Arial"/>
                <a:sym typeface="Arial"/>
              </a:rPr>
              <a:t>Patrón Decorator. Patrón Composite en un contexto definido</a:t>
            </a:r>
            <a:endParaRPr/>
          </a:p>
          <a:p>
            <a:pPr indent="0" lvl="0" marL="0" marR="0" rtl="0" algn="ctr">
              <a:spcBef>
                <a:spcPts val="0"/>
              </a:spcBef>
              <a:spcAft>
                <a:spcPts val="0"/>
              </a:spcAft>
              <a:buNone/>
            </a:pPr>
            <a:r>
              <a:t/>
            </a:r>
            <a:endParaRPr sz="2400">
              <a:solidFill>
                <a:schemeClr val="dk1"/>
              </a:solidFill>
              <a:latin typeface="Arial"/>
              <a:ea typeface="Arial"/>
              <a:cs typeface="Arial"/>
              <a:sym typeface="Arial"/>
            </a:endParaRPr>
          </a:p>
          <a:p>
            <a:pPr indent="0" lvl="0" marL="0" marR="0" rtl="0" algn="ctr">
              <a:spcBef>
                <a:spcPts val="0"/>
              </a:spcBef>
              <a:spcAft>
                <a:spcPts val="0"/>
              </a:spcAft>
              <a:buNone/>
            </a:pPr>
            <a:r>
              <a:rPr lang="es-PE"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pic>
        <p:nvPicPr>
          <p:cNvPr id="99" name="Google Shape;99;p6"/>
          <p:cNvPicPr preferRelativeResize="0"/>
          <p:nvPr/>
        </p:nvPicPr>
        <p:blipFill rotWithShape="1">
          <a:blip r:embed="rId3">
            <a:alphaModFix/>
          </a:blip>
          <a:srcRect b="0" l="0" r="0" t="0"/>
          <a:stretch/>
        </p:blipFill>
        <p:spPr>
          <a:xfrm>
            <a:off x="5783622" y="292547"/>
            <a:ext cx="559075" cy="559062"/>
          </a:xfrm>
          <a:prstGeom prst="rect">
            <a:avLst/>
          </a:prstGeom>
          <a:noFill/>
          <a:ln>
            <a:noFill/>
          </a:ln>
        </p:spPr>
      </p:pic>
      <p:pic>
        <p:nvPicPr>
          <p:cNvPr id="100" name="Google Shape;100;p6"/>
          <p:cNvPicPr preferRelativeResize="0"/>
          <p:nvPr/>
        </p:nvPicPr>
        <p:blipFill rotWithShape="1">
          <a:blip r:embed="rId4">
            <a:alphaModFix/>
          </a:blip>
          <a:srcRect b="0" l="0" r="0" t="0"/>
          <a:stretch/>
        </p:blipFill>
        <p:spPr>
          <a:xfrm>
            <a:off x="865505" y="1270736"/>
            <a:ext cx="9588500" cy="28440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07" name="Google Shape;107;p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08" name="Google Shape;108;p7"/>
          <p:cNvSpPr txBox="1"/>
          <p:nvPr/>
        </p:nvSpPr>
        <p:spPr>
          <a:xfrm>
            <a:off x="381000" y="1122202"/>
            <a:ext cx="10820400"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2800">
                <a:solidFill>
                  <a:schemeClr val="dk1"/>
                </a:solidFill>
                <a:latin typeface="Calibri"/>
                <a:ea typeface="Calibri"/>
                <a:cs typeface="Calibri"/>
                <a:sym typeface="Calibri"/>
              </a:rPr>
              <a:t>Decorator</a:t>
            </a:r>
            <a:r>
              <a:rPr lang="es-PE" sz="2800">
                <a:solidFill>
                  <a:schemeClr val="dk1"/>
                </a:solidFill>
                <a:latin typeface="Calibri"/>
                <a:ea typeface="Calibri"/>
                <a:cs typeface="Calibri"/>
                <a:sym typeface="Calibri"/>
              </a:rPr>
              <a:t>: Es importante porque permite añadir o modificar el comportamiento de un objeto en tiempo de ejecución sin cambiar su código original. Esto proporciona flexibilidad para extender funcionalidades de manera modular y reutilizable.</a:t>
            </a:r>
            <a:endParaRPr/>
          </a:p>
          <a:p>
            <a:pPr indent="0" lvl="0" marL="0" marR="0" rtl="0" algn="l">
              <a:spcBef>
                <a:spcPts val="0"/>
              </a:spcBef>
              <a:spcAft>
                <a:spcPts val="0"/>
              </a:spcAft>
              <a:buNone/>
            </a:pPr>
            <a:r>
              <a:rPr b="1" lang="es-PE" sz="2800">
                <a:solidFill>
                  <a:schemeClr val="dk1"/>
                </a:solidFill>
                <a:latin typeface="Calibri"/>
                <a:ea typeface="Calibri"/>
                <a:cs typeface="Calibri"/>
                <a:sym typeface="Calibri"/>
              </a:rPr>
              <a:t>Composite</a:t>
            </a:r>
            <a:r>
              <a:rPr lang="es-PE" sz="2800">
                <a:solidFill>
                  <a:schemeClr val="dk1"/>
                </a:solidFill>
                <a:latin typeface="Calibri"/>
                <a:ea typeface="Calibri"/>
                <a:cs typeface="Calibri"/>
                <a:sym typeface="Calibri"/>
              </a:rPr>
              <a:t>: Es importante porque facilita el manejo y la manipulación de estructuras jerárquicas de objetos (como árboles) de manera uniforme. Permite tratar objetos individuales y grupos de objetos de manera coherente, simplificando la gestión de estructuras complejas.</a:t>
            </a:r>
            <a:endParaRPr/>
          </a:p>
        </p:txBody>
      </p:sp>
      <p:pic>
        <p:nvPicPr>
          <p:cNvPr id="109" name="Google Shape;109;p7"/>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8"/>
          <p:cNvSpPr txBox="1"/>
          <p:nvPr/>
        </p:nvSpPr>
        <p:spPr>
          <a:xfrm>
            <a:off x="1966912" y="2890391"/>
            <a:ext cx="8258176" cy="1595309"/>
          </a:xfrm>
          <a:prstGeom prst="rect">
            <a:avLst/>
          </a:prstGeom>
          <a:solidFill>
            <a:srgbClr val="D1052D"/>
          </a:soli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PE" sz="3200">
                <a:solidFill>
                  <a:schemeClr val="lt1"/>
                </a:solidFill>
                <a:latin typeface="Calibri"/>
                <a:ea typeface="Calibri"/>
                <a:cs typeface="Calibri"/>
                <a:sym typeface="Calibri"/>
              </a:rPr>
              <a:t>Patrones Estructurales: </a:t>
            </a:r>
            <a:endParaRPr/>
          </a:p>
          <a:p>
            <a:pPr indent="0" lvl="0" marL="12700" marR="0" rtl="0" algn="l">
              <a:lnSpc>
                <a:spcPct val="100000"/>
              </a:lnSpc>
              <a:spcBef>
                <a:spcPts val="100"/>
              </a:spcBef>
              <a:spcAft>
                <a:spcPts val="0"/>
              </a:spcAft>
              <a:buNone/>
            </a:pPr>
            <a:r>
              <a:rPr b="1" lang="es-PE" sz="3200">
                <a:solidFill>
                  <a:schemeClr val="lt1"/>
                </a:solidFill>
                <a:latin typeface="Calibri"/>
                <a:ea typeface="Calibri"/>
                <a:cs typeface="Calibri"/>
                <a:sym typeface="Calibri"/>
              </a:rPr>
              <a:t>Patrón Decorator. Patrón Composite</a:t>
            </a:r>
            <a:endParaRPr/>
          </a:p>
          <a:p>
            <a:pPr indent="0" lvl="0" marL="12700" marR="0" rtl="0" algn="l">
              <a:lnSpc>
                <a:spcPct val="100000"/>
              </a:lnSpc>
              <a:spcBef>
                <a:spcPts val="100"/>
              </a:spcBef>
              <a:spcAft>
                <a:spcPts val="0"/>
              </a:spcAft>
              <a:buNone/>
            </a:pPr>
            <a:r>
              <a:t/>
            </a:r>
            <a:endParaRPr b="1" sz="3200">
              <a:solidFill>
                <a:schemeClr val="lt1"/>
              </a:solidFill>
              <a:latin typeface="Calibri"/>
              <a:ea typeface="Calibri"/>
              <a:cs typeface="Calibri"/>
              <a:sym typeface="Calibri"/>
            </a:endParaRPr>
          </a:p>
        </p:txBody>
      </p:sp>
      <p:sp>
        <p:nvSpPr>
          <p:cNvPr id="115" name="Google Shape;115;p8"/>
          <p:cNvSpPr txBox="1"/>
          <p:nvPr/>
        </p:nvSpPr>
        <p:spPr>
          <a:xfrm>
            <a:off x="4076700" y="1991427"/>
            <a:ext cx="4038600" cy="646331"/>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PE" sz="3600">
                <a:solidFill>
                  <a:srgbClr val="000000"/>
                </a:solidFill>
                <a:latin typeface="Arial"/>
                <a:ea typeface="Arial"/>
                <a:cs typeface="Arial"/>
                <a:sym typeface="Arial"/>
              </a:rPr>
              <a:t>SESIÓN N° 09:</a:t>
            </a:r>
            <a:endParaRPr b="1" sz="3600">
              <a:solidFill>
                <a:srgbClr val="000000"/>
              </a:solidFill>
              <a:latin typeface="Arial"/>
              <a:ea typeface="Arial"/>
              <a:cs typeface="Arial"/>
              <a:sym typeface="Arial"/>
            </a:endParaRPr>
          </a:p>
        </p:txBody>
      </p:sp>
      <p:sp>
        <p:nvSpPr>
          <p:cNvPr id="116" name="Google Shape;116;p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18" name="Google Shape;118;p8"/>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19" name="Google Shape;119;p8"/>
          <p:cNvSpPr txBox="1"/>
          <p:nvPr/>
        </p:nvSpPr>
        <p:spPr>
          <a:xfrm>
            <a:off x="365760" y="973304"/>
            <a:ext cx="535789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2000">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9"/>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Decorator</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25" name="Google Shape;125;p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26" name="Google Shape;126;p9"/>
          <p:cNvSpPr txBox="1"/>
          <p:nvPr/>
        </p:nvSpPr>
        <p:spPr>
          <a:xfrm>
            <a:off x="764457" y="706398"/>
            <a:ext cx="10663085"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Este patrón proporciona una forma de manejar tareas de manera jerárquica comenzando con operaciones más rudimentarias.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Es un diagrama de clases que describe todos los elementos relevantes y sus relaciones. BasicComponent y Decorator son ambos tipos derivados de Component, y el último agrega una instancia del primero. La operación del método en Decorator está “decorada” con la de BasicComponent.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En otras palabras, un decorador es una forma de basar una operación en operaciones de otro componente.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Decorator es estructuralmente como Proxy, pero los dos patrones se basan en intenciones de diseño muy diferentes. Para Decorator, el interés del cliente está en el objeto que se agrega, mientras que para Proxy, el objetivo del cliente es el objeto agregado.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0"/>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Decorator</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32" name="Google Shape;132;p1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pic>
        <p:nvPicPr>
          <p:cNvPr id="133" name="Google Shape;133;p10"/>
          <p:cNvPicPr preferRelativeResize="0"/>
          <p:nvPr/>
        </p:nvPicPr>
        <p:blipFill rotWithShape="1">
          <a:blip r:embed="rId4">
            <a:alphaModFix/>
          </a:blip>
          <a:srcRect b="0" l="0" r="0" t="0"/>
          <a:stretch/>
        </p:blipFill>
        <p:spPr>
          <a:xfrm>
            <a:off x="228601" y="899652"/>
            <a:ext cx="11502148" cy="53487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Decorator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39" name="Google Shape;139;p1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40" name="Google Shape;140;p11"/>
          <p:cNvSpPr txBox="1"/>
          <p:nvPr/>
        </p:nvSpPr>
        <p:spPr>
          <a:xfrm>
            <a:off x="764457" y="530340"/>
            <a:ext cx="10663085" cy="64325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2400">
                <a:solidFill>
                  <a:schemeClr val="dk1"/>
                </a:solidFill>
                <a:latin typeface="Calibri"/>
                <a:ea typeface="Calibri"/>
                <a:cs typeface="Calibri"/>
                <a:sym typeface="Calibri"/>
              </a:rPr>
              <a:t>Caso de Estudio: Transporte</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Supongamos que tenemos una interfaz Transport y queremos agregar características adicionales como "Seguro" y "Rastreo" a los transportes.</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Interfaz base</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public interface Transport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String getDescription();</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double cost();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Implementación concreta</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public class BasicTransport implements Transport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String getDescription()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return "Basic Transport";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double cost()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return 100.0;</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Decorador abstracto</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public abstract class TransportDecorator implements Transport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protected Transport decoratedTransport;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TransportDecorator(Transport decoratedTransport)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this.decoratedTransport = decoratedTransport;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String getDescription()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return decoratedTransport.getDescription();</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double cost()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return decoratedTransport.cost();</a:t>
            </a:r>
            <a:endParaRPr/>
          </a:p>
          <a:p>
            <a:pPr indent="0" lvl="0" marL="0" marR="0" rtl="0" algn="l">
              <a:spcBef>
                <a:spcPts val="0"/>
              </a:spcBef>
              <a:spcAft>
                <a:spcPts val="0"/>
              </a:spcAft>
              <a:buNone/>
            </a:pPr>
            <a:r>
              <a:rPr lang="es-PE" sz="1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s-PE" sz="1000">
                <a:solidFill>
                  <a:schemeClr val="dk1"/>
                </a:solidFill>
                <a:latin typeface="Calibri"/>
                <a:ea typeface="Calibri"/>
                <a:cs typeface="Calibri"/>
                <a:sym typeface="Calibri"/>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2"/>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Decorator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46" name="Google Shape;146;p1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47" name="Google Shape;147;p12"/>
          <p:cNvSpPr txBox="1"/>
          <p:nvPr/>
        </p:nvSpPr>
        <p:spPr>
          <a:xfrm>
            <a:off x="764457" y="530340"/>
            <a:ext cx="10663085" cy="58785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2400">
                <a:solidFill>
                  <a:schemeClr val="dk1"/>
                </a:solidFill>
                <a:latin typeface="Calibri"/>
                <a:ea typeface="Calibri"/>
                <a:cs typeface="Calibri"/>
                <a:sym typeface="Calibri"/>
              </a:rPr>
              <a:t>Caso de Estudio: Transporte</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Supongamos que tenemos una interfaz Transport y queremos agregar características adicionales como "Seguro" y "Rastreo" a los transportes.</a:t>
            </a:r>
            <a:endParaRPr/>
          </a:p>
          <a:p>
            <a:pPr indent="0" lvl="0" marL="0" marR="0" rtl="0" algn="l">
              <a:spcBef>
                <a:spcPts val="0"/>
              </a:spcBef>
              <a:spcAft>
                <a:spcPts val="0"/>
              </a:spcAft>
              <a:buNone/>
            </a:pPr>
            <a:r>
              <a:rPr lang="es-PE" sz="800">
                <a:solidFill>
                  <a:schemeClr val="dk1"/>
                </a:solidFill>
                <a:latin typeface="Calibri"/>
                <a:ea typeface="Calibri"/>
                <a:cs typeface="Calibri"/>
                <a:sym typeface="Calibri"/>
              </a:rPr>
              <a:t>// Decorador concreto para seguro</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public class InsuranceDecorator extends TransportDecorator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InsuranceDecorator(Transport decoratedTransport)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super(decoratedTransport);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String getDescription()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return decoratedTransport.getDescription() + ", with Insurance";</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double cost()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return decoratedTransport.cost() + 20.0;</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Decorador concreto para rastreo</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public class TrackingDecorator extends TransportDecorator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TrackingDecorator(Transport decoratedTransport)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super(decoratedTransport);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String getDescription()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return decoratedTransport.getDescription() + ", with Tracking";</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double cost()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return decoratedTransport.cost() + 15.0;</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 name="Google Shape;148;p12"/>
          <p:cNvSpPr txBox="1"/>
          <p:nvPr/>
        </p:nvSpPr>
        <p:spPr>
          <a:xfrm>
            <a:off x="6555657" y="1828800"/>
            <a:ext cx="5636343" cy="41242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1400">
                <a:solidFill>
                  <a:schemeClr val="dk1"/>
                </a:solidFill>
                <a:latin typeface="Calibri"/>
                <a:ea typeface="Calibri"/>
                <a:cs typeface="Calibri"/>
                <a:sym typeface="Calibri"/>
              </a:rPr>
              <a:t>// Clase cliente</a:t>
            </a:r>
            <a:endParaRPr/>
          </a:p>
          <a:p>
            <a:pPr indent="0" lvl="0" marL="0" marR="0" rtl="0" algn="l">
              <a:spcBef>
                <a:spcPts val="0"/>
              </a:spcBef>
              <a:spcAft>
                <a:spcPts val="0"/>
              </a:spcAft>
              <a:buNone/>
            </a:pPr>
            <a:r>
              <a:rPr lang="es-PE" sz="1400">
                <a:solidFill>
                  <a:schemeClr val="dk1"/>
                </a:solidFill>
                <a:latin typeface="Calibri"/>
                <a:ea typeface="Calibri"/>
                <a:cs typeface="Calibri"/>
                <a:sym typeface="Calibri"/>
              </a:rPr>
              <a:t>public class Client {</a:t>
            </a:r>
            <a:endParaRPr/>
          </a:p>
          <a:p>
            <a:pPr indent="0" lvl="0" marL="0" marR="0" rtl="0" algn="l">
              <a:spcBef>
                <a:spcPts val="0"/>
              </a:spcBef>
              <a:spcAft>
                <a:spcPts val="0"/>
              </a:spcAft>
              <a:buNone/>
            </a:pPr>
            <a:r>
              <a:rPr lang="es-PE" sz="1400">
                <a:solidFill>
                  <a:schemeClr val="dk1"/>
                </a:solidFill>
                <a:latin typeface="Calibri"/>
                <a:ea typeface="Calibri"/>
                <a:cs typeface="Calibri"/>
                <a:sym typeface="Calibri"/>
              </a:rPr>
              <a:t>    public static void main(String[] args) {</a:t>
            </a:r>
            <a:endParaRPr/>
          </a:p>
          <a:p>
            <a:pPr indent="0" lvl="0" marL="0" marR="0" rtl="0" algn="l">
              <a:spcBef>
                <a:spcPts val="0"/>
              </a:spcBef>
              <a:spcAft>
                <a:spcPts val="0"/>
              </a:spcAft>
              <a:buNone/>
            </a:pPr>
            <a:r>
              <a:rPr lang="es-PE" sz="1400">
                <a:solidFill>
                  <a:schemeClr val="dk1"/>
                </a:solidFill>
                <a:latin typeface="Calibri"/>
                <a:ea typeface="Calibri"/>
                <a:cs typeface="Calibri"/>
                <a:sym typeface="Calibri"/>
              </a:rPr>
              <a:t>        Transport transport = new BasicTransport();</a:t>
            </a:r>
            <a:endParaRPr/>
          </a:p>
          <a:p>
            <a:pPr indent="0" lvl="0" marL="0" marR="0" rtl="0" algn="l">
              <a:spcBef>
                <a:spcPts val="0"/>
              </a:spcBef>
              <a:spcAft>
                <a:spcPts val="0"/>
              </a:spcAft>
              <a:buNone/>
            </a:pPr>
            <a:r>
              <a:rPr lang="es-PE" sz="1400">
                <a:solidFill>
                  <a:schemeClr val="dk1"/>
                </a:solidFill>
                <a:latin typeface="Calibri"/>
                <a:ea typeface="Calibri"/>
                <a:cs typeface="Calibri"/>
                <a:sym typeface="Calibri"/>
              </a:rPr>
              <a:t>        System.out.println(transport.getDescription() + " costs " + transport.cost());</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s-PE" sz="1400">
                <a:solidFill>
                  <a:schemeClr val="dk1"/>
                </a:solidFill>
                <a:latin typeface="Calibri"/>
                <a:ea typeface="Calibri"/>
                <a:cs typeface="Calibri"/>
                <a:sym typeface="Calibri"/>
              </a:rPr>
              <a:t>        Transport insuredTransport = new InsuranceDecorator(new BasicTransport());</a:t>
            </a:r>
            <a:endParaRPr/>
          </a:p>
          <a:p>
            <a:pPr indent="0" lvl="0" marL="0" marR="0" rtl="0" algn="l">
              <a:spcBef>
                <a:spcPts val="0"/>
              </a:spcBef>
              <a:spcAft>
                <a:spcPts val="0"/>
              </a:spcAft>
              <a:buNone/>
            </a:pPr>
            <a:r>
              <a:rPr lang="es-PE" sz="1400">
                <a:solidFill>
                  <a:schemeClr val="dk1"/>
                </a:solidFill>
                <a:latin typeface="Calibri"/>
                <a:ea typeface="Calibri"/>
                <a:cs typeface="Calibri"/>
                <a:sym typeface="Calibri"/>
              </a:rPr>
              <a:t>        System.out.println(insuredTransport.getDescription() + " costs " + insuredTransport.cost());</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s-PE" sz="1400">
                <a:solidFill>
                  <a:schemeClr val="dk1"/>
                </a:solidFill>
                <a:latin typeface="Calibri"/>
                <a:ea typeface="Calibri"/>
                <a:cs typeface="Calibri"/>
                <a:sym typeface="Calibri"/>
              </a:rPr>
              <a:t>        Transport trackedAndInsuredTransport = new TrackingDecorator(new InsuranceDecorator(new BasicTransport()));</a:t>
            </a:r>
            <a:endParaRPr/>
          </a:p>
          <a:p>
            <a:pPr indent="0" lvl="0" marL="0" marR="0" rtl="0" algn="l">
              <a:spcBef>
                <a:spcPts val="0"/>
              </a:spcBef>
              <a:spcAft>
                <a:spcPts val="0"/>
              </a:spcAft>
              <a:buNone/>
            </a:pPr>
            <a:r>
              <a:rPr lang="es-PE" sz="1400">
                <a:solidFill>
                  <a:schemeClr val="dk1"/>
                </a:solidFill>
                <a:latin typeface="Calibri"/>
                <a:ea typeface="Calibri"/>
                <a:cs typeface="Calibri"/>
                <a:sym typeface="Calibri"/>
              </a:rPr>
              <a:t>        System.out.println(trackedAndInsuredTransport.getDescription() + " costs " + trackedAndInsuredTransport.cost());</a:t>
            </a:r>
            <a:endParaRPr/>
          </a:p>
          <a:p>
            <a:pPr indent="0" lvl="0" marL="0" marR="0" rtl="0" algn="l">
              <a:spcBef>
                <a:spcPts val="0"/>
              </a:spcBef>
              <a:spcAft>
                <a:spcPts val="0"/>
              </a:spcAft>
              <a:buNone/>
            </a:pPr>
            <a:r>
              <a:rPr lang="es-PE" sz="1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Decorator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54" name="Google Shape;154;p13"/>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55" name="Google Shape;155;p13"/>
          <p:cNvSpPr txBox="1"/>
          <p:nvPr/>
        </p:nvSpPr>
        <p:spPr>
          <a:xfrm>
            <a:off x="764457" y="706398"/>
            <a:ext cx="10663085" cy="61247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2400">
                <a:solidFill>
                  <a:schemeClr val="dk1"/>
                </a:solidFill>
                <a:latin typeface="Calibri"/>
                <a:ea typeface="Calibri"/>
                <a:cs typeface="Calibri"/>
                <a:sym typeface="Calibri"/>
              </a:rPr>
              <a:t>Caso de Estudio: Transporte</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Supongamos que tenemos una interfaz Transport y queremos agregar características adicionales como "Seguro" y "Rastreo" a los transportes.</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Clase cliente</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public class Client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public static void main(String[] args)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Transport transport = new BasicTransport();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System.out.println(transport.getDescription() + " costs " + transport.cost());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Transport insuredTransport = new InsuranceDecorator(new BasicTransport());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System.out.println(insuredTransport.getDescription() + " costs " + insuredTransport.cost());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Transport trackedAndInsuredTransport = new TrackingDecorator(new InsuranceDecorator(new BasicTransport()));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System.out.println(trackedAndInsuredTransport.getDescription() + " costs " + trackedAndInsuredTransport.cost());</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200">
                <a:solidFill>
                  <a:schemeClr val="dk1"/>
                </a:solidFill>
                <a:latin typeface="Calibri"/>
                <a:ea typeface="Calibri"/>
                <a:cs typeface="Calibri"/>
                <a:sym typeface="Calibri"/>
              </a:rPr>
              <a:t>}</a:t>
            </a:r>
            <a:endParaRPr/>
          </a:p>
          <a:p>
            <a:pPr indent="0" lvl="0" marL="0" marR="0" rtl="0" algn="l">
              <a:spcBef>
                <a:spcPts val="0"/>
              </a:spcBef>
              <a:spcAft>
                <a:spcPts val="0"/>
              </a:spcAft>
              <a:buNone/>
            </a:pPr>
            <a:r>
              <a:rPr b="1" lang="es-PE" sz="2000">
                <a:solidFill>
                  <a:schemeClr val="dk1"/>
                </a:solidFill>
                <a:latin typeface="Calibri"/>
                <a:ea typeface="Calibri"/>
                <a:cs typeface="Calibri"/>
                <a:sym typeface="Calibri"/>
              </a:rPr>
              <a:t>BasicTransport</a:t>
            </a:r>
            <a:r>
              <a:rPr lang="es-PE" sz="2000">
                <a:solidFill>
                  <a:schemeClr val="dk1"/>
                </a:solidFill>
                <a:latin typeface="Calibri"/>
                <a:ea typeface="Calibri"/>
                <a:cs typeface="Calibri"/>
                <a:sym typeface="Calibri"/>
              </a:rPr>
              <a:t>: Implementa la interfaz Transport con una descripción y un costo base.</a:t>
            </a:r>
            <a:endParaRPr/>
          </a:p>
          <a:p>
            <a:pPr indent="0" lvl="0" marL="0" marR="0" rtl="0" algn="l">
              <a:spcBef>
                <a:spcPts val="0"/>
              </a:spcBef>
              <a:spcAft>
                <a:spcPts val="0"/>
              </a:spcAft>
              <a:buNone/>
            </a:pPr>
            <a:r>
              <a:rPr b="1" lang="es-PE" sz="2000">
                <a:solidFill>
                  <a:schemeClr val="dk1"/>
                </a:solidFill>
                <a:latin typeface="Calibri"/>
                <a:ea typeface="Calibri"/>
                <a:cs typeface="Calibri"/>
                <a:sym typeface="Calibri"/>
              </a:rPr>
              <a:t>TransportDecorator</a:t>
            </a:r>
            <a:r>
              <a:rPr lang="es-PE" sz="2000">
                <a:solidFill>
                  <a:schemeClr val="dk1"/>
                </a:solidFill>
                <a:latin typeface="Calibri"/>
                <a:ea typeface="Calibri"/>
                <a:cs typeface="Calibri"/>
                <a:sym typeface="Calibri"/>
              </a:rPr>
              <a:t>: Clase abstracta para los decoradores, que añade funcionalidades a un transporte existente.</a:t>
            </a:r>
            <a:endParaRPr/>
          </a:p>
          <a:p>
            <a:pPr indent="0" lvl="0" marL="0" marR="0" rtl="0" algn="l">
              <a:spcBef>
                <a:spcPts val="0"/>
              </a:spcBef>
              <a:spcAft>
                <a:spcPts val="0"/>
              </a:spcAft>
              <a:buNone/>
            </a:pPr>
            <a:r>
              <a:rPr b="1" lang="es-PE" sz="2000">
                <a:solidFill>
                  <a:schemeClr val="dk1"/>
                </a:solidFill>
                <a:latin typeface="Calibri"/>
                <a:ea typeface="Calibri"/>
                <a:cs typeface="Calibri"/>
                <a:sym typeface="Calibri"/>
              </a:rPr>
              <a:t>InsuranceDecorator</a:t>
            </a:r>
            <a:r>
              <a:rPr lang="es-PE" sz="2000">
                <a:solidFill>
                  <a:schemeClr val="dk1"/>
                </a:solidFill>
                <a:latin typeface="Calibri"/>
                <a:ea typeface="Calibri"/>
                <a:cs typeface="Calibri"/>
                <a:sym typeface="Calibri"/>
              </a:rPr>
              <a:t> y </a:t>
            </a:r>
            <a:r>
              <a:rPr b="1" lang="es-PE" sz="2000">
                <a:solidFill>
                  <a:schemeClr val="dk1"/>
                </a:solidFill>
                <a:latin typeface="Calibri"/>
                <a:ea typeface="Calibri"/>
                <a:cs typeface="Calibri"/>
                <a:sym typeface="Calibri"/>
              </a:rPr>
              <a:t>TrackingDecorator</a:t>
            </a:r>
            <a:r>
              <a:rPr lang="es-PE" sz="2000">
                <a:solidFill>
                  <a:schemeClr val="dk1"/>
                </a:solidFill>
                <a:latin typeface="Calibri"/>
                <a:ea typeface="Calibri"/>
                <a:cs typeface="Calibri"/>
                <a:sym typeface="Calibri"/>
              </a:rPr>
              <a:t>: Decoradores concretos que añaden seguro y rastreo, respectivamente.</a:t>
            </a:r>
            <a:endParaRPr/>
          </a:p>
          <a:p>
            <a:pPr indent="0" lvl="0" marL="0" marR="0" rtl="0" algn="l">
              <a:spcBef>
                <a:spcPts val="0"/>
              </a:spcBef>
              <a:spcAft>
                <a:spcPts val="0"/>
              </a:spcAft>
              <a:buNone/>
            </a:pPr>
            <a:r>
              <a:rPr b="1" lang="es-PE" sz="2000">
                <a:solidFill>
                  <a:schemeClr val="dk1"/>
                </a:solidFill>
                <a:latin typeface="Calibri"/>
                <a:ea typeface="Calibri"/>
                <a:cs typeface="Calibri"/>
                <a:sym typeface="Calibri"/>
              </a:rPr>
              <a:t>Client</a:t>
            </a:r>
            <a:r>
              <a:rPr lang="es-PE" sz="2000">
                <a:solidFill>
                  <a:schemeClr val="dk1"/>
                </a:solidFill>
                <a:latin typeface="Calibri"/>
                <a:ea typeface="Calibri"/>
                <a:cs typeface="Calibri"/>
                <a:sym typeface="Calibri"/>
              </a:rPr>
              <a:t>: Muestra cómo se pueden combinar decoradores para enriquecer las funcionalidades de un transporte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4"/>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Composite</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61" name="Google Shape;161;p14"/>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62" name="Google Shape;162;p14"/>
          <p:cNvSpPr txBox="1"/>
          <p:nvPr/>
        </p:nvSpPr>
        <p:spPr>
          <a:xfrm>
            <a:off x="764457" y="1066800"/>
            <a:ext cx="10663085"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2400">
                <a:solidFill>
                  <a:schemeClr val="dk1"/>
                </a:solidFill>
                <a:latin typeface="Calibri"/>
                <a:ea typeface="Calibri"/>
                <a:cs typeface="Calibri"/>
                <a:sym typeface="Calibri"/>
              </a:rPr>
              <a:t>Ciertos elementos de software son jerárquicos, como la simulación de un motor, una tarea de un curso o la estructura de gestión de una organización. Dichos elementos se crean en función de relaciones parte-todo.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Por ejemplo, una tarea de un curso puede constar de varias partes; cada una puede tener su propia división de partes (cada parte es una tarea de pequeña escala).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Por lo tanto, resulta útil utilizar el mismo tipo de objeto para todos los elementos de la misma composición, de modo que el código del cliente pueda tratarlos de manera coherente para ejecutar operaciones que se implementan de forma polimórfica. Aunque un decorador también tiene una relación parte-todo, ya que un componente básico es parte de un todo decorado, solo ofrece una composición "vertical" simple entre el todo y sus partes. </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La figura ilustra el patrón Composite, una generalización del patrón Decorator con una colección agregada de instancias de Component.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5"/>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Composite</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68" name="Google Shape;168;p15"/>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pic>
        <p:nvPicPr>
          <p:cNvPr id="169" name="Google Shape;169;p15"/>
          <p:cNvPicPr preferRelativeResize="0"/>
          <p:nvPr/>
        </p:nvPicPr>
        <p:blipFill rotWithShape="1">
          <a:blip r:embed="rId4">
            <a:alphaModFix/>
          </a:blip>
          <a:srcRect b="0" l="0" r="0" t="0"/>
          <a:stretch/>
        </p:blipFill>
        <p:spPr>
          <a:xfrm>
            <a:off x="1219200" y="899652"/>
            <a:ext cx="9601200" cy="54249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Composite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75" name="Google Shape;175;p16"/>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76" name="Google Shape;176;p16"/>
          <p:cNvSpPr txBox="1"/>
          <p:nvPr/>
        </p:nvSpPr>
        <p:spPr>
          <a:xfrm>
            <a:off x="685801" y="899652"/>
            <a:ext cx="9434944"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2400">
                <a:solidFill>
                  <a:schemeClr val="dk1"/>
                </a:solidFill>
                <a:latin typeface="Calibri"/>
                <a:ea typeface="Calibri"/>
                <a:cs typeface="Calibri"/>
                <a:sym typeface="Calibri"/>
              </a:rPr>
              <a:t>Caso de Estudio: Sistema de Gestión de Pacientes</a:t>
            </a:r>
            <a:endParaRPr/>
          </a:p>
          <a:p>
            <a:pPr indent="0" lvl="0" marL="0" marR="0" rtl="0" algn="l">
              <a:spcBef>
                <a:spcPts val="0"/>
              </a:spcBef>
              <a:spcAft>
                <a:spcPts val="0"/>
              </a:spcAft>
              <a:buNone/>
            </a:pPr>
            <a:r>
              <a:rPr lang="es-PE" sz="2400">
                <a:solidFill>
                  <a:schemeClr val="dk1"/>
                </a:solidFill>
                <a:latin typeface="Calibri"/>
                <a:ea typeface="Calibri"/>
                <a:cs typeface="Calibri"/>
                <a:sym typeface="Calibri"/>
              </a:rPr>
              <a:t>Supongamos que tenemos un sistema para gestionar pacientes y sus tratamientos, donde tanto los tratamientos individuales como los conjuntos de tratamientos (compositores) deben ser tratados de manera uniforme.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7"/>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Composite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82" name="Google Shape;182;p1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83" name="Google Shape;183;p17"/>
          <p:cNvSpPr txBox="1"/>
          <p:nvPr/>
        </p:nvSpPr>
        <p:spPr>
          <a:xfrm>
            <a:off x="589935" y="706398"/>
            <a:ext cx="9434944" cy="62170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1600">
                <a:solidFill>
                  <a:schemeClr val="dk1"/>
                </a:solidFill>
                <a:latin typeface="Calibri"/>
                <a:ea typeface="Calibri"/>
                <a:cs typeface="Calibri"/>
                <a:sym typeface="Calibri"/>
              </a:rPr>
              <a:t>// Componente base</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public interface Treatment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String getDescription();</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double cost();</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Tratamiento individual</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public class SingleTreatment implements Treatment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private String description;</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private double cost;</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public SingleTreatment(String description, double cost)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this.description = description;</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this.cost = cost;</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public String getDescription()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return description;</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public double cost()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return cost;</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Composite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89" name="Google Shape;189;p18"/>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90" name="Google Shape;190;p18"/>
          <p:cNvSpPr txBox="1"/>
          <p:nvPr/>
        </p:nvSpPr>
        <p:spPr>
          <a:xfrm>
            <a:off x="485832" y="530340"/>
            <a:ext cx="9434944" cy="62170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1600">
                <a:solidFill>
                  <a:schemeClr val="dk1"/>
                </a:solidFill>
                <a:latin typeface="Calibri"/>
                <a:ea typeface="Calibri"/>
                <a:cs typeface="Calibri"/>
                <a:sym typeface="Calibri"/>
              </a:rPr>
              <a:t>// Tratamiento compuesto (para varios tratamientos)</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import java.util.ArrayList;</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import java.util.List;</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public class CompositeTreatment implements Treatment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private List&lt;Treatment&gt; treatments = new ArrayList&lt;&gt;();</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public void addTreatment(Treatment treatment)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treatments.add(treatment);</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public void removeTreatment(Treatment treatment)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treatments.remove(treatment);</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public String getDescription()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StringBuilder description = new StringBuilder("Composite Treatment: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for (Treatment treatment : treatments)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description.append("\n - ").append(treatment.getDescription());</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return description.toString();</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public double cost()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double totalCost = 0;</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for (Treatment treatment : treatments)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totalCost += treatment.cost();</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1600">
                <a:solidFill>
                  <a:schemeClr val="dk1"/>
                </a:solidFill>
                <a:latin typeface="Calibri"/>
                <a:ea typeface="Calibri"/>
                <a:cs typeface="Calibri"/>
                <a:sym typeface="Calibri"/>
              </a:rPr>
              <a:t>        return totalCost;</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9"/>
          <p:cNvSpPr txBox="1"/>
          <p:nvPr/>
        </p:nvSpPr>
        <p:spPr>
          <a:xfrm>
            <a:off x="589935" y="161029"/>
            <a:ext cx="6096000" cy="7386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PE" sz="2400">
                <a:solidFill>
                  <a:srgbClr val="C00000"/>
                </a:solidFill>
                <a:latin typeface="Calibri"/>
                <a:ea typeface="Calibri"/>
                <a:cs typeface="Calibri"/>
                <a:sym typeface="Calibri"/>
              </a:rPr>
              <a:t>Patrones estructurales – Composite - ejemplo</a:t>
            </a:r>
            <a:endParaRPr sz="2400">
              <a:solidFill>
                <a:srgbClr val="C00000"/>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96" name="Google Shape;196;p1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97" name="Google Shape;197;p19"/>
          <p:cNvSpPr txBox="1"/>
          <p:nvPr/>
        </p:nvSpPr>
        <p:spPr>
          <a:xfrm>
            <a:off x="589935" y="706398"/>
            <a:ext cx="9434944" cy="55399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PE" sz="1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Clase cliente</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public class Client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public static void main(String[] args)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Treatment checkUp = new SingleTreatment("Check-up", 50.0);</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Treatment xRay = new SingleTreatment("X-Ray", 100.0);</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Treatment bloodTest = new SingleTreatment("Blood Test", 30.0);</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CompositeTreatment compositeTreatment = new CompositeTreatment();</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compositeTreatment.addTreatment(checkUp);</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compositeTreatment.addTreatment(xRay);</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compositeTreatment.addTreatment(bloodTest);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System.out.println(compositeTreatment.getDescription() + " costs " + compositeTreatment.cost());</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s-PE" sz="2000">
                <a:solidFill>
                  <a:schemeClr val="dk1"/>
                </a:solidFill>
                <a:latin typeface="Calibri"/>
                <a:ea typeface="Calibri"/>
                <a:cs typeface="Calibri"/>
                <a:sym typeface="Calibri"/>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nvSpPr>
        <p:spPr>
          <a:xfrm>
            <a:off x="2630296" y="1676935"/>
            <a:ext cx="6931407" cy="1275349"/>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PE" sz="4000">
                <a:solidFill>
                  <a:schemeClr val="dk1"/>
                </a:solidFill>
                <a:latin typeface="Arial"/>
                <a:ea typeface="Arial"/>
                <a:cs typeface="Arial"/>
                <a:sym typeface="Arial"/>
              </a:rPr>
              <a:t>¿Cuál es la diferencia entre Decorator y Composite?</a:t>
            </a:r>
            <a:endParaRPr sz="4000">
              <a:solidFill>
                <a:schemeClr val="dk1"/>
              </a:solidFill>
              <a:latin typeface="Arial"/>
              <a:ea typeface="Arial"/>
              <a:cs typeface="Arial"/>
              <a:sym typeface="Arial"/>
            </a:endParaRPr>
          </a:p>
        </p:txBody>
      </p:sp>
      <p:pic>
        <p:nvPicPr>
          <p:cNvPr id="203" name="Google Shape;203;p20"/>
          <p:cNvPicPr preferRelativeResize="0"/>
          <p:nvPr/>
        </p:nvPicPr>
        <p:blipFill rotWithShape="1">
          <a:blip r:embed="rId3">
            <a:alphaModFix/>
          </a:blip>
          <a:srcRect b="0" l="0" r="0" t="0"/>
          <a:stretch/>
        </p:blipFill>
        <p:spPr>
          <a:xfrm>
            <a:off x="5334000" y="4038600"/>
            <a:ext cx="1524000" cy="1524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1"/>
          <p:cNvSpPr/>
          <p:nvPr/>
        </p:nvSpPr>
        <p:spPr>
          <a:xfrm>
            <a:off x="0" y="2819400"/>
            <a:ext cx="12192000" cy="1219200"/>
          </a:xfrm>
          <a:custGeom>
            <a:rect b="b" l="l" r="r" t="t"/>
            <a:pathLst>
              <a:path extrusionOk="0" h="700405" w="914463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21"/>
          <p:cNvSpPr txBox="1"/>
          <p:nvPr>
            <p:ph type="title"/>
          </p:nvPr>
        </p:nvSpPr>
        <p:spPr>
          <a:xfrm>
            <a:off x="4278672" y="3084034"/>
            <a:ext cx="3634655"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b="1" lang="es-PE">
                <a:solidFill>
                  <a:schemeClr val="lt1"/>
                </a:solidFill>
                <a:latin typeface="Rubik"/>
                <a:ea typeface="Rubik"/>
                <a:cs typeface="Rubik"/>
                <a:sym typeface="Rubik"/>
              </a:rPr>
              <a:t>Caso práctico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2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16" name="Google Shape;216;p2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17" name="Google Shape;217;p22"/>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218" name="Google Shape;218;p22"/>
          <p:cNvSpPr txBox="1"/>
          <p:nvPr/>
        </p:nvSpPr>
        <p:spPr>
          <a:xfrm>
            <a:off x="612234" y="942823"/>
            <a:ext cx="10950239" cy="52629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400"/>
              <a:buFont typeface="Calibri"/>
              <a:buNone/>
            </a:pPr>
            <a:r>
              <a:rPr lang="es-PE" sz="2400">
                <a:solidFill>
                  <a:schemeClr val="dk1"/>
                </a:solidFill>
                <a:latin typeface="Calibri"/>
                <a:ea typeface="Calibri"/>
                <a:cs typeface="Calibri"/>
                <a:sym typeface="Calibri"/>
              </a:rPr>
              <a:t>Realizar ejercicio práctico es una excelente manera de aprender y entender cómo elaborar un patrón de diseño estructural. Aquí tienes un ejercicio práctico detallado que puedes seguir:</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None/>
            </a:pPr>
            <a:r>
              <a:rPr b="1" lang="es-PE" sz="2400">
                <a:solidFill>
                  <a:schemeClr val="dk1"/>
                </a:solidFill>
                <a:latin typeface="Calibri"/>
                <a:ea typeface="Calibri"/>
                <a:cs typeface="Calibri"/>
                <a:sym typeface="Calibri"/>
              </a:rPr>
              <a:t>Ejercicio Práctico: </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rPr b="1" lang="es-PE" sz="2400">
                <a:solidFill>
                  <a:schemeClr val="dk1"/>
                </a:solidFill>
                <a:latin typeface="Calibri"/>
                <a:ea typeface="Calibri"/>
                <a:cs typeface="Calibri"/>
                <a:sym typeface="Calibri"/>
              </a:rPr>
              <a:t>Caso de estudio: Monedero digital con patrón Decorator</a:t>
            </a:r>
            <a:endParaRPr b="1" sz="24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2400"/>
              <a:buFont typeface="Calibri"/>
              <a:buNone/>
            </a:pPr>
            <a:r>
              <a:rPr b="1" lang="es-PE" sz="2400">
                <a:solidFill>
                  <a:schemeClr val="dk1"/>
                </a:solidFill>
                <a:latin typeface="Calibri"/>
                <a:ea typeface="Calibri"/>
                <a:cs typeface="Calibri"/>
                <a:sym typeface="Calibri"/>
              </a:rPr>
              <a:t>Se desarrolla un monedero digital que permite agregar funcionalidades adicionales a las transacciones básicas. Utilizando el patrón Decorator, se pueden añadir características como "Notificaciones", "Historial de Transacciones" y "Protección contra Fraudes" de manera flexible, sin modificar el código original del monedero. Cada decorador añade una capa adicional de funcionalidad sobre el monedero base, proporcionando una forma modular y extensible de enriquecer las capacidades del sistema.</a:t>
            </a:r>
            <a:endParaRPr/>
          </a:p>
          <a:p>
            <a:pPr indent="0" lvl="0" marL="0" marR="0" rtl="0" algn="ctr">
              <a:spcBef>
                <a:spcPts val="0"/>
              </a:spcBef>
              <a:spcAft>
                <a:spcPts val="0"/>
              </a:spcAft>
              <a:buClr>
                <a:schemeClr val="dk1"/>
              </a:buClr>
              <a:buSzPts val="2400"/>
              <a:buFont typeface="Calibri"/>
              <a:buNone/>
            </a:pPr>
            <a:r>
              <a:rPr b="1" lang="es-PE" sz="2400">
                <a:solidFill>
                  <a:schemeClr val="dk1"/>
                </a:solidFill>
                <a:latin typeface="Calibri"/>
                <a:ea typeface="Calibri"/>
                <a:cs typeface="Calibri"/>
                <a:sym typeface="Calibri"/>
              </a:rPr>
              <a:t>Objetivos:</a:t>
            </a:r>
            <a:endParaRPr sz="1800">
              <a:solidFill>
                <a:schemeClr val="dk1"/>
              </a:solidFill>
              <a:latin typeface="Calibri"/>
              <a:ea typeface="Calibri"/>
              <a:cs typeface="Calibri"/>
              <a:sym typeface="Calibri"/>
            </a:endParaRPr>
          </a:p>
          <a:p>
            <a:pPr indent="0" lvl="0" marL="0" marR="0" rtl="0" algn="just">
              <a:spcBef>
                <a:spcPts val="0"/>
              </a:spcBef>
              <a:spcAft>
                <a:spcPts val="0"/>
              </a:spcAft>
              <a:buClr>
                <a:schemeClr val="dk1"/>
              </a:buClr>
              <a:buSzPts val="2400"/>
              <a:buFont typeface="Calibri"/>
              <a:buAutoNum type="arabicPeriod"/>
            </a:pPr>
            <a:r>
              <a:rPr lang="es-PE" sz="2400">
                <a:solidFill>
                  <a:schemeClr val="dk1"/>
                </a:solidFill>
                <a:latin typeface="Calibri"/>
                <a:ea typeface="Calibri"/>
                <a:cs typeface="Calibri"/>
                <a:sym typeface="Calibri"/>
              </a:rPr>
              <a:t>Elaborar el código java y diagrama de clase UML utilizando el patrón seleccionado.</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2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Sesión 13: Introd. Cassandra</a:t>
            </a:r>
            <a:endParaRPr sz="2400">
              <a:solidFill>
                <a:schemeClr val="dk1"/>
              </a:solidFill>
              <a:latin typeface="Arial"/>
              <a:ea typeface="Arial"/>
              <a:cs typeface="Arial"/>
              <a:sym typeface="Arial"/>
            </a:endParaRPr>
          </a:p>
        </p:txBody>
      </p:sp>
      <p:sp>
        <p:nvSpPr>
          <p:cNvPr id="225" name="Google Shape;225;p2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26" name="Google Shape;226;p23"/>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227" name="Google Shape;227;p23"/>
          <p:cNvSpPr txBox="1"/>
          <p:nvPr/>
        </p:nvSpPr>
        <p:spPr>
          <a:xfrm>
            <a:off x="2282337" y="1780300"/>
            <a:ext cx="7627325" cy="443711"/>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None/>
            </a:pPr>
            <a:r>
              <a:rPr lang="es-PE" sz="2800">
                <a:solidFill>
                  <a:schemeClr val="dk1"/>
                </a:solidFill>
                <a:latin typeface="Arial"/>
                <a:ea typeface="Arial"/>
                <a:cs typeface="Arial"/>
                <a:sym typeface="Arial"/>
              </a:rPr>
              <a:t>¿Quién quisiera participar? (2 voluntarios)</a:t>
            </a:r>
            <a:endParaRPr/>
          </a:p>
        </p:txBody>
      </p:sp>
      <p:pic>
        <p:nvPicPr>
          <p:cNvPr id="228" name="Google Shape;228;p23"/>
          <p:cNvPicPr preferRelativeResize="0"/>
          <p:nvPr/>
        </p:nvPicPr>
        <p:blipFill rotWithShape="1">
          <a:blip r:embed="rId3">
            <a:alphaModFix/>
          </a:blip>
          <a:srcRect b="0" l="0" r="0" t="0"/>
          <a:stretch/>
        </p:blipFill>
        <p:spPr>
          <a:xfrm>
            <a:off x="4730555" y="2895600"/>
            <a:ext cx="2730890" cy="252033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Sesión 13: Introd. Cassandra</a:t>
            </a:r>
            <a:endParaRPr sz="2400">
              <a:solidFill>
                <a:schemeClr val="dk1"/>
              </a:solidFill>
              <a:latin typeface="Arial"/>
              <a:ea typeface="Arial"/>
              <a:cs typeface="Arial"/>
              <a:sym typeface="Arial"/>
            </a:endParaRPr>
          </a:p>
        </p:txBody>
      </p:sp>
      <p:sp>
        <p:nvSpPr>
          <p:cNvPr id="235" name="Google Shape;235;p2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36" name="Google Shape;236;p24"/>
          <p:cNvSpPr txBox="1"/>
          <p:nvPr/>
        </p:nvSpPr>
        <p:spPr>
          <a:xfrm>
            <a:off x="3039354" y="1831852"/>
            <a:ext cx="6096000" cy="1154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PE" sz="3200">
                <a:solidFill>
                  <a:schemeClr val="dk1"/>
                </a:solidFill>
                <a:latin typeface="Arial"/>
                <a:ea typeface="Arial"/>
                <a:cs typeface="Arial"/>
                <a:sym typeface="Arial"/>
              </a:rPr>
              <a:t>¿Qué se les hizo más fácil?</a:t>
            </a:r>
            <a:endParaRPr/>
          </a:p>
          <a:p>
            <a:pPr indent="0" lvl="0" marL="0" marR="0" rtl="0" algn="ctr">
              <a:lnSpc>
                <a:spcPct val="100000"/>
              </a:lnSpc>
              <a:spcBef>
                <a:spcPts val="585"/>
              </a:spcBef>
              <a:spcAft>
                <a:spcPts val="0"/>
              </a:spcAft>
              <a:buNone/>
            </a:pPr>
            <a:r>
              <a:rPr lang="es-PE"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237" name="Google Shape;237;p24"/>
          <p:cNvPicPr preferRelativeResize="0"/>
          <p:nvPr/>
        </p:nvPicPr>
        <p:blipFill rotWithShape="1">
          <a:blip r:embed="rId3">
            <a:alphaModFix/>
          </a:blip>
          <a:srcRect b="0" l="0" r="0" t="0"/>
          <a:stretch/>
        </p:blipFill>
        <p:spPr>
          <a:xfrm>
            <a:off x="4953000" y="3618011"/>
            <a:ext cx="2047300" cy="2047300"/>
          </a:xfrm>
          <a:prstGeom prst="rect">
            <a:avLst/>
          </a:prstGeom>
          <a:noFill/>
          <a:ln>
            <a:noFill/>
          </a:ln>
        </p:spPr>
      </p:pic>
      <p:pic>
        <p:nvPicPr>
          <p:cNvPr id="238" name="Google Shape;238;p24"/>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2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Aprendizajes</a:t>
            </a:r>
            <a:endParaRPr sz="2400">
              <a:solidFill>
                <a:schemeClr val="dk1"/>
              </a:solidFill>
              <a:latin typeface="Arial"/>
              <a:ea typeface="Arial"/>
              <a:cs typeface="Arial"/>
              <a:sym typeface="Arial"/>
            </a:endParaRPr>
          </a:p>
        </p:txBody>
      </p:sp>
      <p:sp>
        <p:nvSpPr>
          <p:cNvPr id="245" name="Google Shape;245;p2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46" name="Google Shape;246;p25"/>
          <p:cNvSpPr txBox="1"/>
          <p:nvPr/>
        </p:nvSpPr>
        <p:spPr>
          <a:xfrm>
            <a:off x="2243577" y="3149025"/>
            <a:ext cx="7687554" cy="58477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PE" sz="3200">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247" name="Google Shape;247;p25"/>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2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54" name="Google Shape;254;p2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55" name="Google Shape;255;p26"/>
          <p:cNvSpPr txBox="1"/>
          <p:nvPr/>
        </p:nvSpPr>
        <p:spPr>
          <a:xfrm>
            <a:off x="2243577" y="2644170"/>
            <a:ext cx="7687554" cy="1569660"/>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lang="es-PE"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256" name="Google Shape;256;p26"/>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2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63" name="Google Shape;263;p2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64" name="Google Shape;264;p27"/>
          <p:cNvSpPr txBox="1"/>
          <p:nvPr/>
        </p:nvSpPr>
        <p:spPr>
          <a:xfrm>
            <a:off x="630555" y="1089754"/>
            <a:ext cx="10058400" cy="5016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PE" sz="3200">
                <a:solidFill>
                  <a:schemeClr val="dk1"/>
                </a:solidFill>
                <a:latin typeface="Calibri"/>
                <a:ea typeface="Calibri"/>
                <a:cs typeface="Calibri"/>
                <a:sym typeface="Calibri"/>
              </a:rPr>
              <a:t>- Decorator: Permite agregar funcionalidades adicionales a un objeto de manera dinámica y flexible, sin alterar su estructura original. Ideal para extender capacidades de un objeto de forma modular.</a:t>
            </a:r>
            <a:endParaRPr/>
          </a:p>
          <a:p>
            <a:pPr indent="0" lvl="0" marL="0" marR="0" rtl="0" algn="l">
              <a:spcBef>
                <a:spcPts val="0"/>
              </a:spcBef>
              <a:spcAft>
                <a:spcPts val="0"/>
              </a:spcAft>
              <a:buNone/>
            </a:pPr>
            <a:r>
              <a:t/>
            </a:r>
            <a:endParaRPr b="1" sz="3200">
              <a:solidFill>
                <a:schemeClr val="dk1"/>
              </a:solidFill>
              <a:latin typeface="Calibri"/>
              <a:ea typeface="Calibri"/>
              <a:cs typeface="Calibri"/>
              <a:sym typeface="Calibri"/>
            </a:endParaRPr>
          </a:p>
          <a:p>
            <a:pPr indent="0" lvl="0" marL="0" marR="0" rtl="0" algn="l">
              <a:spcBef>
                <a:spcPts val="0"/>
              </a:spcBef>
              <a:spcAft>
                <a:spcPts val="0"/>
              </a:spcAft>
              <a:buNone/>
            </a:pPr>
            <a:r>
              <a:rPr b="1" lang="es-PE" sz="3200">
                <a:solidFill>
                  <a:schemeClr val="dk1"/>
                </a:solidFill>
                <a:latin typeface="Calibri"/>
                <a:ea typeface="Calibri"/>
                <a:cs typeface="Calibri"/>
                <a:sym typeface="Calibri"/>
              </a:rPr>
              <a:t>- Composite: Facilita el manejo de estructuras jerárquicas de objetos, tratando objetos individuales y grupos de objetos de manera uniforme. Ideal para representar y manipular composiciones de objetos en estructuras complejas.</a:t>
            </a:r>
            <a:endParaRPr sz="3200">
              <a:solidFill>
                <a:schemeClr val="dk1"/>
              </a:solidFill>
              <a:latin typeface="Arial"/>
              <a:ea typeface="Arial"/>
              <a:cs typeface="Arial"/>
              <a:sym typeface="Arial"/>
            </a:endParaRPr>
          </a:p>
        </p:txBody>
      </p:sp>
      <p:pic>
        <p:nvPicPr>
          <p:cNvPr id="265" name="Google Shape;265;p27"/>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2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sp>
        <p:nvSpPr>
          <p:cNvPr id="272" name="Google Shape;272;p2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73" name="Google Shape;273;p28"/>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74" name="Google Shape;274;p28"/>
          <p:cNvSpPr txBox="1"/>
          <p:nvPr/>
        </p:nvSpPr>
        <p:spPr>
          <a:xfrm>
            <a:off x="1055948" y="1690498"/>
            <a:ext cx="10080101" cy="2998898"/>
          </a:xfrm>
          <a:prstGeom prst="rect">
            <a:avLst/>
          </a:prstGeom>
          <a:noFill/>
          <a:ln>
            <a:noFill/>
          </a:ln>
        </p:spPr>
        <p:txBody>
          <a:bodyPr anchorCtr="0" anchor="t" bIns="0" lIns="0" spcFirstLastPara="1" rIns="0" wrap="square" tIns="43800">
            <a:spAutoFit/>
          </a:bodyPr>
          <a:lstStyle/>
          <a:p>
            <a:pPr indent="-214630" lvl="0" marL="37909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67030" lvl="0" marL="379095" marR="5080" rtl="0" algn="l">
              <a:spcBef>
                <a:spcPts val="0"/>
              </a:spcBef>
              <a:spcAft>
                <a:spcPts val="0"/>
              </a:spcAft>
              <a:buClr>
                <a:schemeClr val="dk1"/>
              </a:buClr>
              <a:buSzPts val="2400"/>
              <a:buFont typeface="Arial"/>
              <a:buChar char="●"/>
            </a:pPr>
            <a:r>
              <a:rPr lang="es-PE" sz="2400">
                <a:solidFill>
                  <a:schemeClr val="dk1"/>
                </a:solidFill>
                <a:latin typeface="Arial"/>
                <a:ea typeface="Arial"/>
                <a:cs typeface="Arial"/>
                <a:sym typeface="Arial"/>
              </a:rPr>
              <a:t>Elabora la actividad práctica de acuerdo a la guía de laboratorio de sesión</a:t>
            </a:r>
            <a:endParaRPr/>
          </a:p>
          <a:p>
            <a:pPr indent="-214630" lvl="0" marL="37909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67030" lvl="0" marL="379095" marR="5080" rtl="0" algn="l">
              <a:spcBef>
                <a:spcPts val="0"/>
              </a:spcBef>
              <a:spcAft>
                <a:spcPts val="0"/>
              </a:spcAft>
              <a:buClr>
                <a:schemeClr val="dk1"/>
              </a:buClr>
              <a:buSzPts val="2400"/>
              <a:buFont typeface="Arial"/>
              <a:buChar char="●"/>
            </a:pPr>
            <a:r>
              <a:rPr lang="es-PE" sz="2400">
                <a:solidFill>
                  <a:schemeClr val="dk1"/>
                </a:solidFill>
                <a:latin typeface="Arial"/>
                <a:ea typeface="Arial"/>
                <a:cs typeface="Arial"/>
                <a:sym typeface="Arial"/>
              </a:rPr>
              <a:t>Sube la actividad práctica en la  plataforma virtual de aprendizaje</a:t>
            </a:r>
            <a:endParaRPr sz="2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367030" lvl="0" marL="379095" marR="0" rtl="0" algn="l">
              <a:spcBef>
                <a:spcPts val="0"/>
              </a:spcBef>
              <a:spcAft>
                <a:spcPts val="0"/>
              </a:spcAft>
              <a:buClr>
                <a:schemeClr val="dk1"/>
              </a:buClr>
              <a:buSzPts val="2400"/>
              <a:buFont typeface="Arial"/>
              <a:buChar char="●"/>
            </a:pPr>
            <a:r>
              <a:rPr lang="es-PE" sz="2400">
                <a:solidFill>
                  <a:schemeClr val="dk1"/>
                </a:solidFill>
                <a:latin typeface="Arial"/>
                <a:ea typeface="Arial"/>
                <a:cs typeface="Arial"/>
                <a:sym typeface="Arial"/>
              </a:rPr>
              <a:t>Guarda la actividad con la siguiente etiqueta:</a:t>
            </a:r>
            <a:endParaRPr sz="2400">
              <a:solidFill>
                <a:schemeClr val="dk1"/>
              </a:solidFill>
              <a:latin typeface="Arial"/>
              <a:ea typeface="Arial"/>
              <a:cs typeface="Arial"/>
              <a:sym typeface="Arial"/>
            </a:endParaRPr>
          </a:p>
          <a:p>
            <a:pPr indent="0" lvl="0" marL="379095" marR="0" rtl="0" algn="l">
              <a:spcBef>
                <a:spcPts val="0"/>
              </a:spcBef>
              <a:spcAft>
                <a:spcPts val="0"/>
              </a:spcAft>
              <a:buNone/>
            </a:pPr>
            <a:r>
              <a:rPr b="1" i="1" lang="es-PE" sz="2400">
                <a:solidFill>
                  <a:schemeClr val="dk1"/>
                </a:solidFill>
                <a:latin typeface="Arial"/>
                <a:ea typeface="Arial"/>
                <a:cs typeface="Arial"/>
                <a:sym typeface="Arial"/>
              </a:rPr>
              <a:t>DPA_Actividad09_NombreApellido</a:t>
            </a:r>
            <a:endParaRPr sz="2400">
              <a:solidFill>
                <a:schemeClr val="dk1"/>
              </a:solidFill>
              <a:latin typeface="Arial"/>
              <a:ea typeface="Arial"/>
              <a:cs typeface="Arial"/>
              <a:sym typeface="Arial"/>
            </a:endParaRPr>
          </a:p>
        </p:txBody>
      </p:sp>
      <p:sp>
        <p:nvSpPr>
          <p:cNvPr id="275" name="Google Shape;275;p28"/>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PE"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2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282" name="Google Shape;282;p2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83" name="Google Shape;283;p29"/>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84" name="Google Shape;284;p29"/>
          <p:cNvSpPr txBox="1"/>
          <p:nvPr/>
        </p:nvSpPr>
        <p:spPr>
          <a:xfrm>
            <a:off x="946171" y="1116016"/>
            <a:ext cx="10080101" cy="2260234"/>
          </a:xfrm>
          <a:prstGeom prst="rect">
            <a:avLst/>
          </a:prstGeom>
          <a:noFill/>
          <a:ln>
            <a:noFill/>
          </a:ln>
        </p:spPr>
        <p:txBody>
          <a:bodyPr anchorCtr="0" anchor="t" bIns="0" lIns="0" spcFirstLastPara="1" rIns="0" wrap="square" tIns="43800">
            <a:spAutoFit/>
          </a:bodyPr>
          <a:lstStyle/>
          <a:p>
            <a:pPr indent="0" lvl="0" marL="12065" marR="5080" rtl="0" algn="l">
              <a:spcBef>
                <a:spcPts val="0"/>
              </a:spcBef>
              <a:spcAft>
                <a:spcPts val="0"/>
              </a:spcAft>
              <a:buNone/>
            </a:pPr>
            <a:r>
              <a:rPr lang="es-PE" sz="2400">
                <a:solidFill>
                  <a:schemeClr val="dk1"/>
                </a:solidFill>
                <a:latin typeface="Arial"/>
                <a:ea typeface="Arial"/>
                <a:cs typeface="Arial"/>
                <a:sym typeface="Arial"/>
              </a:rPr>
              <a:t>-</a:t>
            </a:r>
            <a:r>
              <a:rPr b="0" i="0" lang="es-PE" sz="2400">
                <a:solidFill>
                  <a:srgbClr val="222222"/>
                </a:solidFill>
                <a:latin typeface="Arial"/>
                <a:ea typeface="Arial"/>
                <a:cs typeface="Arial"/>
                <a:sym typeface="Arial"/>
              </a:rPr>
              <a:t> Hu, C. (2023). </a:t>
            </a:r>
            <a:r>
              <a:rPr b="0" i="1" lang="es-PE" sz="2400">
                <a:solidFill>
                  <a:srgbClr val="222222"/>
                </a:solidFill>
                <a:latin typeface="Arial"/>
                <a:ea typeface="Arial"/>
                <a:cs typeface="Arial"/>
                <a:sym typeface="Arial"/>
              </a:rPr>
              <a:t>An Introduction to Software Design: Concepts, Principles, Methodologies, and Techniques</a:t>
            </a:r>
            <a:r>
              <a:rPr b="0" i="0" lang="es-PE" sz="2400">
                <a:solidFill>
                  <a:srgbClr val="222222"/>
                </a:solidFill>
                <a:latin typeface="Arial"/>
                <a:ea typeface="Arial"/>
                <a:cs typeface="Arial"/>
                <a:sym typeface="Arial"/>
              </a:rPr>
              <a:t>. Springer Nature.</a:t>
            </a:r>
            <a:endParaRPr i="0" sz="2400">
              <a:solidFill>
                <a:schemeClr val="dk1"/>
              </a:solidFill>
              <a:latin typeface="Roboto"/>
              <a:ea typeface="Roboto"/>
              <a:cs typeface="Roboto"/>
              <a:sym typeface="Roboto"/>
            </a:endParaRPr>
          </a:p>
          <a:p>
            <a:pPr indent="0" lvl="0" marL="12065" marR="5080" rtl="0" algn="l">
              <a:spcBef>
                <a:spcPts val="0"/>
              </a:spcBef>
              <a:spcAft>
                <a:spcPts val="0"/>
              </a:spcAft>
              <a:buNone/>
            </a:pPr>
            <a:r>
              <a:t/>
            </a:r>
            <a:endParaRPr i="0" sz="2400">
              <a:solidFill>
                <a:schemeClr val="dk1"/>
              </a:solidFill>
              <a:latin typeface="Roboto"/>
              <a:ea typeface="Roboto"/>
              <a:cs typeface="Roboto"/>
              <a:sym typeface="Roboto"/>
            </a:endParaRPr>
          </a:p>
          <a:p>
            <a:pPr indent="0" lvl="0" marL="12065" marR="5080" rtl="0" algn="l">
              <a:spcBef>
                <a:spcPts val="0"/>
              </a:spcBef>
              <a:spcAft>
                <a:spcPts val="0"/>
              </a:spcAft>
              <a:buNone/>
            </a:pPr>
            <a:r>
              <a:rPr i="0" lang="es-PE" sz="2400">
                <a:solidFill>
                  <a:schemeClr val="dk1"/>
                </a:solidFill>
                <a:latin typeface="Roboto"/>
                <a:ea typeface="Roboto"/>
                <a:cs typeface="Roboto"/>
                <a:sym typeface="Roboto"/>
              </a:rPr>
              <a:t>-bin Uzayr, S. (2023). Software Design Patterns: The Ultimate Guide. CRC Press.</a:t>
            </a:r>
            <a:endParaRPr/>
          </a:p>
          <a:p>
            <a:pPr indent="0" lvl="0" marL="12065" marR="5080" rtl="0" algn="l">
              <a:spcBef>
                <a:spcPts val="0"/>
              </a:spcBef>
              <a:spcAft>
                <a:spcPts val="0"/>
              </a:spcAft>
              <a:buNone/>
            </a:pPr>
            <a:r>
              <a:t/>
            </a:r>
            <a:endParaRPr sz="2400">
              <a:solidFill>
                <a:schemeClr val="dk1"/>
              </a:solidFill>
              <a:latin typeface="Arial"/>
              <a:ea typeface="Arial"/>
              <a:cs typeface="Arial"/>
              <a:sym typeface="Arial"/>
            </a:endParaRPr>
          </a:p>
        </p:txBody>
      </p:sp>
      <p:sp>
        <p:nvSpPr>
          <p:cNvPr id="285" name="Google Shape;285;p29"/>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PE"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3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PE"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292" name="Google Shape;292;p30"/>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293" name="Google Shape;293;p30"/>
          <p:cNvSpPr txBox="1"/>
          <p:nvPr/>
        </p:nvSpPr>
        <p:spPr>
          <a:xfrm>
            <a:off x="914400" y="2828835"/>
            <a:ext cx="6096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PE" sz="3600">
                <a:solidFill>
                  <a:schemeClr val="dk1"/>
                </a:solidFill>
                <a:latin typeface="Arial"/>
                <a:ea typeface="Arial"/>
                <a:cs typeface="Arial"/>
                <a:sym typeface="Arial"/>
              </a:rPr>
              <a:t>MUCHAS GRACIAS QUE DIOS LOS BENDIGA!!!</a:t>
            </a:r>
            <a:endParaRPr b="1" sz="3600">
              <a:solidFill>
                <a:schemeClr val="dk1"/>
              </a:solidFill>
              <a:latin typeface="Arial"/>
              <a:ea typeface="Arial"/>
              <a:cs typeface="Arial"/>
              <a:sym typeface="Arial"/>
            </a:endParaRPr>
          </a:p>
        </p:txBody>
      </p:sp>
      <p:pic>
        <p:nvPicPr>
          <p:cNvPr id="294" name="Google Shape;294;p30"/>
          <p:cNvPicPr preferRelativeResize="0"/>
          <p:nvPr/>
        </p:nvPicPr>
        <p:blipFill rotWithShape="1">
          <a:blip r:embed="rId4">
            <a:alphaModFix/>
          </a:blip>
          <a:srcRect b="0" l="0" r="0" t="0"/>
          <a:stretch/>
        </p:blipFill>
        <p:spPr>
          <a:xfrm>
            <a:off x="7467600" y="1216152"/>
            <a:ext cx="3056381" cy="442569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grpSp>
        <p:nvGrpSpPr>
          <p:cNvPr id="299" name="Google Shape;299;p31"/>
          <p:cNvGrpSpPr/>
          <p:nvPr/>
        </p:nvGrpSpPr>
        <p:grpSpPr>
          <a:xfrm>
            <a:off x="2057400" y="152400"/>
            <a:ext cx="9906000" cy="4152900"/>
            <a:chOff x="2057400" y="152400"/>
            <a:chExt cx="9906000" cy="4152900"/>
          </a:xfrm>
        </p:grpSpPr>
        <p:pic>
          <p:nvPicPr>
            <p:cNvPr id="300" name="Google Shape;300;p31"/>
            <p:cNvPicPr preferRelativeResize="0"/>
            <p:nvPr/>
          </p:nvPicPr>
          <p:blipFill rotWithShape="1">
            <a:blip r:embed="rId3">
              <a:alphaModFix/>
            </a:blip>
            <a:srcRect b="0" l="0" r="0" t="0"/>
            <a:stretch/>
          </p:blipFill>
          <p:spPr>
            <a:xfrm>
              <a:off x="2057400" y="2552700"/>
              <a:ext cx="7856700" cy="1752600"/>
            </a:xfrm>
            <a:prstGeom prst="rect">
              <a:avLst/>
            </a:prstGeom>
            <a:noFill/>
            <a:ln>
              <a:noFill/>
            </a:ln>
          </p:spPr>
        </p:pic>
        <p:sp>
          <p:nvSpPr>
            <p:cNvPr id="301" name="Google Shape;301;p31"/>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