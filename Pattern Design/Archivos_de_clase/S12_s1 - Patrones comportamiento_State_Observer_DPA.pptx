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376" r:id="rId2"/>
    <p:sldId id="256" r:id="rId3"/>
    <p:sldId id="349" r:id="rId4"/>
    <p:sldId id="411" r:id="rId5"/>
    <p:sldId id="412" r:id="rId6"/>
    <p:sldId id="413" r:id="rId7"/>
    <p:sldId id="415" r:id="rId8"/>
    <p:sldId id="414" r:id="rId9"/>
    <p:sldId id="351" r:id="rId10"/>
    <p:sldId id="352" r:id="rId11"/>
    <p:sldId id="344" r:id="rId12"/>
    <p:sldId id="387" r:id="rId13"/>
    <p:sldId id="401" r:id="rId14"/>
    <p:sldId id="402" r:id="rId15"/>
    <p:sldId id="403" r:id="rId16"/>
    <p:sldId id="404" r:id="rId17"/>
    <p:sldId id="383" r:id="rId18"/>
    <p:sldId id="399" r:id="rId19"/>
    <p:sldId id="407" r:id="rId20"/>
    <p:sldId id="408" r:id="rId21"/>
    <p:sldId id="405" r:id="rId22"/>
    <p:sldId id="400" r:id="rId23"/>
    <p:sldId id="409" r:id="rId24"/>
    <p:sldId id="410" r:id="rId25"/>
    <p:sldId id="406" r:id="rId26"/>
    <p:sldId id="354" r:id="rId27"/>
    <p:sldId id="356" r:id="rId28"/>
    <p:sldId id="398" r:id="rId29"/>
    <p:sldId id="357" r:id="rId30"/>
    <p:sldId id="358" r:id="rId31"/>
    <p:sldId id="360" r:id="rId32"/>
    <p:sldId id="359" r:id="rId33"/>
    <p:sldId id="369" r:id="rId34"/>
    <p:sldId id="361" r:id="rId35"/>
    <p:sldId id="370" r:id="rId36"/>
    <p:sldId id="362" r:id="rId37"/>
    <p:sldId id="273" r:id="rId38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02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30/10/2024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0uzrT40wN7s" TargetMode="External"/><Relationship Id="rId3" Type="http://schemas.openxmlformats.org/officeDocument/2006/relationships/hyperlink" Target="https://www.youtube.com/watch?v=cwfuydUHZ7o&amp;list=PLvimn1Ins-41Uiugt1WbpyFo1XT1WOquL" TargetMode="External"/><Relationship Id="rId7" Type="http://schemas.openxmlformats.org/officeDocument/2006/relationships/hyperlink" Target="https://www.youtube.com/watch?v=QiKrKNTdGG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gYWnOskeED4" TargetMode="External"/><Relationship Id="rId5" Type="http://schemas.openxmlformats.org/officeDocument/2006/relationships/hyperlink" Target="https://www.youtube.com/watch?v=4ht0bTy1AoA" TargetMode="External"/><Relationship Id="rId10" Type="http://schemas.openxmlformats.org/officeDocument/2006/relationships/hyperlink" Target="https://reactiveprogramming.io/blog/es/patrones-de-diseno/state" TargetMode="External"/><Relationship Id="rId4" Type="http://schemas.openxmlformats.org/officeDocument/2006/relationships/hyperlink" Target="https://www.youtube.com/watch?v=vb2zIzrT1cs" TargetMode="External"/><Relationship Id="rId9" Type="http://schemas.openxmlformats.org/officeDocument/2006/relationships/hyperlink" Target="https://refactoring.guru/es/design-patterns/behavioral-patterns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arteles de normas de clase para imprimir">
            <a:extLst>
              <a:ext uri="{FF2B5EF4-FFF2-40B4-BE49-F238E27FC236}">
                <a16:creationId xmlns:a16="http://schemas.microsoft.com/office/drawing/2014/main" id="{43E7A42F-2528-479F-BB26-0D53F6690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6" t="6806" r="9223" b="15417"/>
          <a:stretch/>
        </p:blipFill>
        <p:spPr bwMode="auto">
          <a:xfrm>
            <a:off x="2400300" y="914400"/>
            <a:ext cx="73914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06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00112" y="1838144"/>
            <a:ext cx="10363199" cy="8749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85725" marR="5080" algn="ctr">
              <a:lnSpc>
                <a:spcPts val="6480"/>
              </a:lnSpc>
              <a:spcBef>
                <a:spcPts val="915"/>
              </a:spcBef>
            </a:pPr>
            <a:r>
              <a:rPr lang="es-ES" sz="4400" spc="-45" dirty="0">
                <a:latin typeface="CentSchbkCyrill BT" panose="02040603050705020303" pitchFamily="18" charset="-52"/>
              </a:rPr>
              <a:t>CURSO: DISEÑO DE PATRONES</a:t>
            </a:r>
            <a:endParaRPr sz="44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1938336" y="1644495"/>
            <a:ext cx="8286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CUARTA UNIDAD DE APRENDIZAJE: </a:t>
            </a:r>
            <a:r>
              <a:rPr lang="es-ES" dirty="0"/>
              <a:t>Patrones para interacción y responsabilidades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2000250" y="3179215"/>
            <a:ext cx="8224838" cy="2359620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</a:t>
            </a:r>
            <a:r>
              <a:rPr lang="es-PE" sz="3200" b="1" spc="-25" dirty="0" err="1">
                <a:solidFill>
                  <a:schemeClr val="bg1"/>
                </a:solidFill>
                <a:latin typeface="Arial"/>
                <a:cs typeface="Arial"/>
              </a:rPr>
              <a:t>N°</a:t>
            </a: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 12: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dirty="0">
                <a:solidFill>
                  <a:schemeClr val="bg1"/>
                </a:solidFill>
                <a:latin typeface="Arial"/>
                <a:cs typeface="Arial"/>
              </a:rPr>
              <a:t>Patrones Comportamiento: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>
                <a:solidFill>
                  <a:schemeClr val="bg1"/>
                </a:solidFill>
                <a:latin typeface="Arial"/>
                <a:cs typeface="Arial"/>
              </a:rPr>
              <a:t>Introducción a patrones de comportamiento.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>
                <a:solidFill>
                  <a:schemeClr val="bg1"/>
                </a:solidFill>
                <a:latin typeface="Arial"/>
                <a:cs typeface="Arial"/>
              </a:rPr>
              <a:t>Patrón </a:t>
            </a:r>
            <a:r>
              <a:rPr lang="es-ES" sz="2800" dirty="0" err="1">
                <a:solidFill>
                  <a:schemeClr val="bg1"/>
                </a:solidFill>
                <a:latin typeface="Arial"/>
                <a:cs typeface="Arial"/>
              </a:rPr>
              <a:t>State</a:t>
            </a:r>
            <a:endParaRPr lang="es-ES" sz="28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>
                <a:solidFill>
                  <a:schemeClr val="bg1"/>
                </a:solidFill>
                <a:latin typeface="Arial"/>
                <a:cs typeface="Arial"/>
              </a:rPr>
              <a:t>Patrón </a:t>
            </a:r>
            <a:r>
              <a:rPr lang="es-ES" sz="2800" dirty="0" err="1">
                <a:solidFill>
                  <a:schemeClr val="bg1"/>
                </a:solidFill>
                <a:latin typeface="Arial"/>
                <a:cs typeface="Arial"/>
              </a:rPr>
              <a:t>Observer</a:t>
            </a:r>
            <a:r>
              <a:rPr lang="es-ES" sz="280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6096000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Lo que debemos tener en cuenta</a:t>
            </a:r>
            <a:endParaRPr lang="es-ES" sz="36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1647BCE3-D14B-44FA-ED0F-0F615E61C1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B01C2B3-63D3-A120-515E-138DF2346B12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31FB23C-B474-2FAC-4CC3-6156E56C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42824"/>
            <a:ext cx="9525000" cy="52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8FEC9056-6D87-63D9-FA3B-7FDE794EC084}"/>
              </a:ext>
            </a:extLst>
          </p:cNvPr>
          <p:cNvSpPr/>
          <p:nvPr/>
        </p:nvSpPr>
        <p:spPr>
          <a:xfrm>
            <a:off x="2743200" y="1969532"/>
            <a:ext cx="7152323" cy="3663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647BCE3-D14B-44FA-ED0F-0F615E61C1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B01C2B3-63D3-A120-515E-138DF2346B12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FD035BB-3293-8FB0-6004-222DA6409757}"/>
              </a:ext>
            </a:extLst>
          </p:cNvPr>
          <p:cNvSpPr/>
          <p:nvPr/>
        </p:nvSpPr>
        <p:spPr>
          <a:xfrm>
            <a:off x="416257" y="1143000"/>
            <a:ext cx="10134600" cy="51054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D37466-BA7B-DED4-2D1D-5F46F11C639E}"/>
              </a:ext>
            </a:extLst>
          </p:cNvPr>
          <p:cNvSpPr txBox="1"/>
          <p:nvPr/>
        </p:nvSpPr>
        <p:spPr>
          <a:xfrm>
            <a:off x="4419600" y="13716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SISTEMA DE GESTIÓN DE TAXI APLICATIVO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C8B70C-6F15-40DB-4B58-D066A5D77BAF}"/>
              </a:ext>
            </a:extLst>
          </p:cNvPr>
          <p:cNvSpPr txBox="1"/>
          <p:nvPr/>
        </p:nvSpPr>
        <p:spPr>
          <a:xfrm>
            <a:off x="2829877" y="1969532"/>
            <a:ext cx="181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AFILIACIONES</a:t>
            </a: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5C459A-F0C2-6E1C-89A5-2D01F1FA97FE}"/>
              </a:ext>
            </a:extLst>
          </p:cNvPr>
          <p:cNvSpPr txBox="1"/>
          <p:nvPr/>
        </p:nvSpPr>
        <p:spPr>
          <a:xfrm>
            <a:off x="4750593" y="1953736"/>
            <a:ext cx="181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SERVICIOS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AFE67D-5108-9759-1969-784413B57A88}"/>
              </a:ext>
            </a:extLst>
          </p:cNvPr>
          <p:cNvSpPr txBox="1"/>
          <p:nvPr/>
        </p:nvSpPr>
        <p:spPr>
          <a:xfrm>
            <a:off x="7391400" y="1949439"/>
            <a:ext cx="181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PREDICCIONES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AE2EAD3-989B-16C6-E609-0D9EDB4A6348}"/>
              </a:ext>
            </a:extLst>
          </p:cNvPr>
          <p:cNvSpPr txBox="1"/>
          <p:nvPr/>
        </p:nvSpPr>
        <p:spPr>
          <a:xfrm>
            <a:off x="465402" y="2369964"/>
            <a:ext cx="2364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AFILIAR CONDUCTOR</a:t>
            </a:r>
          </a:p>
          <a:p>
            <a:r>
              <a:rPr lang="es-MX" dirty="0"/>
              <a:t>AFILIAR PASAJERO</a:t>
            </a:r>
          </a:p>
          <a:p>
            <a:r>
              <a:rPr lang="es-MX" dirty="0"/>
              <a:t>AFILIAR VEHICULO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268052-E7B7-7CF9-2BB1-8FA179DA9464}"/>
              </a:ext>
            </a:extLst>
          </p:cNvPr>
          <p:cNvSpPr txBox="1"/>
          <p:nvPr/>
        </p:nvSpPr>
        <p:spPr>
          <a:xfrm>
            <a:off x="465402" y="3324394"/>
            <a:ext cx="2364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SOLICITAR SERVICIO</a:t>
            </a:r>
          </a:p>
          <a:p>
            <a:r>
              <a:rPr lang="es-MX" dirty="0"/>
              <a:t>CONFIRMAR SERVICIO</a:t>
            </a:r>
          </a:p>
          <a:p>
            <a:r>
              <a:rPr lang="es-MX" dirty="0"/>
              <a:t>PAGAR SERVICIO</a:t>
            </a:r>
          </a:p>
          <a:p>
            <a:r>
              <a:rPr lang="es-MX" dirty="0"/>
              <a:t>VALORAR SERVICIO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0200CF1-375B-80EA-E0D0-3FE263C72AFC}"/>
              </a:ext>
            </a:extLst>
          </p:cNvPr>
          <p:cNvSpPr txBox="1"/>
          <p:nvPr/>
        </p:nvSpPr>
        <p:spPr>
          <a:xfrm>
            <a:off x="514547" y="4514671"/>
            <a:ext cx="2364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DEMANDA DEL SERVICIO</a:t>
            </a:r>
          </a:p>
          <a:p>
            <a:r>
              <a:rPr lang="es-MX" dirty="0"/>
              <a:t>GASTO PROMEDIO</a:t>
            </a:r>
            <a:endParaRPr lang="es-PE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5889389-3F96-A52F-FFDC-E66390DDB335}"/>
              </a:ext>
            </a:extLst>
          </p:cNvPr>
          <p:cNvSpPr/>
          <p:nvPr/>
        </p:nvSpPr>
        <p:spPr>
          <a:xfrm>
            <a:off x="2829877" y="2369964"/>
            <a:ext cx="7152323" cy="311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CE87D77-D4A3-E50A-450E-C2F39D85BF3D}"/>
              </a:ext>
            </a:extLst>
          </p:cNvPr>
          <p:cNvSpPr txBox="1"/>
          <p:nvPr/>
        </p:nvSpPr>
        <p:spPr>
          <a:xfrm>
            <a:off x="3237362" y="2680037"/>
            <a:ext cx="28216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NOMBRES</a:t>
            </a:r>
          </a:p>
          <a:p>
            <a:r>
              <a:rPr lang="es-MX" dirty="0"/>
              <a:t>APELLIDOS</a:t>
            </a:r>
          </a:p>
          <a:p>
            <a:r>
              <a:rPr lang="es-MX" dirty="0"/>
              <a:t>TELEFONO</a:t>
            </a:r>
          </a:p>
          <a:p>
            <a:r>
              <a:rPr lang="es-MX" dirty="0"/>
              <a:t>DIRECCION</a:t>
            </a:r>
          </a:p>
          <a:p>
            <a:r>
              <a:rPr lang="es-MX" dirty="0"/>
              <a:t>LICENCIA CONDUCIR</a:t>
            </a:r>
          </a:p>
          <a:p>
            <a:r>
              <a:rPr lang="es-MX" dirty="0"/>
              <a:t>ESTADO CIVIL</a:t>
            </a:r>
          </a:p>
          <a:p>
            <a:r>
              <a:rPr lang="es-MX" dirty="0"/>
              <a:t>NACIONALIDAD</a:t>
            </a:r>
            <a:endParaRPr lang="es-PE" dirty="0"/>
          </a:p>
        </p:txBody>
      </p:sp>
      <p:sp>
        <p:nvSpPr>
          <p:cNvPr id="15" name="Botón de acción: en blanco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73ADECE-4096-A47A-4A18-BEF6606825A7}"/>
              </a:ext>
            </a:extLst>
          </p:cNvPr>
          <p:cNvSpPr/>
          <p:nvPr/>
        </p:nvSpPr>
        <p:spPr>
          <a:xfrm>
            <a:off x="5483557" y="2831629"/>
            <a:ext cx="1298243" cy="63971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CCCCA9-FC47-6D8B-4E70-A3731187870B}"/>
              </a:ext>
            </a:extLst>
          </p:cNvPr>
          <p:cNvSpPr txBox="1"/>
          <p:nvPr/>
        </p:nvSpPr>
        <p:spPr>
          <a:xfrm>
            <a:off x="3117376" y="2367002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AFILIAR CONDUCTOR</a:t>
            </a:r>
            <a:endParaRPr lang="es-PE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9409530-1B80-27DC-B19E-76624C8DF5AB}"/>
              </a:ext>
            </a:extLst>
          </p:cNvPr>
          <p:cNvSpPr/>
          <p:nvPr/>
        </p:nvSpPr>
        <p:spPr>
          <a:xfrm>
            <a:off x="4267200" y="5791200"/>
            <a:ext cx="1216357" cy="15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A6DDAFA-55E7-424C-7C6B-2033B1A68F86}"/>
              </a:ext>
            </a:extLst>
          </p:cNvPr>
          <p:cNvSpPr/>
          <p:nvPr/>
        </p:nvSpPr>
        <p:spPr>
          <a:xfrm>
            <a:off x="7163248" y="5812817"/>
            <a:ext cx="1216357" cy="15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ADB2729-1CF8-B132-7F35-06E5044708D8}"/>
              </a:ext>
            </a:extLst>
          </p:cNvPr>
          <p:cNvSpPr/>
          <p:nvPr/>
        </p:nvSpPr>
        <p:spPr>
          <a:xfrm>
            <a:off x="2743200" y="1969532"/>
            <a:ext cx="7010400" cy="34907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superiores redondeadas 20">
            <a:extLst>
              <a:ext uri="{FF2B5EF4-FFF2-40B4-BE49-F238E27FC236}">
                <a16:creationId xmlns:a16="http://schemas.microsoft.com/office/drawing/2014/main" id="{897447F0-73F7-C144-C206-521F3CC9473B}"/>
              </a:ext>
            </a:extLst>
          </p:cNvPr>
          <p:cNvSpPr/>
          <p:nvPr/>
        </p:nvSpPr>
        <p:spPr>
          <a:xfrm>
            <a:off x="2743200" y="1949439"/>
            <a:ext cx="7391400" cy="349071"/>
          </a:xfrm>
          <a:prstGeom prst="round2Same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7533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640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863D4F-D063-472A-B103-309BAE4C534C}"/>
              </a:ext>
            </a:extLst>
          </p:cNvPr>
          <p:cNvSpPr txBox="1"/>
          <p:nvPr/>
        </p:nvSpPr>
        <p:spPr>
          <a:xfrm>
            <a:off x="723900" y="920621"/>
            <a:ext cx="107442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Proxy</a:t>
            </a:r>
          </a:p>
          <a:p>
            <a:pPr algn="just"/>
            <a:r>
              <a:rPr lang="es-ES" sz="2000" dirty="0"/>
              <a:t>El patrón Proxy proporciona un sustituto o marcador de posición para otro objeto con el fin de controlar el acceso a él. Se utiliza para realizar ciertas acciones antes o después de que una solicitud llegue al objeto real. Los </a:t>
            </a:r>
            <a:r>
              <a:rPr lang="es-ES" sz="2000" dirty="0" err="1"/>
              <a:t>proxies</a:t>
            </a:r>
            <a:r>
              <a:rPr lang="es-ES" sz="2000" dirty="0"/>
              <a:t> se pueden usar para: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Controlar el acceso a un recurso costoso o sensible.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Proveer un objeto sustituto que diferirá la creación del objeto real hasta que sea necesario (carga diferida).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Añadir funcionalidad adicional (como el almacenamiento en caché) sin modificar el objeto real.</a:t>
            </a:r>
          </a:p>
          <a:p>
            <a:pPr algn="just"/>
            <a:r>
              <a:rPr lang="es-ES" sz="2000" b="1" dirty="0"/>
              <a:t>Bridge</a:t>
            </a:r>
          </a:p>
          <a:p>
            <a:pPr algn="just"/>
            <a:r>
              <a:rPr lang="es-ES" sz="2000" dirty="0"/>
              <a:t>El patrón Bridge separa una abstracción de su implementación para que ambos puedan variar independientemente. Este patrón es útil cuando las implementaciones de una abstracción pueden cambiar con frecuencia o cuando se requiere la implementación en múltiples plataformas. El Bridge: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Permite cambiar las implementaciones sin modificar las abstracciones.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Facilita la extensión de ambas jerarquías (abstracción e implementación) de manera independiente.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/>
              <a:t>Es útil en sistemas que deben soportar múltiples variantes de un conjunto de características.</a:t>
            </a:r>
          </a:p>
        </p:txBody>
      </p:sp>
    </p:spTree>
    <p:extLst>
      <p:ext uri="{BB962C8B-B14F-4D97-AF65-F5344CB8AC3E}">
        <p14:creationId xmlns:p14="http://schemas.microsoft.com/office/powerpoint/2010/main" val="306879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8BB5DA0-071E-3A4E-C0E4-81AED7634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990555"/>
            <a:ext cx="9982199" cy="502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8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2552700" y="2451828"/>
            <a:ext cx="7086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>
                <a:latin typeface="Arial MT"/>
                <a:cs typeface="Arial MT"/>
              </a:rPr>
              <a:t>Al finalizar la unidad el participante aplica los patrones de comportamiento y </a:t>
            </a:r>
            <a:r>
              <a:rPr lang="es-ES" sz="3200" spc="-5" dirty="0" err="1">
                <a:latin typeface="Arial MT"/>
                <a:cs typeface="Arial MT"/>
              </a:rPr>
              <a:t>antipatrones</a:t>
            </a:r>
            <a:r>
              <a:rPr lang="es-ES" sz="3200" spc="-5" dirty="0">
                <a:latin typeface="Arial MT"/>
                <a:cs typeface="Arial MT"/>
              </a:rPr>
              <a:t> para la solución de problemas.</a:t>
            </a: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B8F5EF-2F10-4D15-8873-813A4AC722E7}"/>
              </a:ext>
            </a:extLst>
          </p:cNvPr>
          <p:cNvSpPr txBox="1"/>
          <p:nvPr/>
        </p:nvSpPr>
        <p:spPr>
          <a:xfrm>
            <a:off x="1308737" y="1319242"/>
            <a:ext cx="9525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La comprensión y aplicación de patrones de comportamiento, como el patrón </a:t>
            </a:r>
            <a:r>
              <a:rPr lang="es-ES" sz="2400" dirty="0" err="1"/>
              <a:t>State</a:t>
            </a:r>
            <a:r>
              <a:rPr lang="es-ES" sz="2400" dirty="0"/>
              <a:t> y el patrón </a:t>
            </a:r>
            <a:r>
              <a:rPr lang="es-ES" sz="2400" dirty="0" err="1"/>
              <a:t>Observer</a:t>
            </a:r>
            <a:r>
              <a:rPr lang="es-ES" sz="2400" dirty="0"/>
              <a:t>, es crucial en el ámbito laboral y profesional para los estudiantes de programación y desarrollo de software. Estos patrones permiten diseñar sistemas más flexibles y mantenibles al gestionar de manera eficiente el estado y las interacciones entre objetos. El patrón </a:t>
            </a:r>
            <a:r>
              <a:rPr lang="es-ES" sz="2400" dirty="0" err="1"/>
              <a:t>State</a:t>
            </a:r>
            <a:r>
              <a:rPr lang="es-ES" sz="2400" dirty="0"/>
              <a:t> facilita la modificación dinámica del comportamiento de un objeto basado en su estado interno, mientras que el patrón </a:t>
            </a:r>
            <a:r>
              <a:rPr lang="es-ES" sz="2400" dirty="0" err="1"/>
              <a:t>Observer</a:t>
            </a:r>
            <a:r>
              <a:rPr lang="es-ES" sz="2400" dirty="0"/>
              <a:t> permite la comunicación y actualización automática entre objetos dependientes. La habilidad para implementar estos patrones no solo mejora la calidad del software, sino que también incrementa la competitividad y la capacidad de los estudiantes para resolver problemas complejos en entornos laborales reales.</a:t>
            </a:r>
          </a:p>
        </p:txBody>
      </p:sp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1600200" y="2890391"/>
            <a:ext cx="8991600" cy="2100575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solidFill>
                  <a:schemeClr val="bg1"/>
                </a:solidFill>
                <a:latin typeface="Arial"/>
                <a:cs typeface="Arial"/>
              </a:rPr>
              <a:t>Patrones Comportamiento: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Introducción a patrones de comportamiento.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Patrón </a:t>
            </a:r>
            <a:r>
              <a:rPr lang="es-ES" sz="3200" dirty="0" err="1">
                <a:solidFill>
                  <a:schemeClr val="bg1"/>
                </a:solidFill>
                <a:latin typeface="Arial"/>
                <a:cs typeface="Arial"/>
              </a:rPr>
              <a:t>State</a:t>
            </a:r>
            <a:endParaRPr lang="es-ES" sz="3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Patrón </a:t>
            </a:r>
            <a:r>
              <a:rPr lang="es-ES" sz="3200" dirty="0" err="1">
                <a:solidFill>
                  <a:schemeClr val="bg1"/>
                </a:solidFill>
                <a:latin typeface="Arial"/>
                <a:cs typeface="Arial"/>
              </a:rPr>
              <a:t>Observer</a:t>
            </a:r>
            <a:endParaRPr lang="es-PE" sz="3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</a:t>
            </a:r>
            <a:r>
              <a:rPr lang="es-PE" sz="3600" b="1" spc="-25" dirty="0" err="1">
                <a:solidFill>
                  <a:srgbClr val="000000"/>
                </a:solidFill>
                <a:latin typeface="Arial"/>
                <a:cs typeface="Arial"/>
              </a:rPr>
              <a:t>N°</a:t>
            </a: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 12: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Introducción a patrones de comportamiento</a:t>
            </a:r>
            <a:endParaRPr lang="es-PE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8532A0-7AC8-4B94-8969-19944E1F8653}"/>
              </a:ext>
            </a:extLst>
          </p:cNvPr>
          <p:cNvSpPr txBox="1"/>
          <p:nvPr/>
        </p:nvSpPr>
        <p:spPr>
          <a:xfrm>
            <a:off x="1143000" y="2027932"/>
            <a:ext cx="5181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/>
              <a:t>Los patrones de comportamiento se centran en cómo los objetos interactúan y se comunican entre sí. Estos patrones ayudan a definir cómo se llevan a cabo las responsabilidades entre los objetos, promoviendo una colaboración eficiente y flexible.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52064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Introducción a patrones de comportamiento</a:t>
            </a:r>
            <a:endParaRPr lang="es-PE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F834AB-0535-4B38-9B2A-2F8606D6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75963"/>
            <a:ext cx="10221976" cy="371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0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Introducción a patrones de comportamiento</a:t>
            </a:r>
            <a:endParaRPr lang="es-PE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DF67DC-8B3A-4742-BA15-FD462297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952418"/>
            <a:ext cx="10105725" cy="314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7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Introducción a patrones de comportamiento</a:t>
            </a:r>
            <a:endParaRPr lang="es-PE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E86E822-343F-4D1C-8D1E-793FE7C03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176287"/>
            <a:ext cx="10216768" cy="270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7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Introducción a patrones de comportamiento</a:t>
            </a:r>
            <a:endParaRPr lang="es-PE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16C1AE-8D8D-4418-B976-8D1E63F06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143" y="2309613"/>
            <a:ext cx="4281713" cy="27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6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409700" y="1221391"/>
            <a:ext cx="9372600" cy="312200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latin typeface="Arial"/>
                <a:cs typeface="Arial"/>
              </a:rPr>
              <a:t>¿Qué ejemplos cotidianos ilustran cómo los patrones de comportamiento facilitan la comunicación y la interacción entre objetos en un sistema de software?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6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State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CEE95-4960-4E8B-B2CD-C41F62449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331" y="2077760"/>
            <a:ext cx="993933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 crea una interfaz </a:t>
            </a:r>
            <a:r>
              <a:rPr kumimoji="0" lang="es-PE" altLang="es-P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declara los métodos que los estados concretos deben implementar.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 implementan clases concretas que representan los diferentes estados del objeto.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objeto </a:t>
            </a:r>
            <a:r>
              <a:rPr kumimoji="0" lang="es-PE" altLang="es-P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Context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tiene una referencia a un objeto </a:t>
            </a:r>
            <a:r>
              <a:rPr kumimoji="0" lang="es-PE" altLang="es-P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delega las solicitudes a ese objeto.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315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State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803B67-33CD-4402-B7B2-F5EC9F9ECF5A}"/>
              </a:ext>
            </a:extLst>
          </p:cNvPr>
          <p:cNvSpPr txBox="1"/>
          <p:nvPr/>
        </p:nvSpPr>
        <p:spPr>
          <a:xfrm>
            <a:off x="1143000" y="2133600"/>
            <a:ext cx="982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Importancia</a:t>
            </a:r>
            <a:r>
              <a:rPr lang="es-ES" sz="2400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Es crucial para sistemas donde el comportamiento del objeto depende de su estado interno.</a:t>
            </a:r>
          </a:p>
        </p:txBody>
      </p:sp>
    </p:spTree>
    <p:extLst>
      <p:ext uri="{BB962C8B-B14F-4D97-AF65-F5344CB8AC3E}">
        <p14:creationId xmlns:p14="http://schemas.microsoft.com/office/powerpoint/2010/main" val="51000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State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F13540B-3607-4CD5-8C5B-7A63CE523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624903"/>
              </p:ext>
            </p:extLst>
          </p:nvPr>
        </p:nvGraphicFramePr>
        <p:xfrm>
          <a:off x="1219200" y="2209800"/>
          <a:ext cx="9829800" cy="289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9786551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62050135"/>
                    </a:ext>
                  </a:extLst>
                </a:gridCol>
              </a:tblGrid>
              <a:tr h="56165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400" u="none" strike="noStrike" dirty="0">
                          <a:effectLst/>
                        </a:rPr>
                        <a:t>Ventaja</a:t>
                      </a:r>
                      <a:endParaRPr lang="es-PE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6" marR="7746" marT="7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400" u="none" strike="noStrike" dirty="0">
                          <a:effectLst/>
                        </a:rPr>
                        <a:t>Desventaja</a:t>
                      </a:r>
                      <a:endParaRPr lang="es-PE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6" marR="7746" marT="7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307519"/>
                  </a:ext>
                </a:extLst>
              </a:tr>
              <a:tr h="2329483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u="none" strike="noStrike" dirty="0">
                          <a:effectLst/>
                        </a:rPr>
                        <a:t>Facilita el mantenimiento y la extensión del código. Mejora la legibilidad al encapsular los estados.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6" marR="7746" marT="7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u="none" strike="noStrike" dirty="0">
                          <a:effectLst/>
                        </a:rPr>
                        <a:t>Puede incrementar la complejidad del sistema. Puede ser excesivo si solo hay pocos estados.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6" marR="7746" marT="7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21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459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409700" y="1004887"/>
            <a:ext cx="9372600" cy="312200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latin typeface="Arial"/>
                <a:cs typeface="Arial"/>
              </a:rPr>
              <a:t>¿Cómo se puede entender mejor el patrón </a:t>
            </a:r>
            <a:r>
              <a:rPr lang="es-ES" sz="4000" b="1" spc="-5" dirty="0" err="1">
                <a:latin typeface="Arial"/>
                <a:cs typeface="Arial"/>
              </a:rPr>
              <a:t>State</a:t>
            </a:r>
            <a:r>
              <a:rPr lang="es-ES" sz="4000" b="1" spc="-5" dirty="0">
                <a:latin typeface="Arial"/>
                <a:cs typeface="Arial"/>
              </a:rPr>
              <a:t> utilizando un ejemplo de la vida real donde un objeto cambia su comportamiento basado en su estado interno?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83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Observer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E207CB-1485-4D34-9C69-7EDBB83C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09800"/>
            <a:ext cx="96012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 crea una interfaz </a:t>
            </a:r>
            <a:r>
              <a:rPr kumimoji="0" lang="es-PE" altLang="es-P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Observer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el método </a:t>
            </a:r>
            <a:r>
              <a:rPr kumimoji="0" lang="es-PE" altLang="es-P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clase </a:t>
            </a:r>
            <a:r>
              <a:rPr kumimoji="0" lang="es-PE" altLang="es-P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Subject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mantiene una lista de </a:t>
            </a:r>
            <a:r>
              <a:rPr kumimoji="0" lang="es-PE" altLang="es-P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Observer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notifica a todos los observadores cuando ocurre un cambio de estado.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6287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Observer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F5856E-33C2-4C2C-9FA1-096D8F8F9B2B}"/>
              </a:ext>
            </a:extLst>
          </p:cNvPr>
          <p:cNvSpPr txBox="1"/>
          <p:nvPr/>
        </p:nvSpPr>
        <p:spPr>
          <a:xfrm>
            <a:off x="1143000" y="2057400"/>
            <a:ext cx="9372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Importancia</a:t>
            </a:r>
            <a:r>
              <a:rPr lang="es-ES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Es esencial para sistemas donde los cambios en un objeto necesitan ser reflejados en otros objetos.</a:t>
            </a:r>
          </a:p>
        </p:txBody>
      </p:sp>
    </p:spTree>
    <p:extLst>
      <p:ext uri="{BB962C8B-B14F-4D97-AF65-F5344CB8AC3E}">
        <p14:creationId xmlns:p14="http://schemas.microsoft.com/office/powerpoint/2010/main" val="2755917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Observer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CDB3791-861D-4ABC-A2D4-7BD803F0A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444304"/>
              </p:ext>
            </p:extLst>
          </p:nvPr>
        </p:nvGraphicFramePr>
        <p:xfrm>
          <a:off x="1143000" y="2057400"/>
          <a:ext cx="98298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197253677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363648907"/>
                    </a:ext>
                  </a:extLst>
                </a:gridCol>
              </a:tblGrid>
              <a:tr h="4876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400" b="1" u="none" strike="noStrike" dirty="0">
                          <a:effectLst/>
                        </a:rPr>
                        <a:t>Ventaja</a:t>
                      </a:r>
                      <a:endParaRPr lang="es-PE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7" marR="6197" marT="61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400" b="1" u="none" strike="noStrike" dirty="0">
                          <a:effectLst/>
                        </a:rPr>
                        <a:t>Desventaja</a:t>
                      </a:r>
                      <a:endParaRPr lang="es-PE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7" marR="6197" marT="61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308903"/>
                  </a:ext>
                </a:extLst>
              </a:tr>
              <a:tr h="316991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u="none" strike="noStrike">
                          <a:effectLst/>
                        </a:rPr>
                        <a:t>Desacopla el objeto que notifica de los objetos que reciben la notificación. Facilita la reutilización y mantenimiento.</a:t>
                      </a:r>
                      <a:endParaRPr lang="es-E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7" marR="6197" marT="61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u="none" strike="noStrike" dirty="0">
                          <a:effectLst/>
                        </a:rPr>
                        <a:t>Puede ser difícil de gestionar con muchos observadores. Puede causar problemas de rendimiento si no se maneja correctamente.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7" marR="6197" marT="61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34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196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838200" y="1066800"/>
            <a:ext cx="10096500" cy="312200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latin typeface="Arial"/>
                <a:cs typeface="Arial"/>
              </a:rPr>
              <a:t>¿Qué situaciones en la vida diaria pueden ayudar a visualizar cómo el patrón </a:t>
            </a:r>
            <a:r>
              <a:rPr lang="es-ES" sz="4000" b="1" spc="-5" dirty="0" err="1">
                <a:latin typeface="Arial"/>
                <a:cs typeface="Arial"/>
              </a:rPr>
              <a:t>Observer</a:t>
            </a:r>
            <a:r>
              <a:rPr lang="es-ES" sz="4000" b="1" spc="-5" dirty="0">
                <a:latin typeface="Arial"/>
                <a:cs typeface="Arial"/>
              </a:rPr>
              <a:t> permite que un objeto notifique automáticamente a otros objetos sobre cambios en su estado?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32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0" y="2819400"/>
            <a:ext cx="12192000" cy="12192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5886D6-5B28-4586-B236-615F21BBB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8672" y="3084034"/>
            <a:ext cx="363465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bg1"/>
                </a:solidFill>
                <a:latin typeface="Rubik"/>
              </a:rPr>
              <a:t>Caso</a:t>
            </a:r>
            <a:r>
              <a:rPr b="1" spc="-90" dirty="0">
                <a:solidFill>
                  <a:schemeClr val="bg1"/>
                </a:solidFill>
                <a:latin typeface="Rubik"/>
              </a:rPr>
              <a:t> </a:t>
            </a:r>
            <a:r>
              <a:rPr b="1" spc="-5" dirty="0">
                <a:solidFill>
                  <a:schemeClr val="bg1"/>
                </a:solidFill>
                <a:latin typeface="Rubik"/>
              </a:rPr>
              <a:t>práctico</a:t>
            </a:r>
          </a:p>
        </p:txBody>
      </p:sp>
    </p:spTree>
    <p:extLst>
      <p:ext uri="{BB962C8B-B14F-4D97-AF65-F5344CB8AC3E}">
        <p14:creationId xmlns:p14="http://schemas.microsoft.com/office/powerpoint/2010/main" val="3460638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" y="11811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767DAF2-5F2A-46B9-9A40-40D847114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354" y="1757198"/>
            <a:ext cx="5543342" cy="334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" y="11811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00C99C7-1770-4C4A-BC46-D866C6DDB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92917"/>
            <a:ext cx="5427168" cy="327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12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dirty="0">
                <a:latin typeface="Arial"/>
                <a:cs typeface="Arial"/>
              </a:rPr>
              <a:t>fácil?</a:t>
            </a: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retador?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618011"/>
            <a:ext cx="2047300" cy="20473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8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2644170"/>
            <a:ext cx="768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spc="-5" dirty="0">
                <a:latin typeface="Arial"/>
                <a:cs typeface="Arial"/>
              </a:rPr>
              <a:t>Tomar apuntes de manera eficaz ayuda a consolidar el  aprendizaje y prepararse para los exámenes.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E22592B-C9AA-4B2C-9DFD-042BF015F65D}"/>
              </a:ext>
            </a:extLst>
          </p:cNvPr>
          <p:cNvSpPr txBox="1"/>
          <p:nvPr/>
        </p:nvSpPr>
        <p:spPr>
          <a:xfrm>
            <a:off x="685800" y="985421"/>
            <a:ext cx="10820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Introducción a Patrones de Comportamiento</a:t>
            </a:r>
          </a:p>
          <a:p>
            <a:pPr algn="ctr"/>
            <a:r>
              <a:rPr lang="es-ES" sz="2400" dirty="0"/>
              <a:t>Los patrones de comportamiento se centran en la interacción y responsabilidad entre los objetos. Estos patrones ayudan a definir cómo se comunican los objetos y cómo se distribuyen las responsabilidades entre ellos, facilitando así el diseño flexible y la comunicación entre objetos.</a:t>
            </a:r>
          </a:p>
          <a:p>
            <a:pPr algn="ctr"/>
            <a:endParaRPr lang="es-ES" sz="2400" dirty="0"/>
          </a:p>
          <a:p>
            <a:pPr algn="ctr"/>
            <a:r>
              <a:rPr lang="es-ES" sz="2400" b="1" dirty="0"/>
              <a:t>Patrón </a:t>
            </a:r>
            <a:r>
              <a:rPr lang="es-ES" sz="2400" b="1" dirty="0" err="1"/>
              <a:t>State</a:t>
            </a:r>
            <a:endParaRPr lang="es-ES" sz="2400" b="1" dirty="0"/>
          </a:p>
          <a:p>
            <a:pPr algn="ctr"/>
            <a:r>
              <a:rPr lang="es-ES" sz="2400" dirty="0"/>
              <a:t>Permite a un objeto cambiar su comportamiento cuando cambia su estado interno. El objeto parecerá cambiar su clase.</a:t>
            </a:r>
          </a:p>
          <a:p>
            <a:pPr algn="ctr"/>
            <a:endParaRPr lang="es-ES" sz="2400" dirty="0"/>
          </a:p>
          <a:p>
            <a:pPr algn="ctr"/>
            <a:r>
              <a:rPr lang="es-ES" sz="2400" b="1" dirty="0"/>
              <a:t>Patrón </a:t>
            </a:r>
            <a:r>
              <a:rPr lang="es-ES" sz="2400" b="1" dirty="0" err="1"/>
              <a:t>Observer</a:t>
            </a:r>
            <a:endParaRPr lang="es-ES" sz="2400" b="1" dirty="0"/>
          </a:p>
          <a:p>
            <a:pPr algn="ctr"/>
            <a:r>
              <a:rPr lang="es-ES" sz="2400" dirty="0"/>
              <a:t>Define una dependencia uno a muchos entre objetos, de manera que cuando un objeto cambie de estado, todos sus dependientes sean notificados y actualizados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3581686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Entrega de manera escrita, en la siguiente clase.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AF4600A-95C6-4A92-B5BF-BB4183F5EFEF}"/>
              </a:ext>
            </a:extLst>
          </p:cNvPr>
          <p:cNvSpPr txBox="1"/>
          <p:nvPr/>
        </p:nvSpPr>
        <p:spPr>
          <a:xfrm>
            <a:off x="723899" y="1122749"/>
            <a:ext cx="10744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Patrones </a:t>
            </a:r>
            <a:r>
              <a:rPr lang="es-ES" sz="2000" b="1" dirty="0" err="1"/>
              <a:t>State</a:t>
            </a:r>
            <a:r>
              <a:rPr lang="es-ES" sz="2000" b="1" dirty="0"/>
              <a:t> y </a:t>
            </a:r>
            <a:r>
              <a:rPr lang="es-ES" sz="2000" b="1" dirty="0" err="1"/>
              <a:t>Observer</a:t>
            </a:r>
            <a:endParaRPr lang="es-ES" sz="2000" b="1" dirty="0"/>
          </a:p>
          <a:p>
            <a:endParaRPr lang="es-ES" sz="2000" b="1" dirty="0"/>
          </a:p>
          <a:p>
            <a:pPr>
              <a:buFont typeface="+mj-lt"/>
              <a:buAutoNum type="arabicPeriod"/>
            </a:pPr>
            <a:r>
              <a:rPr lang="es-ES" sz="2000" b="1" dirty="0"/>
              <a:t>Características Principales</a:t>
            </a:r>
            <a:r>
              <a:rPr lang="es-E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dirty="0"/>
              <a:t>Describe al menos cinco características claves de los dos patrones que vimos hoy en clase: </a:t>
            </a:r>
            <a:r>
              <a:rPr lang="es-ES" sz="2000" dirty="0" err="1"/>
              <a:t>State</a:t>
            </a:r>
            <a:r>
              <a:rPr lang="es-ES" sz="2000" dirty="0"/>
              <a:t> y </a:t>
            </a:r>
            <a:r>
              <a:rPr lang="es-ES" sz="2000" dirty="0" err="1"/>
              <a:t>Observer</a:t>
            </a:r>
            <a:r>
              <a:rPr lang="es-ES" sz="2000" dirty="0"/>
              <a:t>. Para cada característica, explica qué es y por qué es importante.</a:t>
            </a:r>
          </a:p>
          <a:p>
            <a:pPr lvl="1"/>
            <a:endParaRPr lang="es-ES" sz="2000" dirty="0"/>
          </a:p>
          <a:p>
            <a:pPr>
              <a:buFont typeface="+mj-lt"/>
              <a:buAutoNum type="arabicPeriod"/>
            </a:pPr>
            <a:r>
              <a:rPr lang="es-ES" sz="2000" b="1" dirty="0"/>
              <a:t>Casos de Uso</a:t>
            </a:r>
            <a:r>
              <a:rPr lang="es-E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dirty="0"/>
              <a:t>Investiga y describe al menos tres casos de uso o ejemplos de empresas que utilizan </a:t>
            </a:r>
            <a:r>
              <a:rPr lang="es-ES" sz="2000" dirty="0" err="1"/>
              <a:t>State</a:t>
            </a:r>
            <a:r>
              <a:rPr lang="es-ES" sz="2000" dirty="0"/>
              <a:t> y </a:t>
            </a:r>
            <a:r>
              <a:rPr lang="es-ES" sz="2000" dirty="0" err="1"/>
              <a:t>Observer</a:t>
            </a:r>
            <a:r>
              <a:rPr lang="es-ES" sz="2000" dirty="0"/>
              <a:t>.</a:t>
            </a:r>
          </a:p>
          <a:p>
            <a:pPr lvl="1"/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740398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Recursos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olvides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PE" sz="2400" i="1" spc="-5" dirty="0" err="1">
                <a:latin typeface="Arial" panose="020B0604020202020204" pitchFamily="34" charset="0"/>
                <a:cs typeface="Arial" panose="020B0604020202020204" pitchFamily="34" charset="0"/>
              </a:rPr>
              <a:t>ambién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revisar tu plataforma </a:t>
            </a:r>
            <a:r>
              <a:rPr lang="es-ES" sz="2400" i="1" spc="-10" dirty="0" err="1">
                <a:latin typeface="Arial" panose="020B0604020202020204" pitchFamily="34" charset="0"/>
                <a:cs typeface="Arial" panose="020B0604020202020204" pitchFamily="34" charset="0"/>
              </a:rPr>
              <a:t>UTP+Class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B0927F-97D1-45B4-AE70-5270DFA95140}"/>
              </a:ext>
            </a:extLst>
          </p:cNvPr>
          <p:cNvSpPr txBox="1"/>
          <p:nvPr/>
        </p:nvSpPr>
        <p:spPr>
          <a:xfrm>
            <a:off x="1028700" y="1371600"/>
            <a:ext cx="101346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1.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1</a:t>
            </a:r>
            <a:r>
              <a:rPr lang="es-ES" dirty="0"/>
              <a:t>: </a:t>
            </a:r>
            <a:r>
              <a:rPr lang="es-ES" dirty="0">
                <a:hlinkClick r:id="rId3"/>
              </a:rPr>
              <a:t>https://www.youtube.com/watch?v=cwfuydUHZ7o&amp;list=PLvimn1Ins-41Uiugt1WbpyFo1XT1WOquL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2</a:t>
            </a:r>
            <a:r>
              <a:rPr lang="es-ES" dirty="0"/>
              <a:t>: </a:t>
            </a:r>
            <a:r>
              <a:rPr lang="es-ES" dirty="0">
                <a:hlinkClick r:id="rId4"/>
              </a:rPr>
              <a:t>https://www.youtube.com/watch?v=vb2zIzrT1cs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3</a:t>
            </a:r>
            <a:r>
              <a:rPr lang="es-ES" dirty="0"/>
              <a:t>: </a:t>
            </a:r>
            <a:r>
              <a:rPr lang="es-ES" dirty="0">
                <a:hlinkClick r:id="rId5"/>
              </a:rPr>
              <a:t>https://www.youtube.com/watch?v=4ht0bTy1AoA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Video 4</a:t>
            </a:r>
            <a:r>
              <a:rPr lang="es-ES" dirty="0"/>
              <a:t>: </a:t>
            </a:r>
            <a:r>
              <a:rPr lang="es-ES" dirty="0">
                <a:hlinkClick r:id="rId6"/>
              </a:rPr>
              <a:t>https://www.youtube.com/watch?v=gYWnOskeED4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Video 5</a:t>
            </a:r>
            <a:r>
              <a:rPr lang="es-ES" dirty="0"/>
              <a:t>: </a:t>
            </a:r>
            <a:r>
              <a:rPr lang="es-ES" dirty="0">
                <a:hlinkClick r:id="rId7"/>
              </a:rPr>
              <a:t>https://www.youtube.com/watch?v=QiKrKNTdGGs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Video 6</a:t>
            </a:r>
            <a:r>
              <a:rPr lang="es-ES" dirty="0"/>
              <a:t>: </a:t>
            </a:r>
            <a:r>
              <a:rPr lang="es-ES" dirty="0">
                <a:hlinkClick r:id="rId8"/>
              </a:rPr>
              <a:t>https://www.youtube.com/watch?v=0uzrT40wN7s</a:t>
            </a:r>
            <a:endParaRPr lang="es-ES" dirty="0"/>
          </a:p>
          <a:p>
            <a:endParaRPr lang="es-ES" dirty="0"/>
          </a:p>
          <a:p>
            <a:r>
              <a:rPr lang="es-ES" sz="2400" b="1" dirty="0"/>
              <a:t>2. Páginas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Página Web 1</a:t>
            </a:r>
            <a:r>
              <a:rPr lang="es-ES" dirty="0"/>
              <a:t>: </a:t>
            </a:r>
            <a:r>
              <a:rPr lang="es-ES" dirty="0">
                <a:hlinkClick r:id="rId9"/>
              </a:rPr>
              <a:t>https://refactoring.guru/es/design-patterns/behavioral-patterns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Página Web 2</a:t>
            </a:r>
            <a:r>
              <a:rPr lang="es-ES"/>
              <a:t>: </a:t>
            </a:r>
            <a:r>
              <a:rPr lang="es-ES">
                <a:hlinkClick r:id="rId10"/>
              </a:rPr>
              <a:t>https://reactiveprogramming.io/blog/es/patrones-de-diseno/state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9688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1232</TotalTime>
  <Words>1170</Words>
  <Application>Microsoft Office PowerPoint</Application>
  <PresentationFormat>Panorámica</PresentationFormat>
  <Paragraphs>149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5" baseType="lpstr">
      <vt:lpstr>Arial</vt:lpstr>
      <vt:lpstr>Arial MT</vt:lpstr>
      <vt:lpstr>Calibri</vt:lpstr>
      <vt:lpstr>Calibri Light</vt:lpstr>
      <vt:lpstr>CentSchbkCyrill BT</vt:lpstr>
      <vt:lpstr>helvetica neue</vt:lpstr>
      <vt:lpstr>Rubik</vt:lpstr>
      <vt:lpstr>Office Theme</vt:lpstr>
      <vt:lpstr>Presentación de PowerPoint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práctico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DOCENTE - JORGE ALFREDO GUEVARA JIMENEZ</cp:lastModifiedBy>
  <cp:revision>111</cp:revision>
  <dcterms:created xsi:type="dcterms:W3CDTF">2024-06-11T03:36:57Z</dcterms:created>
  <dcterms:modified xsi:type="dcterms:W3CDTF">2024-10-30T14:57:17Z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