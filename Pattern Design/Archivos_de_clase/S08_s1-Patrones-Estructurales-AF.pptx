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6858000" cx="12192000"/>
  <p:notesSz cx="12192000" cy="6858000"/>
  <p:embeddedFontLst>
    <p:embeddedFont>
      <p:font typeface="Roboto"/>
      <p:regular r:id="rId40"/>
      <p:bold r:id="rId41"/>
      <p:italic r:id="rId42"/>
      <p:boldItalic r:id="rId43"/>
    </p:embeddedFont>
    <p:embeddedFont>
      <p:font typeface="Rubik"/>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8" roundtripDataSignature="AMtx7mjt/QW81FP93j+TshfFZcC7gftE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20" Type="http://schemas.openxmlformats.org/officeDocument/2006/relationships/slide" Target="slides/slide15.xml"/><Relationship Id="rId42" Type="http://schemas.openxmlformats.org/officeDocument/2006/relationships/font" Target="fonts/Roboto-italic.fntdata"/><Relationship Id="rId41" Type="http://schemas.openxmlformats.org/officeDocument/2006/relationships/font" Target="fonts/Roboto-bold.fntdata"/><Relationship Id="rId22" Type="http://schemas.openxmlformats.org/officeDocument/2006/relationships/slide" Target="slides/slide17.xml"/><Relationship Id="rId44" Type="http://schemas.openxmlformats.org/officeDocument/2006/relationships/font" Target="fonts/Rubik-regular.fntdata"/><Relationship Id="rId21" Type="http://schemas.openxmlformats.org/officeDocument/2006/relationships/slide" Target="slides/slide16.xml"/><Relationship Id="rId43" Type="http://schemas.openxmlformats.org/officeDocument/2006/relationships/font" Target="fonts/Roboto-boldItalic.fntdata"/><Relationship Id="rId24" Type="http://schemas.openxmlformats.org/officeDocument/2006/relationships/slide" Target="slides/slide19.xml"/><Relationship Id="rId46" Type="http://schemas.openxmlformats.org/officeDocument/2006/relationships/font" Target="fonts/Rubik-italic.fntdata"/><Relationship Id="rId23" Type="http://schemas.openxmlformats.org/officeDocument/2006/relationships/slide" Target="slides/slide18.xml"/><Relationship Id="rId45" Type="http://schemas.openxmlformats.org/officeDocument/2006/relationships/font" Target="fonts/Rubi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font" Target="fonts/Rubik-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P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22" name="Google Shape;122;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29" name="Google Shape;129;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36" name="Google Shape;136;p1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44" name="Google Shape;144;p1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52" name="Google Shape;152;p1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59" name="Google Shape;159;p1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66" name="Google Shape;166;p1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73" name="Google Shape;173;p1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80" name="Google Shape;180;p1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8: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88" name="Google Shape;188;p1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96" name="Google Shape;196;p1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04" name="Google Shape;204;p2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11" name="Google Shape;211;p2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18" name="Google Shape;218;p2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3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3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3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3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5" name="Shape 15"/>
        <p:cNvGrpSpPr/>
        <p:nvPr/>
      </p:nvGrpSpPr>
      <p:grpSpPr>
        <a:xfrm>
          <a:off x="0" y="0"/>
          <a:ext cx="0" cy="0"/>
          <a:chOff x="0" y="0"/>
          <a:chExt cx="0" cy="0"/>
        </a:xfrm>
      </p:grpSpPr>
      <p:sp>
        <p:nvSpPr>
          <p:cNvPr id="16" name="Google Shape;16;p36"/>
          <p:cNvSpPr txBox="1"/>
          <p:nvPr>
            <p:ph type="ctrTitle"/>
          </p:nvPr>
        </p:nvSpPr>
        <p:spPr>
          <a:xfrm>
            <a:off x="1734820" y="1015746"/>
            <a:ext cx="8722359" cy="176339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6"/>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PE"/>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37"/>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7"/>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3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PE"/>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
        <p:nvSpPr>
          <p:cNvPr id="28" name="Google Shape;28;p3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PE"/>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39"/>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9"/>
          <p:cNvSpPr txBox="1"/>
          <p:nvPr>
            <p:ph idx="1" type="body"/>
          </p:nvPr>
        </p:nvSpPr>
        <p:spPr>
          <a:xfrm>
            <a:off x="916939" y="1784350"/>
            <a:ext cx="489267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39"/>
          <p:cNvSpPr txBox="1"/>
          <p:nvPr>
            <p:ph idx="2" type="body"/>
          </p:nvPr>
        </p:nvSpPr>
        <p:spPr>
          <a:xfrm>
            <a:off x="7660005" y="1784350"/>
            <a:ext cx="352742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3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PE"/>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40"/>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4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PE"/>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5"/>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3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9.png"/><Relationship Id="rId4" Type="http://schemas.openxmlformats.org/officeDocument/2006/relationships/image" Target="../media/image2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ph type="ctrTitle"/>
          </p:nvPr>
        </p:nvSpPr>
        <p:spPr>
          <a:xfrm>
            <a:off x="900112" y="1838144"/>
            <a:ext cx="10363199" cy="905056"/>
          </a:xfrm>
          <a:prstGeom prst="rect">
            <a:avLst/>
          </a:prstGeom>
          <a:noFill/>
          <a:ln>
            <a:noFill/>
          </a:ln>
        </p:spPr>
        <p:txBody>
          <a:bodyPr anchorCtr="0" anchor="t" bIns="0" lIns="0" spcFirstLastPara="1" rIns="0" wrap="square" tIns="116200">
            <a:spAutoFit/>
          </a:bodyPr>
          <a:lstStyle/>
          <a:p>
            <a:pPr indent="-3253104" lvl="0" marL="3268979" marR="5080" rtl="0" algn="ctr">
              <a:lnSpc>
                <a:spcPct val="135000"/>
              </a:lnSpc>
              <a:spcBef>
                <a:spcPts val="0"/>
              </a:spcBef>
              <a:spcAft>
                <a:spcPts val="0"/>
              </a:spcAft>
              <a:buNone/>
            </a:pPr>
            <a:r>
              <a:rPr lang="es-PE" sz="4800">
                <a:latin typeface="Arial"/>
                <a:ea typeface="Arial"/>
                <a:cs typeface="Arial"/>
                <a:sym typeface="Arial"/>
              </a:rPr>
              <a:t>CURSO: DISEÑO DE PATRONES</a:t>
            </a:r>
            <a:endParaRPr sz="4800">
              <a:latin typeface="Arial"/>
              <a:ea typeface="Arial"/>
              <a:cs typeface="Arial"/>
              <a:sym typeface="Arial"/>
            </a:endParaRPr>
          </a:p>
        </p:txBody>
      </p:sp>
      <p:sp>
        <p:nvSpPr>
          <p:cNvPr id="48" name="Google Shape;48;p1"/>
          <p:cNvSpPr txBox="1"/>
          <p:nvPr/>
        </p:nvSpPr>
        <p:spPr>
          <a:xfrm>
            <a:off x="2767012" y="1644495"/>
            <a:ext cx="6629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PE" sz="1800" u="none" cap="none" strike="noStrike">
                <a:solidFill>
                  <a:srgbClr val="D1052D"/>
                </a:solidFill>
                <a:latin typeface="Calibri"/>
                <a:ea typeface="Calibri"/>
                <a:cs typeface="Calibri"/>
                <a:sym typeface="Calibri"/>
              </a:rPr>
              <a:t>PRIMERA UNIDAD DE APRENDIZAJE 3: Patrones estructurales</a:t>
            </a:r>
            <a:r>
              <a:rPr b="0" i="0" lang="es-PE" sz="1800" u="none" cap="none" strike="noStrike">
                <a:solidFill>
                  <a:schemeClr val="dk1"/>
                </a:solidFill>
                <a:latin typeface="Verdana"/>
                <a:ea typeface="Verdana"/>
                <a:cs typeface="Verdana"/>
                <a:sym typeface="Verdana"/>
              </a:rPr>
              <a:t> </a:t>
            </a:r>
            <a:endParaRPr b="0" i="0" sz="1800" u="none" cap="none" strike="noStrike">
              <a:solidFill>
                <a:schemeClr val="dk1"/>
              </a:solidFill>
              <a:latin typeface="Calibri"/>
              <a:ea typeface="Calibri"/>
              <a:cs typeface="Calibri"/>
              <a:sym typeface="Calibri"/>
            </a:endParaRPr>
          </a:p>
        </p:txBody>
      </p:sp>
      <p:sp>
        <p:nvSpPr>
          <p:cNvPr id="49" name="Google Shape;49;p1"/>
          <p:cNvSpPr txBox="1"/>
          <p:nvPr/>
        </p:nvSpPr>
        <p:spPr>
          <a:xfrm>
            <a:off x="1966912" y="3179215"/>
            <a:ext cx="8258176" cy="2100575"/>
          </a:xfrm>
          <a:prstGeom prst="rect">
            <a:avLst/>
          </a:prstGeom>
          <a:solidFill>
            <a:srgbClr val="D1052D"/>
          </a:solid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PE" sz="3200" u="none" cap="none" strike="noStrike">
                <a:solidFill>
                  <a:schemeClr val="lt1"/>
                </a:solidFill>
                <a:latin typeface="Arial"/>
                <a:ea typeface="Arial"/>
                <a:cs typeface="Arial"/>
                <a:sym typeface="Arial"/>
              </a:rPr>
              <a:t>SESIÓN N° 08:</a:t>
            </a:r>
            <a:endParaRPr b="1" i="0" sz="3200" u="none" cap="none" strike="noStrike">
              <a:solidFill>
                <a:schemeClr val="lt1"/>
              </a:solidFill>
              <a:latin typeface="Arial"/>
              <a:ea typeface="Arial"/>
              <a:cs typeface="Arial"/>
              <a:sym typeface="Arial"/>
            </a:endParaRPr>
          </a:p>
          <a:p>
            <a:pPr indent="0" lvl="0" marL="12700" marR="0" rtl="0" algn="l">
              <a:lnSpc>
                <a:spcPct val="100000"/>
              </a:lnSpc>
              <a:spcBef>
                <a:spcPts val="100"/>
              </a:spcBef>
              <a:spcAft>
                <a:spcPts val="0"/>
              </a:spcAft>
              <a:buNone/>
            </a:pPr>
            <a:r>
              <a:rPr b="1" i="0" lang="es-PE" sz="3200" u="none" cap="none" strike="noStrike">
                <a:solidFill>
                  <a:schemeClr val="lt1"/>
                </a:solidFill>
                <a:latin typeface="Calibri"/>
                <a:ea typeface="Calibri"/>
                <a:cs typeface="Calibri"/>
                <a:sym typeface="Calibri"/>
              </a:rPr>
              <a:t>Patrones Estructurales: </a:t>
            </a:r>
            <a:endParaRPr/>
          </a:p>
          <a:p>
            <a:pPr indent="0" lvl="0" marL="12700" marR="0" rtl="0" algn="l">
              <a:lnSpc>
                <a:spcPct val="100000"/>
              </a:lnSpc>
              <a:spcBef>
                <a:spcPts val="100"/>
              </a:spcBef>
              <a:spcAft>
                <a:spcPts val="0"/>
              </a:spcAft>
              <a:buNone/>
            </a:pPr>
            <a:r>
              <a:rPr b="1" i="0" lang="es-PE" sz="3200" u="none" cap="none" strike="noStrike">
                <a:solidFill>
                  <a:schemeClr val="lt1"/>
                </a:solidFill>
                <a:latin typeface="Calibri"/>
                <a:ea typeface="Calibri"/>
                <a:cs typeface="Calibri"/>
                <a:sym typeface="Calibri"/>
              </a:rPr>
              <a:t>Introducción a patrones estructurales. </a:t>
            </a:r>
            <a:endParaRPr/>
          </a:p>
          <a:p>
            <a:pPr indent="0" lvl="0" marL="12700" marR="0" rtl="0" algn="l">
              <a:lnSpc>
                <a:spcPct val="100000"/>
              </a:lnSpc>
              <a:spcBef>
                <a:spcPts val="100"/>
              </a:spcBef>
              <a:spcAft>
                <a:spcPts val="0"/>
              </a:spcAft>
              <a:buNone/>
            </a:pPr>
            <a:r>
              <a:rPr b="1" i="0" lang="es-PE" sz="3200" u="none" cap="none" strike="noStrike">
                <a:solidFill>
                  <a:schemeClr val="lt1"/>
                </a:solidFill>
                <a:latin typeface="Calibri"/>
                <a:ea typeface="Calibri"/>
                <a:cs typeface="Calibri"/>
                <a:sym typeface="Calibri"/>
              </a:rPr>
              <a:t>Patrón Adapter. Patrón Facade.</a:t>
            </a:r>
            <a:endParaRPr b="0" i="0" sz="3200" u="none" cap="none" strike="noStrike">
              <a:solidFill>
                <a:schemeClr val="lt1"/>
              </a:solidFill>
              <a:latin typeface="Arial"/>
              <a:ea typeface="Arial"/>
              <a:cs typeface="Arial"/>
              <a:sym typeface="Arial"/>
            </a:endParaRPr>
          </a:p>
        </p:txBody>
      </p:sp>
      <p:sp>
        <p:nvSpPr>
          <p:cNvPr id="50" name="Google Shape;50;p1"/>
          <p:cNvSpPr txBox="1"/>
          <p:nvPr/>
        </p:nvSpPr>
        <p:spPr>
          <a:xfrm>
            <a:off x="3048000" y="5715000"/>
            <a:ext cx="6096000" cy="65915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PE" sz="1800" u="none" cap="none" strike="noStrike">
                <a:solidFill>
                  <a:srgbClr val="D1052D"/>
                </a:solidFill>
                <a:latin typeface="Arial"/>
                <a:ea typeface="Arial"/>
                <a:cs typeface="Arial"/>
                <a:sym typeface="Arial"/>
              </a:rPr>
              <a:t>DOCENTES DE UTP</a:t>
            </a:r>
            <a:endParaRPr/>
          </a:p>
          <a:p>
            <a:pPr indent="0" lvl="0" marL="12700" marR="0" rtl="0" algn="ctr">
              <a:lnSpc>
                <a:spcPct val="100000"/>
              </a:lnSpc>
              <a:spcBef>
                <a:spcPts val="100"/>
              </a:spcBef>
              <a:spcAft>
                <a:spcPts val="0"/>
              </a:spcAft>
              <a:buNone/>
            </a:pPr>
            <a:r>
              <a:rPr b="1" i="0" lang="es-PE" sz="1800" u="none" cap="none" strike="noStrike">
                <a:solidFill>
                  <a:srgbClr val="D1052D"/>
                </a:solidFill>
                <a:latin typeface="Arial"/>
                <a:ea typeface="Arial"/>
                <a:cs typeface="Arial"/>
                <a:sym typeface="Arial"/>
              </a:rPr>
              <a:t>SISTEMAS</a:t>
            </a:r>
            <a:endParaRPr b="0" i="0" sz="1800" u="none" cap="none" strike="noStrike">
              <a:solidFill>
                <a:schemeClr val="dk1"/>
              </a:solidFill>
              <a:latin typeface="Arial"/>
              <a:ea typeface="Arial"/>
              <a:cs typeface="Arial"/>
              <a:sym typeface="Arial"/>
            </a:endParaRPr>
          </a:p>
        </p:txBody>
      </p:sp>
      <p:grpSp>
        <p:nvGrpSpPr>
          <p:cNvPr id="51" name="Google Shape;51;p1"/>
          <p:cNvGrpSpPr/>
          <p:nvPr/>
        </p:nvGrpSpPr>
        <p:grpSpPr>
          <a:xfrm>
            <a:off x="3681788" y="152400"/>
            <a:ext cx="8281612" cy="1295400"/>
            <a:chOff x="3681788" y="152400"/>
            <a:chExt cx="8281612" cy="1295400"/>
          </a:xfrm>
        </p:grpSpPr>
        <p:pic>
          <p:nvPicPr>
            <p:cNvPr id="52" name="Google Shape;52;p1"/>
            <p:cNvPicPr preferRelativeResize="0"/>
            <p:nvPr/>
          </p:nvPicPr>
          <p:blipFill rotWithShape="1">
            <a:blip r:embed="rId3">
              <a:alphaModFix/>
            </a:blip>
            <a:srcRect b="0" l="0" r="0" t="0"/>
            <a:stretch/>
          </p:blipFill>
          <p:spPr>
            <a:xfrm>
              <a:off x="3681788" y="370720"/>
              <a:ext cx="4828423" cy="1077080"/>
            </a:xfrm>
            <a:prstGeom prst="rect">
              <a:avLst/>
            </a:prstGeom>
            <a:noFill/>
            <a:ln>
              <a:noFill/>
            </a:ln>
          </p:spPr>
        </p:pic>
        <p:sp>
          <p:nvSpPr>
            <p:cNvPr id="53" name="Google Shape;53;p1"/>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60" name="Google Shape;60;p2"/>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61" name="Google Shape;61;p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62" name="Google Shape;62;p2"/>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PE" sz="3600">
                <a:solidFill>
                  <a:schemeClr val="dk1"/>
                </a:solidFill>
                <a:latin typeface="Arial"/>
                <a:ea typeface="Arial"/>
                <a:cs typeface="Arial"/>
                <a:sym typeface="Arial"/>
              </a:rPr>
              <a:t>Lo que debemos tener en cuenta</a:t>
            </a:r>
            <a:endParaRPr sz="3600">
              <a:solidFill>
                <a:schemeClr val="dk1"/>
              </a:solidFill>
              <a:latin typeface="Arial"/>
              <a:ea typeface="Arial"/>
              <a:cs typeface="Arial"/>
              <a:sym typeface="Arial"/>
            </a:endParaRPr>
          </a:p>
        </p:txBody>
      </p:sp>
      <p:pic>
        <p:nvPicPr>
          <p:cNvPr id="63" name="Google Shape;63;p2"/>
          <p:cNvPicPr preferRelativeResize="0"/>
          <p:nvPr/>
        </p:nvPicPr>
        <p:blipFill rotWithShape="1">
          <a:blip r:embed="rId4">
            <a:alphaModFix/>
          </a:blip>
          <a:srcRect b="0" l="0" r="0" t="0"/>
          <a:stretch/>
        </p:blipFill>
        <p:spPr>
          <a:xfrm>
            <a:off x="9753600" y="6184229"/>
            <a:ext cx="445171" cy="445171"/>
          </a:xfrm>
          <a:prstGeom prst="rect">
            <a:avLst/>
          </a:prstGeom>
          <a:noFill/>
          <a:ln>
            <a:noFill/>
          </a:ln>
        </p:spPr>
      </p:pic>
      <p:sp>
        <p:nvSpPr>
          <p:cNvPr id="64" name="Google Shape;64;p2"/>
          <p:cNvSpPr txBox="1"/>
          <p:nvPr/>
        </p:nvSpPr>
        <p:spPr>
          <a:xfrm>
            <a:off x="10198771" y="6222148"/>
            <a:ext cx="1764629" cy="400110"/>
          </a:xfrm>
          <a:prstGeom prst="rect">
            <a:avLst/>
          </a:prstGeom>
          <a:noFill/>
          <a:ln>
            <a:noFill/>
          </a:ln>
        </p:spPr>
        <p:txBody>
          <a:bodyPr anchorCtr="0" anchor="t" bIns="45700" lIns="91425" spcFirstLastPara="1" rIns="91425" wrap="square" tIns="45700">
            <a:spAutoFit/>
          </a:bodyPr>
          <a:lstStyle/>
          <a:p>
            <a:pPr indent="0" lvl="0" marL="0" marR="114300" rtl="0" algn="l">
              <a:lnSpc>
                <a:spcPct val="100000"/>
              </a:lnSpc>
              <a:spcBef>
                <a:spcPts val="0"/>
              </a:spcBef>
              <a:spcAft>
                <a:spcPts val="0"/>
              </a:spcAft>
              <a:buNone/>
            </a:pPr>
            <a:r>
              <a:rPr b="1" lang="es-PE" sz="2000">
                <a:solidFill>
                  <a:schemeClr val="dk1"/>
                </a:solidFill>
                <a:latin typeface="Arial"/>
                <a:ea typeface="Arial"/>
                <a:cs typeface="Arial"/>
                <a:sym typeface="Arial"/>
              </a:rPr>
              <a:t>5 minutos</a:t>
            </a:r>
            <a:endParaRPr sz="20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71" name="Google Shape;71;p3"/>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72" name="Google Shape;72;p3"/>
          <p:cNvSpPr/>
          <p:nvPr/>
        </p:nvSpPr>
        <p:spPr>
          <a:xfrm>
            <a:off x="990600" y="836474"/>
            <a:ext cx="9601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PE" sz="2400" cap="none">
                <a:solidFill>
                  <a:srgbClr val="262626"/>
                </a:solidFill>
                <a:latin typeface="Calibri"/>
                <a:ea typeface="Calibri"/>
                <a:cs typeface="Calibri"/>
                <a:sym typeface="Calibri"/>
              </a:rPr>
              <a:t>¿QUÉ SON PATRONES Adapter y Facade?</a:t>
            </a:r>
            <a:endParaRPr/>
          </a:p>
        </p:txBody>
      </p:sp>
      <p:sp>
        <p:nvSpPr>
          <p:cNvPr id="73" name="Google Shape;73;p3"/>
          <p:cNvSpPr txBox="1"/>
          <p:nvPr/>
        </p:nvSpPr>
        <p:spPr>
          <a:xfrm>
            <a:off x="533400" y="1309902"/>
            <a:ext cx="11049000" cy="52629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400">
                <a:solidFill>
                  <a:schemeClr val="dk1"/>
                </a:solidFill>
                <a:latin typeface="Calibri"/>
                <a:ea typeface="Calibri"/>
                <a:cs typeface="Calibri"/>
                <a:sym typeface="Calibri"/>
              </a:rPr>
              <a:t>Facade Pattern:</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Facade: Proporciona una interfaz simplificada para un conjunto de interfaces en un subsistema. El Facade delega las llamadas de los clientes a los objetos del subsistema.</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SubsystemClass1, SubsystemClass2, SubsystemClass3: Estas son clases que representan diferentes partes del subsistema. Cada una tiene operaciones específicas que el Facade puede utilizar.</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Adapter Pattern:</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Adapter: Adapta la interfaz de una clase (Adaptee) a otra interfaz esperada por el cliente (Target).</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Target: Define la interfaz específica que el cliente usa.</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Adaptee: Tiene una interfaz incompatible con la esperada por el cliente.</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Client: Interactúa con el sistema a través de la interfaz Target y no necesita conocer la existencia del Adaptee.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4"/>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0" name="Google Shape;80;p4"/>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81" name="Google Shape;81;p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82" name="Google Shape;82;p4"/>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PE" sz="3600">
                <a:solidFill>
                  <a:schemeClr val="dk1"/>
                </a:solidFill>
                <a:latin typeface="Arial"/>
                <a:ea typeface="Arial"/>
                <a:cs typeface="Arial"/>
                <a:sym typeface="Arial"/>
              </a:rPr>
              <a:t>¿Qué vimos en la sesión anterior?</a:t>
            </a:r>
            <a:endParaRPr sz="36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9" name="Google Shape;89;p5"/>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pic>
        <p:nvPicPr>
          <p:cNvPr id="90" name="Google Shape;90;p5"/>
          <p:cNvPicPr preferRelativeResize="0"/>
          <p:nvPr/>
        </p:nvPicPr>
        <p:blipFill rotWithShape="1">
          <a:blip r:embed="rId4">
            <a:alphaModFix/>
          </a:blip>
          <a:srcRect b="0" l="0" r="0" t="0"/>
          <a:stretch/>
        </p:blipFill>
        <p:spPr>
          <a:xfrm>
            <a:off x="133350" y="889000"/>
            <a:ext cx="11925300" cy="5080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Logro de la sesión</a:t>
            </a:r>
            <a:endParaRPr sz="2400">
              <a:solidFill>
                <a:schemeClr val="dk1"/>
              </a:solidFill>
              <a:latin typeface="Arial"/>
              <a:ea typeface="Arial"/>
              <a:cs typeface="Arial"/>
              <a:sym typeface="Arial"/>
            </a:endParaRPr>
          </a:p>
        </p:txBody>
      </p:sp>
      <p:sp>
        <p:nvSpPr>
          <p:cNvPr id="97" name="Google Shape;97;p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98" name="Google Shape;98;p6"/>
          <p:cNvSpPr txBox="1"/>
          <p:nvPr/>
        </p:nvSpPr>
        <p:spPr>
          <a:xfrm>
            <a:off x="2552700" y="4332800"/>
            <a:ext cx="7086600" cy="230832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PE" sz="2400">
                <a:solidFill>
                  <a:schemeClr val="dk1"/>
                </a:solidFill>
                <a:latin typeface="Arial"/>
                <a:ea typeface="Arial"/>
                <a:cs typeface="Arial"/>
                <a:sym typeface="Arial"/>
              </a:rPr>
              <a:t>Al final de la sesión el estudiante aplica patrones estructurales: </a:t>
            </a:r>
            <a:endParaRPr/>
          </a:p>
          <a:p>
            <a:pPr indent="0" lvl="0" marL="0" marR="0" rtl="0" algn="ctr">
              <a:spcBef>
                <a:spcPts val="0"/>
              </a:spcBef>
              <a:spcAft>
                <a:spcPts val="0"/>
              </a:spcAft>
              <a:buNone/>
            </a:pPr>
            <a:r>
              <a:rPr lang="es-PE" sz="2400">
                <a:solidFill>
                  <a:schemeClr val="dk1"/>
                </a:solidFill>
                <a:latin typeface="Arial"/>
                <a:ea typeface="Arial"/>
                <a:cs typeface="Arial"/>
                <a:sym typeface="Arial"/>
              </a:rPr>
              <a:t>Patrón Facade. Patrón Adapter en un contexto definido</a:t>
            </a:r>
            <a:endParaRPr/>
          </a:p>
          <a:p>
            <a:pPr indent="0" lvl="0" marL="0" marR="0" rtl="0" algn="ctr">
              <a:spcBef>
                <a:spcPts val="0"/>
              </a:spcBef>
              <a:spcAft>
                <a:spcPts val="0"/>
              </a:spcAft>
              <a:buNone/>
            </a:pPr>
            <a:r>
              <a:t/>
            </a:r>
            <a:endParaRPr sz="2400">
              <a:solidFill>
                <a:schemeClr val="dk1"/>
              </a:solidFill>
              <a:latin typeface="Arial"/>
              <a:ea typeface="Arial"/>
              <a:cs typeface="Arial"/>
              <a:sym typeface="Arial"/>
            </a:endParaRPr>
          </a:p>
          <a:p>
            <a:pPr indent="0" lvl="0" marL="0" marR="0" rtl="0" algn="ctr">
              <a:spcBef>
                <a:spcPts val="0"/>
              </a:spcBef>
              <a:spcAft>
                <a:spcPts val="0"/>
              </a:spcAft>
              <a:buNone/>
            </a:pPr>
            <a:r>
              <a:rPr lang="es-PE"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pic>
        <p:nvPicPr>
          <p:cNvPr id="99" name="Google Shape;99;p6"/>
          <p:cNvPicPr preferRelativeResize="0"/>
          <p:nvPr/>
        </p:nvPicPr>
        <p:blipFill rotWithShape="1">
          <a:blip r:embed="rId3">
            <a:alphaModFix/>
          </a:blip>
          <a:srcRect b="0" l="0" r="0" t="0"/>
          <a:stretch/>
        </p:blipFill>
        <p:spPr>
          <a:xfrm>
            <a:off x="5783622" y="292547"/>
            <a:ext cx="559075" cy="559062"/>
          </a:xfrm>
          <a:prstGeom prst="rect">
            <a:avLst/>
          </a:prstGeom>
          <a:noFill/>
          <a:ln>
            <a:noFill/>
          </a:ln>
        </p:spPr>
      </p:pic>
      <p:pic>
        <p:nvPicPr>
          <p:cNvPr id="100" name="Google Shape;100;p6"/>
          <p:cNvPicPr preferRelativeResize="0"/>
          <p:nvPr/>
        </p:nvPicPr>
        <p:blipFill rotWithShape="1">
          <a:blip r:embed="rId4">
            <a:alphaModFix/>
          </a:blip>
          <a:srcRect b="0" l="0" r="0" t="0"/>
          <a:stretch/>
        </p:blipFill>
        <p:spPr>
          <a:xfrm>
            <a:off x="865505" y="1270736"/>
            <a:ext cx="9588500" cy="28440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Importancia de la sesión</a:t>
            </a:r>
            <a:endParaRPr sz="2400">
              <a:solidFill>
                <a:schemeClr val="dk1"/>
              </a:solidFill>
              <a:latin typeface="Arial"/>
              <a:ea typeface="Arial"/>
              <a:cs typeface="Arial"/>
              <a:sym typeface="Arial"/>
            </a:endParaRPr>
          </a:p>
        </p:txBody>
      </p:sp>
      <p:sp>
        <p:nvSpPr>
          <p:cNvPr id="107" name="Google Shape;107;p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08" name="Google Shape;108;p7"/>
          <p:cNvSpPr txBox="1"/>
          <p:nvPr/>
        </p:nvSpPr>
        <p:spPr>
          <a:xfrm>
            <a:off x="381000" y="1122202"/>
            <a:ext cx="10820400" cy="440120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PE" sz="2800">
                <a:solidFill>
                  <a:schemeClr val="dk1"/>
                </a:solidFill>
                <a:latin typeface="Arial"/>
                <a:ea typeface="Arial"/>
                <a:cs typeface="Arial"/>
                <a:sym typeface="Arial"/>
              </a:rPr>
              <a:t>Aprender patrones estructurales es vital porque ayudan a simplificar sistemas complejos, mejoran la organización del código y facilitan la reutilización de componentes. Estos patrones promueven el desacoplamiento, haciendo el software más flexible y fácil de mantener. Además, proporcionan soluciones probadas para problemas comunes de diseño, lo que ahorra tiempo y reduce errores. Entender estos patrones también mejora la capacidad para comunicar diseños y colaboraciones efectivamente con otros desarrolladores. En resumen, dominarlos contribuye a la creación de software robusto y escalable.</a:t>
            </a:r>
            <a:endParaRPr sz="3200">
              <a:solidFill>
                <a:schemeClr val="dk1"/>
              </a:solidFill>
              <a:latin typeface="Arial"/>
              <a:ea typeface="Arial"/>
              <a:cs typeface="Arial"/>
              <a:sym typeface="Arial"/>
            </a:endParaRPr>
          </a:p>
        </p:txBody>
      </p:sp>
      <p:pic>
        <p:nvPicPr>
          <p:cNvPr id="109" name="Google Shape;109;p7"/>
          <p:cNvPicPr preferRelativeResize="0"/>
          <p:nvPr/>
        </p:nvPicPr>
        <p:blipFill rotWithShape="1">
          <a:blip r:embed="rId3">
            <a:alphaModFix/>
          </a:blip>
          <a:srcRect b="0" l="0" r="0" t="0"/>
          <a:stretch/>
        </p:blipFill>
        <p:spPr>
          <a:xfrm>
            <a:off x="5817875" y="304800"/>
            <a:ext cx="506725" cy="5618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8"/>
          <p:cNvSpPr txBox="1"/>
          <p:nvPr/>
        </p:nvSpPr>
        <p:spPr>
          <a:xfrm>
            <a:off x="1966912" y="2890391"/>
            <a:ext cx="8258176" cy="1582484"/>
          </a:xfrm>
          <a:prstGeom prst="rect">
            <a:avLst/>
          </a:prstGeom>
          <a:solidFill>
            <a:srgbClr val="D1052D"/>
          </a:solidFill>
          <a:ln cap="flat" cmpd="sng" w="9525">
            <a:solidFill>
              <a:srgbClr val="7C5F9F"/>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b="1" lang="es-PE" sz="3200">
                <a:solidFill>
                  <a:schemeClr val="lt1"/>
                </a:solidFill>
                <a:latin typeface="Calibri"/>
                <a:ea typeface="Calibri"/>
                <a:cs typeface="Calibri"/>
                <a:sym typeface="Calibri"/>
              </a:rPr>
              <a:t>Patrones Estructurales: </a:t>
            </a:r>
            <a:endParaRPr/>
          </a:p>
          <a:p>
            <a:pPr indent="0" lvl="0" marL="12700" marR="0" rtl="0" algn="l">
              <a:lnSpc>
                <a:spcPct val="100000"/>
              </a:lnSpc>
              <a:spcBef>
                <a:spcPts val="100"/>
              </a:spcBef>
              <a:spcAft>
                <a:spcPts val="0"/>
              </a:spcAft>
              <a:buNone/>
            </a:pPr>
            <a:r>
              <a:rPr b="1" lang="es-PE" sz="3200">
                <a:solidFill>
                  <a:schemeClr val="lt1"/>
                </a:solidFill>
                <a:latin typeface="Calibri"/>
                <a:ea typeface="Calibri"/>
                <a:cs typeface="Calibri"/>
                <a:sym typeface="Calibri"/>
              </a:rPr>
              <a:t>Introducción a patrones estructurales. </a:t>
            </a:r>
            <a:endParaRPr/>
          </a:p>
          <a:p>
            <a:pPr indent="0" lvl="0" marL="12700" marR="0" rtl="0" algn="l">
              <a:lnSpc>
                <a:spcPct val="100000"/>
              </a:lnSpc>
              <a:spcBef>
                <a:spcPts val="100"/>
              </a:spcBef>
              <a:spcAft>
                <a:spcPts val="0"/>
              </a:spcAft>
              <a:buNone/>
            </a:pPr>
            <a:r>
              <a:rPr b="1" lang="es-PE" sz="3200">
                <a:solidFill>
                  <a:schemeClr val="lt1"/>
                </a:solidFill>
                <a:latin typeface="Calibri"/>
                <a:ea typeface="Calibri"/>
                <a:cs typeface="Calibri"/>
                <a:sym typeface="Calibri"/>
              </a:rPr>
              <a:t>Patrón Adapter. Patrón Facade</a:t>
            </a:r>
            <a:endParaRPr b="1" sz="3200">
              <a:solidFill>
                <a:schemeClr val="lt1"/>
              </a:solidFill>
              <a:latin typeface="Calibri"/>
              <a:ea typeface="Calibri"/>
              <a:cs typeface="Calibri"/>
              <a:sym typeface="Calibri"/>
            </a:endParaRPr>
          </a:p>
        </p:txBody>
      </p:sp>
      <p:sp>
        <p:nvSpPr>
          <p:cNvPr id="115" name="Google Shape;115;p8"/>
          <p:cNvSpPr txBox="1"/>
          <p:nvPr/>
        </p:nvSpPr>
        <p:spPr>
          <a:xfrm>
            <a:off x="4076700" y="1991427"/>
            <a:ext cx="4038600" cy="646331"/>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PE" sz="3600">
                <a:solidFill>
                  <a:srgbClr val="000000"/>
                </a:solidFill>
                <a:latin typeface="Arial"/>
                <a:ea typeface="Arial"/>
                <a:cs typeface="Arial"/>
                <a:sym typeface="Arial"/>
              </a:rPr>
              <a:t>SESIÓN N° 08:</a:t>
            </a:r>
            <a:endParaRPr b="1" sz="3600">
              <a:solidFill>
                <a:srgbClr val="000000"/>
              </a:solidFill>
              <a:latin typeface="Arial"/>
              <a:ea typeface="Arial"/>
              <a:cs typeface="Arial"/>
              <a:sym typeface="Arial"/>
            </a:endParaRPr>
          </a:p>
        </p:txBody>
      </p:sp>
      <p:sp>
        <p:nvSpPr>
          <p:cNvPr id="116" name="Google Shape;116;p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Temario</a:t>
            </a:r>
            <a:endParaRPr sz="2400">
              <a:solidFill>
                <a:schemeClr val="dk1"/>
              </a:solidFill>
              <a:latin typeface="Arial"/>
              <a:ea typeface="Arial"/>
              <a:cs typeface="Arial"/>
              <a:sym typeface="Arial"/>
            </a:endParaRPr>
          </a:p>
        </p:txBody>
      </p:sp>
      <p:pic>
        <p:nvPicPr>
          <p:cNvPr id="118" name="Google Shape;118;p8"/>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119" name="Google Shape;119;p8"/>
          <p:cNvSpPr txBox="1"/>
          <p:nvPr/>
        </p:nvSpPr>
        <p:spPr>
          <a:xfrm>
            <a:off x="365760" y="973304"/>
            <a:ext cx="535789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PE" sz="2000">
                <a:solidFill>
                  <a:schemeClr val="dk1"/>
                </a:solidFill>
                <a:latin typeface="Arial"/>
                <a:ea typeface="Arial"/>
                <a:cs typeface="Arial"/>
                <a:sym typeface="Arial"/>
              </a:rPr>
              <a:t>¡Que no se te escape nada de tu clase!:</a:t>
            </a:r>
            <a:endParaRPr sz="20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9"/>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introducción</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25" name="Google Shape;125;p9"/>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26" name="Google Shape;126;p9"/>
          <p:cNvSpPr txBox="1"/>
          <p:nvPr/>
        </p:nvSpPr>
        <p:spPr>
          <a:xfrm>
            <a:off x="764457" y="706398"/>
            <a:ext cx="10663085"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400">
                <a:solidFill>
                  <a:schemeClr val="dk1"/>
                </a:solidFill>
                <a:latin typeface="Calibri"/>
                <a:ea typeface="Calibri"/>
                <a:cs typeface="Calibri"/>
                <a:sym typeface="Calibri"/>
              </a:rPr>
              <a:t>Los patrones estructurales sirven para resolver problemas de diseño estableciendo relaciones estructurales entre las entidades de maneras que suelen sugerir los nombres metafóricos de los patrones.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Estas relaciones estructurales hacen que los objetos sean más ricos en términos de comportamiento, más poderosos o más fáciles de usar debido a la colaboración entre objetos.</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La agregación de objetos es el principal mecanismo relacional utilizado para todos los patrones estructurales, aunque una relación contextual puede caracterizarse de manera más restringida como composición, adaptación, delegación, etc. para reflejar la forma en que los objetos colaboran para brindar una solución a un problema particular donde se utiliza un patrón.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0"/>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Adapter</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32" name="Google Shape;132;p10"/>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33" name="Google Shape;133;p10"/>
          <p:cNvSpPr txBox="1"/>
          <p:nvPr/>
        </p:nvSpPr>
        <p:spPr>
          <a:xfrm>
            <a:off x="764457" y="1066800"/>
            <a:ext cx="10663085"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400">
                <a:solidFill>
                  <a:schemeClr val="dk1"/>
                </a:solidFill>
                <a:latin typeface="Calibri"/>
                <a:ea typeface="Calibri"/>
                <a:cs typeface="Calibri"/>
                <a:sym typeface="Calibri"/>
              </a:rPr>
              <a:t>El nombre del patrón parece acertado en lo que respecta a su función: resolver problemas de “desajuste”.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Un desajuste puede ser tan pequeño como un conjunto de parámetros que no coinciden al pasarse a un módulo de destino o tan grande como las comunicaciones entre sistemas con protocolos de comunicación, entornos operativos o transferencias de información que no coinciden.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Los sistemas de software operan cada vez más en la nube, pero aún pueden necesitar depender de los sistemas existentes para obtener funcionalidades.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Por lo tanto, los desajustes de todo tipo deben abordarse en cualquier esfuerzo por migrar operaciones de software a un entorno de nube.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Adapter</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39" name="Google Shape;139;p11"/>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pic>
        <p:nvPicPr>
          <p:cNvPr id="140" name="Google Shape;140;p11"/>
          <p:cNvPicPr preferRelativeResize="0"/>
          <p:nvPr/>
        </p:nvPicPr>
        <p:blipFill rotWithShape="1">
          <a:blip r:embed="rId4">
            <a:alphaModFix/>
          </a:blip>
          <a:srcRect b="0" l="0" r="0" t="0"/>
          <a:stretch/>
        </p:blipFill>
        <p:spPr>
          <a:xfrm>
            <a:off x="1219200" y="1957823"/>
            <a:ext cx="9434945" cy="4343400"/>
          </a:xfrm>
          <a:prstGeom prst="rect">
            <a:avLst/>
          </a:prstGeom>
          <a:noFill/>
          <a:ln>
            <a:noFill/>
          </a:ln>
        </p:spPr>
      </p:pic>
      <p:sp>
        <p:nvSpPr>
          <p:cNvPr id="141" name="Google Shape;141;p11"/>
          <p:cNvSpPr txBox="1"/>
          <p:nvPr/>
        </p:nvSpPr>
        <p:spPr>
          <a:xfrm>
            <a:off x="685801" y="899652"/>
            <a:ext cx="9434944"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000">
                <a:solidFill>
                  <a:schemeClr val="dk1"/>
                </a:solidFill>
                <a:latin typeface="Calibri"/>
                <a:ea typeface="Calibri"/>
                <a:cs typeface="Calibri"/>
                <a:sym typeface="Calibri"/>
              </a:rPr>
              <a:t>Target es una abstracción en la que la solicitud es el método que el cliente debe utilizar. Adapter implementa Target y utiliza una instancia de Adaptee para invocar, con la adaptación adecuada, una operación que cumpla con la solicitud.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2"/>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Adapter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47" name="Google Shape;147;p12"/>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48" name="Google Shape;148;p12"/>
          <p:cNvSpPr txBox="1"/>
          <p:nvPr/>
        </p:nvSpPr>
        <p:spPr>
          <a:xfrm>
            <a:off x="685801" y="899652"/>
            <a:ext cx="9434944"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400">
                <a:solidFill>
                  <a:schemeClr val="dk1"/>
                </a:solidFill>
                <a:latin typeface="Calibri"/>
                <a:ea typeface="Calibri"/>
                <a:cs typeface="Calibri"/>
                <a:sym typeface="Calibri"/>
              </a:rPr>
              <a:t>Una empresa de comercio electrónico utiliza un sistema antiguo de gestión de inventarios que no es compatible con su nueva aplicación de ventas en línea.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La nueva aplicación requiere datos de inventario en un formato diferente al que proporciona el sistema antiguo.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Para resolver este problema sin modificar el sistema existente, se implementa el patrón Adapter.</a:t>
            </a:r>
            <a:endParaRPr/>
          </a:p>
        </p:txBody>
      </p:sp>
      <p:pic>
        <p:nvPicPr>
          <p:cNvPr id="149" name="Google Shape;149;p12"/>
          <p:cNvPicPr preferRelativeResize="0"/>
          <p:nvPr/>
        </p:nvPicPr>
        <p:blipFill rotWithShape="1">
          <a:blip r:embed="rId4">
            <a:alphaModFix/>
          </a:blip>
          <a:srcRect b="0" l="0" r="0" t="0"/>
          <a:stretch/>
        </p:blipFill>
        <p:spPr>
          <a:xfrm>
            <a:off x="4953000" y="3401961"/>
            <a:ext cx="6248400" cy="2940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3"/>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Adapter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55" name="Google Shape;155;p13"/>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56" name="Google Shape;156;p13"/>
          <p:cNvSpPr txBox="1"/>
          <p:nvPr/>
        </p:nvSpPr>
        <p:spPr>
          <a:xfrm>
            <a:off x="685801" y="899652"/>
            <a:ext cx="9434944" cy="52014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400">
                <a:solidFill>
                  <a:schemeClr val="dk1"/>
                </a:solidFill>
                <a:latin typeface="Calibri"/>
                <a:ea typeface="Calibri"/>
                <a:cs typeface="Calibri"/>
                <a:sym typeface="Calibri"/>
              </a:rPr>
              <a:t>// Interfaz existente en la nueva aplicación de ventas en línea</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interface InventoryService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String getInventoryItem(String itemId);</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Clase Adaptee del sistema antiguo de gestión de inventarios</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class OldInventorySystem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public String getItemDetails(String itemId)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 Devuelve detalles del artículo en un formato diferente</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return "Item ID: " + itemId + ", Quantity: 100, Location: Warehouse A";</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4"/>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Adapter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62" name="Google Shape;162;p14"/>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63" name="Google Shape;163;p14"/>
          <p:cNvSpPr txBox="1"/>
          <p:nvPr/>
        </p:nvSpPr>
        <p:spPr>
          <a:xfrm>
            <a:off x="685801" y="899652"/>
            <a:ext cx="9434944" cy="59400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000">
                <a:solidFill>
                  <a:schemeClr val="dk1"/>
                </a:solidFill>
                <a:latin typeface="Calibri"/>
                <a:ea typeface="Calibri"/>
                <a:cs typeface="Calibri"/>
                <a:sym typeface="Calibri"/>
              </a:rPr>
              <a:t>// Clase Adapter que adapta la interfaz InventoryService a OldInventorySystem</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class InventoryAdapter implements InventoryService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private OldInventorySystem oldInventorySystem;</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public InventoryAdapter(OldInventorySystem oldInventorySystem)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this.oldInventorySystem = oldInventorySystem;</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@Override</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public String getInventoryItem(String itemId)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 Convierte el formato de salida del sistema antiguo al formato requerido</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String oldDetails = oldInventorySystem.getItemDetails(itemId);</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 Realiza las conversiones necesarias (esto es solo un ejemplo simple)</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String[] details = oldDetails.split(",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return "ID: " + details[0].split(": ")[1] + ", Stock: " + details[1].split(": ")[1];</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5"/>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Adapter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69" name="Google Shape;169;p15"/>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70" name="Google Shape;170;p15"/>
          <p:cNvSpPr txBox="1"/>
          <p:nvPr/>
        </p:nvSpPr>
        <p:spPr>
          <a:xfrm>
            <a:off x="685801" y="899652"/>
            <a:ext cx="9434944"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400">
                <a:solidFill>
                  <a:schemeClr val="dk1"/>
                </a:solidFill>
                <a:latin typeface="Calibri"/>
                <a:ea typeface="Calibri"/>
                <a:cs typeface="Calibri"/>
                <a:sym typeface="Calibri"/>
              </a:rPr>
              <a:t>// Cliente que utiliza la interfaz InventoryService</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public class AdapterPatternBusinessDemo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public static void main(String[] args)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InventoryService inventoryService = new InventoryAdapter(new OldInventorySystem());</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String itemDetails = inventoryService.getInventoryItem("12345");</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System.out.println(itemDetails);</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6"/>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Adapter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76" name="Google Shape;176;p16"/>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77" name="Google Shape;177;p16"/>
          <p:cNvSpPr txBox="1"/>
          <p:nvPr/>
        </p:nvSpPr>
        <p:spPr>
          <a:xfrm>
            <a:off x="685801" y="899652"/>
            <a:ext cx="9434944"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PE" sz="2400">
                <a:solidFill>
                  <a:schemeClr val="dk1"/>
                </a:solidFill>
                <a:latin typeface="Calibri"/>
                <a:ea typeface="Calibri"/>
                <a:cs typeface="Calibri"/>
                <a:sym typeface="Calibri"/>
              </a:rPr>
              <a:t>InventoryService</a:t>
            </a:r>
            <a:r>
              <a:rPr lang="es-PE" sz="2400">
                <a:solidFill>
                  <a:schemeClr val="dk1"/>
                </a:solidFill>
                <a:latin typeface="Calibri"/>
                <a:ea typeface="Calibri"/>
                <a:cs typeface="Calibri"/>
                <a:sym typeface="Calibri"/>
              </a:rPr>
              <a:t>: La interfaz que la nueva aplicación de ventas en línea utiliza para obtener información de inventario.</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PE" sz="2400">
                <a:solidFill>
                  <a:schemeClr val="dk1"/>
                </a:solidFill>
                <a:latin typeface="Calibri"/>
                <a:ea typeface="Calibri"/>
                <a:cs typeface="Calibri"/>
                <a:sym typeface="Calibri"/>
              </a:rPr>
              <a:t>OldInventorySystem</a:t>
            </a:r>
            <a:r>
              <a:rPr lang="es-PE" sz="2400">
                <a:solidFill>
                  <a:schemeClr val="dk1"/>
                </a:solidFill>
                <a:latin typeface="Calibri"/>
                <a:ea typeface="Calibri"/>
                <a:cs typeface="Calibri"/>
                <a:sym typeface="Calibri"/>
              </a:rPr>
              <a:t>: La clase del sistema antiguo de gestión de inventarios que proporciona detalles en un formato diferente.</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PE" sz="2400">
                <a:solidFill>
                  <a:schemeClr val="dk1"/>
                </a:solidFill>
                <a:latin typeface="Calibri"/>
                <a:ea typeface="Calibri"/>
                <a:cs typeface="Calibri"/>
                <a:sym typeface="Calibri"/>
              </a:rPr>
              <a:t>InventoryAdapter</a:t>
            </a:r>
            <a:r>
              <a:rPr lang="es-PE" sz="2400">
                <a:solidFill>
                  <a:schemeClr val="dk1"/>
                </a:solidFill>
                <a:latin typeface="Calibri"/>
                <a:ea typeface="Calibri"/>
                <a:cs typeface="Calibri"/>
                <a:sym typeface="Calibri"/>
              </a:rPr>
              <a:t>: La clase adaptadora que implementa la interfaz </a:t>
            </a:r>
            <a:r>
              <a:rPr b="1" lang="es-PE" sz="2400">
                <a:solidFill>
                  <a:schemeClr val="dk1"/>
                </a:solidFill>
                <a:latin typeface="Calibri"/>
                <a:ea typeface="Calibri"/>
                <a:cs typeface="Calibri"/>
                <a:sym typeface="Calibri"/>
              </a:rPr>
              <a:t>InventoryService</a:t>
            </a:r>
            <a:r>
              <a:rPr lang="es-PE" sz="2400">
                <a:solidFill>
                  <a:schemeClr val="dk1"/>
                </a:solidFill>
                <a:latin typeface="Calibri"/>
                <a:ea typeface="Calibri"/>
                <a:cs typeface="Calibri"/>
                <a:sym typeface="Calibri"/>
              </a:rPr>
              <a:t> y traduce las llamadas al </a:t>
            </a:r>
            <a:r>
              <a:rPr b="1" lang="es-PE" sz="2400">
                <a:solidFill>
                  <a:schemeClr val="dk1"/>
                </a:solidFill>
                <a:latin typeface="Calibri"/>
                <a:ea typeface="Calibri"/>
                <a:cs typeface="Calibri"/>
                <a:sym typeface="Calibri"/>
              </a:rPr>
              <a:t>OldInventorySystem</a:t>
            </a:r>
            <a:r>
              <a:rPr lang="es-PE"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PE" sz="2400">
                <a:solidFill>
                  <a:schemeClr val="dk1"/>
                </a:solidFill>
                <a:latin typeface="Calibri"/>
                <a:ea typeface="Calibri"/>
                <a:cs typeface="Calibri"/>
                <a:sym typeface="Calibri"/>
              </a:rPr>
              <a:t>AdapterPatternBusinessDemo</a:t>
            </a:r>
            <a:r>
              <a:rPr lang="es-PE" sz="2400">
                <a:solidFill>
                  <a:schemeClr val="dk1"/>
                </a:solidFill>
                <a:latin typeface="Calibri"/>
                <a:ea typeface="Calibri"/>
                <a:cs typeface="Calibri"/>
                <a:sym typeface="Calibri"/>
              </a:rPr>
              <a:t>: Clase cliente que utiliza la interfaz </a:t>
            </a:r>
            <a:r>
              <a:rPr b="1" lang="es-PE" sz="2400">
                <a:solidFill>
                  <a:schemeClr val="dk1"/>
                </a:solidFill>
                <a:latin typeface="Calibri"/>
                <a:ea typeface="Calibri"/>
                <a:cs typeface="Calibri"/>
                <a:sym typeface="Calibri"/>
              </a:rPr>
              <a:t>InventoryService</a:t>
            </a:r>
            <a:r>
              <a:rPr lang="es-PE" sz="2400">
                <a:solidFill>
                  <a:schemeClr val="dk1"/>
                </a:solidFill>
                <a:latin typeface="Calibri"/>
                <a:ea typeface="Calibri"/>
                <a:cs typeface="Calibri"/>
                <a:sym typeface="Calibri"/>
              </a:rPr>
              <a:t> para obtener detalles de inventario en el formato requerido por la nueva aplicación de ventas en línea.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 - Facade</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83" name="Google Shape;183;p17"/>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84" name="Google Shape;184;p17"/>
          <p:cNvSpPr txBox="1"/>
          <p:nvPr/>
        </p:nvSpPr>
        <p:spPr>
          <a:xfrm>
            <a:off x="764457" y="706398"/>
            <a:ext cx="10663085"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400">
                <a:solidFill>
                  <a:schemeClr val="dk1"/>
                </a:solidFill>
                <a:latin typeface="Calibri"/>
                <a:ea typeface="Calibri"/>
                <a:cs typeface="Calibri"/>
                <a:sym typeface="Calibri"/>
              </a:rPr>
              <a:t>El patrón de fachada es un patrón de diseño estructural que crea una interfaz más unificada para un sistema más complejo. El término fachada se refiere a la cara de un edificio o, más específicamente, a la interfaz exterior de un sistema complejo compuesto por varios subsistemas. Es una parte importante de los patrones de diseño de la Banda de los Cuatro. Simplifica el acceso a los métodos de los sistemas subyacentes al proporcionar un único punto de entrada.</a:t>
            </a:r>
            <a:endParaRPr/>
          </a:p>
        </p:txBody>
      </p:sp>
      <p:pic>
        <p:nvPicPr>
          <p:cNvPr id="185" name="Google Shape;185;p17"/>
          <p:cNvPicPr preferRelativeResize="0"/>
          <p:nvPr/>
        </p:nvPicPr>
        <p:blipFill rotWithShape="1">
          <a:blip r:embed="rId4">
            <a:alphaModFix/>
          </a:blip>
          <a:srcRect b="0" l="0" r="0" t="0"/>
          <a:stretch/>
        </p:blipFill>
        <p:spPr>
          <a:xfrm>
            <a:off x="2667000" y="3124200"/>
            <a:ext cx="6705600" cy="3327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8"/>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 – Facade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91" name="Google Shape;191;p18"/>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92" name="Google Shape;192;p18"/>
          <p:cNvSpPr txBox="1"/>
          <p:nvPr/>
        </p:nvSpPr>
        <p:spPr>
          <a:xfrm>
            <a:off x="764457" y="706398"/>
            <a:ext cx="10663085"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400">
                <a:solidFill>
                  <a:schemeClr val="dk1"/>
                </a:solidFill>
                <a:latin typeface="Calibri"/>
                <a:ea typeface="Calibri"/>
                <a:cs typeface="Calibri"/>
                <a:sym typeface="Calibri"/>
              </a:rPr>
              <a:t>Se utiliza un sistema de gestión de inventario para organizar los artículos. Sin embargo, como el cliente no necesita saber nada sobre el inventario, es preferible que le pida al comerciante una lista de artículos, ya que el comerciante sabe dónde se encuentra cada artículo. El comerciante actúa como interfaz de fachada en este caso.</a:t>
            </a:r>
            <a:endParaRPr/>
          </a:p>
        </p:txBody>
      </p:sp>
      <p:pic>
        <p:nvPicPr>
          <p:cNvPr id="193" name="Google Shape;193;p18"/>
          <p:cNvPicPr preferRelativeResize="0"/>
          <p:nvPr/>
        </p:nvPicPr>
        <p:blipFill rotWithShape="1">
          <a:blip r:embed="rId4">
            <a:alphaModFix/>
          </a:blip>
          <a:srcRect b="0" l="0" r="0" t="0"/>
          <a:stretch/>
        </p:blipFill>
        <p:spPr>
          <a:xfrm>
            <a:off x="2667000" y="3124200"/>
            <a:ext cx="6705600" cy="3327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9"/>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 – Facade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99" name="Google Shape;199;p19"/>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00" name="Google Shape;200;p19"/>
          <p:cNvSpPr txBox="1"/>
          <p:nvPr/>
        </p:nvSpPr>
        <p:spPr>
          <a:xfrm>
            <a:off x="764457" y="706398"/>
            <a:ext cx="10663085"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400">
                <a:solidFill>
                  <a:schemeClr val="dk1"/>
                </a:solidFill>
                <a:latin typeface="Calibri"/>
                <a:ea typeface="Calibri"/>
                <a:cs typeface="Calibri"/>
                <a:sym typeface="Calibri"/>
              </a:rPr>
              <a:t>Supongamos que tenemos una lavadora que puede lavar, enjuagar y centrifugar la ropa, pero que realiza cada tarea por separado. Debemos abstraer las complejidades de los subsistemas porque el sistema en su conjunto es bastante complejo. Necesitamos un sistema que pueda automatizar toda la tarea sin nuestra interferencia.</a:t>
            </a:r>
            <a:endParaRPr/>
          </a:p>
        </p:txBody>
      </p:sp>
      <p:pic>
        <p:nvPicPr>
          <p:cNvPr id="201" name="Google Shape;201;p19"/>
          <p:cNvPicPr preferRelativeResize="0"/>
          <p:nvPr/>
        </p:nvPicPr>
        <p:blipFill rotWithShape="1">
          <a:blip r:embed="rId4">
            <a:alphaModFix/>
          </a:blip>
          <a:srcRect b="0" l="0" r="0" t="0"/>
          <a:stretch/>
        </p:blipFill>
        <p:spPr>
          <a:xfrm>
            <a:off x="1981200" y="2645390"/>
            <a:ext cx="8686800" cy="375540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0"/>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Facade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207" name="Google Shape;207;p20"/>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08" name="Google Shape;208;p20"/>
          <p:cNvSpPr txBox="1"/>
          <p:nvPr/>
        </p:nvSpPr>
        <p:spPr>
          <a:xfrm>
            <a:off x="764457" y="706398"/>
            <a:ext cx="10663085" cy="127111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000">
                <a:solidFill>
                  <a:schemeClr val="dk1"/>
                </a:solidFill>
                <a:latin typeface="Calibri"/>
                <a:ea typeface="Calibri"/>
                <a:cs typeface="Calibri"/>
                <a:sym typeface="Calibri"/>
              </a:rPr>
              <a:t>// Subsystem Class: Centrifugar</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class Centrifugado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public void centrifugar()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System.out.println("Centrifugando la ropa...");</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Facade Class</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class LavadoraFacade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private Lavado lavado;</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private Enjuague enjuague;</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private Centrifugado centrifugado;</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public LavadoraFacade()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this.lavado = new Lavado();</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this.enjuague = new Enjuague();</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this.centrifugado = new Centrifugado();</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public void lavarRopa()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lavado.lavar();</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public void enjuagarRopa()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enjuague.enjuagar();</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public void centrifugarRopa()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centrifugado.centrifugar();</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Cliente</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public class FacadePatternDemo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public static void main(String[] args)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LavadoraFacade lavadora = new LavadoraFacade();</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lavadora.lavarRopa();</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lavadora.enjuagarRopa();</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lavadora.centrifugarRopa();</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1"/>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Facade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214" name="Google Shape;214;p21"/>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15" name="Google Shape;215;p21"/>
          <p:cNvSpPr txBox="1"/>
          <p:nvPr/>
        </p:nvSpPr>
        <p:spPr>
          <a:xfrm>
            <a:off x="764457" y="706398"/>
            <a:ext cx="10663085"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400">
                <a:solidFill>
                  <a:schemeClr val="dk1"/>
                </a:solidFill>
                <a:latin typeface="Calibri"/>
                <a:ea typeface="Calibri"/>
                <a:cs typeface="Calibri"/>
                <a:sym typeface="Calibri"/>
              </a:rPr>
              <a:t>// Subsystem Class: Lavar</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class Lavado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public void lavar()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System.out.println("Lavando la ropa...");</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Subsystem Class: Enjuagar</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class Enjuague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public void enjuagar()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System.out.println("Enjuagando la ropa...");</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2"/>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Facade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221" name="Google Shape;221;p22"/>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22" name="Google Shape;222;p22"/>
          <p:cNvSpPr txBox="1"/>
          <p:nvPr/>
        </p:nvSpPr>
        <p:spPr>
          <a:xfrm>
            <a:off x="764457" y="706398"/>
            <a:ext cx="10663085" cy="59400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000">
                <a:solidFill>
                  <a:schemeClr val="dk1"/>
                </a:solidFill>
                <a:latin typeface="Calibri"/>
                <a:ea typeface="Calibri"/>
                <a:cs typeface="Calibri"/>
                <a:sym typeface="Calibri"/>
              </a:rPr>
              <a:t>    public void lavarRopa()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lavado.lavar();</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public void enjuagarRopa()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enjuague.enjuagar();</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public void centrifugarRopa()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centrifugado.centrifugar();</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Cliente</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public class FacadePatternDemo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public static void main(String[] args)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LavadoraFacade lavadora = new LavadoraFacade();</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lavadora.lavarRopa();</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lavadora.enjuagarRopa();</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lavadora.centrifugarRopa();</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3"/>
          <p:cNvSpPr txBox="1"/>
          <p:nvPr/>
        </p:nvSpPr>
        <p:spPr>
          <a:xfrm>
            <a:off x="2630296" y="1676935"/>
            <a:ext cx="6931407" cy="1275349"/>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PE" sz="4000">
                <a:solidFill>
                  <a:schemeClr val="dk1"/>
                </a:solidFill>
                <a:latin typeface="Arial"/>
                <a:ea typeface="Arial"/>
                <a:cs typeface="Arial"/>
                <a:sym typeface="Arial"/>
              </a:rPr>
              <a:t>¿Cuál es la diferencia entre Facade y Adapter?</a:t>
            </a:r>
            <a:endParaRPr sz="4000">
              <a:solidFill>
                <a:schemeClr val="dk1"/>
              </a:solidFill>
              <a:latin typeface="Arial"/>
              <a:ea typeface="Arial"/>
              <a:cs typeface="Arial"/>
              <a:sym typeface="Arial"/>
            </a:endParaRPr>
          </a:p>
        </p:txBody>
      </p:sp>
      <p:pic>
        <p:nvPicPr>
          <p:cNvPr id="228" name="Google Shape;228;p23"/>
          <p:cNvPicPr preferRelativeResize="0"/>
          <p:nvPr/>
        </p:nvPicPr>
        <p:blipFill rotWithShape="1">
          <a:blip r:embed="rId3">
            <a:alphaModFix/>
          </a:blip>
          <a:srcRect b="0" l="0" r="0" t="0"/>
          <a:stretch/>
        </p:blipFill>
        <p:spPr>
          <a:xfrm>
            <a:off x="5334000" y="4038600"/>
            <a:ext cx="1524000" cy="1524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4"/>
          <p:cNvSpPr/>
          <p:nvPr/>
        </p:nvSpPr>
        <p:spPr>
          <a:xfrm>
            <a:off x="0" y="2819400"/>
            <a:ext cx="12192000" cy="1219200"/>
          </a:xfrm>
          <a:custGeom>
            <a:rect b="b" l="l" r="r" t="t"/>
            <a:pathLst>
              <a:path extrusionOk="0" h="700405" w="9144635">
                <a:moveTo>
                  <a:pt x="9027447" y="700199"/>
                </a:moveTo>
                <a:lnTo>
                  <a:pt x="116702" y="700199"/>
                </a:lnTo>
                <a:lnTo>
                  <a:pt x="71276" y="691028"/>
                </a:lnTo>
                <a:lnTo>
                  <a:pt x="34181" y="666018"/>
                </a:lnTo>
                <a:lnTo>
                  <a:pt x="9171" y="628923"/>
                </a:lnTo>
                <a:lnTo>
                  <a:pt x="0" y="583497"/>
                </a:lnTo>
                <a:lnTo>
                  <a:pt x="0" y="116702"/>
                </a:lnTo>
                <a:lnTo>
                  <a:pt x="9171" y="71276"/>
                </a:lnTo>
                <a:lnTo>
                  <a:pt x="34181" y="34181"/>
                </a:lnTo>
                <a:lnTo>
                  <a:pt x="71276" y="9171"/>
                </a:lnTo>
                <a:lnTo>
                  <a:pt x="116702" y="0"/>
                </a:lnTo>
                <a:lnTo>
                  <a:pt x="9027447" y="0"/>
                </a:lnTo>
                <a:lnTo>
                  <a:pt x="9072107" y="8883"/>
                </a:lnTo>
                <a:lnTo>
                  <a:pt x="9109968" y="34181"/>
                </a:lnTo>
                <a:lnTo>
                  <a:pt x="9135266" y="72042"/>
                </a:lnTo>
                <a:lnTo>
                  <a:pt x="9144149" y="116702"/>
                </a:lnTo>
                <a:lnTo>
                  <a:pt x="9144149" y="583497"/>
                </a:lnTo>
                <a:lnTo>
                  <a:pt x="9134978" y="628923"/>
                </a:lnTo>
                <a:lnTo>
                  <a:pt x="9109968" y="666018"/>
                </a:lnTo>
                <a:lnTo>
                  <a:pt x="9072873" y="691028"/>
                </a:lnTo>
                <a:lnTo>
                  <a:pt x="9027447" y="7001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24"/>
          <p:cNvSpPr txBox="1"/>
          <p:nvPr>
            <p:ph type="title"/>
          </p:nvPr>
        </p:nvSpPr>
        <p:spPr>
          <a:xfrm>
            <a:off x="4278672" y="3084034"/>
            <a:ext cx="3634655" cy="68993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b="1" lang="es-PE">
                <a:solidFill>
                  <a:schemeClr val="lt1"/>
                </a:solidFill>
                <a:latin typeface="Rubik"/>
                <a:ea typeface="Rubik"/>
                <a:cs typeface="Rubik"/>
                <a:sym typeface="Rubik"/>
              </a:rPr>
              <a:t>Caso práctico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2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241" name="Google Shape;241;p2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42" name="Google Shape;242;p25"/>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243" name="Google Shape;243;p25"/>
          <p:cNvSpPr txBox="1"/>
          <p:nvPr/>
        </p:nvSpPr>
        <p:spPr>
          <a:xfrm>
            <a:off x="612234" y="942823"/>
            <a:ext cx="10950239" cy="563227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2400"/>
              <a:buFont typeface="Calibri"/>
              <a:buNone/>
            </a:pPr>
            <a:r>
              <a:rPr lang="es-PE" sz="2400">
                <a:solidFill>
                  <a:schemeClr val="dk1"/>
                </a:solidFill>
                <a:latin typeface="Calibri"/>
                <a:ea typeface="Calibri"/>
                <a:cs typeface="Calibri"/>
                <a:sym typeface="Calibri"/>
              </a:rPr>
              <a:t>Realizar ejercicio práctico es una excelente manera de aprender y entender cómo elaborar un patrón de diseño estructural. Aquí tienes un ejercicio práctico detallado que puedes seguir:</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None/>
            </a:pPr>
            <a:r>
              <a:rPr b="1" lang="es-PE" sz="2400">
                <a:solidFill>
                  <a:schemeClr val="dk1"/>
                </a:solidFill>
                <a:latin typeface="Calibri"/>
                <a:ea typeface="Calibri"/>
                <a:cs typeface="Calibri"/>
                <a:sym typeface="Calibri"/>
              </a:rPr>
              <a:t>Ejercicio Práctico: </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400"/>
              <a:buFont typeface="Calibri"/>
              <a:buNone/>
            </a:pPr>
            <a:r>
              <a:rPr b="1" lang="es-PE" sz="2400">
                <a:solidFill>
                  <a:schemeClr val="dk1"/>
                </a:solidFill>
                <a:latin typeface="Calibri"/>
                <a:ea typeface="Calibri"/>
                <a:cs typeface="Calibri"/>
                <a:sym typeface="Calibri"/>
              </a:rPr>
              <a:t>Caso de Uso: Plataforma de Pago en Línea</a:t>
            </a:r>
            <a:endParaRPr/>
          </a:p>
          <a:p>
            <a:pPr indent="0" lvl="0" marL="0" marR="0" rtl="0" algn="ctr">
              <a:spcBef>
                <a:spcPts val="0"/>
              </a:spcBef>
              <a:spcAft>
                <a:spcPts val="0"/>
              </a:spcAft>
              <a:buClr>
                <a:schemeClr val="dk1"/>
              </a:buClr>
              <a:buSzPts val="2400"/>
              <a:buFont typeface="Calibri"/>
              <a:buNone/>
            </a:pPr>
            <a:r>
              <a:rPr b="1" lang="es-PE" sz="2400">
                <a:solidFill>
                  <a:schemeClr val="dk1"/>
                </a:solidFill>
                <a:latin typeface="Calibri"/>
                <a:ea typeface="Calibri"/>
                <a:cs typeface="Calibri"/>
                <a:sym typeface="Calibri"/>
              </a:rPr>
              <a:t>Un hospital necesita integrar múltiples sistemas para gestionar la información del paciente, como registros médicos electrónicos (EMR), sistemas de laboratorio y sistemas de facturación. </a:t>
            </a:r>
            <a:endParaRPr/>
          </a:p>
          <a:p>
            <a:pPr indent="0" lvl="0" marL="0" marR="0" rtl="0" algn="ctr">
              <a:spcBef>
                <a:spcPts val="0"/>
              </a:spcBef>
              <a:spcAft>
                <a:spcPts val="0"/>
              </a:spcAft>
              <a:buClr>
                <a:schemeClr val="dk1"/>
              </a:buClr>
              <a:buSzPts val="2400"/>
              <a:buFont typeface="Calibri"/>
              <a:buNone/>
            </a:pPr>
            <a:r>
              <a:rPr b="1" lang="es-PE" sz="2400">
                <a:solidFill>
                  <a:schemeClr val="dk1"/>
                </a:solidFill>
                <a:latin typeface="Calibri"/>
                <a:ea typeface="Calibri"/>
                <a:cs typeface="Calibri"/>
                <a:sym typeface="Calibri"/>
              </a:rPr>
              <a:t>Aplicación del Patrón Facade: Se implementa una fachada que proporciona una interfaz unificada para acceder a estos sistemas dispares. La fachada ofrece métodos simplificados para obtener la historia clínica completa de un paciente, resultados de laboratorio y estado de facturación sin que los usuarios necesiten interactuar directamente con cada sistema.</a:t>
            </a:r>
            <a:endParaRPr/>
          </a:p>
          <a:p>
            <a:pPr indent="0" lvl="0" marL="0" marR="0" rtl="0" algn="ctr">
              <a:spcBef>
                <a:spcPts val="0"/>
              </a:spcBef>
              <a:spcAft>
                <a:spcPts val="0"/>
              </a:spcAft>
              <a:buClr>
                <a:schemeClr val="dk1"/>
              </a:buClr>
              <a:buSzPts val="2400"/>
              <a:buFont typeface="Calibri"/>
              <a:buNone/>
            </a:pPr>
            <a:r>
              <a:rPr b="1" lang="es-PE" sz="2400">
                <a:solidFill>
                  <a:schemeClr val="dk1"/>
                </a:solidFill>
                <a:latin typeface="Calibri"/>
                <a:ea typeface="Calibri"/>
                <a:cs typeface="Calibri"/>
                <a:sym typeface="Calibri"/>
              </a:rPr>
              <a:t>Objetivos:</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AutoNum type="arabicPeriod"/>
            </a:pPr>
            <a:r>
              <a:rPr lang="es-PE" sz="2400">
                <a:solidFill>
                  <a:schemeClr val="dk1"/>
                </a:solidFill>
                <a:latin typeface="Calibri"/>
                <a:ea typeface="Calibri"/>
                <a:cs typeface="Calibri"/>
                <a:sym typeface="Calibri"/>
              </a:rPr>
              <a:t>Elaborar el código java y diagrama de clase UML utilizando el patrón seleccionado.</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2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Sesión 13: Introd. Cassandra</a:t>
            </a:r>
            <a:endParaRPr sz="2400">
              <a:solidFill>
                <a:schemeClr val="dk1"/>
              </a:solidFill>
              <a:latin typeface="Arial"/>
              <a:ea typeface="Arial"/>
              <a:cs typeface="Arial"/>
              <a:sym typeface="Arial"/>
            </a:endParaRPr>
          </a:p>
        </p:txBody>
      </p:sp>
      <p:sp>
        <p:nvSpPr>
          <p:cNvPr id="250" name="Google Shape;250;p2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51" name="Google Shape;251;p26"/>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252" name="Google Shape;252;p26"/>
          <p:cNvSpPr txBox="1"/>
          <p:nvPr/>
        </p:nvSpPr>
        <p:spPr>
          <a:xfrm>
            <a:off x="2282337" y="1780300"/>
            <a:ext cx="7627325" cy="443711"/>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None/>
            </a:pPr>
            <a:r>
              <a:rPr lang="es-PE" sz="2800">
                <a:solidFill>
                  <a:schemeClr val="dk1"/>
                </a:solidFill>
                <a:latin typeface="Arial"/>
                <a:ea typeface="Arial"/>
                <a:cs typeface="Arial"/>
                <a:sym typeface="Arial"/>
              </a:rPr>
              <a:t>¿Quién quisiera participar? (2 voluntarios)</a:t>
            </a:r>
            <a:endParaRPr/>
          </a:p>
        </p:txBody>
      </p:sp>
      <p:pic>
        <p:nvPicPr>
          <p:cNvPr id="253" name="Google Shape;253;p26"/>
          <p:cNvPicPr preferRelativeResize="0"/>
          <p:nvPr/>
        </p:nvPicPr>
        <p:blipFill rotWithShape="1">
          <a:blip r:embed="rId3">
            <a:alphaModFix/>
          </a:blip>
          <a:srcRect b="0" l="0" r="0" t="0"/>
          <a:stretch/>
        </p:blipFill>
        <p:spPr>
          <a:xfrm>
            <a:off x="4730555" y="2895600"/>
            <a:ext cx="2730890" cy="252033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2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Sesión 13: Introd. Cassandra</a:t>
            </a:r>
            <a:endParaRPr sz="2400">
              <a:solidFill>
                <a:schemeClr val="dk1"/>
              </a:solidFill>
              <a:latin typeface="Arial"/>
              <a:ea typeface="Arial"/>
              <a:cs typeface="Arial"/>
              <a:sym typeface="Arial"/>
            </a:endParaRPr>
          </a:p>
        </p:txBody>
      </p:sp>
      <p:sp>
        <p:nvSpPr>
          <p:cNvPr id="260" name="Google Shape;260;p2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61" name="Google Shape;261;p27"/>
          <p:cNvSpPr txBox="1"/>
          <p:nvPr/>
        </p:nvSpPr>
        <p:spPr>
          <a:xfrm>
            <a:off x="3039354" y="1831852"/>
            <a:ext cx="6096000" cy="11541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s-PE" sz="3200">
                <a:solidFill>
                  <a:schemeClr val="dk1"/>
                </a:solidFill>
                <a:latin typeface="Arial"/>
                <a:ea typeface="Arial"/>
                <a:cs typeface="Arial"/>
                <a:sym typeface="Arial"/>
              </a:rPr>
              <a:t>¿Qué se les hizo más fácil?</a:t>
            </a:r>
            <a:endParaRPr/>
          </a:p>
          <a:p>
            <a:pPr indent="0" lvl="0" marL="0" marR="0" rtl="0" algn="ctr">
              <a:lnSpc>
                <a:spcPct val="100000"/>
              </a:lnSpc>
              <a:spcBef>
                <a:spcPts val="585"/>
              </a:spcBef>
              <a:spcAft>
                <a:spcPts val="0"/>
              </a:spcAft>
              <a:buNone/>
            </a:pPr>
            <a:r>
              <a:rPr lang="es-PE" sz="3200">
                <a:solidFill>
                  <a:schemeClr val="dk1"/>
                </a:solidFill>
                <a:latin typeface="Arial"/>
                <a:ea typeface="Arial"/>
                <a:cs typeface="Arial"/>
                <a:sym typeface="Arial"/>
              </a:rPr>
              <a:t>¿Qué se les hizo más retador?</a:t>
            </a:r>
            <a:endParaRPr sz="3200">
              <a:solidFill>
                <a:schemeClr val="dk1"/>
              </a:solidFill>
              <a:latin typeface="Arial"/>
              <a:ea typeface="Arial"/>
              <a:cs typeface="Arial"/>
              <a:sym typeface="Arial"/>
            </a:endParaRPr>
          </a:p>
        </p:txBody>
      </p:sp>
      <p:pic>
        <p:nvPicPr>
          <p:cNvPr id="262" name="Google Shape;262;p27"/>
          <p:cNvPicPr preferRelativeResize="0"/>
          <p:nvPr/>
        </p:nvPicPr>
        <p:blipFill rotWithShape="1">
          <a:blip r:embed="rId3">
            <a:alphaModFix/>
          </a:blip>
          <a:srcRect b="0" l="0" r="0" t="0"/>
          <a:stretch/>
        </p:blipFill>
        <p:spPr>
          <a:xfrm>
            <a:off x="4953000" y="3618011"/>
            <a:ext cx="2047300" cy="2047300"/>
          </a:xfrm>
          <a:prstGeom prst="rect">
            <a:avLst/>
          </a:prstGeom>
          <a:noFill/>
          <a:ln>
            <a:noFill/>
          </a:ln>
        </p:spPr>
      </p:pic>
      <p:pic>
        <p:nvPicPr>
          <p:cNvPr id="263" name="Google Shape;263;p27"/>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2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Aprendizajes</a:t>
            </a:r>
            <a:endParaRPr sz="2400">
              <a:solidFill>
                <a:schemeClr val="dk1"/>
              </a:solidFill>
              <a:latin typeface="Arial"/>
              <a:ea typeface="Arial"/>
              <a:cs typeface="Arial"/>
              <a:sym typeface="Arial"/>
            </a:endParaRPr>
          </a:p>
        </p:txBody>
      </p:sp>
      <p:sp>
        <p:nvSpPr>
          <p:cNvPr id="270" name="Google Shape;270;p2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71" name="Google Shape;271;p28"/>
          <p:cNvSpPr txBox="1"/>
          <p:nvPr/>
        </p:nvSpPr>
        <p:spPr>
          <a:xfrm>
            <a:off x="2243577" y="3149025"/>
            <a:ext cx="7687554" cy="58477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PE" sz="3200">
                <a:solidFill>
                  <a:schemeClr val="dk1"/>
                </a:solidFill>
                <a:latin typeface="Arial"/>
                <a:ea typeface="Arial"/>
                <a:cs typeface="Arial"/>
                <a:sym typeface="Arial"/>
              </a:rPr>
              <a:t>¿Qué hemos aprendido el día de hoy?</a:t>
            </a:r>
            <a:endParaRPr sz="3200">
              <a:solidFill>
                <a:schemeClr val="dk1"/>
              </a:solidFill>
              <a:latin typeface="Arial"/>
              <a:ea typeface="Arial"/>
              <a:cs typeface="Arial"/>
              <a:sym typeface="Arial"/>
            </a:endParaRPr>
          </a:p>
        </p:txBody>
      </p:sp>
      <p:pic>
        <p:nvPicPr>
          <p:cNvPr id="272" name="Google Shape;272;p28"/>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29"/>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79" name="Google Shape;279;p2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80" name="Google Shape;280;p29"/>
          <p:cNvSpPr txBox="1"/>
          <p:nvPr/>
        </p:nvSpPr>
        <p:spPr>
          <a:xfrm>
            <a:off x="2243577" y="2644170"/>
            <a:ext cx="7687554" cy="1569660"/>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lang="es-PE" sz="3200">
                <a:solidFill>
                  <a:schemeClr val="dk1"/>
                </a:solidFill>
                <a:latin typeface="Arial"/>
                <a:ea typeface="Arial"/>
                <a:cs typeface="Arial"/>
                <a:sym typeface="Arial"/>
              </a:rPr>
              <a:t>Tomar apuntes de manera eficaz ayuda a consolidar el  aprendizaje y prepararse para los exámenes.</a:t>
            </a:r>
            <a:endParaRPr/>
          </a:p>
        </p:txBody>
      </p:sp>
      <p:pic>
        <p:nvPicPr>
          <p:cNvPr id="281" name="Google Shape;281;p29"/>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30"/>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88" name="Google Shape;288;p30"/>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89" name="Google Shape;289;p30"/>
          <p:cNvSpPr txBox="1"/>
          <p:nvPr/>
        </p:nvSpPr>
        <p:spPr>
          <a:xfrm>
            <a:off x="630555" y="1089754"/>
            <a:ext cx="10058400" cy="50295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PE" sz="3200">
                <a:solidFill>
                  <a:schemeClr val="dk1"/>
                </a:solidFill>
                <a:latin typeface="Calibri"/>
                <a:ea typeface="Calibri"/>
                <a:cs typeface="Calibri"/>
                <a:sym typeface="Calibri"/>
              </a:rPr>
              <a:t>Facade</a:t>
            </a:r>
            <a:r>
              <a:rPr lang="es-PE" sz="3200">
                <a:solidFill>
                  <a:schemeClr val="dk1"/>
                </a:solidFill>
                <a:latin typeface="Calibri"/>
                <a:ea typeface="Calibri"/>
                <a:cs typeface="Calibri"/>
                <a:sym typeface="Calibri"/>
              </a:rPr>
              <a:t>: Proporciona una interfaz simplificada para un conjunto de interfaces en un subsistema, ocultando la complejidad y ofreciendo una única entrada para interactuar con múltiples componentes.</a:t>
            </a:r>
            <a:endParaRPr/>
          </a:p>
          <a:p>
            <a:pPr indent="0" lvl="0" marL="0" marR="0" rtl="0" algn="l">
              <a:spcBef>
                <a:spcPts val="0"/>
              </a:spcBef>
              <a:spcAft>
                <a:spcPts val="0"/>
              </a:spcAft>
              <a:buNone/>
            </a:pPr>
            <a:r>
              <a:t/>
            </a:r>
            <a:endParaRPr b="1" sz="3200">
              <a:solidFill>
                <a:schemeClr val="dk1"/>
              </a:solidFill>
              <a:latin typeface="Calibri"/>
              <a:ea typeface="Calibri"/>
              <a:cs typeface="Calibri"/>
              <a:sym typeface="Calibri"/>
            </a:endParaRPr>
          </a:p>
          <a:p>
            <a:pPr indent="0" lvl="0" marL="0" marR="0" rtl="0" algn="l">
              <a:spcBef>
                <a:spcPts val="0"/>
              </a:spcBef>
              <a:spcAft>
                <a:spcPts val="0"/>
              </a:spcAft>
              <a:buNone/>
            </a:pPr>
            <a:r>
              <a:rPr b="1" lang="es-PE" sz="3200">
                <a:solidFill>
                  <a:schemeClr val="dk1"/>
                </a:solidFill>
                <a:latin typeface="Calibri"/>
                <a:ea typeface="Calibri"/>
                <a:cs typeface="Calibri"/>
                <a:sym typeface="Calibri"/>
              </a:rPr>
              <a:t>Adapter</a:t>
            </a:r>
            <a:r>
              <a:rPr lang="es-PE" sz="3200">
                <a:solidFill>
                  <a:schemeClr val="dk1"/>
                </a:solidFill>
                <a:latin typeface="Calibri"/>
                <a:ea typeface="Calibri"/>
                <a:cs typeface="Calibri"/>
                <a:sym typeface="Calibri"/>
              </a:rPr>
              <a:t>: Permite que una interfaz incompatible sea utilizada por otra. Actúa como un puente entre dos interfaces, adaptando la interfaz de un objeto a la que el cliente espera.</a:t>
            </a:r>
            <a:endParaRPr/>
          </a:p>
          <a:p>
            <a:pPr indent="0" lvl="0" marL="12700" marR="0" rtl="0" algn="l">
              <a:lnSpc>
                <a:spcPct val="100000"/>
              </a:lnSpc>
              <a:spcBef>
                <a:spcPts val="100"/>
              </a:spcBef>
              <a:spcAft>
                <a:spcPts val="0"/>
              </a:spcAft>
              <a:buNone/>
            </a:pPr>
            <a:r>
              <a:t/>
            </a:r>
            <a:endParaRPr sz="3200">
              <a:solidFill>
                <a:schemeClr val="dk1"/>
              </a:solidFill>
              <a:latin typeface="Arial"/>
              <a:ea typeface="Arial"/>
              <a:cs typeface="Arial"/>
              <a:sym typeface="Arial"/>
            </a:endParaRPr>
          </a:p>
        </p:txBody>
      </p:sp>
      <p:pic>
        <p:nvPicPr>
          <p:cNvPr id="290" name="Google Shape;290;p30"/>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1"/>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31"/>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sp>
        <p:nvSpPr>
          <p:cNvPr id="297" name="Google Shape;297;p31"/>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98" name="Google Shape;298;p31"/>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299" name="Google Shape;299;p31"/>
          <p:cNvSpPr txBox="1"/>
          <p:nvPr/>
        </p:nvSpPr>
        <p:spPr>
          <a:xfrm>
            <a:off x="1055948" y="1690498"/>
            <a:ext cx="10080101" cy="2998898"/>
          </a:xfrm>
          <a:prstGeom prst="rect">
            <a:avLst/>
          </a:prstGeom>
          <a:noFill/>
          <a:ln>
            <a:noFill/>
          </a:ln>
        </p:spPr>
        <p:txBody>
          <a:bodyPr anchorCtr="0" anchor="t" bIns="0" lIns="0" spcFirstLastPara="1" rIns="0" wrap="square" tIns="43800">
            <a:spAutoFit/>
          </a:bodyPr>
          <a:lstStyle/>
          <a:p>
            <a:pPr indent="-214630" lvl="0" marL="379095" marR="508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67030" lvl="0" marL="379095" marR="5080" rtl="0" algn="l">
              <a:spcBef>
                <a:spcPts val="0"/>
              </a:spcBef>
              <a:spcAft>
                <a:spcPts val="0"/>
              </a:spcAft>
              <a:buClr>
                <a:schemeClr val="dk1"/>
              </a:buClr>
              <a:buSzPts val="2400"/>
              <a:buFont typeface="Arial"/>
              <a:buChar char="●"/>
            </a:pPr>
            <a:r>
              <a:rPr lang="es-PE" sz="2400">
                <a:solidFill>
                  <a:schemeClr val="dk1"/>
                </a:solidFill>
                <a:latin typeface="Arial"/>
                <a:ea typeface="Arial"/>
                <a:cs typeface="Arial"/>
                <a:sym typeface="Arial"/>
              </a:rPr>
              <a:t>Elabora la actividad práctica de acuerdo a la guía de laboratorio de sesión</a:t>
            </a:r>
            <a:endParaRPr/>
          </a:p>
          <a:p>
            <a:pPr indent="-214630" lvl="0" marL="379095" marR="508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67030" lvl="0" marL="379095" marR="5080" rtl="0" algn="l">
              <a:spcBef>
                <a:spcPts val="0"/>
              </a:spcBef>
              <a:spcAft>
                <a:spcPts val="0"/>
              </a:spcAft>
              <a:buClr>
                <a:schemeClr val="dk1"/>
              </a:buClr>
              <a:buSzPts val="2400"/>
              <a:buFont typeface="Arial"/>
              <a:buChar char="●"/>
            </a:pPr>
            <a:r>
              <a:rPr lang="es-PE" sz="2400">
                <a:solidFill>
                  <a:schemeClr val="dk1"/>
                </a:solidFill>
                <a:latin typeface="Arial"/>
                <a:ea typeface="Arial"/>
                <a:cs typeface="Arial"/>
                <a:sym typeface="Arial"/>
              </a:rPr>
              <a:t>Sube la actividad práctica en la  plataforma virtual de aprendizaje</a:t>
            </a:r>
            <a:endParaRPr sz="24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367030" lvl="0" marL="379095" marR="0" rtl="0" algn="l">
              <a:spcBef>
                <a:spcPts val="0"/>
              </a:spcBef>
              <a:spcAft>
                <a:spcPts val="0"/>
              </a:spcAft>
              <a:buClr>
                <a:schemeClr val="dk1"/>
              </a:buClr>
              <a:buSzPts val="2400"/>
              <a:buFont typeface="Arial"/>
              <a:buChar char="●"/>
            </a:pPr>
            <a:r>
              <a:rPr lang="es-PE" sz="2400">
                <a:solidFill>
                  <a:schemeClr val="dk1"/>
                </a:solidFill>
                <a:latin typeface="Arial"/>
                <a:ea typeface="Arial"/>
                <a:cs typeface="Arial"/>
                <a:sym typeface="Arial"/>
              </a:rPr>
              <a:t>Guarda la actividad con la siguiente etiqueta:</a:t>
            </a:r>
            <a:endParaRPr sz="2400">
              <a:solidFill>
                <a:schemeClr val="dk1"/>
              </a:solidFill>
              <a:latin typeface="Arial"/>
              <a:ea typeface="Arial"/>
              <a:cs typeface="Arial"/>
              <a:sym typeface="Arial"/>
            </a:endParaRPr>
          </a:p>
          <a:p>
            <a:pPr indent="0" lvl="0" marL="379095" marR="0" rtl="0" algn="l">
              <a:spcBef>
                <a:spcPts val="0"/>
              </a:spcBef>
              <a:spcAft>
                <a:spcPts val="0"/>
              </a:spcAft>
              <a:buNone/>
            </a:pPr>
            <a:r>
              <a:rPr b="1" i="1" lang="es-PE" sz="2400">
                <a:solidFill>
                  <a:schemeClr val="dk1"/>
                </a:solidFill>
                <a:latin typeface="Arial"/>
                <a:ea typeface="Arial"/>
                <a:cs typeface="Arial"/>
                <a:sym typeface="Arial"/>
              </a:rPr>
              <a:t>DPA_Actividad08_NombreApellido</a:t>
            </a:r>
            <a:endParaRPr sz="2400">
              <a:solidFill>
                <a:schemeClr val="dk1"/>
              </a:solidFill>
              <a:latin typeface="Arial"/>
              <a:ea typeface="Arial"/>
              <a:cs typeface="Arial"/>
              <a:sym typeface="Arial"/>
            </a:endParaRPr>
          </a:p>
        </p:txBody>
      </p:sp>
      <p:sp>
        <p:nvSpPr>
          <p:cNvPr id="300" name="Google Shape;300;p31"/>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PE"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3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Recursos</a:t>
            </a:r>
            <a:endParaRPr sz="2400">
              <a:solidFill>
                <a:schemeClr val="dk1"/>
              </a:solidFill>
              <a:latin typeface="Arial"/>
              <a:ea typeface="Arial"/>
              <a:cs typeface="Arial"/>
              <a:sym typeface="Arial"/>
            </a:endParaRPr>
          </a:p>
        </p:txBody>
      </p:sp>
      <p:sp>
        <p:nvSpPr>
          <p:cNvPr id="307" name="Google Shape;307;p3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308" name="Google Shape;308;p32"/>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309" name="Google Shape;309;p32"/>
          <p:cNvSpPr txBox="1"/>
          <p:nvPr/>
        </p:nvSpPr>
        <p:spPr>
          <a:xfrm>
            <a:off x="946171" y="1116016"/>
            <a:ext cx="10080101" cy="2260234"/>
          </a:xfrm>
          <a:prstGeom prst="rect">
            <a:avLst/>
          </a:prstGeom>
          <a:noFill/>
          <a:ln>
            <a:noFill/>
          </a:ln>
        </p:spPr>
        <p:txBody>
          <a:bodyPr anchorCtr="0" anchor="t" bIns="0" lIns="0" spcFirstLastPara="1" rIns="0" wrap="square" tIns="43800">
            <a:spAutoFit/>
          </a:bodyPr>
          <a:lstStyle/>
          <a:p>
            <a:pPr indent="0" lvl="0" marL="12065" marR="5080" rtl="0" algn="l">
              <a:spcBef>
                <a:spcPts val="0"/>
              </a:spcBef>
              <a:spcAft>
                <a:spcPts val="0"/>
              </a:spcAft>
              <a:buNone/>
            </a:pPr>
            <a:r>
              <a:rPr lang="es-PE" sz="2400">
                <a:solidFill>
                  <a:schemeClr val="dk1"/>
                </a:solidFill>
                <a:latin typeface="Arial"/>
                <a:ea typeface="Arial"/>
                <a:cs typeface="Arial"/>
                <a:sym typeface="Arial"/>
              </a:rPr>
              <a:t>-</a:t>
            </a:r>
            <a:r>
              <a:rPr b="0" i="0" lang="es-PE" sz="2400">
                <a:solidFill>
                  <a:srgbClr val="222222"/>
                </a:solidFill>
                <a:latin typeface="Arial"/>
                <a:ea typeface="Arial"/>
                <a:cs typeface="Arial"/>
                <a:sym typeface="Arial"/>
              </a:rPr>
              <a:t> Hu, C. (2023). </a:t>
            </a:r>
            <a:r>
              <a:rPr b="0" i="1" lang="es-PE" sz="2400">
                <a:solidFill>
                  <a:srgbClr val="222222"/>
                </a:solidFill>
                <a:latin typeface="Arial"/>
                <a:ea typeface="Arial"/>
                <a:cs typeface="Arial"/>
                <a:sym typeface="Arial"/>
              </a:rPr>
              <a:t>An Introduction to Software Design: Concepts, Principles, Methodologies, and Techniques</a:t>
            </a:r>
            <a:r>
              <a:rPr b="0" i="0" lang="es-PE" sz="2400">
                <a:solidFill>
                  <a:srgbClr val="222222"/>
                </a:solidFill>
                <a:latin typeface="Arial"/>
                <a:ea typeface="Arial"/>
                <a:cs typeface="Arial"/>
                <a:sym typeface="Arial"/>
              </a:rPr>
              <a:t>. Springer Nature.</a:t>
            </a:r>
            <a:endParaRPr i="0" sz="2400">
              <a:solidFill>
                <a:schemeClr val="dk1"/>
              </a:solidFill>
              <a:latin typeface="Roboto"/>
              <a:ea typeface="Roboto"/>
              <a:cs typeface="Roboto"/>
              <a:sym typeface="Roboto"/>
            </a:endParaRPr>
          </a:p>
          <a:p>
            <a:pPr indent="0" lvl="0" marL="12065" marR="5080" rtl="0" algn="l">
              <a:spcBef>
                <a:spcPts val="0"/>
              </a:spcBef>
              <a:spcAft>
                <a:spcPts val="0"/>
              </a:spcAft>
              <a:buNone/>
            </a:pPr>
            <a:r>
              <a:t/>
            </a:r>
            <a:endParaRPr i="0" sz="2400">
              <a:solidFill>
                <a:schemeClr val="dk1"/>
              </a:solidFill>
              <a:latin typeface="Roboto"/>
              <a:ea typeface="Roboto"/>
              <a:cs typeface="Roboto"/>
              <a:sym typeface="Roboto"/>
            </a:endParaRPr>
          </a:p>
          <a:p>
            <a:pPr indent="0" lvl="0" marL="12065" marR="5080" rtl="0" algn="l">
              <a:spcBef>
                <a:spcPts val="0"/>
              </a:spcBef>
              <a:spcAft>
                <a:spcPts val="0"/>
              </a:spcAft>
              <a:buNone/>
            </a:pPr>
            <a:r>
              <a:rPr i="0" lang="es-PE" sz="2400">
                <a:solidFill>
                  <a:schemeClr val="dk1"/>
                </a:solidFill>
                <a:latin typeface="Roboto"/>
                <a:ea typeface="Roboto"/>
                <a:cs typeface="Roboto"/>
                <a:sym typeface="Roboto"/>
              </a:rPr>
              <a:t>-bin Uzayr, S. (2023). Software Design Patterns: The Ultimate Guide. CRC Press.</a:t>
            </a:r>
            <a:endParaRPr/>
          </a:p>
          <a:p>
            <a:pPr indent="0" lvl="0" marL="12065" marR="5080" rtl="0" algn="l">
              <a:spcBef>
                <a:spcPts val="0"/>
              </a:spcBef>
              <a:spcAft>
                <a:spcPts val="0"/>
              </a:spcAft>
              <a:buNone/>
            </a:pPr>
            <a:r>
              <a:t/>
            </a:r>
            <a:endParaRPr sz="2400">
              <a:solidFill>
                <a:schemeClr val="dk1"/>
              </a:solidFill>
              <a:latin typeface="Arial"/>
              <a:ea typeface="Arial"/>
              <a:cs typeface="Arial"/>
              <a:sym typeface="Arial"/>
            </a:endParaRPr>
          </a:p>
        </p:txBody>
      </p:sp>
      <p:sp>
        <p:nvSpPr>
          <p:cNvPr id="310" name="Google Shape;310;p32"/>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PE"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3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pic>
        <p:nvPicPr>
          <p:cNvPr id="317" name="Google Shape;317;p33"/>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318" name="Google Shape;318;p33"/>
          <p:cNvSpPr txBox="1"/>
          <p:nvPr/>
        </p:nvSpPr>
        <p:spPr>
          <a:xfrm>
            <a:off x="914400" y="2828835"/>
            <a:ext cx="60960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PE" sz="3600">
                <a:solidFill>
                  <a:schemeClr val="dk1"/>
                </a:solidFill>
                <a:latin typeface="Arial"/>
                <a:ea typeface="Arial"/>
                <a:cs typeface="Arial"/>
                <a:sym typeface="Arial"/>
              </a:rPr>
              <a:t>MUCHAS GRACIAS QUE DIOS LOS BENDIGA!!!</a:t>
            </a:r>
            <a:endParaRPr b="1" sz="3600">
              <a:solidFill>
                <a:schemeClr val="dk1"/>
              </a:solidFill>
              <a:latin typeface="Arial"/>
              <a:ea typeface="Arial"/>
              <a:cs typeface="Arial"/>
              <a:sym typeface="Arial"/>
            </a:endParaRPr>
          </a:p>
        </p:txBody>
      </p:sp>
      <p:pic>
        <p:nvPicPr>
          <p:cNvPr id="319" name="Google Shape;319;p33"/>
          <p:cNvPicPr preferRelativeResize="0"/>
          <p:nvPr/>
        </p:nvPicPr>
        <p:blipFill rotWithShape="1">
          <a:blip r:embed="rId4">
            <a:alphaModFix/>
          </a:blip>
          <a:srcRect b="0" l="0" r="0" t="0"/>
          <a:stretch/>
        </p:blipFill>
        <p:spPr>
          <a:xfrm>
            <a:off x="7467600" y="1216152"/>
            <a:ext cx="3056381" cy="442569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grpSp>
        <p:nvGrpSpPr>
          <p:cNvPr id="324" name="Google Shape;324;p34"/>
          <p:cNvGrpSpPr/>
          <p:nvPr/>
        </p:nvGrpSpPr>
        <p:grpSpPr>
          <a:xfrm>
            <a:off x="2057400" y="152400"/>
            <a:ext cx="9906000" cy="4152900"/>
            <a:chOff x="2057400" y="152400"/>
            <a:chExt cx="9906000" cy="4152900"/>
          </a:xfrm>
        </p:grpSpPr>
        <p:pic>
          <p:nvPicPr>
            <p:cNvPr id="325" name="Google Shape;325;p34"/>
            <p:cNvPicPr preferRelativeResize="0"/>
            <p:nvPr/>
          </p:nvPicPr>
          <p:blipFill rotWithShape="1">
            <a:blip r:embed="rId3">
              <a:alphaModFix/>
            </a:blip>
            <a:srcRect b="0" l="0" r="0" t="0"/>
            <a:stretch/>
          </p:blipFill>
          <p:spPr>
            <a:xfrm>
              <a:off x="2057400" y="2552700"/>
              <a:ext cx="7856700" cy="1752600"/>
            </a:xfrm>
            <a:prstGeom prst="rect">
              <a:avLst/>
            </a:prstGeom>
            <a:noFill/>
            <a:ln>
              <a:noFill/>
            </a:ln>
          </p:spPr>
        </p:pic>
        <p:sp>
          <p:nvSpPr>
            <p:cNvPr id="326" name="Google Shape;326;p34"/>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2024-06-11T03:36:57Z</dcterms:created>
  <dc:creator>Julia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