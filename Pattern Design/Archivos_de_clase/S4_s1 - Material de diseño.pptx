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1" r:id="rId32"/>
    <p:sldId id="292" r:id="rId33"/>
    <p:sldId id="293" r:id="rId34"/>
    <p:sldId id="286" r:id="rId35"/>
    <p:sldId id="294" r:id="rId36"/>
    <p:sldId id="295" r:id="rId37"/>
    <p:sldId id="296" r:id="rId38"/>
    <p:sldId id="297" r:id="rId39"/>
    <p:sldId id="287" r:id="rId40"/>
    <p:sldId id="288" r:id="rId41"/>
    <p:sldId id="289" r:id="rId42"/>
    <p:sldId id="290" r:id="rId43"/>
  </p:sldIdLst>
  <p:sldSz cx="12192000" cy="6858000"/>
  <p:notesSz cx="12192000" cy="6858000"/>
  <p:embeddedFontLs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Roboto Medium" panose="020F0502020204030204" pitchFamily="34" charset="0"/>
      <p:regular r:id="rId49"/>
      <p:bold r:id="rId50"/>
      <p:italic r:id="rId51"/>
      <p:boldItalic r:id="rId52"/>
    </p:embeddedFont>
    <p:embeddedFont>
      <p:font typeface="Verdana" panose="020B0604030504040204" pitchFamily="3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hK+wEpF1I+HFkykaWMqWuaLSDP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8A2762-9328-7D44-A9AA-C400893D672E}" v="3" dt="2024-08-28T20:23:00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30"/>
  </p:normalViewPr>
  <p:slideViewPr>
    <p:cSldViewPr snapToGrid="0">
      <p:cViewPr varScale="1">
        <p:scale>
          <a:sx n="87" d="100"/>
          <a:sy n="87" d="100"/>
        </p:scale>
        <p:origin x="100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fredo Guevara" userId="822736fb38a4d5d6" providerId="LiveId" clId="{598A2762-9328-7D44-A9AA-C400893D672E}"/>
    <pc:docChg chg="undo custSel addSld modSld">
      <pc:chgData name="Alfredo Guevara" userId="822736fb38a4d5d6" providerId="LiveId" clId="{598A2762-9328-7D44-A9AA-C400893D672E}" dt="2024-08-28T20:35:09.169" v="131" actId="14100"/>
      <pc:docMkLst>
        <pc:docMk/>
      </pc:docMkLst>
      <pc:sldChg chg="modSp mod">
        <pc:chgData name="Alfredo Guevara" userId="822736fb38a4d5d6" providerId="LiveId" clId="{598A2762-9328-7D44-A9AA-C400893D672E}" dt="2024-08-28T19:15:05.879" v="26" actId="20577"/>
        <pc:sldMkLst>
          <pc:docMk/>
          <pc:sldMk cId="0" sldId="256"/>
        </pc:sldMkLst>
        <pc:spChg chg="mod">
          <ac:chgData name="Alfredo Guevara" userId="822736fb38a4d5d6" providerId="LiveId" clId="{598A2762-9328-7D44-A9AA-C400893D672E}" dt="2024-08-28T19:15:05.879" v="26" actId="20577"/>
          <ac:spMkLst>
            <pc:docMk/>
            <pc:sldMk cId="0" sldId="256"/>
            <ac:spMk id="66" creationId="{00000000-0000-0000-0000-000000000000}"/>
          </ac:spMkLst>
        </pc:spChg>
      </pc:sldChg>
      <pc:sldChg chg="addSp delSp modSp mod">
        <pc:chgData name="Alfredo Guevara" userId="822736fb38a4d5d6" providerId="LiveId" clId="{598A2762-9328-7D44-A9AA-C400893D672E}" dt="2024-08-28T20:11:27.659" v="34" actId="478"/>
        <pc:sldMkLst>
          <pc:docMk/>
          <pc:sldMk cId="0" sldId="257"/>
        </pc:sldMkLst>
        <pc:spChg chg="mod">
          <ac:chgData name="Alfredo Guevara" userId="822736fb38a4d5d6" providerId="LiveId" clId="{598A2762-9328-7D44-A9AA-C400893D672E}" dt="2024-08-28T20:09:19.280" v="27" actId="20577"/>
          <ac:spMkLst>
            <pc:docMk/>
            <pc:sldMk cId="0" sldId="257"/>
            <ac:spMk id="71" creationId="{00000000-0000-0000-0000-000000000000}"/>
          </ac:spMkLst>
        </pc:spChg>
        <pc:picChg chg="add del">
          <ac:chgData name="Alfredo Guevara" userId="822736fb38a4d5d6" providerId="LiveId" clId="{598A2762-9328-7D44-A9AA-C400893D672E}" dt="2024-08-28T20:11:27.659" v="34" actId="478"/>
          <ac:picMkLst>
            <pc:docMk/>
            <pc:sldMk cId="0" sldId="257"/>
            <ac:picMk id="74" creationId="{00000000-0000-0000-0000-000000000000}"/>
          </ac:picMkLst>
        </pc:picChg>
      </pc:sldChg>
      <pc:sldChg chg="addSp delSp modSp mod">
        <pc:chgData name="Alfredo Guevara" userId="822736fb38a4d5d6" providerId="LiveId" clId="{598A2762-9328-7D44-A9AA-C400893D672E}" dt="2024-08-28T20:11:35.966" v="36" actId="14100"/>
        <pc:sldMkLst>
          <pc:docMk/>
          <pc:sldMk cId="0" sldId="258"/>
        </pc:sldMkLst>
        <pc:spChg chg="mod">
          <ac:chgData name="Alfredo Guevara" userId="822736fb38a4d5d6" providerId="LiveId" clId="{598A2762-9328-7D44-A9AA-C400893D672E}" dt="2024-08-28T20:09:38.638" v="29" actId="14100"/>
          <ac:spMkLst>
            <pc:docMk/>
            <pc:sldMk cId="0" sldId="258"/>
            <ac:spMk id="80" creationId="{00000000-0000-0000-0000-000000000000}"/>
          </ac:spMkLst>
        </pc:spChg>
        <pc:spChg chg="del">
          <ac:chgData name="Alfredo Guevara" userId="822736fb38a4d5d6" providerId="LiveId" clId="{598A2762-9328-7D44-A9AA-C400893D672E}" dt="2024-08-28T20:09:42.034" v="30" actId="478"/>
          <ac:spMkLst>
            <pc:docMk/>
            <pc:sldMk cId="0" sldId="258"/>
            <ac:spMk id="82" creationId="{00000000-0000-0000-0000-000000000000}"/>
          </ac:spMkLst>
        </pc:spChg>
        <pc:picChg chg="add mod">
          <ac:chgData name="Alfredo Guevara" userId="822736fb38a4d5d6" providerId="LiveId" clId="{598A2762-9328-7D44-A9AA-C400893D672E}" dt="2024-08-28T20:11:35.966" v="36" actId="14100"/>
          <ac:picMkLst>
            <pc:docMk/>
            <pc:sldMk cId="0" sldId="258"/>
            <ac:picMk id="3" creationId="{0BB30561-97A9-91E0-E00F-343748DA1759}"/>
          </ac:picMkLst>
        </pc:picChg>
      </pc:sldChg>
      <pc:sldChg chg="modSp mod">
        <pc:chgData name="Alfredo Guevara" userId="822736fb38a4d5d6" providerId="LiveId" clId="{598A2762-9328-7D44-A9AA-C400893D672E}" dt="2024-08-28T20:35:09.169" v="131" actId="14100"/>
        <pc:sldMkLst>
          <pc:docMk/>
          <pc:sldMk cId="0" sldId="289"/>
        </pc:sldMkLst>
        <pc:spChg chg="mod">
          <ac:chgData name="Alfredo Guevara" userId="822736fb38a4d5d6" providerId="LiveId" clId="{598A2762-9328-7D44-A9AA-C400893D672E}" dt="2024-08-28T20:35:09.169" v="131" actId="14100"/>
          <ac:spMkLst>
            <pc:docMk/>
            <pc:sldMk cId="0" sldId="289"/>
            <ac:spMk id="366" creationId="{00000000-0000-0000-0000-000000000000}"/>
          </ac:spMkLst>
        </pc:spChg>
      </pc:sldChg>
      <pc:sldChg chg="addSp modSp add mod">
        <pc:chgData name="Alfredo Guevara" userId="822736fb38a4d5d6" providerId="LiveId" clId="{598A2762-9328-7D44-A9AA-C400893D672E}" dt="2024-08-28T20:17:09.043" v="81" actId="14100"/>
        <pc:sldMkLst>
          <pc:docMk/>
          <pc:sldMk cId="1520976135" sldId="291"/>
        </pc:sldMkLst>
        <pc:spChg chg="add mod">
          <ac:chgData name="Alfredo Guevara" userId="822736fb38a4d5d6" providerId="LiveId" clId="{598A2762-9328-7D44-A9AA-C400893D672E}" dt="2024-08-28T20:17:09.043" v="81" actId="14100"/>
          <ac:spMkLst>
            <pc:docMk/>
            <pc:sldMk cId="1520976135" sldId="291"/>
            <ac:spMk id="2" creationId="{2F273023-54AC-0F97-8F3B-8A0E018C2A98}"/>
          </ac:spMkLst>
        </pc:spChg>
        <pc:spChg chg="mod">
          <ac:chgData name="Alfredo Guevara" userId="822736fb38a4d5d6" providerId="LiveId" clId="{598A2762-9328-7D44-A9AA-C400893D672E}" dt="2024-08-28T20:16:19.876" v="75" actId="6549"/>
          <ac:spMkLst>
            <pc:docMk/>
            <pc:sldMk cId="1520976135" sldId="291"/>
            <ac:spMk id="305" creationId="{00000000-0000-0000-0000-000000000000}"/>
          </ac:spMkLst>
        </pc:spChg>
      </pc:sldChg>
      <pc:sldChg chg="modSp add mod">
        <pc:chgData name="Alfredo Guevara" userId="822736fb38a4d5d6" providerId="LiveId" clId="{598A2762-9328-7D44-A9AA-C400893D672E}" dt="2024-08-28T20:18:31.895" v="95" actId="6549"/>
        <pc:sldMkLst>
          <pc:docMk/>
          <pc:sldMk cId="1198326640" sldId="292"/>
        </pc:sldMkLst>
        <pc:spChg chg="mod">
          <ac:chgData name="Alfredo Guevara" userId="822736fb38a4d5d6" providerId="LiveId" clId="{598A2762-9328-7D44-A9AA-C400893D672E}" dt="2024-08-28T20:18:31.895" v="95" actId="6549"/>
          <ac:spMkLst>
            <pc:docMk/>
            <pc:sldMk cId="1198326640" sldId="292"/>
            <ac:spMk id="305" creationId="{00000000-0000-0000-0000-000000000000}"/>
          </ac:spMkLst>
        </pc:spChg>
      </pc:sldChg>
      <pc:sldChg chg="modSp add mod">
        <pc:chgData name="Alfredo Guevara" userId="822736fb38a4d5d6" providerId="LiveId" clId="{598A2762-9328-7D44-A9AA-C400893D672E}" dt="2024-08-28T20:19:42.569" v="97"/>
        <pc:sldMkLst>
          <pc:docMk/>
          <pc:sldMk cId="1607305234" sldId="293"/>
        </pc:sldMkLst>
        <pc:spChg chg="mod">
          <ac:chgData name="Alfredo Guevara" userId="822736fb38a4d5d6" providerId="LiveId" clId="{598A2762-9328-7D44-A9AA-C400893D672E}" dt="2024-08-28T20:19:42.569" v="97"/>
          <ac:spMkLst>
            <pc:docMk/>
            <pc:sldMk cId="1607305234" sldId="293"/>
            <ac:spMk id="305" creationId="{00000000-0000-0000-0000-000000000000}"/>
          </ac:spMkLst>
        </pc:spChg>
      </pc:sldChg>
      <pc:sldChg chg="modSp add mod">
        <pc:chgData name="Alfredo Guevara" userId="822736fb38a4d5d6" providerId="LiveId" clId="{598A2762-9328-7D44-A9AA-C400893D672E}" dt="2024-08-28T20:21:19.864" v="109" actId="255"/>
        <pc:sldMkLst>
          <pc:docMk/>
          <pc:sldMk cId="217587221" sldId="294"/>
        </pc:sldMkLst>
        <pc:spChg chg="mod">
          <ac:chgData name="Alfredo Guevara" userId="822736fb38a4d5d6" providerId="LiveId" clId="{598A2762-9328-7D44-A9AA-C400893D672E}" dt="2024-08-28T20:21:19.864" v="109" actId="255"/>
          <ac:spMkLst>
            <pc:docMk/>
            <pc:sldMk cId="217587221" sldId="294"/>
            <ac:spMk id="312" creationId="{00000000-0000-0000-0000-000000000000}"/>
          </ac:spMkLst>
        </pc:spChg>
      </pc:sldChg>
      <pc:sldChg chg="addSp modSp add mod">
        <pc:chgData name="Alfredo Guevara" userId="822736fb38a4d5d6" providerId="LiveId" clId="{598A2762-9328-7D44-A9AA-C400893D672E}" dt="2024-08-28T20:23:43.166" v="124" actId="255"/>
        <pc:sldMkLst>
          <pc:docMk/>
          <pc:sldMk cId="507950225" sldId="295"/>
        </pc:sldMkLst>
        <pc:spChg chg="add mod">
          <ac:chgData name="Alfredo Guevara" userId="822736fb38a4d5d6" providerId="LiveId" clId="{598A2762-9328-7D44-A9AA-C400893D672E}" dt="2024-08-28T20:23:43.166" v="124" actId="255"/>
          <ac:spMkLst>
            <pc:docMk/>
            <pc:sldMk cId="507950225" sldId="295"/>
            <ac:spMk id="2" creationId="{FBEC51A8-FEF2-C7E8-C3D7-A9D3EABD9348}"/>
          </ac:spMkLst>
        </pc:spChg>
        <pc:spChg chg="mod">
          <ac:chgData name="Alfredo Guevara" userId="822736fb38a4d5d6" providerId="LiveId" clId="{598A2762-9328-7D44-A9AA-C400893D672E}" dt="2024-08-28T20:23:33.369" v="122" actId="255"/>
          <ac:spMkLst>
            <pc:docMk/>
            <pc:sldMk cId="507950225" sldId="295"/>
            <ac:spMk id="312" creationId="{00000000-0000-0000-0000-000000000000}"/>
          </ac:spMkLst>
        </pc:spChg>
      </pc:sldChg>
      <pc:sldChg chg="delSp modSp add mod">
        <pc:chgData name="Alfredo Guevara" userId="822736fb38a4d5d6" providerId="LiveId" clId="{598A2762-9328-7D44-A9AA-C400893D672E}" dt="2024-08-28T20:24:44.676" v="128" actId="478"/>
        <pc:sldMkLst>
          <pc:docMk/>
          <pc:sldMk cId="378719572" sldId="296"/>
        </pc:sldMkLst>
        <pc:spChg chg="del">
          <ac:chgData name="Alfredo Guevara" userId="822736fb38a4d5d6" providerId="LiveId" clId="{598A2762-9328-7D44-A9AA-C400893D672E}" dt="2024-08-28T20:24:44.676" v="128" actId="478"/>
          <ac:spMkLst>
            <pc:docMk/>
            <pc:sldMk cId="378719572" sldId="296"/>
            <ac:spMk id="2" creationId="{FBEC51A8-FEF2-C7E8-C3D7-A9D3EABD9348}"/>
          </ac:spMkLst>
        </pc:spChg>
        <pc:spChg chg="mod">
          <ac:chgData name="Alfredo Guevara" userId="822736fb38a4d5d6" providerId="LiveId" clId="{598A2762-9328-7D44-A9AA-C400893D672E}" dt="2024-08-28T20:24:37.629" v="127"/>
          <ac:spMkLst>
            <pc:docMk/>
            <pc:sldMk cId="378719572" sldId="296"/>
            <ac:spMk id="312" creationId="{00000000-0000-0000-0000-000000000000}"/>
          </ac:spMkLst>
        </pc:spChg>
      </pc:sldChg>
      <pc:sldChg chg="modSp add mod">
        <pc:chgData name="Alfredo Guevara" userId="822736fb38a4d5d6" providerId="LiveId" clId="{598A2762-9328-7D44-A9AA-C400893D672E}" dt="2024-08-28T20:25:38.766" v="130"/>
        <pc:sldMkLst>
          <pc:docMk/>
          <pc:sldMk cId="1293094805" sldId="297"/>
        </pc:sldMkLst>
        <pc:spChg chg="mod">
          <ac:chgData name="Alfredo Guevara" userId="822736fb38a4d5d6" providerId="LiveId" clId="{598A2762-9328-7D44-A9AA-C400893D672E}" dt="2024-08-28T20:25:38.766" v="130"/>
          <ac:spMkLst>
            <pc:docMk/>
            <pc:sldMk cId="1293094805" sldId="297"/>
            <ac:spMk id="3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3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fdfaee476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g2efdfaee4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25848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83789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37805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93568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900914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62318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642609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1734820" y="1015746"/>
            <a:ext cx="8722359" cy="17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body" idx="1"/>
          </p:nvPr>
        </p:nvSpPr>
        <p:spPr>
          <a:xfrm>
            <a:off x="916939" y="1784350"/>
            <a:ext cx="4892675" cy="402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body" idx="2"/>
          </p:nvPr>
        </p:nvSpPr>
        <p:spPr>
          <a:xfrm>
            <a:off x="7660005" y="1784350"/>
            <a:ext cx="3527425" cy="402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Blank">
  <p:cSld name="1_Blank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5"/>
          <p:cNvSpPr/>
          <p:nvPr/>
        </p:nvSpPr>
        <p:spPr>
          <a:xfrm>
            <a:off x="376313" y="348595"/>
            <a:ext cx="3205083" cy="818999"/>
          </a:xfrm>
          <a:custGeom>
            <a:avLst/>
            <a:gdLst/>
            <a:ahLst/>
            <a:cxnLst/>
            <a:rect l="l" t="t" r="r" b="b"/>
            <a:pathLst>
              <a:path w="4305684" h="1165910" extrusionOk="0">
                <a:moveTo>
                  <a:pt x="0" y="0"/>
                </a:moveTo>
                <a:lnTo>
                  <a:pt x="4305684" y="0"/>
                </a:lnTo>
                <a:lnTo>
                  <a:pt x="4305684" y="1165910"/>
                </a:lnTo>
                <a:lnTo>
                  <a:pt x="0" y="1165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37;p35"/>
          <p:cNvGrpSpPr/>
          <p:nvPr/>
        </p:nvGrpSpPr>
        <p:grpSpPr>
          <a:xfrm>
            <a:off x="-9143" y="6005473"/>
            <a:ext cx="12201144" cy="818999"/>
            <a:chOff x="0" y="-47625"/>
            <a:chExt cx="4908254" cy="252121"/>
          </a:xfrm>
        </p:grpSpPr>
        <p:sp>
          <p:nvSpPr>
            <p:cNvPr id="38" name="Google Shape;38;p35"/>
            <p:cNvSpPr/>
            <p:nvPr/>
          </p:nvSpPr>
          <p:spPr>
            <a:xfrm>
              <a:off x="0" y="0"/>
              <a:ext cx="4908254" cy="204496"/>
            </a:xfrm>
            <a:custGeom>
              <a:avLst/>
              <a:gdLst/>
              <a:ahLst/>
              <a:cxnLst/>
              <a:rect l="l" t="t" r="r" b="b"/>
              <a:pathLst>
                <a:path w="4908254" h="204496" extrusionOk="0">
                  <a:moveTo>
                    <a:pt x="0" y="0"/>
                  </a:moveTo>
                  <a:lnTo>
                    <a:pt x="4908254" y="0"/>
                  </a:lnTo>
                  <a:lnTo>
                    <a:pt x="4908254" y="204496"/>
                  </a:lnTo>
                  <a:lnTo>
                    <a:pt x="0" y="204496"/>
                  </a:lnTo>
                  <a:close/>
                </a:path>
              </a:pathLst>
            </a:custGeom>
            <a:solidFill>
              <a:srgbClr val="343434">
                <a:alpha val="7725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5"/>
            <p:cNvSpPr txBox="1"/>
            <p:nvPr/>
          </p:nvSpPr>
          <p:spPr>
            <a:xfrm>
              <a:off x="0" y="-47625"/>
              <a:ext cx="4908254" cy="2521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2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40;p35"/>
          <p:cNvCxnSpPr/>
          <p:nvPr/>
        </p:nvCxnSpPr>
        <p:spPr>
          <a:xfrm>
            <a:off x="9829800" y="450317"/>
            <a:ext cx="0" cy="59118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35"/>
          <p:cNvSpPr txBox="1"/>
          <p:nvPr/>
        </p:nvSpPr>
        <p:spPr>
          <a:xfrm>
            <a:off x="9982200" y="450317"/>
            <a:ext cx="1854823" cy="59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3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FACULTADAD DE INGENIERÍA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9"/>
          <p:cNvSpPr txBox="1">
            <a:spLocks noGrp="1"/>
          </p:cNvSpPr>
          <p:nvPr>
            <p:ph type="dt" idx="10"/>
          </p:nvPr>
        </p:nvSpPr>
        <p:spPr>
          <a:xfrm>
            <a:off x="609600" y="6500835"/>
            <a:ext cx="2844800" cy="22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ftr" idx="11"/>
          </p:nvPr>
        </p:nvSpPr>
        <p:spPr>
          <a:xfrm>
            <a:off x="4165600" y="6500835"/>
            <a:ext cx="3860800" cy="22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sldNum" idx="12"/>
          </p:nvPr>
        </p:nvSpPr>
        <p:spPr>
          <a:xfrm>
            <a:off x="8737600" y="6500835"/>
            <a:ext cx="2844800" cy="22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1"/>
          </p:nvPr>
        </p:nvSpPr>
        <p:spPr>
          <a:xfrm>
            <a:off x="527382" y="1268760"/>
            <a:ext cx="11203367" cy="4881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  <a:defRPr sz="1600" i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  <a:defRPr sz="1600" i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  <a:defRPr sz="1600" i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  <a:defRPr sz="1600" i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  <a:defRPr sz="1600" i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title"/>
          </p:nvPr>
        </p:nvSpPr>
        <p:spPr>
          <a:xfrm>
            <a:off x="527381" y="116632"/>
            <a:ext cx="10214928" cy="79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500"/>
              <a:buFont typeface="Calibri"/>
              <a:buNone/>
              <a:defRPr sz="2500" b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>
  <p:cSld name="구역 머리글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title"/>
          </p:nvPr>
        </p:nvSpPr>
        <p:spPr>
          <a:xfrm>
            <a:off x="911424" y="263691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cap="none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59" name="Google Shape;5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>
            <a:spLocks noGrp="1"/>
          </p:cNvSpPr>
          <p:nvPr>
            <p:ph type="ctrTitle"/>
          </p:nvPr>
        </p:nvSpPr>
        <p:spPr>
          <a:xfrm>
            <a:off x="1734819" y="2720377"/>
            <a:ext cx="8722359" cy="111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200" rIns="0" bIns="0" anchor="t" anchorCtr="0">
            <a:spAutoFit/>
          </a:bodyPr>
          <a:lstStyle/>
          <a:p>
            <a:pPr marL="3268979" marR="5080" lvl="0" indent="-3253104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1788" y="370720"/>
            <a:ext cx="4828423" cy="107708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"/>
          <p:cNvSpPr txBox="1"/>
          <p:nvPr/>
        </p:nvSpPr>
        <p:spPr>
          <a:xfrm>
            <a:off x="7394892" y="5872928"/>
            <a:ext cx="6096000" cy="65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 dirty="0">
                <a:solidFill>
                  <a:srgbClr val="D1052D"/>
                </a:solidFill>
                <a:latin typeface="Arial"/>
                <a:ea typeface="Arial"/>
                <a:cs typeface="Arial"/>
                <a:sym typeface="Arial"/>
              </a:rPr>
              <a:t>DOCENTE:</a:t>
            </a:r>
            <a:endParaRPr sz="1800" b="1" i="0" u="none" strike="noStrike" cap="none" dirty="0">
              <a:solidFill>
                <a:srgbClr val="D1052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Equipo Docente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699506" y="792085"/>
            <a:ext cx="811531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 b="1" i="0" u="none" strike="noStrike" cap="none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MOTIVACIÓN: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238087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"/>
          <p:cNvSpPr txBox="1"/>
          <p:nvPr/>
        </p:nvSpPr>
        <p:spPr>
          <a:xfrm>
            <a:off x="601970" y="1787577"/>
            <a:ext cx="6188974" cy="4085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67359" marR="5080" lvl="0" indent="-334010" algn="just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estudiante dirá una frase para crear una historia en 	conjunto.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5080" lvl="0" indent="-334010" algn="just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alumno que diga la primera frase deberá señalar a un 	compañero que continuará la historia; si no conoce sus 	nombres, puede señalar un color de prenda. (“Continúa 	mi compañero con polo verde”).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8255" lvl="0" indent="-334010" algn="just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historia inicia así: </a:t>
            </a:r>
            <a:r>
              <a:rPr lang="es-ES" sz="18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“En los montes de la selva peruana, 	existía…”</a:t>
            </a: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</a:pPr>
            <a:r>
              <a:rPr lang="es-ES" sz="18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Consigna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5080" lvl="0" indent="-334010" algn="just" rtl="0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Debes hacer lo posible por mantener coherencia con la 	historia.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265" marR="0" lvl="0" indent="-335915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Tienes total libertad creativa, ¡deja volar tu imaginación!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3556" y="2025485"/>
            <a:ext cx="4166474" cy="3333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/>
        </p:nvSpPr>
        <p:spPr>
          <a:xfrm>
            <a:off x="3266766" y="155037"/>
            <a:ext cx="673264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CONOCIMIENTOS PREVIOS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519" y="155037"/>
            <a:ext cx="2483508" cy="55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BB30561-97A9-91E0-E00F-343748DA1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3348"/>
            <a:ext cx="12192000" cy="59091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8022" y="332656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 txBox="1">
            <a:spLocks noGrp="1"/>
          </p:cNvSpPr>
          <p:nvPr>
            <p:ph type="title" idx="4294967295"/>
          </p:nvPr>
        </p:nvSpPr>
        <p:spPr>
          <a:xfrm rot="625">
            <a:off x="548640" y="1560077"/>
            <a:ext cx="3384550" cy="142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latin typeface="Roboto Medium"/>
                <a:ea typeface="Roboto Medium"/>
                <a:cs typeface="Roboto Medium"/>
                <a:sym typeface="Roboto Medium"/>
              </a:rPr>
              <a:t>LOGRO DE LA SESIÓN</a:t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5103258" y="2362200"/>
            <a:ext cx="6098344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 finalizar la unidad el participante identifica los principios de diseño de los patrones de software para la solución de problemas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8022" y="332656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 txBox="1">
            <a:spLocks noGrp="1"/>
          </p:cNvSpPr>
          <p:nvPr>
            <p:ph type="title" idx="4294967295"/>
          </p:nvPr>
        </p:nvSpPr>
        <p:spPr>
          <a:xfrm rot="625">
            <a:off x="234584" y="1925918"/>
            <a:ext cx="5105439" cy="142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latin typeface="Roboto Medium"/>
                <a:ea typeface="Roboto Medium"/>
                <a:cs typeface="Roboto Medium"/>
                <a:sym typeface="Roboto Medium"/>
              </a:rPr>
              <a:t>IMPORTANCIA DE LA SESIÓN</a:t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6324600" y="2178576"/>
            <a:ext cx="5349240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aplicación de los patrones de software a permitirá solucionar los problemas habituales de software planteados.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2efdfaee476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54597" y="332656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2efdfaee476_0_0"/>
          <p:cNvSpPr txBox="1"/>
          <p:nvPr/>
        </p:nvSpPr>
        <p:spPr>
          <a:xfrm>
            <a:off x="744862" y="1505273"/>
            <a:ext cx="10893243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1" i="0" u="none" strike="noStrike" cap="none">
                <a:solidFill>
                  <a:srgbClr val="D1052D"/>
                </a:solidFill>
                <a:latin typeface="Arial"/>
                <a:ea typeface="Arial"/>
                <a:cs typeface="Arial"/>
                <a:sym typeface="Arial"/>
              </a:rPr>
              <a:t>TEMA 1:</a:t>
            </a:r>
            <a:endParaRPr/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D1052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Introducción a los Patrones, Concepto,Historia.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Patrones arquitectónicos vs Patrones de Diseño.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Patrones GOF: Beneficios, cuando y como usarlos.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Clasificación según propósito: creaciones, estructurales y comportamiento.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Especificación de Patrones de Diseño.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8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09" name="Google Shape;109;p8"/>
          <p:cNvSpPr txBox="1"/>
          <p:nvPr/>
        </p:nvSpPr>
        <p:spPr>
          <a:xfrm>
            <a:off x="336804" y="1271785"/>
            <a:ext cx="81823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Introducción a los patrones</a:t>
            </a:r>
            <a:endParaRPr sz="360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"/>
          <p:cNvSpPr txBox="1"/>
          <p:nvPr/>
        </p:nvSpPr>
        <p:spPr>
          <a:xfrm>
            <a:off x="765048" y="2904844"/>
            <a:ext cx="4820412" cy="19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508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 Que es un Patrón?</a:t>
            </a:r>
            <a:endParaRPr/>
          </a:p>
          <a:p>
            <a:pPr marL="12700" marR="5080" lvl="0" indent="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patrón es una solución a un problema en un contexto</a:t>
            </a:r>
            <a:endParaRPr/>
          </a:p>
        </p:txBody>
      </p:sp>
      <p:pic>
        <p:nvPicPr>
          <p:cNvPr id="111" name="Google Shape;111;p8" descr="C:\Users\pc\AppData\Local\Temp\SNAGHTML36e7df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0023" y="2392063"/>
            <a:ext cx="3719260" cy="33676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8"/>
          <p:cNvCxnSpPr/>
          <p:nvPr/>
        </p:nvCxnSpPr>
        <p:spPr>
          <a:xfrm>
            <a:off x="6632448" y="2392063"/>
            <a:ext cx="0" cy="3594209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19" name="Google Shape;119;p7"/>
          <p:cNvSpPr txBox="1"/>
          <p:nvPr/>
        </p:nvSpPr>
        <p:spPr>
          <a:xfrm>
            <a:off x="336804" y="1573553"/>
            <a:ext cx="81823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Introducción a patrones</a:t>
            </a:r>
            <a:endParaRPr sz="360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503441" y="2352950"/>
            <a:ext cx="11227308" cy="280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508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 Que es un Patrón diseño?</a:t>
            </a:r>
            <a:endParaRPr/>
          </a:p>
          <a:p>
            <a:pPr marL="12700" marR="5080" lvl="0" indent="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soluciones reutilizables a problemas comunes en el desarrollo de software. Proporcionan una manera estandarizada de resolver problemas que se presentan frecuentemente en el diseño de sistemas, promoviendo buenas prácticas y facilitando la comunicación entre desarrolladores.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6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27" name="Google Shape;127;p36"/>
          <p:cNvSpPr txBox="1"/>
          <p:nvPr/>
        </p:nvSpPr>
        <p:spPr>
          <a:xfrm>
            <a:off x="367284" y="1139976"/>
            <a:ext cx="81823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Introducción a patrones</a:t>
            </a:r>
            <a:endParaRPr sz="360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6"/>
          <p:cNvSpPr txBox="1"/>
          <p:nvPr/>
        </p:nvSpPr>
        <p:spPr>
          <a:xfrm>
            <a:off x="501396" y="2050138"/>
            <a:ext cx="10436352" cy="5220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Historia: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1970s: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 concepto de patrones se popularizó con el libro </a:t>
            </a:r>
            <a:r>
              <a:rPr lang="es-ES" sz="2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 </a:t>
            </a:r>
            <a:r>
              <a:rPr lang="es-ES" sz="2400" b="0" i="1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Pattern</a:t>
            </a:r>
            <a:r>
              <a:rPr lang="es-ES" sz="2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400" b="0" i="1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r>
              <a:rPr lang="es-ES" sz="2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Christopher Alexander, que aplicó patrones a la arquitectura y el urbanismo.</a:t>
            </a:r>
            <a:endParaRPr dirty="0"/>
          </a:p>
          <a:p>
            <a:pPr marL="34290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1994: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s-ES" sz="2400" b="0" i="1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r>
              <a:rPr lang="es-ES" sz="2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400" b="0" i="1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r>
              <a:rPr lang="es-ES" sz="2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-ES" sz="2400" b="0" i="1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Elements</a:t>
            </a:r>
            <a:r>
              <a:rPr lang="es-ES" sz="2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400" b="0" i="1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es-ES" sz="2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Reusable </a:t>
            </a:r>
            <a:r>
              <a:rPr lang="es-ES" sz="2400" b="0" i="1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Object-Oriented</a:t>
            </a:r>
            <a:r>
              <a:rPr lang="es-ES" sz="2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Software"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por Erich Gamma, Richard Helm, Ralph Johnson y John </a:t>
            </a:r>
            <a:r>
              <a:rPr lang="es-E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Vlissides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conocidos como los "</a:t>
            </a:r>
            <a:r>
              <a:rPr lang="es-E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Gang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Four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 (GOF), adaptó los patrones a la programación orientada a objetos, estableciendo una base para los patrones de diseño en software.</a:t>
            </a:r>
            <a:endParaRPr dirty="0"/>
          </a:p>
          <a:p>
            <a:pPr marL="355600" marR="5080" lvl="0" indent="-34290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12700" marR="5080" lvl="0" indent="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7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35" name="Google Shape;135;p37"/>
          <p:cNvSpPr txBox="1"/>
          <p:nvPr/>
        </p:nvSpPr>
        <p:spPr>
          <a:xfrm>
            <a:off x="336804" y="1238273"/>
            <a:ext cx="81823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Introducción a patrones</a:t>
            </a:r>
            <a:endParaRPr sz="360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85460" y="2365507"/>
            <a:ext cx="5999163" cy="388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7"/>
          <p:cNvSpPr txBox="1"/>
          <p:nvPr/>
        </p:nvSpPr>
        <p:spPr>
          <a:xfrm>
            <a:off x="606169" y="2560935"/>
            <a:ext cx="4979289" cy="3659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508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1994 apareció el libro Design Patterns: Elements of Reusable Object Oriented Software, escrito por los ahora famosos Gang of Four (GOF) </a:t>
            </a:r>
            <a:endParaRPr/>
          </a:p>
          <a:p>
            <a:pPr marL="12700" marR="5080" lvl="0" indent="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E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Gof: Erich Gamma, richard Helm, Ralph Johnson y John Vlissides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8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44" name="Google Shape;144;p38"/>
          <p:cNvSpPr txBox="1"/>
          <p:nvPr/>
        </p:nvSpPr>
        <p:spPr>
          <a:xfrm>
            <a:off x="367284" y="1250387"/>
            <a:ext cx="81823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Los patrones Pretenden</a:t>
            </a:r>
            <a:endParaRPr/>
          </a:p>
        </p:txBody>
      </p:sp>
      <p:sp>
        <p:nvSpPr>
          <p:cNvPr id="145" name="Google Shape;145;p38"/>
          <p:cNvSpPr txBox="1"/>
          <p:nvPr/>
        </p:nvSpPr>
        <p:spPr>
          <a:xfrm>
            <a:off x="505968" y="2069355"/>
            <a:ext cx="10436352" cy="457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508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Proporcionar catálogos de elementos reusables en el diseño de sistemas software</a:t>
            </a:r>
            <a:endParaRPr/>
          </a:p>
          <a:p>
            <a:pPr marL="355600" marR="5080" lvl="0" indent="-34290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Evitar la reiteración en la búsqueda de soluciones a problemas ya conocidos y solucionados anteriormente.</a:t>
            </a:r>
            <a:endParaRPr/>
          </a:p>
          <a:p>
            <a:pPr marL="355600" marR="5080" lvl="0" indent="-34290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Formalizar un vocabulario común entre diseñadores.</a:t>
            </a:r>
            <a:endParaRPr/>
          </a:p>
          <a:p>
            <a:pPr marL="355600" marR="5080" lvl="0" indent="-34290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Estandarizar el modelo en que se realiza el diseño</a:t>
            </a:r>
            <a:endParaRPr/>
          </a:p>
          <a:p>
            <a:pPr marL="355600" marR="5080" lvl="0" indent="-34290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Facilitar el aprendizaje de las nuevas generaciones de diseñadores condensando conocimiento existente.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9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52" name="Google Shape;152;p39"/>
          <p:cNvSpPr txBox="1"/>
          <p:nvPr/>
        </p:nvSpPr>
        <p:spPr>
          <a:xfrm>
            <a:off x="336804" y="1238273"/>
            <a:ext cx="81823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Los patrones NO pretenden</a:t>
            </a:r>
            <a:endParaRPr/>
          </a:p>
        </p:txBody>
      </p:sp>
      <p:sp>
        <p:nvSpPr>
          <p:cNvPr id="153" name="Google Shape;153;p39"/>
          <p:cNvSpPr txBox="1"/>
          <p:nvPr/>
        </p:nvSpPr>
        <p:spPr>
          <a:xfrm>
            <a:off x="606169" y="2393295"/>
            <a:ext cx="10061831" cy="3711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508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s-E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Imponer ciertas alternativas de diseño frente a otras.</a:t>
            </a:r>
            <a:endParaRPr/>
          </a:p>
          <a:p>
            <a:pPr marL="355600" marR="5080" lvl="0" indent="-34290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s-E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Eliminar la creatividad inherente al proceso de diseño</a:t>
            </a:r>
            <a:endParaRPr/>
          </a:p>
          <a:p>
            <a:pPr marL="12700" marR="5080" lvl="0" indent="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E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es obligatorio utilizar los patrones</a:t>
            </a:r>
            <a:endParaRPr/>
          </a:p>
          <a:p>
            <a:pPr marL="12700" marR="5080" lvl="0" indent="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E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aconsejable en el caso de tener el mismo problema o similar que soluciona el patron.</a:t>
            </a:r>
            <a:endParaRPr/>
          </a:p>
          <a:p>
            <a:pPr marL="12700" marR="5080" lvl="0" indent="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E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Abusar o forzar el uso de los patrones puede ser un error.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0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60" name="Google Shape;160;p40"/>
          <p:cNvSpPr txBox="1"/>
          <p:nvPr/>
        </p:nvSpPr>
        <p:spPr>
          <a:xfrm>
            <a:off x="336804" y="1238273"/>
            <a:ext cx="81823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¿ Por que debo usar patrones?</a:t>
            </a:r>
            <a:endParaRPr/>
          </a:p>
        </p:txBody>
      </p:sp>
      <p:sp>
        <p:nvSpPr>
          <p:cNvPr id="161" name="Google Shape;161;p40"/>
          <p:cNvSpPr txBox="1"/>
          <p:nvPr/>
        </p:nvSpPr>
        <p:spPr>
          <a:xfrm>
            <a:off x="606169" y="2158288"/>
            <a:ext cx="10061831" cy="3995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508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patrones de diseño son soluciones bien pensadas a problemas conocidos de programación.</a:t>
            </a:r>
            <a:endParaRPr/>
          </a:p>
          <a:p>
            <a:pPr marL="355600" marR="5080" lvl="0" indent="-34290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Muchos programadores han padecido de estos problemas antes y han utilizado estas Soluciones para ponerles remedio</a:t>
            </a:r>
            <a:endParaRPr/>
          </a:p>
          <a:p>
            <a:pPr marL="355600" marR="5080" lvl="0" indent="-34290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reinventar la rueda.</a:t>
            </a:r>
            <a:endParaRPr/>
          </a:p>
        </p:txBody>
      </p:sp>
      <p:pic>
        <p:nvPicPr>
          <p:cNvPr id="162" name="Google Shape;162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91563" y="4116357"/>
            <a:ext cx="3195066" cy="2543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41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69" name="Google Shape;169;p41"/>
          <p:cNvSpPr txBox="1"/>
          <p:nvPr/>
        </p:nvSpPr>
        <p:spPr>
          <a:xfrm>
            <a:off x="336804" y="1323617"/>
            <a:ext cx="111846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Patrones Arquitectónicos VS Patrones de Diseño </a:t>
            </a:r>
            <a:endParaRPr/>
          </a:p>
        </p:txBody>
      </p:sp>
      <p:sp>
        <p:nvSpPr>
          <p:cNvPr id="170" name="Google Shape;170;p41"/>
          <p:cNvSpPr txBox="1"/>
          <p:nvPr/>
        </p:nvSpPr>
        <p:spPr>
          <a:xfrm>
            <a:off x="438912" y="2407318"/>
            <a:ext cx="11291837" cy="366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Patrones Arquitectónicos: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centran en la estructura global de un sistema y cómo sus componentes interactúan.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Modelo-Vista-Controlador (MVC), Arquitectura en Capas.</a:t>
            </a:r>
            <a:endParaRPr/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Definen la organización general y la distribución de las responsabilidades en un sistema.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42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77" name="Google Shape;177;p42"/>
          <p:cNvSpPr txBox="1"/>
          <p:nvPr/>
        </p:nvSpPr>
        <p:spPr>
          <a:xfrm>
            <a:off x="336804" y="1323617"/>
            <a:ext cx="111846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Patrones Arquitectónicos VS Patrones de Diseño </a:t>
            </a:r>
            <a:endParaRPr/>
          </a:p>
        </p:txBody>
      </p:sp>
      <p:sp>
        <p:nvSpPr>
          <p:cNvPr id="178" name="Google Shape;178;p42"/>
          <p:cNvSpPr txBox="1"/>
          <p:nvPr/>
        </p:nvSpPr>
        <p:spPr>
          <a:xfrm>
            <a:off x="438912" y="2407318"/>
            <a:ext cx="11291837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Patrones de Diseño: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Abordan problemas más específicos en el diseño de clases y objetos, ayudando a diseñar sistemas modulares y reutilizables.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Singleton, Factory Method, Observer.</a:t>
            </a:r>
            <a:endParaRPr/>
          </a:p>
          <a:p>
            <a:pPr marL="2857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Proporcionan soluciones a problemas recurrentes en el diseño de software.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3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85" name="Google Shape;185;p43"/>
          <p:cNvSpPr txBox="1"/>
          <p:nvPr/>
        </p:nvSpPr>
        <p:spPr>
          <a:xfrm>
            <a:off x="438912" y="1142480"/>
            <a:ext cx="115625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Patrones GOF (Gang of Four): </a:t>
            </a:r>
            <a:endParaRPr/>
          </a:p>
        </p:txBody>
      </p:sp>
      <p:sp>
        <p:nvSpPr>
          <p:cNvPr id="186" name="Google Shape;186;p43"/>
          <p:cNvSpPr txBox="1"/>
          <p:nvPr/>
        </p:nvSpPr>
        <p:spPr>
          <a:xfrm>
            <a:off x="450081" y="2025908"/>
            <a:ext cx="11291837" cy="483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una colección de 23 patrones de diseño orientados a objetos, documentados en el libro "Design Patterns: Elements of Reusable Object-Oriented Software" por Erich Gamma, Richard Helm, Ralph Johnson y John Vlissides. 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Estos patrones ofrecen soluciones estandarizadas y reutilizables para problemas comunes en el diseño de software, mejorando la eficiencia y mantenibilidad del código. 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dividen en tres categorías: Creacionales, Estructurales y de Comportamiento.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44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93" name="Google Shape;193;p44"/>
          <p:cNvSpPr txBox="1"/>
          <p:nvPr/>
        </p:nvSpPr>
        <p:spPr>
          <a:xfrm>
            <a:off x="438912" y="1142480"/>
            <a:ext cx="115625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Patrones GOF (Gang of Four): Colección </a:t>
            </a:r>
            <a:endParaRPr/>
          </a:p>
        </p:txBody>
      </p:sp>
      <p:sp>
        <p:nvSpPr>
          <p:cNvPr id="194" name="Google Shape;194;p44"/>
          <p:cNvSpPr txBox="1"/>
          <p:nvPr/>
        </p:nvSpPr>
        <p:spPr>
          <a:xfrm>
            <a:off x="438912" y="1873508"/>
            <a:ext cx="11291837" cy="483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Patrones Creacionales: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Abordan la creación de objetos.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Singleton: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Asegura que una clase tenga una única instancia.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Factory Method: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Define una interfaz para crear un objeto, pero permite a las subclases decidir qué clase instanciar.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Abstract Factory: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Proporciona una interfaz para crear familias de objetos relacionados.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Builder: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Separa la construcción de un objeto complejo de su representación.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Prototype: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 crear nuevos objetos copiando una instancia existente.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45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01" name="Google Shape;201;p45"/>
          <p:cNvSpPr txBox="1"/>
          <p:nvPr/>
        </p:nvSpPr>
        <p:spPr>
          <a:xfrm>
            <a:off x="314706" y="812155"/>
            <a:ext cx="115625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Patrones GOF (Gang of Four): Colección </a:t>
            </a:r>
            <a:endParaRPr/>
          </a:p>
        </p:txBody>
      </p:sp>
      <p:sp>
        <p:nvSpPr>
          <p:cNvPr id="202" name="Google Shape;202;p45"/>
          <p:cNvSpPr txBox="1"/>
          <p:nvPr/>
        </p:nvSpPr>
        <p:spPr>
          <a:xfrm>
            <a:off x="190500" y="1458486"/>
            <a:ext cx="11291837" cy="5463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AutoNum type="arabicPeriod" startAt="2"/>
            </a:pPr>
            <a:r>
              <a:rPr lang="es-E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Patrones Estructurales:</a:t>
            </a: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Abordan la composición de clases y objetos.</a:t>
            </a:r>
            <a:endParaRPr/>
          </a:p>
          <a:p>
            <a:pPr marL="51435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1700" marR="0" lvl="4" indent="-279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s-E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Adapter:</a:t>
            </a: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 que clases con interfaces incompatibles trabajen juntas.</a:t>
            </a:r>
            <a:endParaRPr/>
          </a:p>
          <a:p>
            <a:pPr marL="901700" marR="0" lvl="4" indent="-279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s-E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Bridge:</a:t>
            </a: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Desacopla una abstracción de su implementación.</a:t>
            </a:r>
            <a:endParaRPr/>
          </a:p>
          <a:p>
            <a:pPr marL="901700" marR="0" lvl="4" indent="-279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s-E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Composite:</a:t>
            </a: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Compone objetos en estructuras de árbol para representar jerarquías.</a:t>
            </a:r>
            <a:endParaRPr/>
          </a:p>
          <a:p>
            <a:pPr marL="901700" marR="0" lvl="4" indent="-279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s-E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Decorator:</a:t>
            </a: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Añade responsabilidades a objetos de manera dinámica.</a:t>
            </a:r>
            <a:endParaRPr/>
          </a:p>
          <a:p>
            <a:pPr marL="901700" marR="0" lvl="4" indent="-279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s-E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Facade:</a:t>
            </a: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Proporciona una interfaz simplificada a un subsistema complejo.</a:t>
            </a:r>
            <a:endParaRPr/>
          </a:p>
          <a:p>
            <a:pPr marL="901700" marR="0" lvl="4" indent="-279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s-E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Flyweight:</a:t>
            </a: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Usa el compartimiento para soportar un gran número de objetos de grano fino de manera eficiente.</a:t>
            </a:r>
            <a:endParaRPr/>
          </a:p>
          <a:p>
            <a:pPr marL="901700" marR="0" lvl="4" indent="-279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s-E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Proxy:</a:t>
            </a: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Proporciona un sustituto o marcador de posición para otro objeto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6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09" name="Google Shape;209;p46"/>
          <p:cNvSpPr txBox="1"/>
          <p:nvPr/>
        </p:nvSpPr>
        <p:spPr>
          <a:xfrm>
            <a:off x="314706" y="812155"/>
            <a:ext cx="115625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Patrones GOF (Gang of Four): Colección </a:t>
            </a:r>
            <a:endParaRPr/>
          </a:p>
        </p:txBody>
      </p:sp>
      <p:sp>
        <p:nvSpPr>
          <p:cNvPr id="210" name="Google Shape;210;p46"/>
          <p:cNvSpPr txBox="1"/>
          <p:nvPr/>
        </p:nvSpPr>
        <p:spPr>
          <a:xfrm>
            <a:off x="166116" y="1458486"/>
            <a:ext cx="11291837" cy="535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eriod" startAt="3"/>
            </a:pPr>
            <a:r>
              <a:rPr lang="es-E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Patrones de Comportamiento:</a:t>
            </a: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Abordan la comunicación entre objetos.</a:t>
            </a:r>
            <a:endParaRPr/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1700" marR="0" lvl="0" indent="-365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s-E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Chain of Responsibility:</a:t>
            </a: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 que más de un objeto maneje una petición.</a:t>
            </a:r>
            <a:endParaRPr/>
          </a:p>
          <a:p>
            <a:pPr marL="901700" marR="0" lvl="0" indent="-365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s-E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Command:</a:t>
            </a: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Encapsula una petición como un objeto.</a:t>
            </a:r>
            <a:endParaRPr/>
          </a:p>
          <a:p>
            <a:pPr marL="901700" marR="0" lvl="0" indent="-365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s-E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Interpreter:</a:t>
            </a: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Define una representación para una gramática y un intérprete para el lenguaje.</a:t>
            </a:r>
            <a:endParaRPr/>
          </a:p>
          <a:p>
            <a:pPr marL="901700" marR="0" lvl="0" indent="-365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s-E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Iterator:</a:t>
            </a: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Proporciona una forma de acceder a los elementos de un objeto agregado secuencialmente sin exponer su representación subyacente.</a:t>
            </a:r>
            <a:endParaRPr/>
          </a:p>
          <a:p>
            <a:pPr marL="901700" marR="0" lvl="0" indent="-365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s-E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Mediator:</a:t>
            </a: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Define un objeto que encapsula cómo interactúan un conjunto de objetos.</a:t>
            </a:r>
            <a:endParaRPr/>
          </a:p>
          <a:p>
            <a:pPr marL="901700" marR="0" lvl="0" indent="-365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s-E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Memento:</a:t>
            </a: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Captura y externaliza el estado interno de un objeto sin violar su encapsulamiento.</a:t>
            </a:r>
            <a:endParaRPr/>
          </a:p>
          <a:p>
            <a:pPr marL="901700" marR="0" lvl="0" indent="-365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s-E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Observer:</a:t>
            </a: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Define una dependencia uno a muchos entre objetos para que cuando un objeto cambie de estado, todos sus dependientes sean notificados y actualizados automáticamente.</a:t>
            </a:r>
            <a:endParaRPr/>
          </a:p>
          <a:p>
            <a:pPr marL="901700" marR="0" lvl="0" indent="-365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s-E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State:</a:t>
            </a: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 que un objeto altere su comportamiento cuando su estado interno cambia.</a:t>
            </a:r>
            <a:endParaRPr/>
          </a:p>
          <a:p>
            <a:pPr marL="901700" marR="0" lvl="0" indent="-365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s-E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Strategy:</a:t>
            </a: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Define una familia de algoritmos, encapsula cada uno de ellos y los hace intercambiables.</a:t>
            </a:r>
            <a:endParaRPr/>
          </a:p>
          <a:p>
            <a:pPr marL="901700" marR="0" lvl="0" indent="-365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s-E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 Method:</a:t>
            </a: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Define el esqueleto de un algoritmo en una operación, diferiendo algunos pasos a subclases.</a:t>
            </a:r>
            <a:endParaRPr/>
          </a:p>
          <a:p>
            <a:pPr marL="901700" marR="0" lvl="0" indent="-365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s-ES"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Visitor:</a:t>
            </a: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Representa una operación que se realizará en los elementos de una estructura de objeto.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7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17" name="Google Shape;217;p47"/>
          <p:cNvSpPr txBox="1"/>
          <p:nvPr/>
        </p:nvSpPr>
        <p:spPr>
          <a:xfrm>
            <a:off x="336804" y="1323617"/>
            <a:ext cx="115625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Patrones GOF: Beneficios</a:t>
            </a:r>
            <a:endParaRPr/>
          </a:p>
        </p:txBody>
      </p:sp>
      <p:sp>
        <p:nvSpPr>
          <p:cNvPr id="218" name="Google Shape;218;p47"/>
          <p:cNvSpPr txBox="1"/>
          <p:nvPr/>
        </p:nvSpPr>
        <p:spPr>
          <a:xfrm>
            <a:off x="438912" y="2407318"/>
            <a:ext cx="11291837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Reutilización: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Proporcionan soluciones probadas y reutilizables.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Mantenibilidad: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Facilitan el mantenimiento y la evolución del código.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Comunicación: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Mejoran la comunicación entre desarrolladores al usar un lenguaje común para describir soluciones.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8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25" name="Google Shape;225;p48"/>
          <p:cNvSpPr txBox="1"/>
          <p:nvPr/>
        </p:nvSpPr>
        <p:spPr>
          <a:xfrm>
            <a:off x="336804" y="1323617"/>
            <a:ext cx="115625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Patrones GOF: Beneficios</a:t>
            </a:r>
            <a:endParaRPr/>
          </a:p>
        </p:txBody>
      </p:sp>
      <p:sp>
        <p:nvSpPr>
          <p:cNvPr id="226" name="Google Shape;226;p48"/>
          <p:cNvSpPr txBox="1"/>
          <p:nvPr/>
        </p:nvSpPr>
        <p:spPr>
          <a:xfrm>
            <a:off x="438912" y="2407318"/>
            <a:ext cx="11291837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Reutilización: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Proporcionan soluciones probadas y reutilizables.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Mantenibilidad: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Facilitan el mantenimiento y la evolución del código.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Comunicación: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Mejoran la comunicación entre desarrolladores al usar un lenguaje común para describir soluciones.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9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33" name="Google Shape;233;p49"/>
          <p:cNvSpPr txBox="1"/>
          <p:nvPr/>
        </p:nvSpPr>
        <p:spPr>
          <a:xfrm>
            <a:off x="336804" y="1323617"/>
            <a:ext cx="115625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Patrones GOF: Cuando Usarlos</a:t>
            </a:r>
            <a:endParaRPr/>
          </a:p>
        </p:txBody>
      </p:sp>
      <p:sp>
        <p:nvSpPr>
          <p:cNvPr id="234" name="Google Shape;234;p49"/>
          <p:cNvSpPr txBox="1"/>
          <p:nvPr/>
        </p:nvSpPr>
        <p:spPr>
          <a:xfrm>
            <a:off x="705091" y="2760886"/>
            <a:ext cx="10279901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Cuando se enfrentan a problemas recurrentes en el diseño de software.</a:t>
            </a:r>
            <a:endParaRPr/>
          </a:p>
          <a:p>
            <a:pPr marL="457200" marR="0" lvl="0" indent="-254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Cuando se busca una solución estandarizada y comprobada para un problema específico.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50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41" name="Google Shape;241;p50"/>
          <p:cNvSpPr txBox="1"/>
          <p:nvPr/>
        </p:nvSpPr>
        <p:spPr>
          <a:xfrm>
            <a:off x="446532" y="1364756"/>
            <a:ext cx="115625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Patrones GOF: Como Usarlos</a:t>
            </a:r>
            <a:endParaRPr/>
          </a:p>
        </p:txBody>
      </p:sp>
      <p:sp>
        <p:nvSpPr>
          <p:cNvPr id="242" name="Google Shape;242;p50"/>
          <p:cNvSpPr txBox="1"/>
          <p:nvPr/>
        </p:nvSpPr>
        <p:spPr>
          <a:xfrm>
            <a:off x="705091" y="2760886"/>
            <a:ext cx="10279901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 el problema específico en el diseño.</a:t>
            </a:r>
            <a:endParaRPr/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Elegir el patrón adecuado que se ajuste a ese problema.</a:t>
            </a:r>
            <a:endParaRPr/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 el patrón según las directrices establecidas.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51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49" name="Google Shape;249;p51"/>
          <p:cNvSpPr txBox="1"/>
          <p:nvPr/>
        </p:nvSpPr>
        <p:spPr>
          <a:xfrm>
            <a:off x="446532" y="1364756"/>
            <a:ext cx="115625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Clasificación del Patron según su proposito</a:t>
            </a:r>
            <a:endParaRPr sz="360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1"/>
          <p:cNvSpPr txBox="1"/>
          <p:nvPr/>
        </p:nvSpPr>
        <p:spPr>
          <a:xfrm>
            <a:off x="595363" y="2334166"/>
            <a:ext cx="10279901" cy="390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Patrones Creacionales: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ocupan de la creación de objetos y facilitan la instanciación de clases.</a:t>
            </a:r>
            <a:endParaRPr/>
          </a:p>
          <a:p>
            <a:pPr marL="514350" marR="0" lvl="0" indent="-438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Singleton, Factory Method, Abstract Factory.</a:t>
            </a:r>
            <a:endParaRPr/>
          </a:p>
          <a:p>
            <a:pPr marL="514350" marR="0" lvl="0" indent="-438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Descripción: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Manejan la complejidad de la creación de objetos al proporcionar mecanismos para crear instancias de manera controlada y flexible.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52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57" name="Google Shape;257;p52"/>
          <p:cNvSpPr txBox="1"/>
          <p:nvPr/>
        </p:nvSpPr>
        <p:spPr>
          <a:xfrm>
            <a:off x="446532" y="1364756"/>
            <a:ext cx="115625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Clasificación del Patron según su proposito</a:t>
            </a:r>
            <a:endParaRPr sz="360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2"/>
          <p:cNvSpPr txBox="1"/>
          <p:nvPr/>
        </p:nvSpPr>
        <p:spPr>
          <a:xfrm>
            <a:off x="595363" y="2334166"/>
            <a:ext cx="10279901" cy="403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 startAt="2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Patrones Estructurales: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centran en la composición de clases y objetos para formar estructuras más grandes.</a:t>
            </a:r>
            <a:endParaRPr/>
          </a:p>
          <a:p>
            <a:pPr marL="514350" marR="0" lvl="0" indent="-412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Adapter, Composite, Decorator.</a:t>
            </a:r>
            <a:endParaRPr/>
          </a:p>
          <a:p>
            <a:pPr marL="514350" marR="0" lvl="0" indent="-412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Descripción: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Facilitan la organización de las clases y objetos en estructuras que sean más fáciles de manejar y extender.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3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65" name="Google Shape;265;p53"/>
          <p:cNvSpPr txBox="1"/>
          <p:nvPr/>
        </p:nvSpPr>
        <p:spPr>
          <a:xfrm>
            <a:off x="446532" y="1364756"/>
            <a:ext cx="115625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Clasificación del Patron según su proposito</a:t>
            </a:r>
            <a:endParaRPr sz="360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3"/>
          <p:cNvSpPr txBox="1"/>
          <p:nvPr/>
        </p:nvSpPr>
        <p:spPr>
          <a:xfrm>
            <a:off x="595363" y="2334166"/>
            <a:ext cx="10279901" cy="403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 startAt="3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Patrones de Comportamiento: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Abordan la comunicación y la asignación de responsabilidades entre objetos.</a:t>
            </a:r>
            <a:endParaRPr/>
          </a:p>
          <a:p>
            <a:pPr marL="514350" marR="0" lvl="0" indent="-412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Observer, Strategy, Command.</a:t>
            </a:r>
            <a:endParaRPr/>
          </a:p>
          <a:p>
            <a:pPr marL="514350" marR="0" lvl="0" indent="-412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Descripción: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Ayudan a definir cómo los objetos interactúan y colaboran, y cómo se distribuyen las responsabilidades entre ellos.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4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73" name="Google Shape;273;p54"/>
          <p:cNvSpPr txBox="1"/>
          <p:nvPr/>
        </p:nvSpPr>
        <p:spPr>
          <a:xfrm>
            <a:off x="442722" y="1200086"/>
            <a:ext cx="115625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Especificación de Patrones de Diseño</a:t>
            </a:r>
            <a:endParaRPr/>
          </a:p>
        </p:txBody>
      </p:sp>
      <p:sp>
        <p:nvSpPr>
          <p:cNvPr id="274" name="Google Shape;274;p54"/>
          <p:cNvSpPr txBox="1"/>
          <p:nvPr/>
        </p:nvSpPr>
        <p:spPr>
          <a:xfrm>
            <a:off x="442722" y="2894998"/>
            <a:ext cx="4418076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Singleton: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Asegura que una clase tenga solo una instancia y proporciona un punto global de acceso a ella.</a:t>
            </a:r>
            <a:endParaRPr/>
          </a:p>
        </p:txBody>
      </p:sp>
      <p:sp>
        <p:nvSpPr>
          <p:cNvPr id="275" name="Google Shape;275;p54"/>
          <p:cNvSpPr txBox="1"/>
          <p:nvPr/>
        </p:nvSpPr>
        <p:spPr>
          <a:xfrm>
            <a:off x="5471160" y="2011087"/>
            <a:ext cx="6096000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class </a:t>
            </a:r>
            <a:r>
              <a:rPr lang="es-E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Singleton</a:t>
            </a: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private static Singleton instance;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private </a:t>
            </a:r>
            <a:r>
              <a:rPr lang="es-E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Singleton</a:t>
            </a: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 {}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static Singleton </a:t>
            </a:r>
            <a:r>
              <a:rPr lang="es-E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getInstance</a:t>
            </a: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if (instance == null)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instance = new </a:t>
            </a:r>
            <a:r>
              <a:rPr lang="es-E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Singleton</a:t>
            </a: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return instance;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cxnSp>
        <p:nvCxnSpPr>
          <p:cNvPr id="276" name="Google Shape;276;p54"/>
          <p:cNvCxnSpPr/>
          <p:nvPr/>
        </p:nvCxnSpPr>
        <p:spPr>
          <a:xfrm>
            <a:off x="5096256" y="2304288"/>
            <a:ext cx="0" cy="3657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55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83" name="Google Shape;283;p55"/>
          <p:cNvSpPr txBox="1"/>
          <p:nvPr/>
        </p:nvSpPr>
        <p:spPr>
          <a:xfrm>
            <a:off x="442721" y="974334"/>
            <a:ext cx="115625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Especificación de Patrones de Diseño</a:t>
            </a:r>
            <a:endParaRPr/>
          </a:p>
        </p:txBody>
      </p:sp>
      <p:sp>
        <p:nvSpPr>
          <p:cNvPr id="284" name="Google Shape;284;p55"/>
          <p:cNvSpPr txBox="1"/>
          <p:nvPr/>
        </p:nvSpPr>
        <p:spPr>
          <a:xfrm>
            <a:off x="442721" y="1663764"/>
            <a:ext cx="1121740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Factory Method:</a:t>
            </a: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Define una interfaz para crear un objeto, pero deja que las subclases alteren el tipo de objeto que se creará.</a:t>
            </a:r>
            <a:endParaRPr/>
          </a:p>
        </p:txBody>
      </p:sp>
      <p:cxnSp>
        <p:nvCxnSpPr>
          <p:cNvPr id="285" name="Google Shape;285;p55"/>
          <p:cNvCxnSpPr/>
          <p:nvPr/>
        </p:nvCxnSpPr>
        <p:spPr>
          <a:xfrm>
            <a:off x="5949696" y="2372841"/>
            <a:ext cx="0" cy="3657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286" name="Google Shape;286;p55"/>
          <p:cNvSpPr txBox="1"/>
          <p:nvPr/>
        </p:nvSpPr>
        <p:spPr>
          <a:xfrm>
            <a:off x="540257" y="2414749"/>
            <a:ext cx="6799325" cy="5062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 Product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void use();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ConcreteProductA implements Product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void use()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System.out.println("Usando Producto A");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ConcreteProductB implements Product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void use()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System.out.println("Usando Producto B");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5"/>
          <p:cNvSpPr txBox="1"/>
          <p:nvPr/>
        </p:nvSpPr>
        <p:spPr>
          <a:xfrm>
            <a:off x="6463284" y="2247276"/>
            <a:ext cx="6799325" cy="4478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Creator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factoryMethod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ConcreteCreatorA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extends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Creator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factoryMethod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 {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new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ConcreteProductA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ConcreteCreatorB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extends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Creator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factoryMethod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 {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new </a:t>
            </a:r>
            <a:r>
              <a:rPr lang="es-ES" sz="19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ConcreteProductB</a:t>
            </a: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56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94" name="Google Shape;294;p56"/>
          <p:cNvSpPr txBox="1"/>
          <p:nvPr/>
        </p:nvSpPr>
        <p:spPr>
          <a:xfrm>
            <a:off x="442721" y="974334"/>
            <a:ext cx="115625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Especificación de Patrones de Diseño</a:t>
            </a:r>
            <a:endParaRPr/>
          </a:p>
        </p:txBody>
      </p:sp>
      <p:sp>
        <p:nvSpPr>
          <p:cNvPr id="295" name="Google Shape;295;p56"/>
          <p:cNvSpPr txBox="1"/>
          <p:nvPr/>
        </p:nvSpPr>
        <p:spPr>
          <a:xfrm>
            <a:off x="442721" y="1663764"/>
            <a:ext cx="1121740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Observer: </a:t>
            </a: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que un objeto notifique a otros objetos sobre cambios en su estado.</a:t>
            </a:r>
            <a:endParaRPr/>
          </a:p>
        </p:txBody>
      </p:sp>
      <p:cxnSp>
        <p:nvCxnSpPr>
          <p:cNvPr id="296" name="Google Shape;296;p56"/>
          <p:cNvCxnSpPr/>
          <p:nvPr/>
        </p:nvCxnSpPr>
        <p:spPr>
          <a:xfrm>
            <a:off x="5949696" y="2372841"/>
            <a:ext cx="0" cy="3657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297" name="Google Shape;297;p56"/>
          <p:cNvSpPr txBox="1"/>
          <p:nvPr/>
        </p:nvSpPr>
        <p:spPr>
          <a:xfrm>
            <a:off x="429767" y="2162637"/>
            <a:ext cx="5263135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java.util.ArrayList;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java.util.List;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 Observer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void update(String message);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ConcreteObserver implements Observer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private String name;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ConcreteObserver(String name)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this.name = name;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void update(String message)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System.out.println(name + " recibió el mensaje: " + message);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6"/>
          <p:cNvSpPr txBox="1"/>
          <p:nvPr/>
        </p:nvSpPr>
        <p:spPr>
          <a:xfrm>
            <a:off x="6096000" y="2304342"/>
            <a:ext cx="5634749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Subject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observers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new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ArrayList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&lt;&gt;();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addObserver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observers.add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notifyObservers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observers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observer.update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7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305" name="Google Shape;305;p57"/>
          <p:cNvSpPr txBox="1"/>
          <p:nvPr/>
        </p:nvSpPr>
        <p:spPr>
          <a:xfrm>
            <a:off x="312420" y="1029236"/>
            <a:ext cx="11184636" cy="6055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Casos </a:t>
            </a:r>
            <a:r>
              <a:rPr lang="es-ES" sz="3600" b="1" i="0" u="none" strike="noStrike" cap="none" dirty="0" err="1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Practicos</a:t>
            </a:r>
            <a:r>
              <a:rPr lang="es-ES" sz="36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5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Práctico 1: Patrón </a:t>
            </a:r>
            <a:r>
              <a:rPr lang="es-ES" sz="2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Singleton</a:t>
            </a: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Configuración de Aplicación</a:t>
            </a:r>
            <a:endParaRPr dirty="0"/>
          </a:p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Contexto: 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Imagina que estás desarrollando una aplicación que necesita una configuración global accesible en todo el sistema. Solo debe haber una instancia de la configuración para evitar inconsistencias y garantizar que todos los componentes usen los mismos valores.</a:t>
            </a:r>
            <a:endParaRPr dirty="0"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Problema: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Sin un mecanismo adecuado, podrías terminar creando múltiples instancias de la clase de configuración, lo que podría llevar a errores y dificultades para mantener la configuración sincronizada</a:t>
            </a:r>
            <a:endParaRPr dirty="0"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Solución: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Implementar……</a:t>
            </a:r>
            <a:endParaRPr dirty="0"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7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305" name="Google Shape;305;p57"/>
          <p:cNvSpPr txBox="1"/>
          <p:nvPr/>
        </p:nvSpPr>
        <p:spPr>
          <a:xfrm>
            <a:off x="312420" y="1029236"/>
            <a:ext cx="11184636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Casos </a:t>
            </a:r>
            <a:r>
              <a:rPr lang="es-ES" sz="1800" b="1" i="0" u="none" strike="noStrike" cap="none" dirty="0" err="1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Practicos</a:t>
            </a:r>
            <a:r>
              <a:rPr lang="es-ES" sz="18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-E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Práctico 1: Patrón </a:t>
            </a:r>
            <a:r>
              <a:rPr lang="es-ES" sz="18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Singleton</a:t>
            </a:r>
            <a:r>
              <a:rPr lang="es-E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Configuración de Aplicación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Ejemplo de cómo implementar el patrón Singleton en Java para gestionar la configuración global del idioma del país en una aplicación: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public class ConfiguracionGlobal {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// Instancia única de la clase.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private static ConfiguracionGlobal instancia;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// Atributo para almacenar el idioma del país.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private String idioma;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// Constructor privado para evitar instanciación externa.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private ConfiguracionGlobal() {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    // Configuración por defecto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    this.idioma = "Español"; // Idioma predeterminado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// Método estático para obtener la única instancia de la clase.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static ConfiguracionGlobal obtenerInstancia() {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if (instancia == null) {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instancia = new ConfiguracionGlobal();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return instancia;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 </a:t>
            </a:r>
            <a:endParaRPr sz="440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F273023-54AC-0F97-8F3B-8A0E018C2A98}"/>
              </a:ext>
            </a:extLst>
          </p:cNvPr>
          <p:cNvSpPr txBox="1"/>
          <p:nvPr/>
        </p:nvSpPr>
        <p:spPr>
          <a:xfrm>
            <a:off x="7093975" y="2433484"/>
            <a:ext cx="44030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// Método para obtener el idioma actual.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String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getIdioma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return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idioma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// Método para cambiar el idioma.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setIdioma(String nuevoIdioma) {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this.idioma = nuevoIdioma;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520976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7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305" name="Google Shape;305;p57"/>
          <p:cNvSpPr txBox="1"/>
          <p:nvPr/>
        </p:nvSpPr>
        <p:spPr>
          <a:xfrm>
            <a:off x="312420" y="1029236"/>
            <a:ext cx="11184636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Casos </a:t>
            </a:r>
            <a:r>
              <a:rPr lang="es-ES" sz="1800" b="1" i="0" u="none" strike="noStrike" cap="none" dirty="0" err="1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Practicos</a:t>
            </a:r>
            <a:r>
              <a:rPr lang="es-ES" sz="18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-E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Práctico 1: Patrón </a:t>
            </a:r>
            <a:r>
              <a:rPr lang="es-ES" sz="18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Singleton</a:t>
            </a:r>
            <a:r>
              <a:rPr lang="es-E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Configuración de Aplicación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// Ejemplo de uso en otra clase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public class Main {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public static void main(String[] args) {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    // Obtener la instancia única de ConfiguracionGlobal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    ConfiguracionGlobal configuracion = ConfiguracionGlobal.obtenerInstancia();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    // Obtener el idioma actual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    System.out.println("Idioma actual: " + configuracion.getIdioma());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    // Cambiar el idioma a Inglés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    configuracion.setIdioma("Inglés");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    // Comprobar que el idioma ha cambiado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System.out.println("Nuevo idioma: " + configuracion.getIdioma());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    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sz="1800" dirty="0"/>
          </a:p>
        </p:txBody>
      </p:sp>
    </p:spTree>
    <p:extLst>
      <p:ext uri="{BB962C8B-B14F-4D97-AF65-F5344CB8AC3E}">
        <p14:creationId xmlns:p14="http://schemas.microsoft.com/office/powerpoint/2010/main" val="11983266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7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305" name="Google Shape;305;p57"/>
          <p:cNvSpPr txBox="1"/>
          <p:nvPr/>
        </p:nvSpPr>
        <p:spPr>
          <a:xfrm>
            <a:off x="312420" y="1029236"/>
            <a:ext cx="11184636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Casos </a:t>
            </a:r>
            <a:r>
              <a:rPr lang="es-ES" sz="1800" b="1" i="0" u="none" strike="noStrike" cap="none" dirty="0" err="1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Practicos</a:t>
            </a:r>
            <a:r>
              <a:rPr lang="es-ES" sz="18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-E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Práctico 1: Patrón </a:t>
            </a:r>
            <a:r>
              <a:rPr lang="es-ES" sz="18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Singleton</a:t>
            </a:r>
            <a:r>
              <a:rPr lang="es-E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Configuración de Aplicación 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Explicación: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Clase `ConfiguracionGlobal`: Esta clase es la que contiene la configuración global de la aplicación, en este caso, el idioma del país.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Atributo `idioma`: Esta variable almacena el idioma que se utilizará en toda la aplicación.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Constructor privado: Evita que se creen instancias adicionales de `ConfiguracionGlobal` desde fuera de la clase, asegurando que solo haya una instancia.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Método `obtenerInstancia()`: Este método estático devuelve la única instancia de la clase `ConfiguracionGlobal`. Si la instancia no existe, la crea.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Métodos `getIdioma()` y `setIdioma()`: Estos métodos permiten obtener y modificar el idioma de la configuración global.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Uso: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la clase `Main`, se demuestra cómo utilizar la clase `ConfiguracionGlobal` para obtener y modificar el idioma del sistema, asegurando que solo haya una instancia compartida en toda la aplicación.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 enfoque garantiza que todas las partes de tu aplicación usen la misma configuración de idioma, evitando inconsistencias.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sz="1800" dirty="0"/>
          </a:p>
        </p:txBody>
      </p:sp>
    </p:spTree>
    <p:extLst>
      <p:ext uri="{BB962C8B-B14F-4D97-AF65-F5344CB8AC3E}">
        <p14:creationId xmlns:p14="http://schemas.microsoft.com/office/powerpoint/2010/main" val="16073052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8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312" name="Google Shape;312;p58"/>
          <p:cNvSpPr txBox="1"/>
          <p:nvPr/>
        </p:nvSpPr>
        <p:spPr>
          <a:xfrm>
            <a:off x="312420" y="1029236"/>
            <a:ext cx="11184636" cy="5363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Casos </a:t>
            </a:r>
            <a:r>
              <a:rPr lang="es-ES" sz="3600" b="1" i="0" u="none" strike="noStrike" cap="none" dirty="0" err="1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Practicos</a:t>
            </a:r>
            <a:r>
              <a:rPr lang="es-ES" sz="36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5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Práctico 2: Patrón Factory </a:t>
            </a:r>
            <a:r>
              <a:rPr lang="es-ES" sz="2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Creación de Productos</a:t>
            </a:r>
            <a:endParaRPr dirty="0"/>
          </a:p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Contexto: 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Estás desarrollando un sistema que necesita crear diferentes tipos de productos (por ejemplo, diferentes tipos de reportes: PDF y Word). El sistema debe decidir qué tipo de producto crear en tiempo de ejecución.</a:t>
            </a:r>
            <a:endParaRPr dirty="0"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Problema: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Necesitas una manera flexible de crear productos sin tener que modificar el código cada vez que se añaden nuevos tipos de productos.</a:t>
            </a:r>
            <a:endParaRPr dirty="0"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Solución: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Implementar……</a:t>
            </a:r>
            <a:endParaRPr dirty="0"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8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312" name="Google Shape;312;p58"/>
          <p:cNvSpPr txBox="1"/>
          <p:nvPr/>
        </p:nvSpPr>
        <p:spPr>
          <a:xfrm>
            <a:off x="312420" y="1117727"/>
            <a:ext cx="11184636" cy="717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Casos </a:t>
            </a:r>
            <a:r>
              <a:rPr lang="es-ES" sz="1600" b="1" i="0" u="none" strike="noStrike" cap="none" dirty="0" err="1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Practicos</a:t>
            </a:r>
            <a:r>
              <a:rPr lang="es-ES" sz="16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-E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Práctico 2: Patrón Factory </a:t>
            </a:r>
            <a:r>
              <a:rPr lang="es-E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lang="es-E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Creación de Productos </a:t>
            </a:r>
          </a:p>
          <a:p>
            <a:r>
              <a:rPr lang="es-PE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Paso 1: Crear una interfaz común para los productos</a:t>
            </a:r>
          </a:p>
          <a:p>
            <a:r>
              <a:rPr lang="es-PE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Interfaz común para los reportes</a:t>
            </a:r>
          </a:p>
          <a:p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interface </a:t>
            </a:r>
            <a:r>
              <a:rPr lang="en-US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void </a:t>
            </a:r>
            <a:r>
              <a:rPr lang="en-US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generar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r>
              <a:rPr lang="es-PE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Paso 2: Crear clases concretas que implementen la interfaz de productos</a:t>
            </a:r>
          </a:p>
          <a:p>
            <a:r>
              <a:rPr lang="es-PE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Clase concreta para reportes PDF</a:t>
            </a:r>
          </a:p>
          <a:p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 </a:t>
            </a:r>
            <a:r>
              <a:rPr lang="en-US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ReportePDF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implements </a:t>
            </a:r>
            <a:r>
              <a:rPr lang="en-US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s-PE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@Override</a:t>
            </a:r>
          </a:p>
          <a:p>
            <a:r>
              <a:rPr lang="es-PE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generar() {</a:t>
            </a:r>
          </a:p>
          <a:p>
            <a:r>
              <a:rPr lang="es-PE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System.out.println("Generando reporte en formato PDF...");</a:t>
            </a:r>
          </a:p>
          <a:p>
            <a:r>
              <a:rPr lang="es-PE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// Lógica para generar un reporte PDF</a:t>
            </a:r>
          </a:p>
          <a:p>
            <a:r>
              <a:rPr lang="es-PE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en-US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Clase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concreta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</a:t>
            </a:r>
            <a:r>
              <a:rPr lang="en-US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reportes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Word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 </a:t>
            </a:r>
            <a:r>
              <a:rPr lang="en-US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ReporteWord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implements </a:t>
            </a:r>
            <a:r>
              <a:rPr lang="en-US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@Override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</a:t>
            </a:r>
            <a:r>
              <a:rPr lang="en-US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generar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{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s-PE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System.out.println("Generando reporte en formato Word...");</a:t>
            </a:r>
          </a:p>
          <a:p>
            <a:r>
              <a:rPr lang="es-PE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// Lógica para generar un reporte Word</a:t>
            </a:r>
          </a:p>
          <a:p>
            <a:r>
              <a:rPr lang="es-PE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r>
              <a:rPr lang="es-PE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5872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8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312" name="Google Shape;312;p58"/>
          <p:cNvSpPr txBox="1"/>
          <p:nvPr/>
        </p:nvSpPr>
        <p:spPr>
          <a:xfrm>
            <a:off x="312420" y="1117727"/>
            <a:ext cx="11184636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Casos </a:t>
            </a:r>
            <a:r>
              <a:rPr lang="es-ES" sz="1600" b="1" i="0" u="none" strike="noStrike" cap="none" dirty="0" err="1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Practicos</a:t>
            </a:r>
            <a:r>
              <a:rPr lang="es-ES" sz="16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-E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Práctico 2: Patrón Factory </a:t>
            </a:r>
            <a:r>
              <a:rPr lang="es-E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lang="es-E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Creación de Productos 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Paso 3: Crear una clase abstracta (o interfaz) para el Factory Method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Interfaz o clase abstracta para el Factory Method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abstract class ReporteFactory {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// Método factory que será implementado por las subclases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abstract Reporte crearReporte();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// Método para generar el reporte utilizando el producto creado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generarReporte() {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Reporte reporte = crearReporte();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reporte.generar();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BEC51A8-FEF2-C7E8-C3D7-A9D3EABD9348}"/>
              </a:ext>
            </a:extLst>
          </p:cNvPr>
          <p:cNvSpPr txBox="1"/>
          <p:nvPr/>
        </p:nvSpPr>
        <p:spPr>
          <a:xfrm>
            <a:off x="6938871" y="1646501"/>
            <a:ext cx="4940709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Paso 4: Crear clases concretas que extiendan la clase `ReporteFactory`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Factory concreto para reportes PDF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 ReportePDFFactory extends ReporteFactory {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@Override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Reporte crearReporte() {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return new ReportePDF();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Factory concreto para reportes Word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 ReporteWordFactory extends ReporteFactory {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@Override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Reporte crearReporte() {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return new ReporteWord();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dirty="0"/>
          </a:p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s-PE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079502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8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312" name="Google Shape;312;p58"/>
          <p:cNvSpPr txBox="1"/>
          <p:nvPr/>
        </p:nvSpPr>
        <p:spPr>
          <a:xfrm>
            <a:off x="475075" y="864010"/>
            <a:ext cx="11184636" cy="572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Casos </a:t>
            </a:r>
            <a:r>
              <a:rPr lang="es-ES" sz="1600" b="1" i="0" u="none" strike="noStrike" cap="none" dirty="0" err="1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Practicos</a:t>
            </a:r>
            <a:r>
              <a:rPr lang="es-ES" sz="16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-E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Práctico 2: Patrón Factory </a:t>
            </a:r>
            <a:r>
              <a:rPr lang="es-E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lang="es-E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Creación de Productos 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Paso 5: Uso del Factory Method en tiempo de ejecución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 Main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static void main(String[]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args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ReporteFactory factory;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// Decidir qué tipo de reporte crear en tiempo de ejecución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String tipoReporte = "PDF"; // Podría venir de una configuración, entrada del usuario, etc.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tipoReporte.equals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("PDF"))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factory = new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ReportePDFFactory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} else if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tipoReporte.equals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("Word"))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factory = new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ReporteWordFactory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} else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throw new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IllegalArgumentException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("Tipo de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desconocido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.");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}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// Generar el reporte usando el factory method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factory.generarReporte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7195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8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312" name="Google Shape;312;p58"/>
          <p:cNvSpPr txBox="1"/>
          <p:nvPr/>
        </p:nvSpPr>
        <p:spPr>
          <a:xfrm>
            <a:off x="475075" y="864010"/>
            <a:ext cx="11184636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Casos </a:t>
            </a:r>
            <a:r>
              <a:rPr lang="es-ES" sz="1600" b="1" i="0" u="none" strike="noStrike" cap="none" dirty="0" err="1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Practicos</a:t>
            </a:r>
            <a:r>
              <a:rPr lang="es-ES" sz="16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-E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Práctico 2: Patrón Factory </a:t>
            </a:r>
            <a:r>
              <a:rPr lang="es-E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lang="es-E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Creación de Productos 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Explicación: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Interfaz `Reporte`: Define el contrato que todas las clases de reportes deben seguir.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2. Clases `ReportePDF` y `ReporteWord`: Implementan la interfaz `Reporte` y contienen la lógica específica para generar reportes en formato PDF y Word, respectivamente.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Clase abstracta `ReporteFactory`: Declara el método `crearReporte()` que las subclases concretas deben implementar para crear el objeto específico. También tiene un método `generarReporte()` que usa el objeto creado.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Clases `ReportePDFFactory` y `ReporteWordFactory`: Son las fábricas concretas que se encargan de crear instancias de `ReportePDF` y `ReporteWord`.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Clase `Main`: En tiempo de ejecución, se decide qué tipo de reporte crear, y se usa la fábrica correspondiente para generar el reporte.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 patrón te permite crear diferentes tipos de reportes de forma flexible, delegando la responsabilidad de la creación de objetos a las subclases concretas, lo que facilita la extensión y el mantenimiento del código.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30948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59"/>
          <p:cNvGrpSpPr/>
          <p:nvPr/>
        </p:nvGrpSpPr>
        <p:grpSpPr>
          <a:xfrm>
            <a:off x="499871" y="2301481"/>
            <a:ext cx="8083297" cy="3733558"/>
            <a:chOff x="-494462" y="-159598"/>
            <a:chExt cx="3380133" cy="1474986"/>
          </a:xfrm>
        </p:grpSpPr>
        <p:sp>
          <p:nvSpPr>
            <p:cNvPr id="318" name="Google Shape;318;p59"/>
            <p:cNvSpPr/>
            <p:nvPr/>
          </p:nvSpPr>
          <p:spPr>
            <a:xfrm>
              <a:off x="-494462" y="-159598"/>
              <a:ext cx="3380133" cy="1474986"/>
            </a:xfrm>
            <a:custGeom>
              <a:avLst/>
              <a:gdLst/>
              <a:ahLst/>
              <a:cxnLst/>
              <a:rect l="l" t="t" r="r" b="b"/>
              <a:pathLst>
                <a:path w="2486406" h="1146351" extrusionOk="0">
                  <a:moveTo>
                    <a:pt x="71889" y="0"/>
                  </a:moveTo>
                  <a:lnTo>
                    <a:pt x="2414517" y="0"/>
                  </a:lnTo>
                  <a:cubicBezTo>
                    <a:pt x="2433583" y="0"/>
                    <a:pt x="2451869" y="7574"/>
                    <a:pt x="2465350" y="21056"/>
                  </a:cubicBezTo>
                  <a:cubicBezTo>
                    <a:pt x="2478832" y="34538"/>
                    <a:pt x="2486406" y="52823"/>
                    <a:pt x="2486406" y="71889"/>
                  </a:cubicBezTo>
                  <a:lnTo>
                    <a:pt x="2486406" y="1074462"/>
                  </a:lnTo>
                  <a:cubicBezTo>
                    <a:pt x="2486406" y="1093528"/>
                    <a:pt x="2478832" y="1111813"/>
                    <a:pt x="2465350" y="1125295"/>
                  </a:cubicBezTo>
                  <a:cubicBezTo>
                    <a:pt x="2451869" y="1138777"/>
                    <a:pt x="2433583" y="1146351"/>
                    <a:pt x="2414517" y="1146351"/>
                  </a:cubicBezTo>
                  <a:lnTo>
                    <a:pt x="71889" y="1146351"/>
                  </a:lnTo>
                  <a:cubicBezTo>
                    <a:pt x="52823" y="1146351"/>
                    <a:pt x="34538" y="1138777"/>
                    <a:pt x="21056" y="1125295"/>
                  </a:cubicBezTo>
                  <a:cubicBezTo>
                    <a:pt x="7574" y="1111813"/>
                    <a:pt x="0" y="1093528"/>
                    <a:pt x="0" y="1074462"/>
                  </a:cubicBezTo>
                  <a:lnTo>
                    <a:pt x="0" y="71889"/>
                  </a:lnTo>
                  <a:cubicBezTo>
                    <a:pt x="0" y="52823"/>
                    <a:pt x="7574" y="34538"/>
                    <a:pt x="21056" y="21056"/>
                  </a:cubicBezTo>
                  <a:cubicBezTo>
                    <a:pt x="34538" y="7574"/>
                    <a:pt x="52823" y="0"/>
                    <a:pt x="718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s-E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Introducción a los Patrones:</a:t>
              </a:r>
              <a:r>
                <a:rPr lang="es-E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Los patrones de diseño son soluciones reutilizables a problemas comunes en el desarrollo de software, que mejoran la flexibilidad y mantenibilidad del código.</a:t>
              </a:r>
              <a:endParaRPr/>
            </a:p>
            <a:p>
              <a:pPr marL="342900" marR="0" lvl="0" indent="-3429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s-E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Patrones Arquitectónicos vs. Patrones de Diseño: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04863" marR="0" lvl="0" indent="-268288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s-E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Arquitectónicos:</a:t>
              </a:r>
              <a:r>
                <a:rPr lang="es-E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Definen la estructura general del sistema (ej. MVC).</a:t>
              </a:r>
              <a:endParaRPr/>
            </a:p>
            <a:p>
              <a:pPr marL="804863" marR="0" lvl="0" indent="-268288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s-E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 Diseño:</a:t>
              </a:r>
              <a:r>
                <a:rPr lang="es-E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Abordan problemas específicos dentro de un sistema (ej. Singleton).</a:t>
              </a:r>
              <a:endParaRPr/>
            </a:p>
            <a:p>
              <a:pPr marL="342900" marR="0" lvl="0" indent="-3429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s-E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Patrones GOF:</a:t>
              </a:r>
              <a:r>
                <a:rPr lang="es-E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Los patrones del libro "Design Patterns" de los Gang of Four incluyen creacionales, estructurales y de comportamiento, ofreciendo soluciones estandarizadas a problemas recurrentes.</a:t>
              </a:r>
              <a:endParaRPr/>
            </a:p>
          </p:txBody>
        </p:sp>
        <p:sp>
          <p:nvSpPr>
            <p:cNvPr id="319" name="Google Shape;319;p59"/>
            <p:cNvSpPr txBox="1"/>
            <p:nvPr/>
          </p:nvSpPr>
          <p:spPr>
            <a:xfrm>
              <a:off x="0" y="-47625"/>
              <a:ext cx="2486406" cy="11939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just" rtl="0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p59"/>
          <p:cNvGrpSpPr/>
          <p:nvPr/>
        </p:nvGrpSpPr>
        <p:grpSpPr>
          <a:xfrm>
            <a:off x="-116008" y="-120549"/>
            <a:ext cx="12424017" cy="253060"/>
            <a:chOff x="0" y="-47625"/>
            <a:chExt cx="4908254" cy="99975"/>
          </a:xfrm>
        </p:grpSpPr>
        <p:sp>
          <p:nvSpPr>
            <p:cNvPr id="321" name="Google Shape;321;p59"/>
            <p:cNvSpPr/>
            <p:nvPr/>
          </p:nvSpPr>
          <p:spPr>
            <a:xfrm>
              <a:off x="0" y="0"/>
              <a:ext cx="4908254" cy="52350"/>
            </a:xfrm>
            <a:custGeom>
              <a:avLst/>
              <a:gdLst/>
              <a:ahLst/>
              <a:cxnLst/>
              <a:rect l="l" t="t" r="r" b="b"/>
              <a:pathLst>
                <a:path w="4908254" h="52350" extrusionOk="0">
                  <a:moveTo>
                    <a:pt x="0" y="0"/>
                  </a:moveTo>
                  <a:lnTo>
                    <a:pt x="4908254" y="0"/>
                  </a:lnTo>
                  <a:lnTo>
                    <a:pt x="4908254" y="52350"/>
                  </a:lnTo>
                  <a:lnTo>
                    <a:pt x="0" y="52350"/>
                  </a:lnTo>
                  <a:close/>
                </a:path>
              </a:pathLst>
            </a:custGeom>
            <a:solidFill>
              <a:srgbClr val="343434">
                <a:alpha val="7725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59"/>
            <p:cNvSpPr txBox="1"/>
            <p:nvPr/>
          </p:nvSpPr>
          <p:spPr>
            <a:xfrm>
              <a:off x="0" y="-47625"/>
              <a:ext cx="4908254" cy="99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p59"/>
          <p:cNvSpPr txBox="1"/>
          <p:nvPr/>
        </p:nvSpPr>
        <p:spPr>
          <a:xfrm>
            <a:off x="268950" y="1248143"/>
            <a:ext cx="7981380" cy="89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856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/>
          </a:p>
        </p:txBody>
      </p:sp>
      <p:pic>
        <p:nvPicPr>
          <p:cNvPr id="324" name="Google Shape;324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86329" y="1761026"/>
            <a:ext cx="2761945" cy="3843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60"/>
          <p:cNvGrpSpPr/>
          <p:nvPr/>
        </p:nvGrpSpPr>
        <p:grpSpPr>
          <a:xfrm>
            <a:off x="499871" y="2301481"/>
            <a:ext cx="8083297" cy="3733558"/>
            <a:chOff x="-494462" y="-159598"/>
            <a:chExt cx="3380133" cy="1474986"/>
          </a:xfrm>
        </p:grpSpPr>
        <p:sp>
          <p:nvSpPr>
            <p:cNvPr id="330" name="Google Shape;330;p60"/>
            <p:cNvSpPr/>
            <p:nvPr/>
          </p:nvSpPr>
          <p:spPr>
            <a:xfrm>
              <a:off x="-494462" y="-159598"/>
              <a:ext cx="3380133" cy="1474986"/>
            </a:xfrm>
            <a:custGeom>
              <a:avLst/>
              <a:gdLst/>
              <a:ahLst/>
              <a:cxnLst/>
              <a:rect l="l" t="t" r="r" b="b"/>
              <a:pathLst>
                <a:path w="2486406" h="1146351" extrusionOk="0">
                  <a:moveTo>
                    <a:pt x="71889" y="0"/>
                  </a:moveTo>
                  <a:lnTo>
                    <a:pt x="2414517" y="0"/>
                  </a:lnTo>
                  <a:cubicBezTo>
                    <a:pt x="2433583" y="0"/>
                    <a:pt x="2451869" y="7574"/>
                    <a:pt x="2465350" y="21056"/>
                  </a:cubicBezTo>
                  <a:cubicBezTo>
                    <a:pt x="2478832" y="34538"/>
                    <a:pt x="2486406" y="52823"/>
                    <a:pt x="2486406" y="71889"/>
                  </a:cubicBezTo>
                  <a:lnTo>
                    <a:pt x="2486406" y="1074462"/>
                  </a:lnTo>
                  <a:cubicBezTo>
                    <a:pt x="2486406" y="1093528"/>
                    <a:pt x="2478832" y="1111813"/>
                    <a:pt x="2465350" y="1125295"/>
                  </a:cubicBezTo>
                  <a:cubicBezTo>
                    <a:pt x="2451869" y="1138777"/>
                    <a:pt x="2433583" y="1146351"/>
                    <a:pt x="2414517" y="1146351"/>
                  </a:cubicBezTo>
                  <a:lnTo>
                    <a:pt x="71889" y="1146351"/>
                  </a:lnTo>
                  <a:cubicBezTo>
                    <a:pt x="52823" y="1146351"/>
                    <a:pt x="34538" y="1138777"/>
                    <a:pt x="21056" y="1125295"/>
                  </a:cubicBezTo>
                  <a:cubicBezTo>
                    <a:pt x="7574" y="1111813"/>
                    <a:pt x="0" y="1093528"/>
                    <a:pt x="0" y="1074462"/>
                  </a:cubicBezTo>
                  <a:lnTo>
                    <a:pt x="0" y="71889"/>
                  </a:lnTo>
                  <a:cubicBezTo>
                    <a:pt x="0" y="52823"/>
                    <a:pt x="7574" y="34538"/>
                    <a:pt x="21056" y="21056"/>
                  </a:cubicBezTo>
                  <a:cubicBezTo>
                    <a:pt x="34538" y="7574"/>
                    <a:pt x="52823" y="0"/>
                    <a:pt x="718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s-E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Clasificación según Propósito: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04863" marR="0" lvl="3" indent="-268288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s-E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Creacionales:</a:t>
              </a:r>
              <a:r>
                <a:rPr lang="es-E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Gestionan la creación de objetos (ej. Factory Method).</a:t>
              </a:r>
              <a:endParaRPr/>
            </a:p>
            <a:p>
              <a:pPr marL="804863" marR="0" lvl="3" indent="-268288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s-E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Estructurales:</a:t>
              </a:r>
              <a:r>
                <a:rPr lang="es-E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Organizan la composición de objetos (ej. Adapter).</a:t>
              </a:r>
              <a:endParaRPr/>
            </a:p>
            <a:p>
              <a:pPr marL="804863" marR="0" lvl="3" indent="-268288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s-E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Comportamiento:</a:t>
              </a:r>
              <a:r>
                <a:rPr lang="es-E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Definen la interacción entre objetos (ej. Observer).</a:t>
              </a:r>
              <a:endParaRPr/>
            </a:p>
            <a:p>
              <a:pPr marL="342900" marR="0" lvl="0" indent="-3429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s-E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Especificación de Patrones de Diseño:</a:t>
              </a:r>
              <a:r>
                <a:rPr lang="es-E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Cada patrón se describe con su nombre, el problema que soluciona, la solución propuesta y ejemplos de implementación para facilitar su comprensión y uso.</a:t>
              </a:r>
              <a:endParaRPr/>
            </a:p>
          </p:txBody>
        </p:sp>
        <p:sp>
          <p:nvSpPr>
            <p:cNvPr id="331" name="Google Shape;331;p60"/>
            <p:cNvSpPr txBox="1"/>
            <p:nvPr/>
          </p:nvSpPr>
          <p:spPr>
            <a:xfrm>
              <a:off x="0" y="-47625"/>
              <a:ext cx="2486406" cy="11939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just" rtl="0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2" name="Google Shape;332;p60"/>
          <p:cNvGrpSpPr/>
          <p:nvPr/>
        </p:nvGrpSpPr>
        <p:grpSpPr>
          <a:xfrm>
            <a:off x="-116008" y="-120549"/>
            <a:ext cx="12424017" cy="253060"/>
            <a:chOff x="0" y="-47625"/>
            <a:chExt cx="4908254" cy="99975"/>
          </a:xfrm>
        </p:grpSpPr>
        <p:sp>
          <p:nvSpPr>
            <p:cNvPr id="333" name="Google Shape;333;p60"/>
            <p:cNvSpPr/>
            <p:nvPr/>
          </p:nvSpPr>
          <p:spPr>
            <a:xfrm>
              <a:off x="0" y="0"/>
              <a:ext cx="4908254" cy="52350"/>
            </a:xfrm>
            <a:custGeom>
              <a:avLst/>
              <a:gdLst/>
              <a:ahLst/>
              <a:cxnLst/>
              <a:rect l="l" t="t" r="r" b="b"/>
              <a:pathLst>
                <a:path w="4908254" h="52350" extrusionOk="0">
                  <a:moveTo>
                    <a:pt x="0" y="0"/>
                  </a:moveTo>
                  <a:lnTo>
                    <a:pt x="4908254" y="0"/>
                  </a:lnTo>
                  <a:lnTo>
                    <a:pt x="4908254" y="52350"/>
                  </a:lnTo>
                  <a:lnTo>
                    <a:pt x="0" y="52350"/>
                  </a:lnTo>
                  <a:close/>
                </a:path>
              </a:pathLst>
            </a:custGeom>
            <a:solidFill>
              <a:srgbClr val="343434">
                <a:alpha val="7725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60"/>
            <p:cNvSpPr txBox="1"/>
            <p:nvPr/>
          </p:nvSpPr>
          <p:spPr>
            <a:xfrm>
              <a:off x="0" y="-47625"/>
              <a:ext cx="4908254" cy="99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p60"/>
          <p:cNvSpPr txBox="1"/>
          <p:nvPr/>
        </p:nvSpPr>
        <p:spPr>
          <a:xfrm>
            <a:off x="268950" y="1248143"/>
            <a:ext cx="7981380" cy="89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856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/>
          </a:p>
        </p:txBody>
      </p:sp>
      <p:pic>
        <p:nvPicPr>
          <p:cNvPr id="336" name="Google Shape;336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86329" y="1761026"/>
            <a:ext cx="2761945" cy="3843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61"/>
          <p:cNvGrpSpPr/>
          <p:nvPr/>
        </p:nvGrpSpPr>
        <p:grpSpPr>
          <a:xfrm>
            <a:off x="1529572" y="2366977"/>
            <a:ext cx="4057060" cy="899493"/>
            <a:chOff x="0" y="-95250"/>
            <a:chExt cx="1602789" cy="355356"/>
          </a:xfrm>
        </p:grpSpPr>
        <p:sp>
          <p:nvSpPr>
            <p:cNvPr id="342" name="Google Shape;342;p61"/>
            <p:cNvSpPr/>
            <p:nvPr/>
          </p:nvSpPr>
          <p:spPr>
            <a:xfrm>
              <a:off x="0" y="0"/>
              <a:ext cx="1602789" cy="260106"/>
            </a:xfrm>
            <a:custGeom>
              <a:avLst/>
              <a:gdLst/>
              <a:ahLst/>
              <a:cxnLst/>
              <a:rect l="l" t="t" r="r" b="b"/>
              <a:pathLst>
                <a:path w="1602789" h="260106" extrusionOk="0">
                  <a:moveTo>
                    <a:pt x="1399589" y="0"/>
                  </a:moveTo>
                  <a:cubicBezTo>
                    <a:pt x="1511813" y="0"/>
                    <a:pt x="1602789" y="58227"/>
                    <a:pt x="1602789" y="130053"/>
                  </a:cubicBezTo>
                  <a:cubicBezTo>
                    <a:pt x="1602789" y="201879"/>
                    <a:pt x="1511813" y="260106"/>
                    <a:pt x="1399589" y="260106"/>
                  </a:cubicBezTo>
                  <a:lnTo>
                    <a:pt x="203200" y="260106"/>
                  </a:lnTo>
                  <a:cubicBezTo>
                    <a:pt x="90976" y="260106"/>
                    <a:pt x="0" y="201879"/>
                    <a:pt x="0" y="130053"/>
                  </a:cubicBezTo>
                  <a:cubicBezTo>
                    <a:pt x="0" y="58227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61"/>
            <p:cNvSpPr txBox="1"/>
            <p:nvPr/>
          </p:nvSpPr>
          <p:spPr>
            <a:xfrm>
              <a:off x="0" y="-95250"/>
              <a:ext cx="1602789" cy="3553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338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 QUÉ HE APRENDIDO ?</a:t>
              </a:r>
              <a:endParaRPr/>
            </a:p>
          </p:txBody>
        </p:sp>
      </p:grpSp>
      <p:grpSp>
        <p:nvGrpSpPr>
          <p:cNvPr id="344" name="Google Shape;344;p61"/>
          <p:cNvGrpSpPr/>
          <p:nvPr/>
        </p:nvGrpSpPr>
        <p:grpSpPr>
          <a:xfrm>
            <a:off x="608261" y="2537719"/>
            <a:ext cx="799110" cy="799110"/>
            <a:chOff x="0" y="0"/>
            <a:chExt cx="812800" cy="812800"/>
          </a:xfrm>
        </p:grpSpPr>
        <p:sp>
          <p:nvSpPr>
            <p:cNvPr id="345" name="Google Shape;345;p6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61"/>
            <p:cNvSpPr txBox="1"/>
            <p:nvPr/>
          </p:nvSpPr>
          <p:spPr>
            <a:xfrm>
              <a:off x="152400" y="66675"/>
              <a:ext cx="508000" cy="593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15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47" name="Google Shape;347;p61"/>
          <p:cNvGrpSpPr/>
          <p:nvPr/>
        </p:nvGrpSpPr>
        <p:grpSpPr>
          <a:xfrm>
            <a:off x="1126315" y="3413309"/>
            <a:ext cx="806515" cy="806515"/>
            <a:chOff x="0" y="0"/>
            <a:chExt cx="812800" cy="812800"/>
          </a:xfrm>
        </p:grpSpPr>
        <p:sp>
          <p:nvSpPr>
            <p:cNvPr id="348" name="Google Shape;348;p6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61"/>
            <p:cNvSpPr txBox="1"/>
            <p:nvPr/>
          </p:nvSpPr>
          <p:spPr>
            <a:xfrm>
              <a:off x="152400" y="66675"/>
              <a:ext cx="508000" cy="593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15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50" name="Google Shape;350;p61"/>
          <p:cNvGrpSpPr/>
          <p:nvPr/>
        </p:nvGrpSpPr>
        <p:grpSpPr>
          <a:xfrm>
            <a:off x="2176486" y="3247229"/>
            <a:ext cx="4797677" cy="897572"/>
            <a:chOff x="0" y="-95250"/>
            <a:chExt cx="1895378" cy="354596"/>
          </a:xfrm>
        </p:grpSpPr>
        <p:sp>
          <p:nvSpPr>
            <p:cNvPr id="351" name="Google Shape;351;p61"/>
            <p:cNvSpPr/>
            <p:nvPr/>
          </p:nvSpPr>
          <p:spPr>
            <a:xfrm>
              <a:off x="0" y="0"/>
              <a:ext cx="1895378" cy="259346"/>
            </a:xfrm>
            <a:custGeom>
              <a:avLst/>
              <a:gdLst/>
              <a:ahLst/>
              <a:cxnLst/>
              <a:rect l="l" t="t" r="r" b="b"/>
              <a:pathLst>
                <a:path w="1895378" h="259346" extrusionOk="0">
                  <a:moveTo>
                    <a:pt x="1692178" y="0"/>
                  </a:moveTo>
                  <a:cubicBezTo>
                    <a:pt x="1804402" y="0"/>
                    <a:pt x="1895378" y="58057"/>
                    <a:pt x="1895378" y="129673"/>
                  </a:cubicBezTo>
                  <a:cubicBezTo>
                    <a:pt x="1895378" y="201290"/>
                    <a:pt x="1804402" y="259346"/>
                    <a:pt x="1692178" y="259346"/>
                  </a:cubicBezTo>
                  <a:lnTo>
                    <a:pt x="203200" y="259346"/>
                  </a:lnTo>
                  <a:cubicBezTo>
                    <a:pt x="90976" y="259346"/>
                    <a:pt x="0" y="201290"/>
                    <a:pt x="0" y="129673"/>
                  </a:cubicBezTo>
                  <a:cubicBezTo>
                    <a:pt x="0" y="58057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61"/>
            <p:cNvSpPr txBox="1"/>
            <p:nvPr/>
          </p:nvSpPr>
          <p:spPr>
            <a:xfrm>
              <a:off x="0" y="-95250"/>
              <a:ext cx="1895377" cy="3545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338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 CÓMO LO HE APRENDIDO ?</a:t>
              </a:r>
              <a:endParaRPr/>
            </a:p>
          </p:txBody>
        </p:sp>
      </p:grpSp>
      <p:grpSp>
        <p:nvGrpSpPr>
          <p:cNvPr id="353" name="Google Shape;353;p61"/>
          <p:cNvGrpSpPr/>
          <p:nvPr/>
        </p:nvGrpSpPr>
        <p:grpSpPr>
          <a:xfrm>
            <a:off x="2766055" y="4101965"/>
            <a:ext cx="4811666" cy="1006804"/>
            <a:chOff x="0" y="-76200"/>
            <a:chExt cx="1900905" cy="397749"/>
          </a:xfrm>
        </p:grpSpPr>
        <p:sp>
          <p:nvSpPr>
            <p:cNvPr id="354" name="Google Shape;354;p61"/>
            <p:cNvSpPr/>
            <p:nvPr/>
          </p:nvSpPr>
          <p:spPr>
            <a:xfrm>
              <a:off x="0" y="0"/>
              <a:ext cx="1900905" cy="321549"/>
            </a:xfrm>
            <a:custGeom>
              <a:avLst/>
              <a:gdLst/>
              <a:ahLst/>
              <a:cxnLst/>
              <a:rect l="l" t="t" r="r" b="b"/>
              <a:pathLst>
                <a:path w="1900905" h="321549" extrusionOk="0">
                  <a:moveTo>
                    <a:pt x="1697705" y="0"/>
                  </a:moveTo>
                  <a:cubicBezTo>
                    <a:pt x="1809930" y="0"/>
                    <a:pt x="1900905" y="71981"/>
                    <a:pt x="1900905" y="160775"/>
                  </a:cubicBezTo>
                  <a:cubicBezTo>
                    <a:pt x="1900905" y="249568"/>
                    <a:pt x="1809930" y="321549"/>
                    <a:pt x="1697705" y="321549"/>
                  </a:cubicBezTo>
                  <a:lnTo>
                    <a:pt x="203200" y="321549"/>
                  </a:lnTo>
                  <a:cubicBezTo>
                    <a:pt x="90976" y="321549"/>
                    <a:pt x="0" y="249568"/>
                    <a:pt x="0" y="160775"/>
                  </a:cubicBezTo>
                  <a:cubicBezTo>
                    <a:pt x="0" y="71981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61"/>
            <p:cNvSpPr txBox="1"/>
            <p:nvPr/>
          </p:nvSpPr>
          <p:spPr>
            <a:xfrm>
              <a:off x="0" y="-76200"/>
              <a:ext cx="1900905" cy="397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3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26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 QUÉ HA RESULTADO MÁS FÁCIL, MÁS DIFICIL O MÁS NOVEDOSO ?</a:t>
              </a:r>
              <a:endParaRPr/>
            </a:p>
          </p:txBody>
        </p:sp>
      </p:grpSp>
      <p:grpSp>
        <p:nvGrpSpPr>
          <p:cNvPr id="356" name="Google Shape;356;p61"/>
          <p:cNvGrpSpPr/>
          <p:nvPr/>
        </p:nvGrpSpPr>
        <p:grpSpPr>
          <a:xfrm>
            <a:off x="1769525" y="4294045"/>
            <a:ext cx="813922" cy="813922"/>
            <a:chOff x="0" y="0"/>
            <a:chExt cx="812800" cy="812800"/>
          </a:xfrm>
        </p:grpSpPr>
        <p:sp>
          <p:nvSpPr>
            <p:cNvPr id="357" name="Google Shape;357;p6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61"/>
            <p:cNvSpPr txBox="1"/>
            <p:nvPr/>
          </p:nvSpPr>
          <p:spPr>
            <a:xfrm>
              <a:off x="152400" y="66675"/>
              <a:ext cx="508000" cy="593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15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359" name="Google Shape;359;p61"/>
          <p:cNvGrpSpPr/>
          <p:nvPr/>
        </p:nvGrpSpPr>
        <p:grpSpPr>
          <a:xfrm>
            <a:off x="2359094" y="5257210"/>
            <a:ext cx="813922" cy="813922"/>
            <a:chOff x="0" y="0"/>
            <a:chExt cx="812800" cy="812800"/>
          </a:xfrm>
        </p:grpSpPr>
        <p:sp>
          <p:nvSpPr>
            <p:cNvPr id="360" name="Google Shape;360;p6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61"/>
            <p:cNvSpPr txBox="1"/>
            <p:nvPr/>
          </p:nvSpPr>
          <p:spPr>
            <a:xfrm>
              <a:off x="152400" y="66675"/>
              <a:ext cx="508000" cy="593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15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362" name="Google Shape;362;p61"/>
          <p:cNvGrpSpPr/>
          <p:nvPr/>
        </p:nvGrpSpPr>
        <p:grpSpPr>
          <a:xfrm>
            <a:off x="3314364" y="5064328"/>
            <a:ext cx="4500609" cy="1006804"/>
            <a:chOff x="0" y="-76200"/>
            <a:chExt cx="1778018" cy="397749"/>
          </a:xfrm>
        </p:grpSpPr>
        <p:sp>
          <p:nvSpPr>
            <p:cNvPr id="363" name="Google Shape;363;p61"/>
            <p:cNvSpPr/>
            <p:nvPr/>
          </p:nvSpPr>
          <p:spPr>
            <a:xfrm>
              <a:off x="0" y="0"/>
              <a:ext cx="1778018" cy="321549"/>
            </a:xfrm>
            <a:custGeom>
              <a:avLst/>
              <a:gdLst/>
              <a:ahLst/>
              <a:cxnLst/>
              <a:rect l="l" t="t" r="r" b="b"/>
              <a:pathLst>
                <a:path w="1778018" h="321549" extrusionOk="0">
                  <a:moveTo>
                    <a:pt x="1574818" y="0"/>
                  </a:moveTo>
                  <a:cubicBezTo>
                    <a:pt x="1687042" y="0"/>
                    <a:pt x="1778018" y="71981"/>
                    <a:pt x="1778018" y="160775"/>
                  </a:cubicBezTo>
                  <a:cubicBezTo>
                    <a:pt x="1778018" y="249568"/>
                    <a:pt x="1687042" y="321549"/>
                    <a:pt x="1574818" y="321549"/>
                  </a:cubicBezTo>
                  <a:lnTo>
                    <a:pt x="203200" y="321549"/>
                  </a:lnTo>
                  <a:cubicBezTo>
                    <a:pt x="90976" y="321549"/>
                    <a:pt x="0" y="249568"/>
                    <a:pt x="0" y="160775"/>
                  </a:cubicBezTo>
                  <a:cubicBezTo>
                    <a:pt x="0" y="71981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61"/>
            <p:cNvSpPr txBox="1"/>
            <p:nvPr/>
          </p:nvSpPr>
          <p:spPr>
            <a:xfrm>
              <a:off x="0" y="-76200"/>
              <a:ext cx="1778018" cy="397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3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26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 CÓMO LO PUEDO MEJORAR?</a:t>
              </a:r>
              <a:endParaRPr/>
            </a:p>
            <a:p>
              <a:pPr marL="0" marR="0" lvl="0" indent="0" algn="ctr" rtl="0">
                <a:lnSpc>
                  <a:spcPct val="13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26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¿PARA QUÉ ME HA SERVIDO?</a:t>
              </a:r>
              <a:endParaRPr/>
            </a:p>
          </p:txBody>
        </p:sp>
      </p:grpSp>
      <p:sp>
        <p:nvSpPr>
          <p:cNvPr id="365" name="Google Shape;365;p61"/>
          <p:cNvSpPr/>
          <p:nvPr/>
        </p:nvSpPr>
        <p:spPr>
          <a:xfrm>
            <a:off x="8167290" y="2488590"/>
            <a:ext cx="3223061" cy="3389452"/>
          </a:xfrm>
          <a:custGeom>
            <a:avLst/>
            <a:gdLst/>
            <a:ahLst/>
            <a:cxnLst/>
            <a:rect l="l" t="t" r="r" b="b"/>
            <a:pathLst>
              <a:path w="4136262" h="4349797" extrusionOk="0">
                <a:moveTo>
                  <a:pt x="0" y="0"/>
                </a:moveTo>
                <a:lnTo>
                  <a:pt x="4136261" y="0"/>
                </a:lnTo>
                <a:lnTo>
                  <a:pt x="4136261" y="4349797"/>
                </a:lnTo>
                <a:lnTo>
                  <a:pt x="0" y="4349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1"/>
          <p:cNvSpPr txBox="1"/>
          <p:nvPr/>
        </p:nvSpPr>
        <p:spPr>
          <a:xfrm>
            <a:off x="131506" y="1286041"/>
            <a:ext cx="8496300" cy="1198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635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METACOGNICIÓN</a:t>
            </a:r>
            <a:endParaRPr dirty="0"/>
          </a:p>
        </p:txBody>
      </p:sp>
      <p:grpSp>
        <p:nvGrpSpPr>
          <p:cNvPr id="367" name="Google Shape;367;p61"/>
          <p:cNvGrpSpPr/>
          <p:nvPr/>
        </p:nvGrpSpPr>
        <p:grpSpPr>
          <a:xfrm>
            <a:off x="-116008" y="-120549"/>
            <a:ext cx="12424017" cy="253060"/>
            <a:chOff x="0" y="-47625"/>
            <a:chExt cx="4908254" cy="99975"/>
          </a:xfrm>
        </p:grpSpPr>
        <p:sp>
          <p:nvSpPr>
            <p:cNvPr id="368" name="Google Shape;368;p61"/>
            <p:cNvSpPr/>
            <p:nvPr/>
          </p:nvSpPr>
          <p:spPr>
            <a:xfrm>
              <a:off x="0" y="0"/>
              <a:ext cx="4908254" cy="52350"/>
            </a:xfrm>
            <a:custGeom>
              <a:avLst/>
              <a:gdLst/>
              <a:ahLst/>
              <a:cxnLst/>
              <a:rect l="l" t="t" r="r" b="b"/>
              <a:pathLst>
                <a:path w="4908254" h="52350" extrusionOk="0">
                  <a:moveTo>
                    <a:pt x="0" y="0"/>
                  </a:moveTo>
                  <a:lnTo>
                    <a:pt x="4908254" y="0"/>
                  </a:lnTo>
                  <a:lnTo>
                    <a:pt x="4908254" y="52350"/>
                  </a:lnTo>
                  <a:lnTo>
                    <a:pt x="0" y="52350"/>
                  </a:lnTo>
                  <a:close/>
                </a:path>
              </a:pathLst>
            </a:custGeom>
            <a:solidFill>
              <a:srgbClr val="343434">
                <a:alpha val="7725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61"/>
            <p:cNvSpPr txBox="1"/>
            <p:nvPr/>
          </p:nvSpPr>
          <p:spPr>
            <a:xfrm>
              <a:off x="0" y="-47625"/>
              <a:ext cx="4908254" cy="99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0" name="Google Shape;370;p61"/>
          <p:cNvSpPr txBox="1"/>
          <p:nvPr/>
        </p:nvSpPr>
        <p:spPr>
          <a:xfrm>
            <a:off x="1126315" y="5570422"/>
            <a:ext cx="1168168" cy="233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PLANIFICAR</a:t>
            </a:r>
            <a:endParaRPr/>
          </a:p>
        </p:txBody>
      </p:sp>
      <p:sp>
        <p:nvSpPr>
          <p:cNvPr id="371" name="Google Shape;371;p61"/>
          <p:cNvSpPr txBox="1"/>
          <p:nvPr/>
        </p:nvSpPr>
        <p:spPr>
          <a:xfrm>
            <a:off x="136625" y="3087448"/>
            <a:ext cx="1197471" cy="4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 CONSCIENTE</a:t>
            </a:r>
            <a:endParaRPr/>
          </a:p>
        </p:txBody>
      </p:sp>
      <p:sp>
        <p:nvSpPr>
          <p:cNvPr id="372" name="Google Shape;372;p61"/>
          <p:cNvSpPr txBox="1"/>
          <p:nvPr/>
        </p:nvSpPr>
        <p:spPr>
          <a:xfrm>
            <a:off x="136625" y="4115113"/>
            <a:ext cx="1197471" cy="245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8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DESCRIBIR</a:t>
            </a:r>
            <a:endParaRPr/>
          </a:p>
        </p:txBody>
      </p:sp>
      <p:sp>
        <p:nvSpPr>
          <p:cNvPr id="373" name="Google Shape;373;p61"/>
          <p:cNvSpPr txBox="1"/>
          <p:nvPr/>
        </p:nvSpPr>
        <p:spPr>
          <a:xfrm>
            <a:off x="572055" y="4856913"/>
            <a:ext cx="1197471" cy="245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8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EVALUAR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2"/>
          <p:cNvSpPr txBox="1"/>
          <p:nvPr/>
        </p:nvSpPr>
        <p:spPr>
          <a:xfrm>
            <a:off x="734042" y="2187071"/>
            <a:ext cx="10723917" cy="2146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7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71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/>
          </a:p>
        </p:txBody>
      </p:sp>
      <p:grpSp>
        <p:nvGrpSpPr>
          <p:cNvPr id="379" name="Google Shape;379;p62"/>
          <p:cNvGrpSpPr/>
          <p:nvPr/>
        </p:nvGrpSpPr>
        <p:grpSpPr>
          <a:xfrm>
            <a:off x="3985931" y="4272738"/>
            <a:ext cx="4529942" cy="664964"/>
            <a:chOff x="0" y="-47625"/>
            <a:chExt cx="1789607" cy="262702"/>
          </a:xfrm>
        </p:grpSpPr>
        <p:sp>
          <p:nvSpPr>
            <p:cNvPr id="380" name="Google Shape;380;p62"/>
            <p:cNvSpPr/>
            <p:nvPr/>
          </p:nvSpPr>
          <p:spPr>
            <a:xfrm>
              <a:off x="0" y="0"/>
              <a:ext cx="1789607" cy="215077"/>
            </a:xfrm>
            <a:custGeom>
              <a:avLst/>
              <a:gdLst/>
              <a:ahLst/>
              <a:cxnLst/>
              <a:rect l="l" t="t" r="r" b="b"/>
              <a:pathLst>
                <a:path w="1789607" h="215077" extrusionOk="0">
                  <a:moveTo>
                    <a:pt x="0" y="0"/>
                  </a:moveTo>
                  <a:lnTo>
                    <a:pt x="1789607" y="0"/>
                  </a:lnTo>
                  <a:lnTo>
                    <a:pt x="1789607" y="215077"/>
                  </a:lnTo>
                  <a:lnTo>
                    <a:pt x="0" y="215077"/>
                  </a:lnTo>
                  <a:close/>
                </a:path>
              </a:pathLst>
            </a:custGeom>
            <a:solidFill>
              <a:srgbClr val="21161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62"/>
            <p:cNvSpPr txBox="1"/>
            <p:nvPr/>
          </p:nvSpPr>
          <p:spPr>
            <a:xfrm>
              <a:off x="0" y="-47625"/>
              <a:ext cx="1789607" cy="262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39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36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 LA UTP SABEMOS QUE TODO ES POSIBLE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3465</Words>
  <Application>Microsoft Macintosh PowerPoint</Application>
  <PresentationFormat>Panorámica</PresentationFormat>
  <Paragraphs>438</Paragraphs>
  <Slides>42</Slides>
  <Notes>42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7" baseType="lpstr">
      <vt:lpstr>Roboto Medium</vt:lpstr>
      <vt:lpstr>Calibri</vt:lpstr>
      <vt:lpstr>Arial</vt:lpstr>
      <vt:lpstr>Verdana</vt:lpstr>
      <vt:lpstr>Office Theme</vt:lpstr>
      <vt:lpstr>DISEÑO DE PATRONES</vt:lpstr>
      <vt:lpstr>Presentación de PowerPoint</vt:lpstr>
      <vt:lpstr>Presentación de PowerPoint</vt:lpstr>
      <vt:lpstr>LOGRO DE LA SESIÓN</vt:lpstr>
      <vt:lpstr>IMPORTANCIA DE LA SESIÓN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DE PATRONES</dc:title>
  <dc:creator>Julia</dc:creator>
  <cp:lastModifiedBy>Alfredo Guevara</cp:lastModifiedBy>
  <cp:revision>1</cp:revision>
  <dcterms:created xsi:type="dcterms:W3CDTF">2024-06-11T03:36:57Z</dcterms:created>
  <dcterms:modified xsi:type="dcterms:W3CDTF">2024-08-28T20:35:21Z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2020-06-18T00:00:00Z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2024-06-11T00:00:00Z</vt:filetime>
  </property>
</Properties>
</file>