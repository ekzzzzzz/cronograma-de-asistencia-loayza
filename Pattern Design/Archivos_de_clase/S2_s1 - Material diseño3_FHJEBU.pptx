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12192000" cy="6858000"/>
  <p:embeddedFontLst>
    <p:embeddedFont>
      <p:font typeface="Roboto Medium"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jYju/Y7JID5QDbA9fxjxS2F1YPN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44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6905625" y="0"/>
            <a:ext cx="5283200" cy="3444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44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 name="Google Shape;69;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 name="Google Shape;69;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0189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 name="Google Shape;77;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 name="Google Shape;85;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efdfaee476_0_0: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g2efdfaee476_0_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3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3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3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3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p3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4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4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4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4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4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4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4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4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4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4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4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4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4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4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4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4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4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5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5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5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5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5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5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5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5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5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5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5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5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5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5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obj">
  <p:cSld name="OBJECT">
    <p:spTree>
      <p:nvGrpSpPr>
        <p:cNvPr id="1" name="Shape 15"/>
        <p:cNvGrpSpPr/>
        <p:nvPr/>
      </p:nvGrpSpPr>
      <p:grpSpPr>
        <a:xfrm>
          <a:off x="0" y="0"/>
          <a:ext cx="0" cy="0"/>
          <a:chOff x="0" y="0"/>
          <a:chExt cx="0" cy="0"/>
        </a:xfrm>
      </p:grpSpPr>
      <p:sp>
        <p:nvSpPr>
          <p:cNvPr id="16" name="Google Shape;16;p28"/>
          <p:cNvSpPr txBox="1">
            <a:spLocks noGrp="1"/>
          </p:cNvSpPr>
          <p:nvPr>
            <p:ph type="ctrTitle"/>
          </p:nvPr>
        </p:nvSpPr>
        <p:spPr>
          <a:xfrm>
            <a:off x="1734820" y="1015746"/>
            <a:ext cx="8722359" cy="176339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8"/>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1"/>
        <p:cNvGrpSpPr/>
        <p:nvPr/>
      </p:nvGrpSpPr>
      <p:grpSpPr>
        <a:xfrm>
          <a:off x="0" y="0"/>
          <a:ext cx="0" cy="0"/>
          <a:chOff x="0" y="0"/>
          <a:chExt cx="0" cy="0"/>
        </a:xfrm>
      </p:grpSpPr>
      <p:sp>
        <p:nvSpPr>
          <p:cNvPr id="22" name="Google Shape;22;p3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5"/>
        <p:cNvGrpSpPr/>
        <p:nvPr/>
      </p:nvGrpSpPr>
      <p:grpSpPr>
        <a:xfrm>
          <a:off x="0" y="0"/>
          <a:ext cx="0" cy="0"/>
          <a:chOff x="0" y="0"/>
          <a:chExt cx="0" cy="0"/>
        </a:xfrm>
      </p:grpSpPr>
      <p:sp>
        <p:nvSpPr>
          <p:cNvPr id="26" name="Google Shape;26;p34"/>
          <p:cNvSpPr txBox="1">
            <a:spLocks noGrp="1"/>
          </p:cNvSpPr>
          <p:nvPr>
            <p:ph type="title"/>
          </p:nvPr>
        </p:nvSpPr>
        <p:spPr>
          <a:xfrm>
            <a:off x="916939" y="609676"/>
            <a:ext cx="10358120"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4"/>
          <p:cNvSpPr txBox="1">
            <a:spLocks noGrp="1"/>
          </p:cNvSpPr>
          <p:nvPr>
            <p:ph type="body" idx="1"/>
          </p:nvPr>
        </p:nvSpPr>
        <p:spPr>
          <a:xfrm>
            <a:off x="916939" y="1784350"/>
            <a:ext cx="4892675" cy="402653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b="0" i="0">
                <a:solidFill>
                  <a:schemeClr val="dk1"/>
                </a:solidFill>
                <a:latin typeface="Calibri"/>
                <a:ea typeface="Calibri"/>
                <a:cs typeface="Calibri"/>
                <a:sym typeface="Calibri"/>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body" idx="2"/>
          </p:nvPr>
        </p:nvSpPr>
        <p:spPr>
          <a:xfrm>
            <a:off x="7660005" y="1784350"/>
            <a:ext cx="3527425" cy="402653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b="0" i="0">
                <a:solidFill>
                  <a:schemeClr val="dk1"/>
                </a:solidFill>
                <a:latin typeface="Calibri"/>
                <a:ea typeface="Calibri"/>
                <a:cs typeface="Calibri"/>
                <a:sym typeface="Calibri"/>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9" name="Google Shape;29;p3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1_Blank">
  <p:cSld name="1_Blank">
    <p:bg>
      <p:bgPr>
        <a:solidFill>
          <a:schemeClr val="lt1"/>
        </a:solidFill>
        <a:effectLst/>
      </p:bgPr>
    </p:bg>
    <p:spTree>
      <p:nvGrpSpPr>
        <p:cNvPr id="1" name="Shape 32"/>
        <p:cNvGrpSpPr/>
        <p:nvPr/>
      </p:nvGrpSpPr>
      <p:grpSpPr>
        <a:xfrm>
          <a:off x="0" y="0"/>
          <a:ext cx="0" cy="0"/>
          <a:chOff x="0" y="0"/>
          <a:chExt cx="0" cy="0"/>
        </a:xfrm>
      </p:grpSpPr>
      <p:sp>
        <p:nvSpPr>
          <p:cNvPr id="33" name="Google Shape;33;p3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SzPts val="1800"/>
              <a:buNone/>
              <a:defRPr>
                <a:solidFill>
                  <a:srgbClr val="888888"/>
                </a:solidFill>
              </a:defRPr>
            </a:lvl1pPr>
            <a:lvl2pPr marL="0" lvl="1" indent="0" algn="r">
              <a:lnSpc>
                <a:spcPct val="100000"/>
              </a:lnSpc>
              <a:spcBef>
                <a:spcPts val="0"/>
              </a:spcBef>
              <a:spcAft>
                <a:spcPts val="0"/>
              </a:spcAft>
              <a:buSzPts val="1800"/>
              <a:buNone/>
              <a:defRPr>
                <a:solidFill>
                  <a:srgbClr val="888888"/>
                </a:solidFill>
              </a:defRPr>
            </a:lvl2pPr>
            <a:lvl3pPr marL="0" lvl="2" indent="0" algn="r">
              <a:lnSpc>
                <a:spcPct val="100000"/>
              </a:lnSpc>
              <a:spcBef>
                <a:spcPts val="0"/>
              </a:spcBef>
              <a:spcAft>
                <a:spcPts val="0"/>
              </a:spcAft>
              <a:buSzPts val="1800"/>
              <a:buNone/>
              <a:defRPr>
                <a:solidFill>
                  <a:srgbClr val="888888"/>
                </a:solidFill>
              </a:defRPr>
            </a:lvl3pPr>
            <a:lvl4pPr marL="0" lvl="3" indent="0" algn="r">
              <a:lnSpc>
                <a:spcPct val="100000"/>
              </a:lnSpc>
              <a:spcBef>
                <a:spcPts val="0"/>
              </a:spcBef>
              <a:spcAft>
                <a:spcPts val="0"/>
              </a:spcAft>
              <a:buSzPts val="1800"/>
              <a:buNone/>
              <a:defRPr>
                <a:solidFill>
                  <a:srgbClr val="888888"/>
                </a:solidFill>
              </a:defRPr>
            </a:lvl4pPr>
            <a:lvl5pPr marL="0" lvl="4" indent="0" algn="r">
              <a:lnSpc>
                <a:spcPct val="100000"/>
              </a:lnSpc>
              <a:spcBef>
                <a:spcPts val="0"/>
              </a:spcBef>
              <a:spcAft>
                <a:spcPts val="0"/>
              </a:spcAft>
              <a:buSzPts val="1800"/>
              <a:buNone/>
              <a:defRPr>
                <a:solidFill>
                  <a:srgbClr val="888888"/>
                </a:solidFill>
              </a:defRPr>
            </a:lvl5pPr>
            <a:lvl6pPr marL="0" lvl="5" indent="0" algn="r">
              <a:lnSpc>
                <a:spcPct val="100000"/>
              </a:lnSpc>
              <a:spcBef>
                <a:spcPts val="0"/>
              </a:spcBef>
              <a:spcAft>
                <a:spcPts val="0"/>
              </a:spcAft>
              <a:buSzPts val="1800"/>
              <a:buNone/>
              <a:defRPr>
                <a:solidFill>
                  <a:srgbClr val="888888"/>
                </a:solidFill>
              </a:defRPr>
            </a:lvl6pPr>
            <a:lvl7pPr marL="0" lvl="6" indent="0" algn="r">
              <a:lnSpc>
                <a:spcPct val="100000"/>
              </a:lnSpc>
              <a:spcBef>
                <a:spcPts val="0"/>
              </a:spcBef>
              <a:spcAft>
                <a:spcPts val="0"/>
              </a:spcAft>
              <a:buSzPts val="1800"/>
              <a:buNone/>
              <a:defRPr>
                <a:solidFill>
                  <a:srgbClr val="888888"/>
                </a:solidFill>
              </a:defRPr>
            </a:lvl7pPr>
            <a:lvl8pPr marL="0" lvl="7" indent="0" algn="r">
              <a:lnSpc>
                <a:spcPct val="100000"/>
              </a:lnSpc>
              <a:spcBef>
                <a:spcPts val="0"/>
              </a:spcBef>
              <a:spcAft>
                <a:spcPts val="0"/>
              </a:spcAft>
              <a:buSzPts val="1800"/>
              <a:buNone/>
              <a:defRPr>
                <a:solidFill>
                  <a:srgbClr val="888888"/>
                </a:solidFill>
              </a:defRPr>
            </a:lvl8pPr>
            <a:lvl9pPr marL="0" lvl="8" indent="0" algn="r">
              <a:lnSpc>
                <a:spcPct val="100000"/>
              </a:lnSpc>
              <a:spcBef>
                <a:spcPts val="0"/>
              </a:spcBef>
              <a:spcAft>
                <a:spcPts val="0"/>
              </a:spcAft>
              <a:buSzPts val="1800"/>
              <a:buNone/>
              <a:defRPr>
                <a:solidFill>
                  <a:srgbClr val="888888"/>
                </a:solidFill>
              </a:defRPr>
            </a:lvl9pPr>
          </a:lstStyle>
          <a:p>
            <a:pPr marL="0" lvl="0" indent="0" algn="r" rtl="0">
              <a:spcBef>
                <a:spcPts val="0"/>
              </a:spcBef>
              <a:spcAft>
                <a:spcPts val="0"/>
              </a:spcAft>
              <a:buNone/>
            </a:pPr>
            <a:fld id="{00000000-1234-1234-1234-123412341234}" type="slidenum">
              <a:rPr lang="es-ES"/>
              <a:t>‹Nº›</a:t>
            </a:fld>
            <a:endParaRPr sz="1800" b="0" i="0" u="none" strike="noStrike" cap="none">
              <a:latin typeface="Calibri"/>
              <a:ea typeface="Calibri"/>
              <a:cs typeface="Calibri"/>
              <a:sym typeface="Calibri"/>
            </a:endParaRPr>
          </a:p>
        </p:txBody>
      </p:sp>
      <p:sp>
        <p:nvSpPr>
          <p:cNvPr id="36" name="Google Shape;36;p35"/>
          <p:cNvSpPr/>
          <p:nvPr/>
        </p:nvSpPr>
        <p:spPr>
          <a:xfrm>
            <a:off x="376313" y="348595"/>
            <a:ext cx="3205083" cy="818999"/>
          </a:xfrm>
          <a:custGeom>
            <a:avLst/>
            <a:gdLst/>
            <a:ahLst/>
            <a:cxnLst/>
            <a:rect l="l" t="t" r="r" b="b"/>
            <a:pathLst>
              <a:path w="4305684" h="1165910" extrusionOk="0">
                <a:moveTo>
                  <a:pt x="0" y="0"/>
                </a:moveTo>
                <a:lnTo>
                  <a:pt x="4305684" y="0"/>
                </a:lnTo>
                <a:lnTo>
                  <a:pt x="4305684" y="1165910"/>
                </a:lnTo>
                <a:lnTo>
                  <a:pt x="0" y="1165910"/>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37" name="Google Shape;37;p35"/>
          <p:cNvGrpSpPr/>
          <p:nvPr/>
        </p:nvGrpSpPr>
        <p:grpSpPr>
          <a:xfrm>
            <a:off x="-9143" y="6005473"/>
            <a:ext cx="12201144" cy="818999"/>
            <a:chOff x="0" y="-47625"/>
            <a:chExt cx="4908254" cy="252121"/>
          </a:xfrm>
        </p:grpSpPr>
        <p:sp>
          <p:nvSpPr>
            <p:cNvPr id="38" name="Google Shape;38;p35"/>
            <p:cNvSpPr/>
            <p:nvPr/>
          </p:nvSpPr>
          <p:spPr>
            <a:xfrm>
              <a:off x="0" y="0"/>
              <a:ext cx="4908254" cy="204496"/>
            </a:xfrm>
            <a:custGeom>
              <a:avLst/>
              <a:gdLst/>
              <a:ahLst/>
              <a:cxnLst/>
              <a:rect l="l" t="t" r="r" b="b"/>
              <a:pathLst>
                <a:path w="4908254" h="204496" extrusionOk="0">
                  <a:moveTo>
                    <a:pt x="0" y="0"/>
                  </a:moveTo>
                  <a:lnTo>
                    <a:pt x="4908254" y="0"/>
                  </a:lnTo>
                  <a:lnTo>
                    <a:pt x="4908254" y="204496"/>
                  </a:lnTo>
                  <a:lnTo>
                    <a:pt x="0" y="204496"/>
                  </a:lnTo>
                  <a:close/>
                </a:path>
              </a:pathLst>
            </a:custGeom>
            <a:solidFill>
              <a:srgbClr val="343434">
                <a:alpha val="77254"/>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 name="Google Shape;39;p35"/>
            <p:cNvSpPr txBox="1"/>
            <p:nvPr/>
          </p:nvSpPr>
          <p:spPr>
            <a:xfrm>
              <a:off x="0" y="-47625"/>
              <a:ext cx="4908254" cy="252121"/>
            </a:xfrm>
            <a:prstGeom prst="rect">
              <a:avLst/>
            </a:prstGeom>
            <a:noFill/>
            <a:ln>
              <a:noFill/>
            </a:ln>
          </p:spPr>
          <p:txBody>
            <a:bodyPr spcFirstLastPara="1" wrap="square" lIns="50800" tIns="50800" rIns="50800" bIns="50800" anchor="ctr" anchorCtr="0">
              <a:noAutofit/>
            </a:bodyPr>
            <a:lstStyle/>
            <a:p>
              <a:pPr marL="0" marR="0" lvl="0" indent="0" algn="ctr" rtl="0">
                <a:lnSpc>
                  <a:spcPct val="154285"/>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cxnSp>
        <p:nvCxnSpPr>
          <p:cNvPr id="40" name="Google Shape;40;p35"/>
          <p:cNvCxnSpPr/>
          <p:nvPr/>
        </p:nvCxnSpPr>
        <p:spPr>
          <a:xfrm>
            <a:off x="9829800" y="450317"/>
            <a:ext cx="0" cy="591187"/>
          </a:xfrm>
          <a:prstGeom prst="straightConnector1">
            <a:avLst/>
          </a:prstGeom>
          <a:noFill/>
          <a:ln w="19050" cap="flat" cmpd="sng">
            <a:solidFill>
              <a:srgbClr val="000000"/>
            </a:solidFill>
            <a:prstDash val="solid"/>
            <a:round/>
            <a:headEnd type="none" w="sm" len="sm"/>
            <a:tailEnd type="none" w="sm" len="sm"/>
          </a:ln>
        </p:spPr>
      </p:cxnSp>
      <p:sp>
        <p:nvSpPr>
          <p:cNvPr id="41" name="Google Shape;41;p35"/>
          <p:cNvSpPr txBox="1"/>
          <p:nvPr/>
        </p:nvSpPr>
        <p:spPr>
          <a:xfrm>
            <a:off x="9982200" y="450317"/>
            <a:ext cx="1854823" cy="591187"/>
          </a:xfrm>
          <a:prstGeom prst="rect">
            <a:avLst/>
          </a:prstGeom>
          <a:noFill/>
          <a:ln>
            <a:noFill/>
          </a:ln>
        </p:spPr>
        <p:txBody>
          <a:bodyPr spcFirstLastPara="1" wrap="square" lIns="0" tIns="0" rIns="0" bIns="0" anchor="t" anchorCtr="0">
            <a:spAutoFit/>
          </a:bodyPr>
          <a:lstStyle/>
          <a:p>
            <a:pPr marL="0" marR="0" lvl="0" indent="0" algn="just" rtl="0">
              <a:lnSpc>
                <a:spcPct val="133611"/>
              </a:lnSpc>
              <a:spcBef>
                <a:spcPts val="0"/>
              </a:spcBef>
              <a:spcAft>
                <a:spcPts val="0"/>
              </a:spcAft>
              <a:buNone/>
            </a:pPr>
            <a:r>
              <a:rPr lang="es-ES" sz="1800" b="0" i="0" u="none" strike="noStrike" cap="none">
                <a:solidFill>
                  <a:srgbClr val="343434"/>
                </a:solidFill>
                <a:latin typeface="Arial"/>
                <a:ea typeface="Arial"/>
                <a:cs typeface="Arial"/>
                <a:sym typeface="Arial"/>
              </a:rPr>
              <a:t>FACULTADAD DE INGENIERÍA</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제목 및 내용">
  <p:cSld name="제목 및 내용">
    <p:bg>
      <p:bgPr>
        <a:solidFill>
          <a:schemeClr val="lt1"/>
        </a:solidFill>
        <a:effectLst/>
      </p:bgPr>
    </p:bg>
    <p:spTree>
      <p:nvGrpSpPr>
        <p:cNvPr id="1" name="Shape 42"/>
        <p:cNvGrpSpPr/>
        <p:nvPr/>
      </p:nvGrpSpPr>
      <p:grpSpPr>
        <a:xfrm>
          <a:off x="0" y="0"/>
          <a:ext cx="0" cy="0"/>
          <a:chOff x="0" y="0"/>
          <a:chExt cx="0" cy="0"/>
        </a:xfrm>
      </p:grpSpPr>
      <p:pic>
        <p:nvPicPr>
          <p:cNvPr id="43" name="Google Shape;43;p29"/>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4" name="Google Shape;44;p29"/>
          <p:cNvSpPr txBox="1">
            <a:spLocks noGrp="1"/>
          </p:cNvSpPr>
          <p:nvPr>
            <p:ph type="dt" idx="10"/>
          </p:nvPr>
        </p:nvSpPr>
        <p:spPr>
          <a:xfrm>
            <a:off x="609600" y="6500835"/>
            <a:ext cx="2844800" cy="22064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9"/>
          <p:cNvSpPr txBox="1">
            <a:spLocks noGrp="1"/>
          </p:cNvSpPr>
          <p:nvPr>
            <p:ph type="ftr" idx="11"/>
          </p:nvPr>
        </p:nvSpPr>
        <p:spPr>
          <a:xfrm>
            <a:off x="4165600" y="6500835"/>
            <a:ext cx="3860800" cy="220641"/>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9"/>
          <p:cNvSpPr txBox="1">
            <a:spLocks noGrp="1"/>
          </p:cNvSpPr>
          <p:nvPr>
            <p:ph type="sldNum" idx="12"/>
          </p:nvPr>
        </p:nvSpPr>
        <p:spPr>
          <a:xfrm>
            <a:off x="8737600" y="6500835"/>
            <a:ext cx="2844800" cy="22064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47" name="Google Shape;47;p29"/>
          <p:cNvSpPr txBox="1">
            <a:spLocks noGrp="1"/>
          </p:cNvSpPr>
          <p:nvPr>
            <p:ph type="body" idx="1"/>
          </p:nvPr>
        </p:nvSpPr>
        <p:spPr>
          <a:xfrm>
            <a:off x="527382" y="1268760"/>
            <a:ext cx="11203367" cy="4881686"/>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rgbClr val="595959"/>
              </a:buClr>
              <a:buSzPts val="1600"/>
              <a:buFont typeface="Calibri"/>
              <a:buNone/>
              <a:defRPr sz="1600" i="1">
                <a:solidFill>
                  <a:srgbClr val="595959"/>
                </a:solidFill>
                <a:latin typeface="Calibri"/>
                <a:ea typeface="Calibri"/>
                <a:cs typeface="Calibri"/>
                <a:sym typeface="Calibri"/>
              </a:defRPr>
            </a:lvl1pPr>
            <a:lvl2pPr marL="914400" lvl="1" indent="-228600" algn="l">
              <a:lnSpc>
                <a:spcPct val="100000"/>
              </a:lnSpc>
              <a:spcBef>
                <a:spcPts val="0"/>
              </a:spcBef>
              <a:spcAft>
                <a:spcPts val="0"/>
              </a:spcAft>
              <a:buClr>
                <a:srgbClr val="595959"/>
              </a:buClr>
              <a:buSzPts val="1600"/>
              <a:buFont typeface="Calibri"/>
              <a:buNone/>
              <a:defRPr sz="1600" i="1">
                <a:solidFill>
                  <a:srgbClr val="595959"/>
                </a:solidFill>
                <a:latin typeface="Calibri"/>
                <a:ea typeface="Calibri"/>
                <a:cs typeface="Calibri"/>
                <a:sym typeface="Calibri"/>
              </a:defRPr>
            </a:lvl2pPr>
            <a:lvl3pPr marL="1371600" lvl="2" indent="-228600" algn="l">
              <a:lnSpc>
                <a:spcPct val="100000"/>
              </a:lnSpc>
              <a:spcBef>
                <a:spcPts val="0"/>
              </a:spcBef>
              <a:spcAft>
                <a:spcPts val="0"/>
              </a:spcAft>
              <a:buClr>
                <a:srgbClr val="595959"/>
              </a:buClr>
              <a:buSzPts val="1600"/>
              <a:buFont typeface="Calibri"/>
              <a:buNone/>
              <a:defRPr sz="1600" i="1">
                <a:solidFill>
                  <a:srgbClr val="595959"/>
                </a:solidFill>
                <a:latin typeface="Calibri"/>
                <a:ea typeface="Calibri"/>
                <a:cs typeface="Calibri"/>
                <a:sym typeface="Calibri"/>
              </a:defRPr>
            </a:lvl3pPr>
            <a:lvl4pPr marL="1828800" lvl="3" indent="-228600" algn="l">
              <a:lnSpc>
                <a:spcPct val="100000"/>
              </a:lnSpc>
              <a:spcBef>
                <a:spcPts val="0"/>
              </a:spcBef>
              <a:spcAft>
                <a:spcPts val="0"/>
              </a:spcAft>
              <a:buClr>
                <a:srgbClr val="595959"/>
              </a:buClr>
              <a:buSzPts val="1600"/>
              <a:buFont typeface="Calibri"/>
              <a:buNone/>
              <a:defRPr sz="1600" i="1">
                <a:solidFill>
                  <a:srgbClr val="595959"/>
                </a:solidFill>
                <a:latin typeface="Calibri"/>
                <a:ea typeface="Calibri"/>
                <a:cs typeface="Calibri"/>
                <a:sym typeface="Calibri"/>
              </a:defRPr>
            </a:lvl4pPr>
            <a:lvl5pPr marL="2286000" lvl="4" indent="-228600" algn="l">
              <a:lnSpc>
                <a:spcPct val="100000"/>
              </a:lnSpc>
              <a:spcBef>
                <a:spcPts val="0"/>
              </a:spcBef>
              <a:spcAft>
                <a:spcPts val="0"/>
              </a:spcAft>
              <a:buClr>
                <a:srgbClr val="595959"/>
              </a:buClr>
              <a:buSzPts val="1600"/>
              <a:buFont typeface="Calibri"/>
              <a:buNone/>
              <a:defRPr sz="1600" i="1">
                <a:solidFill>
                  <a:srgbClr val="595959"/>
                </a:solidFill>
                <a:latin typeface="Calibri"/>
                <a:ea typeface="Calibri"/>
                <a:cs typeface="Calibri"/>
                <a:sym typeface="Calibri"/>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8" name="Google Shape;48;p29"/>
          <p:cNvSpPr txBox="1">
            <a:spLocks noGrp="1"/>
          </p:cNvSpPr>
          <p:nvPr>
            <p:ph type="title"/>
          </p:nvPr>
        </p:nvSpPr>
        <p:spPr>
          <a:xfrm>
            <a:off x="527381" y="116632"/>
            <a:ext cx="10214928" cy="796908"/>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95959"/>
              </a:buClr>
              <a:buSzPts val="2500"/>
              <a:buFont typeface="Calibri"/>
              <a:buNone/>
              <a:defRPr sz="2500" b="1">
                <a:solidFill>
                  <a:srgbClr val="59595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빈 화면" type="blank">
  <p:cSld name="BLANK">
    <p:bg>
      <p:bgPr>
        <a:solidFill>
          <a:schemeClr val="lt1"/>
        </a:solidFill>
        <a:effectLst/>
      </p:bgPr>
    </p:bg>
    <p:spTree>
      <p:nvGrpSpPr>
        <p:cNvPr id="1" name="Shape 49"/>
        <p:cNvGrpSpPr/>
        <p:nvPr/>
      </p:nvGrpSpPr>
      <p:grpSpPr>
        <a:xfrm>
          <a:off x="0" y="0"/>
          <a:ext cx="0" cy="0"/>
          <a:chOff x="0" y="0"/>
          <a:chExt cx="0" cy="0"/>
        </a:xfrm>
      </p:grpSpPr>
      <p:pic>
        <p:nvPicPr>
          <p:cNvPr id="50" name="Google Shape;50;p3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1" name="Google Shape;51;p3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구역 머리글">
  <p:cSld name="구역 머리글">
    <p:bg>
      <p:bgPr>
        <a:solidFill>
          <a:schemeClr val="lt1"/>
        </a:solidFill>
        <a:effectLst/>
      </p:bgPr>
    </p:bg>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911424" y="2636913"/>
            <a:ext cx="10363200" cy="1362075"/>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SzPts val="1400"/>
              <a:buNone/>
              <a:defRPr sz="4000" b="0" cap="none">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3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pic>
        <p:nvPicPr>
          <p:cNvPr id="59" name="Google Shape;59;p31"/>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916939" y="609676"/>
            <a:ext cx="10358120" cy="69723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7"/>
          <p:cNvSpPr txBox="1">
            <a:spLocks noGrp="1"/>
          </p:cNvSpPr>
          <p:nvPr>
            <p:ph type="body" idx="1"/>
          </p:nvPr>
        </p:nvSpPr>
        <p:spPr>
          <a:xfrm>
            <a:off x="916939" y="1793493"/>
            <a:ext cx="10358120" cy="185864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2" name="Google Shape;12;p2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63"/>
        <p:cNvGrpSpPr/>
        <p:nvPr/>
      </p:nvGrpSpPr>
      <p:grpSpPr>
        <a:xfrm>
          <a:off x="0" y="0"/>
          <a:ext cx="0" cy="0"/>
          <a:chOff x="0" y="0"/>
          <a:chExt cx="0" cy="0"/>
        </a:xfrm>
      </p:grpSpPr>
      <p:sp>
        <p:nvSpPr>
          <p:cNvPr id="64" name="Google Shape;64;p1"/>
          <p:cNvSpPr txBox="1">
            <a:spLocks noGrp="1"/>
          </p:cNvSpPr>
          <p:nvPr>
            <p:ph type="ctrTitle"/>
          </p:nvPr>
        </p:nvSpPr>
        <p:spPr>
          <a:xfrm>
            <a:off x="1734819" y="2965741"/>
            <a:ext cx="8722359" cy="1114531"/>
          </a:xfrm>
          <a:prstGeom prst="rect">
            <a:avLst/>
          </a:prstGeom>
          <a:noFill/>
          <a:ln>
            <a:noFill/>
          </a:ln>
        </p:spPr>
        <p:txBody>
          <a:bodyPr spcFirstLastPara="1" wrap="square" lIns="0" tIns="116200" rIns="0" bIns="0" anchor="t" anchorCtr="0">
            <a:spAutoFit/>
          </a:bodyPr>
          <a:lstStyle/>
          <a:p>
            <a:pPr marL="3268979" marR="5080" lvl="0" indent="-3253104" algn="ctr" rtl="0">
              <a:lnSpc>
                <a:spcPct val="108000"/>
              </a:lnSpc>
              <a:spcBef>
                <a:spcPts val="0"/>
              </a:spcBef>
              <a:spcAft>
                <a:spcPts val="0"/>
              </a:spcAft>
              <a:buSzPts val="1400"/>
              <a:buNone/>
            </a:pPr>
            <a:r>
              <a:rPr lang="es-ES">
                <a:latin typeface="Arial"/>
                <a:ea typeface="Arial"/>
                <a:cs typeface="Arial"/>
                <a:sym typeface="Arial"/>
              </a:rPr>
              <a:t>DISEÑO DE PATRONES</a:t>
            </a:r>
            <a:endParaRPr>
              <a:latin typeface="Arial"/>
              <a:ea typeface="Arial"/>
              <a:cs typeface="Arial"/>
              <a:sym typeface="Arial"/>
            </a:endParaRPr>
          </a:p>
        </p:txBody>
      </p:sp>
      <p:pic>
        <p:nvPicPr>
          <p:cNvPr id="65" name="Google Shape;65;p1"/>
          <p:cNvPicPr preferRelativeResize="0"/>
          <p:nvPr/>
        </p:nvPicPr>
        <p:blipFill rotWithShape="1">
          <a:blip r:embed="rId3">
            <a:alphaModFix/>
          </a:blip>
          <a:srcRect/>
          <a:stretch/>
        </p:blipFill>
        <p:spPr>
          <a:xfrm>
            <a:off x="3681788" y="370720"/>
            <a:ext cx="4828423" cy="1077080"/>
          </a:xfrm>
          <a:prstGeom prst="rect">
            <a:avLst/>
          </a:prstGeom>
          <a:noFill/>
          <a:ln>
            <a:noFill/>
          </a:ln>
        </p:spPr>
      </p:pic>
      <p:sp>
        <p:nvSpPr>
          <p:cNvPr id="66" name="Google Shape;66;p1"/>
          <p:cNvSpPr txBox="1"/>
          <p:nvPr/>
        </p:nvSpPr>
        <p:spPr>
          <a:xfrm>
            <a:off x="6486144" y="5897381"/>
            <a:ext cx="6096000" cy="659155"/>
          </a:xfrm>
          <a:prstGeom prst="rect">
            <a:avLst/>
          </a:prstGeom>
          <a:no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Clr>
                <a:srgbClr val="000000"/>
              </a:buClr>
              <a:buSzPts val="1800"/>
              <a:buFont typeface="Arial"/>
              <a:buNone/>
            </a:pPr>
            <a:r>
              <a:rPr lang="es-ES" sz="1800" b="1" i="0" u="none" strike="noStrike" cap="none" dirty="0">
                <a:solidFill>
                  <a:srgbClr val="D1052D"/>
                </a:solidFill>
                <a:latin typeface="Arial"/>
                <a:ea typeface="Arial"/>
                <a:cs typeface="Arial"/>
                <a:sym typeface="Arial"/>
              </a:rPr>
              <a:t>DOCENTE:</a:t>
            </a:r>
            <a:endParaRPr sz="1800" b="1" i="0" u="none" strike="noStrike" cap="none" dirty="0">
              <a:solidFill>
                <a:srgbClr val="D1052D"/>
              </a:solidFill>
              <a:latin typeface="Arial"/>
              <a:ea typeface="Arial"/>
              <a:cs typeface="Arial"/>
              <a:sym typeface="Arial"/>
            </a:endParaRPr>
          </a:p>
          <a:p>
            <a:pPr marL="12700" marR="0" lvl="0" indent="0" algn="ctr" rtl="0">
              <a:lnSpc>
                <a:spcPct val="100000"/>
              </a:lnSpc>
              <a:spcBef>
                <a:spcPts val="100"/>
              </a:spcBef>
              <a:spcAft>
                <a:spcPts val="0"/>
              </a:spcAft>
              <a:buClr>
                <a:srgbClr val="000000"/>
              </a:buClr>
              <a:buSzPts val="1800"/>
              <a:buFont typeface="Arial"/>
              <a:buNone/>
            </a:pPr>
            <a:r>
              <a:rPr lang="es-ES" sz="1800" b="0" i="0" u="none" strike="noStrike" cap="none" dirty="0">
                <a:solidFill>
                  <a:schemeClr val="dk1"/>
                </a:solidFill>
                <a:latin typeface="Calibri"/>
                <a:ea typeface="Calibri"/>
                <a:cs typeface="Calibri"/>
                <a:sym typeface="Calibri"/>
              </a:rPr>
              <a:t>Equipo docente</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
          <p:cNvSpPr txBox="1"/>
          <p:nvPr/>
        </p:nvSpPr>
        <p:spPr>
          <a:xfrm>
            <a:off x="699506" y="646344"/>
            <a:ext cx="358140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s-ES" sz="3200" b="1" i="0" u="none" strike="noStrike" cap="none">
                <a:solidFill>
                  <a:schemeClr val="dk1"/>
                </a:solidFill>
                <a:latin typeface="Roboto Medium"/>
                <a:ea typeface="Roboto Medium"/>
                <a:cs typeface="Roboto Medium"/>
                <a:sym typeface="Roboto Medium"/>
              </a:rPr>
              <a:t>MOTIVACIÓN</a:t>
            </a:r>
            <a:endParaRPr sz="1400" b="0" i="0" u="none" strike="noStrike" cap="none">
              <a:solidFill>
                <a:srgbClr val="000000"/>
              </a:solidFill>
              <a:latin typeface="Arial"/>
              <a:ea typeface="Arial"/>
              <a:cs typeface="Arial"/>
              <a:sym typeface="Arial"/>
            </a:endParaRPr>
          </a:p>
        </p:txBody>
      </p:sp>
      <p:pic>
        <p:nvPicPr>
          <p:cNvPr id="72" name="Google Shape;72;p2"/>
          <p:cNvPicPr preferRelativeResize="0"/>
          <p:nvPr/>
        </p:nvPicPr>
        <p:blipFill rotWithShape="1">
          <a:blip r:embed="rId3">
            <a:alphaModFix/>
          </a:blip>
          <a:srcRect/>
          <a:stretch/>
        </p:blipFill>
        <p:spPr>
          <a:xfrm>
            <a:off x="9247241" y="238087"/>
            <a:ext cx="2483508" cy="553998"/>
          </a:xfrm>
          <a:prstGeom prst="rect">
            <a:avLst/>
          </a:prstGeom>
          <a:noFill/>
          <a:ln>
            <a:noFill/>
          </a:ln>
        </p:spPr>
      </p:pic>
      <p:sp>
        <p:nvSpPr>
          <p:cNvPr id="73" name="Google Shape;73;p2"/>
          <p:cNvSpPr txBox="1"/>
          <p:nvPr/>
        </p:nvSpPr>
        <p:spPr>
          <a:xfrm>
            <a:off x="841248" y="1866665"/>
            <a:ext cx="10619232" cy="1631175"/>
          </a:xfrm>
          <a:prstGeom prst="rect">
            <a:avLst/>
          </a:prstGeom>
          <a:noFill/>
          <a:ln>
            <a:noFill/>
          </a:ln>
        </p:spPr>
        <p:txBody>
          <a:bodyPr spcFirstLastPara="1" wrap="square" lIns="91425" tIns="45700" rIns="91425" bIns="45700" anchor="t" anchorCtr="0">
            <a:spAutoFit/>
          </a:bodyPr>
          <a:lstStyle/>
          <a:p>
            <a:pPr marL="263525" marR="0" lvl="0" indent="-250825" algn="l" rtl="0">
              <a:lnSpc>
                <a:spcPct val="100000"/>
              </a:lnSpc>
              <a:spcBef>
                <a:spcPts val="0"/>
              </a:spcBef>
              <a:spcAft>
                <a:spcPts val="0"/>
              </a:spcAft>
              <a:buClr>
                <a:srgbClr val="000000"/>
              </a:buClr>
              <a:buSzPts val="2400"/>
              <a:buFont typeface="Arial"/>
              <a:buChar char="•"/>
            </a:pPr>
            <a:r>
              <a:rPr lang="es-MX" sz="2400" dirty="0"/>
              <a:t>¿</a:t>
            </a:r>
            <a:r>
              <a:rPr lang="es-MX" sz="2400" b="0" i="0" u="none" strike="noStrike" cap="none" dirty="0">
                <a:solidFill>
                  <a:srgbClr val="000000"/>
                </a:solidFill>
                <a:latin typeface="Arial"/>
                <a:ea typeface="Arial"/>
                <a:cs typeface="Arial"/>
                <a:sym typeface="Arial"/>
              </a:rPr>
              <a:t>Para qué sirve la clase interfaz en java?</a:t>
            </a:r>
          </a:p>
          <a:p>
            <a:pPr marL="263525" marR="0" lvl="0" indent="-250825" algn="l" rtl="0">
              <a:lnSpc>
                <a:spcPct val="100000"/>
              </a:lnSpc>
              <a:spcBef>
                <a:spcPts val="0"/>
              </a:spcBef>
              <a:spcAft>
                <a:spcPts val="0"/>
              </a:spcAft>
              <a:buClr>
                <a:srgbClr val="000000"/>
              </a:buClr>
              <a:buSzPts val="2400"/>
              <a:buFont typeface="Arial"/>
              <a:buChar char="•"/>
            </a:pPr>
            <a:r>
              <a:rPr lang="es-MX" sz="2400" dirty="0"/>
              <a:t>¿ Que se necesita para usarla?</a:t>
            </a:r>
            <a:endParaRPr lang="es-MX" sz="2400" b="0" i="0" u="none" strike="noStrike" cap="none" dirty="0">
              <a:solidFill>
                <a:srgbClr val="000000"/>
              </a:solidFill>
              <a:latin typeface="Arial"/>
              <a:ea typeface="Arial"/>
              <a:cs typeface="Arial"/>
              <a:sym typeface="Arial"/>
            </a:endParaRPr>
          </a:p>
          <a:p>
            <a:pPr marL="263525" marR="0" lvl="0" indent="-250825" algn="l" rtl="0">
              <a:lnSpc>
                <a:spcPct val="100000"/>
              </a:lnSpc>
              <a:spcBef>
                <a:spcPts val="0"/>
              </a:spcBef>
              <a:spcAft>
                <a:spcPts val="0"/>
              </a:spcAft>
              <a:buClr>
                <a:srgbClr val="000000"/>
              </a:buClr>
              <a:buSzPts val="2400"/>
              <a:buFont typeface="Arial"/>
              <a:buChar char="•"/>
            </a:pPr>
            <a:endParaRPr sz="2400" b="0" i="0" u="none" strike="noStrike" cap="none" dirty="0">
              <a:solidFill>
                <a:srgbClr val="000000"/>
              </a:solidFill>
              <a:latin typeface="Arial"/>
              <a:ea typeface="Arial"/>
              <a:cs typeface="Arial"/>
              <a:sym typeface="Arial"/>
            </a:endParaRPr>
          </a:p>
          <a:p>
            <a:pPr marL="4446905" marR="0" lvl="0" indent="0" algn="l" rtl="0">
              <a:lnSpc>
                <a:spcPct val="100000"/>
              </a:lnSpc>
              <a:spcBef>
                <a:spcPts val="1185"/>
              </a:spcBef>
              <a:spcAft>
                <a:spcPts val="0"/>
              </a:spcAft>
              <a:buNone/>
            </a:pPr>
            <a:r>
              <a:rPr lang="es-ES" sz="1800" b="1" i="0" u="none" strike="noStrike" cap="none" dirty="0">
                <a:solidFill>
                  <a:srgbClr val="000000"/>
                </a:solidFill>
                <a:latin typeface="Arial"/>
                <a:ea typeface="Arial"/>
                <a:cs typeface="Arial"/>
                <a:sym typeface="Arial"/>
              </a:rPr>
              <a:t>5 minutos</a:t>
            </a:r>
            <a:endParaRPr sz="1800" b="0" i="0" u="none" strike="noStrike" cap="none" dirty="0">
              <a:solidFill>
                <a:srgbClr val="000000"/>
              </a:solidFill>
              <a:latin typeface="Arial"/>
              <a:ea typeface="Arial"/>
              <a:cs typeface="Arial"/>
              <a:sym typeface="Arial"/>
            </a:endParaRPr>
          </a:p>
        </p:txBody>
      </p:sp>
      <p:pic>
        <p:nvPicPr>
          <p:cNvPr id="74" name="Google Shape;74;p2"/>
          <p:cNvPicPr preferRelativeResize="0"/>
          <p:nvPr/>
        </p:nvPicPr>
        <p:blipFill rotWithShape="1">
          <a:blip r:embed="rId4">
            <a:alphaModFix/>
          </a:blip>
          <a:srcRect/>
          <a:stretch/>
        </p:blipFill>
        <p:spPr>
          <a:xfrm>
            <a:off x="4833915" y="5599094"/>
            <a:ext cx="445171" cy="44517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
          <p:cNvSpPr txBox="1"/>
          <p:nvPr/>
        </p:nvSpPr>
        <p:spPr>
          <a:xfrm>
            <a:off x="699506" y="646344"/>
            <a:ext cx="358140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s-ES" sz="3200" b="1" i="0" u="none" strike="noStrike" cap="none">
                <a:solidFill>
                  <a:schemeClr val="dk1"/>
                </a:solidFill>
                <a:latin typeface="Roboto Medium"/>
                <a:ea typeface="Roboto Medium"/>
                <a:cs typeface="Roboto Medium"/>
                <a:sym typeface="Roboto Medium"/>
              </a:rPr>
              <a:t>MOTIVACIÓN</a:t>
            </a:r>
            <a:endParaRPr sz="1400" b="0" i="0" u="none" strike="noStrike" cap="none">
              <a:solidFill>
                <a:srgbClr val="000000"/>
              </a:solidFill>
              <a:latin typeface="Arial"/>
              <a:ea typeface="Arial"/>
              <a:cs typeface="Arial"/>
              <a:sym typeface="Arial"/>
            </a:endParaRPr>
          </a:p>
        </p:txBody>
      </p:sp>
      <p:pic>
        <p:nvPicPr>
          <p:cNvPr id="72" name="Google Shape;72;p2"/>
          <p:cNvPicPr preferRelativeResize="0"/>
          <p:nvPr/>
        </p:nvPicPr>
        <p:blipFill rotWithShape="1">
          <a:blip r:embed="rId3">
            <a:alphaModFix/>
          </a:blip>
          <a:srcRect/>
          <a:stretch/>
        </p:blipFill>
        <p:spPr>
          <a:xfrm>
            <a:off x="9247241" y="238087"/>
            <a:ext cx="2483508" cy="553998"/>
          </a:xfrm>
          <a:prstGeom prst="rect">
            <a:avLst/>
          </a:prstGeom>
          <a:noFill/>
          <a:ln>
            <a:noFill/>
          </a:ln>
        </p:spPr>
      </p:pic>
      <p:sp>
        <p:nvSpPr>
          <p:cNvPr id="73" name="Google Shape;73;p2"/>
          <p:cNvSpPr txBox="1"/>
          <p:nvPr/>
        </p:nvSpPr>
        <p:spPr>
          <a:xfrm>
            <a:off x="699506" y="1379968"/>
            <a:ext cx="10619232" cy="5632271"/>
          </a:xfrm>
          <a:prstGeom prst="rect">
            <a:avLst/>
          </a:prstGeom>
          <a:noFill/>
          <a:ln>
            <a:noFill/>
          </a:ln>
        </p:spPr>
        <p:txBody>
          <a:bodyPr spcFirstLastPara="1" wrap="square" lIns="91425" tIns="45700" rIns="91425" bIns="45700" anchor="t" anchorCtr="0">
            <a:spAutoFit/>
          </a:bodyPr>
          <a:lstStyle/>
          <a:p>
            <a:pPr marL="12700" marR="0" lvl="0" algn="l" rtl="0">
              <a:lnSpc>
                <a:spcPct val="100000"/>
              </a:lnSpc>
              <a:spcBef>
                <a:spcPts val="0"/>
              </a:spcBef>
              <a:spcAft>
                <a:spcPts val="0"/>
              </a:spcAft>
              <a:buClr>
                <a:srgbClr val="000000"/>
              </a:buClr>
              <a:buSzPts val="2400"/>
            </a:pPr>
            <a:r>
              <a:rPr lang="es-MX" sz="1600" b="1" i="0" u="none" strike="noStrike" cap="none" dirty="0">
                <a:solidFill>
                  <a:srgbClr val="000000"/>
                </a:solidFill>
                <a:latin typeface="Arial"/>
                <a:ea typeface="Arial"/>
                <a:cs typeface="Arial"/>
                <a:sym typeface="Arial"/>
              </a:rPr>
              <a:t>// 1.Definición de la interfaz</a:t>
            </a:r>
          </a:p>
          <a:p>
            <a:pPr marL="12700" marR="0" lvl="0" algn="l" rtl="0">
              <a:lnSpc>
                <a:spcPct val="100000"/>
              </a:lnSpc>
              <a:spcBef>
                <a:spcPts val="0"/>
              </a:spcBef>
              <a:spcAft>
                <a:spcPts val="0"/>
              </a:spcAft>
              <a:buClr>
                <a:srgbClr val="000000"/>
              </a:buClr>
              <a:buSzPts val="2400"/>
            </a:pPr>
            <a:r>
              <a:rPr lang="es-MX" sz="1600" b="0" i="0" u="none" strike="noStrike" cap="none" dirty="0" err="1">
                <a:solidFill>
                  <a:srgbClr val="000000"/>
                </a:solidFill>
                <a:latin typeface="Arial"/>
                <a:ea typeface="Arial"/>
                <a:cs typeface="Arial"/>
                <a:sym typeface="Arial"/>
              </a:rPr>
              <a:t>public</a:t>
            </a:r>
            <a:r>
              <a:rPr lang="es-MX" sz="1600" b="0" i="0" u="none" strike="noStrike" cap="none" dirty="0">
                <a:solidFill>
                  <a:srgbClr val="000000"/>
                </a:solidFill>
                <a:latin typeface="Arial"/>
                <a:ea typeface="Arial"/>
                <a:cs typeface="Arial"/>
                <a:sym typeface="Arial"/>
              </a:rPr>
              <a:t> interface </a:t>
            </a:r>
            <a:r>
              <a:rPr lang="es-MX" sz="1600" b="0" i="0" u="none" strike="noStrike" cap="none" dirty="0" err="1">
                <a:solidFill>
                  <a:srgbClr val="000000"/>
                </a:solidFill>
                <a:latin typeface="Arial"/>
                <a:ea typeface="Arial"/>
                <a:cs typeface="Arial"/>
                <a:sym typeface="Arial"/>
              </a:rPr>
              <a:t>Vehiculo</a:t>
            </a:r>
            <a:r>
              <a:rPr lang="es-MX" sz="1600" b="0" i="0" u="none" strike="noStrike" cap="none" dirty="0">
                <a:solidFill>
                  <a:srgbClr val="000000"/>
                </a:solidFill>
                <a:latin typeface="Arial"/>
                <a:ea typeface="Arial"/>
                <a:cs typeface="Arial"/>
                <a:sym typeface="Arial"/>
              </a:rPr>
              <a:t> {</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a:t>
            </a:r>
            <a:r>
              <a:rPr lang="es-MX" sz="1600" b="0" i="0" u="none" strike="noStrike" cap="none" dirty="0" err="1">
                <a:solidFill>
                  <a:srgbClr val="000000"/>
                </a:solidFill>
                <a:latin typeface="Arial"/>
                <a:ea typeface="Arial"/>
                <a:cs typeface="Arial"/>
                <a:sym typeface="Arial"/>
              </a:rPr>
              <a:t>void</a:t>
            </a:r>
            <a:r>
              <a:rPr lang="es-MX" sz="1600" b="0" i="0" u="none" strike="noStrike" cap="none" dirty="0">
                <a:solidFill>
                  <a:srgbClr val="000000"/>
                </a:solidFill>
                <a:latin typeface="Arial"/>
                <a:ea typeface="Arial"/>
                <a:cs typeface="Arial"/>
                <a:sym typeface="Arial"/>
              </a:rPr>
              <a:t> acelerar();   // Método abstracto</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a:t>
            </a:r>
            <a:r>
              <a:rPr lang="es-MX" sz="1600" b="0" i="0" u="none" strike="noStrike" cap="none" dirty="0" err="1">
                <a:solidFill>
                  <a:srgbClr val="000000"/>
                </a:solidFill>
                <a:latin typeface="Arial"/>
                <a:ea typeface="Arial"/>
                <a:cs typeface="Arial"/>
                <a:sym typeface="Arial"/>
              </a:rPr>
              <a:t>void</a:t>
            </a:r>
            <a:r>
              <a:rPr lang="es-MX" sz="1600" b="0" i="0" u="none" strike="noStrike" cap="none" dirty="0">
                <a:solidFill>
                  <a:srgbClr val="000000"/>
                </a:solidFill>
                <a:latin typeface="Arial"/>
                <a:ea typeface="Arial"/>
                <a:cs typeface="Arial"/>
                <a:sym typeface="Arial"/>
              </a:rPr>
              <a:t> frenar();     // Otro método abstracto</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a:t>
            </a:r>
          </a:p>
          <a:p>
            <a:pPr marL="12700" marR="0" lvl="0" algn="l" rtl="0">
              <a:lnSpc>
                <a:spcPct val="100000"/>
              </a:lnSpc>
              <a:spcBef>
                <a:spcPts val="0"/>
              </a:spcBef>
              <a:spcAft>
                <a:spcPts val="0"/>
              </a:spcAft>
              <a:buClr>
                <a:srgbClr val="000000"/>
              </a:buClr>
              <a:buSzPts val="2400"/>
            </a:pPr>
            <a:r>
              <a:rPr lang="es-MX" sz="1600" b="1" i="0" u="none" strike="noStrike" cap="none" dirty="0">
                <a:solidFill>
                  <a:srgbClr val="000000"/>
                </a:solidFill>
                <a:latin typeface="Arial"/>
                <a:ea typeface="Arial"/>
                <a:cs typeface="Arial"/>
                <a:sym typeface="Arial"/>
              </a:rPr>
              <a:t>// 2.Clase que implementa la interfaz </a:t>
            </a:r>
            <a:r>
              <a:rPr lang="es-MX" sz="1600" b="1" i="0" u="none" strike="noStrike" cap="none" dirty="0" err="1">
                <a:solidFill>
                  <a:srgbClr val="000000"/>
                </a:solidFill>
                <a:latin typeface="Arial"/>
                <a:ea typeface="Arial"/>
                <a:cs typeface="Arial"/>
                <a:sym typeface="Arial"/>
              </a:rPr>
              <a:t>Vehiculo</a:t>
            </a:r>
            <a:endParaRPr lang="es-MX" sz="1600" b="1" i="0" u="none" strike="noStrike" cap="none" dirty="0">
              <a:solidFill>
                <a:srgbClr val="000000"/>
              </a:solidFill>
              <a:latin typeface="Arial"/>
              <a:ea typeface="Arial"/>
              <a:cs typeface="Arial"/>
              <a:sym typeface="Arial"/>
            </a:endParaRPr>
          </a:p>
          <a:p>
            <a:pPr marL="12700" marR="0" lvl="0" algn="l" rtl="0">
              <a:lnSpc>
                <a:spcPct val="100000"/>
              </a:lnSpc>
              <a:spcBef>
                <a:spcPts val="0"/>
              </a:spcBef>
              <a:spcAft>
                <a:spcPts val="0"/>
              </a:spcAft>
              <a:buClr>
                <a:srgbClr val="000000"/>
              </a:buClr>
              <a:buSzPts val="2400"/>
            </a:pPr>
            <a:r>
              <a:rPr lang="es-MX" sz="1600" b="0" i="0" u="none" strike="noStrike" cap="none" dirty="0" err="1">
                <a:solidFill>
                  <a:srgbClr val="000000"/>
                </a:solidFill>
                <a:latin typeface="Arial"/>
                <a:ea typeface="Arial"/>
                <a:cs typeface="Arial"/>
                <a:sym typeface="Arial"/>
              </a:rPr>
              <a:t>public</a:t>
            </a:r>
            <a:r>
              <a:rPr lang="es-MX" sz="1600" b="0" i="0" u="none" strike="noStrike" cap="none" dirty="0">
                <a:solidFill>
                  <a:srgbClr val="000000"/>
                </a:solidFill>
                <a:latin typeface="Arial"/>
                <a:ea typeface="Arial"/>
                <a:cs typeface="Arial"/>
                <a:sym typeface="Arial"/>
              </a:rPr>
              <a:t> </a:t>
            </a:r>
            <a:r>
              <a:rPr lang="es-MX" sz="1600" b="0" i="0" u="none" strike="noStrike" cap="none" dirty="0" err="1">
                <a:solidFill>
                  <a:srgbClr val="000000"/>
                </a:solidFill>
                <a:latin typeface="Arial"/>
                <a:ea typeface="Arial"/>
                <a:cs typeface="Arial"/>
                <a:sym typeface="Arial"/>
              </a:rPr>
              <a:t>class</a:t>
            </a:r>
            <a:r>
              <a:rPr lang="es-MX" sz="1600" b="0" i="0" u="none" strike="noStrike" cap="none" dirty="0">
                <a:solidFill>
                  <a:srgbClr val="000000"/>
                </a:solidFill>
                <a:latin typeface="Arial"/>
                <a:ea typeface="Arial"/>
                <a:cs typeface="Arial"/>
                <a:sym typeface="Arial"/>
              </a:rPr>
              <a:t> Coche </a:t>
            </a:r>
            <a:r>
              <a:rPr lang="es-MX" sz="1600" b="0" i="0" u="none" strike="noStrike" cap="none" dirty="0" err="1">
                <a:solidFill>
                  <a:srgbClr val="000000"/>
                </a:solidFill>
                <a:latin typeface="Arial"/>
                <a:ea typeface="Arial"/>
                <a:cs typeface="Arial"/>
                <a:sym typeface="Arial"/>
              </a:rPr>
              <a:t>implements</a:t>
            </a:r>
            <a:r>
              <a:rPr lang="es-MX" sz="1600" b="0" i="0" u="none" strike="noStrike" cap="none" dirty="0">
                <a:solidFill>
                  <a:srgbClr val="000000"/>
                </a:solidFill>
                <a:latin typeface="Arial"/>
                <a:ea typeface="Arial"/>
                <a:cs typeface="Arial"/>
                <a:sym typeface="Arial"/>
              </a:rPr>
              <a:t> </a:t>
            </a:r>
            <a:r>
              <a:rPr lang="es-MX" sz="1600" b="0" i="0" u="none" strike="noStrike" cap="none" dirty="0" err="1">
                <a:solidFill>
                  <a:srgbClr val="000000"/>
                </a:solidFill>
                <a:latin typeface="Arial"/>
                <a:ea typeface="Arial"/>
                <a:cs typeface="Arial"/>
                <a:sym typeface="Arial"/>
              </a:rPr>
              <a:t>Vehiculo</a:t>
            </a:r>
            <a:r>
              <a:rPr lang="es-MX" sz="1600" b="0" i="0" u="none" strike="noStrike" cap="none" dirty="0">
                <a:solidFill>
                  <a:srgbClr val="000000"/>
                </a:solidFill>
                <a:latin typeface="Arial"/>
                <a:ea typeface="Arial"/>
                <a:cs typeface="Arial"/>
                <a:sym typeface="Arial"/>
              </a:rPr>
              <a:t> {</a:t>
            </a:r>
          </a:p>
          <a:p>
            <a:pPr marL="12700" marR="0" lvl="0" algn="l" rtl="0">
              <a:lnSpc>
                <a:spcPct val="100000"/>
              </a:lnSpc>
              <a:spcBef>
                <a:spcPts val="0"/>
              </a:spcBef>
              <a:spcAft>
                <a:spcPts val="0"/>
              </a:spcAft>
              <a:buClr>
                <a:srgbClr val="000000"/>
              </a:buClr>
              <a:buSzPts val="2400"/>
            </a:pPr>
            <a:endParaRPr lang="es-MX" sz="1600" b="0" i="0" u="none" strike="noStrike" cap="none" dirty="0">
              <a:solidFill>
                <a:srgbClr val="000000"/>
              </a:solidFill>
              <a:latin typeface="Arial"/>
              <a:ea typeface="Arial"/>
              <a:cs typeface="Arial"/>
              <a:sym typeface="Arial"/>
            </a:endParaRP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 Implementación del método acelerar</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@Override</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a:t>
            </a:r>
            <a:r>
              <a:rPr lang="es-MX" sz="1600" b="0" i="0" u="none" strike="noStrike" cap="none" dirty="0" err="1">
                <a:solidFill>
                  <a:srgbClr val="000000"/>
                </a:solidFill>
                <a:latin typeface="Arial"/>
                <a:ea typeface="Arial"/>
                <a:cs typeface="Arial"/>
                <a:sym typeface="Arial"/>
              </a:rPr>
              <a:t>public</a:t>
            </a:r>
            <a:r>
              <a:rPr lang="es-MX" sz="1600" b="0" i="0" u="none" strike="noStrike" cap="none" dirty="0">
                <a:solidFill>
                  <a:srgbClr val="000000"/>
                </a:solidFill>
                <a:latin typeface="Arial"/>
                <a:ea typeface="Arial"/>
                <a:cs typeface="Arial"/>
                <a:sym typeface="Arial"/>
              </a:rPr>
              <a:t> </a:t>
            </a:r>
            <a:r>
              <a:rPr lang="es-MX" sz="1600" b="0" i="0" u="none" strike="noStrike" cap="none" dirty="0" err="1">
                <a:solidFill>
                  <a:srgbClr val="000000"/>
                </a:solidFill>
                <a:latin typeface="Arial"/>
                <a:ea typeface="Arial"/>
                <a:cs typeface="Arial"/>
                <a:sym typeface="Arial"/>
              </a:rPr>
              <a:t>void</a:t>
            </a:r>
            <a:r>
              <a:rPr lang="es-MX" sz="1600" b="0" i="0" u="none" strike="noStrike" cap="none" dirty="0">
                <a:solidFill>
                  <a:srgbClr val="000000"/>
                </a:solidFill>
                <a:latin typeface="Arial"/>
                <a:ea typeface="Arial"/>
                <a:cs typeface="Arial"/>
                <a:sym typeface="Arial"/>
              </a:rPr>
              <a:t> acelerar() {</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a:t>
            </a:r>
            <a:r>
              <a:rPr lang="es-MX" sz="1600" b="0" i="0" u="none" strike="noStrike" cap="none" dirty="0" err="1">
                <a:solidFill>
                  <a:srgbClr val="000000"/>
                </a:solidFill>
                <a:latin typeface="Arial"/>
                <a:ea typeface="Arial"/>
                <a:cs typeface="Arial"/>
                <a:sym typeface="Arial"/>
              </a:rPr>
              <a:t>System.out.println</a:t>
            </a:r>
            <a:r>
              <a:rPr lang="es-MX" sz="1600" b="0" i="0" u="none" strike="noStrike" cap="none" dirty="0">
                <a:solidFill>
                  <a:srgbClr val="000000"/>
                </a:solidFill>
                <a:latin typeface="Arial"/>
                <a:ea typeface="Arial"/>
                <a:cs typeface="Arial"/>
                <a:sym typeface="Arial"/>
              </a:rPr>
              <a:t>("El coche está acelerando.");</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a:t>
            </a:r>
          </a:p>
          <a:p>
            <a:pPr marL="12700" marR="0" lvl="0" algn="l" rtl="0">
              <a:lnSpc>
                <a:spcPct val="100000"/>
              </a:lnSpc>
              <a:spcBef>
                <a:spcPts val="0"/>
              </a:spcBef>
              <a:spcAft>
                <a:spcPts val="0"/>
              </a:spcAft>
              <a:buClr>
                <a:srgbClr val="000000"/>
              </a:buClr>
              <a:buSzPts val="2400"/>
            </a:pPr>
            <a:endParaRPr lang="es-MX" sz="1600" b="0" i="0" u="none" strike="noStrike" cap="none" dirty="0">
              <a:solidFill>
                <a:srgbClr val="000000"/>
              </a:solidFill>
              <a:latin typeface="Arial"/>
              <a:ea typeface="Arial"/>
              <a:cs typeface="Arial"/>
              <a:sym typeface="Arial"/>
            </a:endParaRP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 Implementación del método frenar</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@Override</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a:t>
            </a:r>
            <a:r>
              <a:rPr lang="es-MX" sz="1600" b="0" i="0" u="none" strike="noStrike" cap="none" dirty="0" err="1">
                <a:solidFill>
                  <a:srgbClr val="000000"/>
                </a:solidFill>
                <a:latin typeface="Arial"/>
                <a:ea typeface="Arial"/>
                <a:cs typeface="Arial"/>
                <a:sym typeface="Arial"/>
              </a:rPr>
              <a:t>public</a:t>
            </a:r>
            <a:r>
              <a:rPr lang="es-MX" sz="1600" b="0" i="0" u="none" strike="noStrike" cap="none" dirty="0">
                <a:solidFill>
                  <a:srgbClr val="000000"/>
                </a:solidFill>
                <a:latin typeface="Arial"/>
                <a:ea typeface="Arial"/>
                <a:cs typeface="Arial"/>
                <a:sym typeface="Arial"/>
              </a:rPr>
              <a:t> </a:t>
            </a:r>
            <a:r>
              <a:rPr lang="es-MX" sz="1600" b="0" i="0" u="none" strike="noStrike" cap="none" dirty="0" err="1">
                <a:solidFill>
                  <a:srgbClr val="000000"/>
                </a:solidFill>
                <a:latin typeface="Arial"/>
                <a:ea typeface="Arial"/>
                <a:cs typeface="Arial"/>
                <a:sym typeface="Arial"/>
              </a:rPr>
              <a:t>void</a:t>
            </a:r>
            <a:r>
              <a:rPr lang="es-MX" sz="1600" b="0" i="0" u="none" strike="noStrike" cap="none" dirty="0">
                <a:solidFill>
                  <a:srgbClr val="000000"/>
                </a:solidFill>
                <a:latin typeface="Arial"/>
                <a:ea typeface="Arial"/>
                <a:cs typeface="Arial"/>
                <a:sym typeface="Arial"/>
              </a:rPr>
              <a:t> frenar() {</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a:t>
            </a:r>
            <a:r>
              <a:rPr lang="es-MX" sz="1600" b="0" i="0" u="none" strike="noStrike" cap="none" dirty="0" err="1">
                <a:solidFill>
                  <a:srgbClr val="000000"/>
                </a:solidFill>
                <a:latin typeface="Arial"/>
                <a:ea typeface="Arial"/>
                <a:cs typeface="Arial"/>
                <a:sym typeface="Arial"/>
              </a:rPr>
              <a:t>System.out.println</a:t>
            </a:r>
            <a:r>
              <a:rPr lang="es-MX" sz="1600" b="0" i="0" u="none" strike="noStrike" cap="none" dirty="0">
                <a:solidFill>
                  <a:srgbClr val="000000"/>
                </a:solidFill>
                <a:latin typeface="Arial"/>
                <a:ea typeface="Arial"/>
                <a:cs typeface="Arial"/>
                <a:sym typeface="Arial"/>
              </a:rPr>
              <a:t>("El coche está frenando.");</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    }</a:t>
            </a:r>
          </a:p>
          <a:p>
            <a:pPr marL="12700" marR="0" lvl="0" algn="l" rtl="0">
              <a:lnSpc>
                <a:spcPct val="100000"/>
              </a:lnSpc>
              <a:spcBef>
                <a:spcPts val="0"/>
              </a:spcBef>
              <a:spcAft>
                <a:spcPts val="0"/>
              </a:spcAft>
              <a:buClr>
                <a:srgbClr val="000000"/>
              </a:buClr>
              <a:buSzPts val="2400"/>
            </a:pPr>
            <a:r>
              <a:rPr lang="es-MX" sz="1600" b="0" i="0" u="none" strike="noStrike" cap="none" dirty="0">
                <a:solidFill>
                  <a:srgbClr val="000000"/>
                </a:solidFill>
                <a:latin typeface="Arial"/>
                <a:ea typeface="Arial"/>
                <a:cs typeface="Arial"/>
                <a:sym typeface="Arial"/>
              </a:rPr>
              <a:t>}</a:t>
            </a:r>
          </a:p>
          <a:p>
            <a:pPr marL="12700" marR="0" lvl="0" algn="l" rtl="0">
              <a:lnSpc>
                <a:spcPct val="100000"/>
              </a:lnSpc>
              <a:spcBef>
                <a:spcPts val="0"/>
              </a:spcBef>
              <a:spcAft>
                <a:spcPts val="0"/>
              </a:spcAft>
              <a:buClr>
                <a:srgbClr val="000000"/>
              </a:buClr>
              <a:buSzPts val="2400"/>
            </a:pPr>
            <a:endParaRPr lang="es-MX" sz="1600" b="0" i="0" u="none" strike="noStrike" cap="none" dirty="0">
              <a:solidFill>
                <a:srgbClr val="000000"/>
              </a:solidFill>
              <a:latin typeface="Arial"/>
              <a:ea typeface="Arial"/>
              <a:cs typeface="Arial"/>
              <a:sym typeface="Arial"/>
            </a:endParaRPr>
          </a:p>
          <a:p>
            <a:pPr marL="12700" marR="0" lvl="0" algn="l" rtl="0">
              <a:lnSpc>
                <a:spcPct val="100000"/>
              </a:lnSpc>
              <a:spcBef>
                <a:spcPts val="0"/>
              </a:spcBef>
              <a:spcAft>
                <a:spcPts val="0"/>
              </a:spcAft>
              <a:buClr>
                <a:srgbClr val="000000"/>
              </a:buClr>
              <a:buSzPts val="2400"/>
            </a:pPr>
            <a:endParaRPr sz="2400" b="0" i="0" u="none" strike="noStrike" cap="none" dirty="0">
              <a:solidFill>
                <a:srgbClr val="000000"/>
              </a:solidFill>
              <a:latin typeface="Arial"/>
              <a:ea typeface="Arial"/>
              <a:cs typeface="Arial"/>
              <a:sym typeface="Arial"/>
            </a:endParaRPr>
          </a:p>
        </p:txBody>
      </p:sp>
      <p:pic>
        <p:nvPicPr>
          <p:cNvPr id="74" name="Google Shape;74;p2"/>
          <p:cNvPicPr preferRelativeResize="0"/>
          <p:nvPr/>
        </p:nvPicPr>
        <p:blipFill rotWithShape="1">
          <a:blip r:embed="rId4">
            <a:alphaModFix/>
          </a:blip>
          <a:srcRect/>
          <a:stretch/>
        </p:blipFill>
        <p:spPr>
          <a:xfrm>
            <a:off x="6096000" y="6056294"/>
            <a:ext cx="445171" cy="445171"/>
          </a:xfrm>
          <a:prstGeom prst="rect">
            <a:avLst/>
          </a:prstGeom>
          <a:noFill/>
          <a:ln>
            <a:noFill/>
          </a:ln>
        </p:spPr>
      </p:pic>
      <p:sp>
        <p:nvSpPr>
          <p:cNvPr id="2" name="CuadroTexto 1">
            <a:extLst>
              <a:ext uri="{FF2B5EF4-FFF2-40B4-BE49-F238E27FC236}">
                <a16:creationId xmlns:a16="http://schemas.microsoft.com/office/drawing/2014/main" id="{24E0C632-AF68-0AA4-4562-730718C17FD7}"/>
              </a:ext>
            </a:extLst>
          </p:cNvPr>
          <p:cNvSpPr txBox="1"/>
          <p:nvPr/>
        </p:nvSpPr>
        <p:spPr>
          <a:xfrm>
            <a:off x="7312919" y="1613118"/>
            <a:ext cx="4179575" cy="3908762"/>
          </a:xfrm>
          <a:prstGeom prst="rect">
            <a:avLst/>
          </a:prstGeom>
          <a:noFill/>
        </p:spPr>
        <p:txBody>
          <a:bodyPr wrap="square" rtlCol="0">
            <a:spAutoFit/>
          </a:bodyPr>
          <a:lstStyle/>
          <a:p>
            <a:r>
              <a:rPr lang="es-PE" sz="1800" b="1" dirty="0"/>
              <a:t>// 3.USO IMPLEMENTACIÓN</a:t>
            </a:r>
          </a:p>
          <a:p>
            <a:r>
              <a:rPr lang="es-PE" sz="1800" dirty="0" err="1"/>
              <a:t>public</a:t>
            </a:r>
            <a:r>
              <a:rPr lang="es-PE" sz="1800" dirty="0"/>
              <a:t> </a:t>
            </a:r>
            <a:r>
              <a:rPr lang="es-PE" sz="1800" dirty="0" err="1"/>
              <a:t>class</a:t>
            </a:r>
            <a:r>
              <a:rPr lang="es-PE" sz="1800" dirty="0"/>
              <a:t> </a:t>
            </a:r>
            <a:r>
              <a:rPr lang="es-PE" sz="1800" dirty="0" err="1"/>
              <a:t>Main</a:t>
            </a:r>
            <a:r>
              <a:rPr lang="es-PE" sz="1800" dirty="0"/>
              <a:t> {</a:t>
            </a:r>
          </a:p>
          <a:p>
            <a:r>
              <a:rPr lang="es-PE" sz="1800" dirty="0"/>
              <a:t>    </a:t>
            </a:r>
            <a:r>
              <a:rPr lang="es-PE" sz="1800" dirty="0" err="1"/>
              <a:t>public</a:t>
            </a:r>
            <a:r>
              <a:rPr lang="es-PE" sz="1800" dirty="0"/>
              <a:t> </a:t>
            </a:r>
            <a:r>
              <a:rPr lang="es-PE" sz="1800" dirty="0" err="1"/>
              <a:t>static</a:t>
            </a:r>
            <a:r>
              <a:rPr lang="es-PE" sz="1800" dirty="0"/>
              <a:t> </a:t>
            </a:r>
            <a:r>
              <a:rPr lang="es-PE" sz="1800" dirty="0" err="1"/>
              <a:t>void</a:t>
            </a:r>
            <a:r>
              <a:rPr lang="es-PE" sz="1800" dirty="0"/>
              <a:t> </a:t>
            </a:r>
            <a:r>
              <a:rPr lang="es-PE" sz="1800" dirty="0" err="1"/>
              <a:t>main</a:t>
            </a:r>
            <a:r>
              <a:rPr lang="es-PE" sz="1800" dirty="0"/>
              <a:t>(</a:t>
            </a:r>
            <a:r>
              <a:rPr lang="es-PE" sz="1800" dirty="0" err="1"/>
              <a:t>String</a:t>
            </a:r>
            <a:r>
              <a:rPr lang="es-PE" sz="1800" dirty="0"/>
              <a:t>[] </a:t>
            </a:r>
            <a:r>
              <a:rPr lang="es-PE" sz="1800" dirty="0" err="1"/>
              <a:t>args</a:t>
            </a:r>
            <a:r>
              <a:rPr lang="es-PE" sz="1800" dirty="0"/>
              <a:t>) {</a:t>
            </a:r>
          </a:p>
          <a:p>
            <a:r>
              <a:rPr lang="es-PE" sz="1800" dirty="0"/>
              <a:t>        // Crear una instancia de Coche</a:t>
            </a:r>
          </a:p>
          <a:p>
            <a:r>
              <a:rPr lang="es-PE" sz="1800" dirty="0"/>
              <a:t>        </a:t>
            </a:r>
            <a:r>
              <a:rPr lang="es-PE" sz="1800" dirty="0" err="1"/>
              <a:t>Vehiculo</a:t>
            </a:r>
            <a:r>
              <a:rPr lang="es-PE" sz="1800" dirty="0"/>
              <a:t> </a:t>
            </a:r>
            <a:r>
              <a:rPr lang="es-PE" sz="1800" dirty="0" err="1"/>
              <a:t>miCoche</a:t>
            </a:r>
            <a:r>
              <a:rPr lang="es-PE" sz="1800" dirty="0"/>
              <a:t> = new Coche();</a:t>
            </a:r>
          </a:p>
          <a:p>
            <a:r>
              <a:rPr lang="es-PE" sz="1800" dirty="0"/>
              <a:t>        </a:t>
            </a:r>
          </a:p>
          <a:p>
            <a:r>
              <a:rPr lang="es-PE" sz="1800" dirty="0"/>
              <a:t>        // Usar los métodos definidos en la interfaz</a:t>
            </a:r>
          </a:p>
          <a:p>
            <a:r>
              <a:rPr lang="es-PE" sz="1800" dirty="0"/>
              <a:t>        </a:t>
            </a:r>
            <a:r>
              <a:rPr lang="es-PE" sz="1800" dirty="0" err="1"/>
              <a:t>miCoche.acelerar</a:t>
            </a:r>
            <a:r>
              <a:rPr lang="es-PE" sz="1800" dirty="0"/>
              <a:t>();</a:t>
            </a:r>
          </a:p>
          <a:p>
            <a:r>
              <a:rPr lang="es-PE" sz="1800" dirty="0"/>
              <a:t>        </a:t>
            </a:r>
            <a:r>
              <a:rPr lang="es-PE" sz="1800" dirty="0" err="1"/>
              <a:t>miCoche.frenar</a:t>
            </a:r>
            <a:r>
              <a:rPr lang="es-PE" sz="1800" dirty="0"/>
              <a:t>();</a:t>
            </a:r>
          </a:p>
          <a:p>
            <a:r>
              <a:rPr lang="es-PE" sz="1800" dirty="0"/>
              <a:t>    }</a:t>
            </a:r>
          </a:p>
          <a:p>
            <a:r>
              <a:rPr lang="es-PE" sz="1800" dirty="0"/>
              <a:t>}</a:t>
            </a:r>
          </a:p>
          <a:p>
            <a:endParaRPr lang="es-PE" dirty="0"/>
          </a:p>
        </p:txBody>
      </p:sp>
    </p:spTree>
    <p:extLst>
      <p:ext uri="{BB962C8B-B14F-4D97-AF65-F5344CB8AC3E}">
        <p14:creationId xmlns:p14="http://schemas.microsoft.com/office/powerpoint/2010/main" val="275397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3"/>
          <p:cNvSpPr txBox="1"/>
          <p:nvPr/>
        </p:nvSpPr>
        <p:spPr>
          <a:xfrm>
            <a:off x="3713151" y="45358"/>
            <a:ext cx="6595971"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ES" sz="3600" b="1" i="0" u="none" strike="noStrike" cap="none" dirty="0">
                <a:solidFill>
                  <a:schemeClr val="dk1"/>
                </a:solidFill>
                <a:latin typeface="Calibri"/>
                <a:ea typeface="Calibri"/>
                <a:cs typeface="Calibri"/>
                <a:sym typeface="Calibri"/>
              </a:rPr>
              <a:t>CONOCIMIENTOS PREVIOS</a:t>
            </a:r>
            <a:endParaRPr sz="1100" b="0" i="0" u="none" strike="noStrike" cap="none" dirty="0">
              <a:solidFill>
                <a:schemeClr val="dk1"/>
              </a:solidFill>
              <a:latin typeface="Arial"/>
              <a:ea typeface="Arial"/>
              <a:cs typeface="Arial"/>
              <a:sym typeface="Arial"/>
            </a:endParaRPr>
          </a:p>
        </p:txBody>
      </p:sp>
      <p:pic>
        <p:nvPicPr>
          <p:cNvPr id="81" name="Google Shape;81;p3"/>
          <p:cNvPicPr preferRelativeResize="0"/>
          <p:nvPr/>
        </p:nvPicPr>
        <p:blipFill rotWithShape="1">
          <a:blip r:embed="rId3">
            <a:alphaModFix/>
          </a:blip>
          <a:srcRect/>
          <a:stretch/>
        </p:blipFill>
        <p:spPr>
          <a:xfrm>
            <a:off x="350519" y="155037"/>
            <a:ext cx="2483508" cy="553998"/>
          </a:xfrm>
          <a:prstGeom prst="rect">
            <a:avLst/>
          </a:prstGeom>
          <a:noFill/>
          <a:ln>
            <a:noFill/>
          </a:ln>
        </p:spPr>
      </p:pic>
      <p:pic>
        <p:nvPicPr>
          <p:cNvPr id="3" name="Imagen 2">
            <a:extLst>
              <a:ext uri="{FF2B5EF4-FFF2-40B4-BE49-F238E27FC236}">
                <a16:creationId xmlns:a16="http://schemas.microsoft.com/office/drawing/2014/main" id="{AAC2063E-0D68-C31B-6C79-C2D1EEE9A1F1}"/>
              </a:ext>
            </a:extLst>
          </p:cNvPr>
          <p:cNvPicPr>
            <a:picLocks noChangeAspect="1"/>
          </p:cNvPicPr>
          <p:nvPr/>
        </p:nvPicPr>
        <p:blipFill>
          <a:blip r:embed="rId4"/>
          <a:stretch>
            <a:fillRect/>
          </a:stretch>
        </p:blipFill>
        <p:spPr>
          <a:xfrm>
            <a:off x="589935" y="929148"/>
            <a:ext cx="11251546" cy="55453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5"/>
          <p:cNvPicPr preferRelativeResize="0"/>
          <p:nvPr/>
        </p:nvPicPr>
        <p:blipFill rotWithShape="1">
          <a:blip r:embed="rId3">
            <a:alphaModFix/>
          </a:blip>
          <a:srcRect/>
          <a:stretch/>
        </p:blipFill>
        <p:spPr>
          <a:xfrm>
            <a:off x="2838022" y="332656"/>
            <a:ext cx="2483508" cy="553998"/>
          </a:xfrm>
          <a:prstGeom prst="rect">
            <a:avLst/>
          </a:prstGeom>
          <a:noFill/>
          <a:ln>
            <a:noFill/>
          </a:ln>
        </p:spPr>
      </p:pic>
      <p:sp>
        <p:nvSpPr>
          <p:cNvPr id="88" name="Google Shape;88;p5"/>
          <p:cNvSpPr txBox="1">
            <a:spLocks noGrp="1"/>
          </p:cNvSpPr>
          <p:nvPr>
            <p:ph type="title" idx="4294967295"/>
          </p:nvPr>
        </p:nvSpPr>
        <p:spPr>
          <a:xfrm rot="625">
            <a:off x="548640" y="1560077"/>
            <a:ext cx="3384550" cy="1425575"/>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400"/>
              <a:buNone/>
            </a:pPr>
            <a:r>
              <a:rPr lang="es-ES">
                <a:latin typeface="Roboto Medium"/>
                <a:ea typeface="Roboto Medium"/>
                <a:cs typeface="Roboto Medium"/>
                <a:sym typeface="Roboto Medium"/>
              </a:rPr>
              <a:t>LOGRO DE LA SESIÓN</a:t>
            </a:r>
            <a:endParaRPr/>
          </a:p>
        </p:txBody>
      </p:sp>
      <p:sp>
        <p:nvSpPr>
          <p:cNvPr id="89" name="Google Shape;89;p5"/>
          <p:cNvSpPr txBox="1"/>
          <p:nvPr/>
        </p:nvSpPr>
        <p:spPr>
          <a:xfrm>
            <a:off x="5103258" y="2362200"/>
            <a:ext cx="6098344" cy="286228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3600" b="0" i="0" u="none" strike="noStrike" cap="none">
                <a:solidFill>
                  <a:srgbClr val="000000"/>
                </a:solidFill>
                <a:latin typeface="Arial"/>
                <a:ea typeface="Arial"/>
                <a:cs typeface="Arial"/>
                <a:sym typeface="Arial"/>
              </a:rPr>
              <a:t>Al finalizar la unidad el participante identifica los principios de diseño de los patrones de software para la solución de problemas</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88"/>
                                        </p:tgtEl>
                                        <p:attrNameLst>
                                          <p:attrName>style.visibility</p:attrName>
                                        </p:attrNameLst>
                                      </p:cBhvr>
                                      <p:to>
                                        <p:strVal val="visible"/>
                                      </p:to>
                                    </p:set>
                                    <p:anim calcmode="lin" valueType="num">
                                      <p:cBhvr additive="base">
                                        <p:cTn id="7" dur="800"/>
                                        <p:tgtEl>
                                          <p:spTgt spid="88"/>
                                        </p:tgtEl>
                                        <p:attrNameLst>
                                          <p:attrName>ppt_w</p:attrName>
                                        </p:attrNameLst>
                                      </p:cBhvr>
                                      <p:tavLst>
                                        <p:tav tm="0">
                                          <p:val>
                                            <p:strVal val="0"/>
                                          </p:val>
                                        </p:tav>
                                        <p:tav tm="100000">
                                          <p:val>
                                            <p:strVal val="#ppt_w"/>
                                          </p:val>
                                        </p:tav>
                                      </p:tavLst>
                                    </p:anim>
                                    <p:anim calcmode="lin" valueType="num">
                                      <p:cBhvr additive="base">
                                        <p:cTn id="8" dur="800"/>
                                        <p:tgtEl>
                                          <p:spTgt spid="8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6"/>
          <p:cNvPicPr preferRelativeResize="0"/>
          <p:nvPr/>
        </p:nvPicPr>
        <p:blipFill rotWithShape="1">
          <a:blip r:embed="rId3">
            <a:alphaModFix/>
          </a:blip>
          <a:srcRect/>
          <a:stretch/>
        </p:blipFill>
        <p:spPr>
          <a:xfrm>
            <a:off x="2838022" y="332656"/>
            <a:ext cx="2483508" cy="553998"/>
          </a:xfrm>
          <a:prstGeom prst="rect">
            <a:avLst/>
          </a:prstGeom>
          <a:noFill/>
          <a:ln>
            <a:noFill/>
          </a:ln>
        </p:spPr>
      </p:pic>
      <p:sp>
        <p:nvSpPr>
          <p:cNvPr id="95" name="Google Shape;95;p6"/>
          <p:cNvSpPr txBox="1">
            <a:spLocks noGrp="1"/>
          </p:cNvSpPr>
          <p:nvPr>
            <p:ph type="title" idx="4294967295"/>
          </p:nvPr>
        </p:nvSpPr>
        <p:spPr>
          <a:xfrm rot="625">
            <a:off x="234584" y="1925918"/>
            <a:ext cx="5105439" cy="1425575"/>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400"/>
              <a:buNone/>
            </a:pPr>
            <a:r>
              <a:rPr lang="es-ES">
                <a:latin typeface="Roboto Medium"/>
                <a:ea typeface="Roboto Medium"/>
                <a:cs typeface="Roboto Medium"/>
                <a:sym typeface="Roboto Medium"/>
              </a:rPr>
              <a:t>IMPORTANCIA DE LA SESIÓN</a:t>
            </a:r>
            <a:endParaRPr/>
          </a:p>
        </p:txBody>
      </p:sp>
      <p:sp>
        <p:nvSpPr>
          <p:cNvPr id="96" name="Google Shape;96;p6"/>
          <p:cNvSpPr txBox="1"/>
          <p:nvPr/>
        </p:nvSpPr>
        <p:spPr>
          <a:xfrm>
            <a:off x="6324600" y="2178576"/>
            <a:ext cx="5349240" cy="286228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3600" b="0" i="0" u="none" strike="noStrike" cap="none">
                <a:solidFill>
                  <a:srgbClr val="000000"/>
                </a:solidFill>
                <a:latin typeface="Arial"/>
                <a:ea typeface="Arial"/>
                <a:cs typeface="Arial"/>
                <a:sym typeface="Arial"/>
              </a:rPr>
              <a:t>La aplicación de los patrones de software a permitirá solucionar los problemas habituales de software planteados.</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95"/>
                                        </p:tgtEl>
                                        <p:attrNameLst>
                                          <p:attrName>style.visibility</p:attrName>
                                        </p:attrNameLst>
                                      </p:cBhvr>
                                      <p:to>
                                        <p:strVal val="visible"/>
                                      </p:to>
                                    </p:set>
                                    <p:anim calcmode="lin" valueType="num">
                                      <p:cBhvr additive="base">
                                        <p:cTn id="7" dur="800"/>
                                        <p:tgtEl>
                                          <p:spTgt spid="95"/>
                                        </p:tgtEl>
                                        <p:attrNameLst>
                                          <p:attrName>ppt_w</p:attrName>
                                        </p:attrNameLst>
                                      </p:cBhvr>
                                      <p:tavLst>
                                        <p:tav tm="0">
                                          <p:val>
                                            <p:strVal val="0"/>
                                          </p:val>
                                        </p:tav>
                                        <p:tav tm="100000">
                                          <p:val>
                                            <p:strVal val="#ppt_w"/>
                                          </p:val>
                                        </p:tav>
                                      </p:tavLst>
                                    </p:anim>
                                    <p:anim calcmode="lin" valueType="num">
                                      <p:cBhvr additive="base">
                                        <p:cTn id="8" dur="800"/>
                                        <p:tgtEl>
                                          <p:spTgt spid="9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g2efdfaee476_0_0"/>
          <p:cNvSpPr txBox="1"/>
          <p:nvPr/>
        </p:nvSpPr>
        <p:spPr>
          <a:xfrm>
            <a:off x="694944" y="1868551"/>
            <a:ext cx="9729216" cy="2813550"/>
          </a:xfrm>
          <a:prstGeom prst="rect">
            <a:avLst/>
          </a:prstGeom>
          <a:noFill/>
          <a:ln>
            <a:noFill/>
          </a:ln>
        </p:spPr>
        <p:txBody>
          <a:bodyPr spcFirstLastPara="1" wrap="square" lIns="91425" tIns="45700" rIns="91425" bIns="45700" anchor="t" anchorCtr="0">
            <a:spAutoFit/>
          </a:bodyPr>
          <a:lstStyle/>
          <a:p>
            <a:pPr marL="12700" marR="0" lvl="0" indent="0" algn="just" rtl="0">
              <a:lnSpc>
                <a:spcPct val="100000"/>
              </a:lnSpc>
              <a:spcBef>
                <a:spcPts val="0"/>
              </a:spcBef>
              <a:spcAft>
                <a:spcPts val="0"/>
              </a:spcAft>
              <a:buClr>
                <a:srgbClr val="000000"/>
              </a:buClr>
              <a:buSzPts val="4400"/>
              <a:buFont typeface="Arial"/>
              <a:buNone/>
            </a:pPr>
            <a:r>
              <a:rPr lang="es-ES" sz="4400" b="1" i="0" u="none" strike="noStrike" cap="none">
                <a:solidFill>
                  <a:srgbClr val="D1052D"/>
                </a:solidFill>
                <a:latin typeface="Arial"/>
                <a:ea typeface="Arial"/>
                <a:cs typeface="Arial"/>
                <a:sym typeface="Arial"/>
              </a:rPr>
              <a:t>TEMA :</a:t>
            </a:r>
            <a:endParaRPr/>
          </a:p>
          <a:p>
            <a:pPr marL="12700" marR="0" lvl="0" indent="0" algn="just" rtl="0">
              <a:lnSpc>
                <a:spcPct val="100000"/>
              </a:lnSpc>
              <a:spcBef>
                <a:spcPts val="0"/>
              </a:spcBef>
              <a:spcAft>
                <a:spcPts val="0"/>
              </a:spcAft>
              <a:buClr>
                <a:srgbClr val="000000"/>
              </a:buClr>
              <a:buSzPts val="4400"/>
              <a:buFont typeface="Arial"/>
              <a:buNone/>
            </a:pPr>
            <a:endParaRPr sz="4400" b="1" i="0" u="none" strike="noStrike" cap="none">
              <a:solidFill>
                <a:srgbClr val="D1052D"/>
              </a:solidFill>
              <a:latin typeface="Arial"/>
              <a:ea typeface="Arial"/>
              <a:cs typeface="Arial"/>
              <a:sym typeface="Arial"/>
            </a:endParaRPr>
          </a:p>
          <a:p>
            <a:pPr marL="698500" marR="0" lvl="0" indent="-685800" algn="just" rtl="0">
              <a:lnSpc>
                <a:spcPct val="100000"/>
              </a:lnSpc>
              <a:spcBef>
                <a:spcPts val="100"/>
              </a:spcBef>
              <a:spcAft>
                <a:spcPts val="0"/>
              </a:spcAft>
              <a:buClr>
                <a:srgbClr val="000000"/>
              </a:buClr>
              <a:buSzPts val="4400"/>
              <a:buFont typeface="Arial"/>
              <a:buChar char="•"/>
            </a:pPr>
            <a:r>
              <a:rPr lang="es-ES" sz="4400" b="0" i="0" u="none" strike="noStrike" cap="none">
                <a:solidFill>
                  <a:srgbClr val="000000"/>
                </a:solidFill>
                <a:latin typeface="Arial"/>
                <a:ea typeface="Arial"/>
                <a:cs typeface="Arial"/>
                <a:sym typeface="Arial"/>
              </a:rPr>
              <a:t>Principio de sustitución de Liskov.</a:t>
            </a:r>
            <a:endParaRPr/>
          </a:p>
          <a:p>
            <a:pPr marL="698500" marR="0" lvl="0" indent="-685800" algn="just" rtl="0">
              <a:lnSpc>
                <a:spcPct val="100000"/>
              </a:lnSpc>
              <a:spcBef>
                <a:spcPts val="100"/>
              </a:spcBef>
              <a:spcAft>
                <a:spcPts val="0"/>
              </a:spcAft>
              <a:buClr>
                <a:srgbClr val="000000"/>
              </a:buClr>
              <a:buSzPts val="4400"/>
              <a:buFont typeface="Arial"/>
              <a:buChar char="•"/>
            </a:pPr>
            <a:r>
              <a:rPr lang="es-ES" sz="4400" b="0" i="0" u="none" strike="noStrike" cap="none">
                <a:solidFill>
                  <a:srgbClr val="000000"/>
                </a:solidFill>
                <a:latin typeface="Arial"/>
                <a:ea typeface="Arial"/>
                <a:cs typeface="Arial"/>
                <a:sym typeface="Arial"/>
              </a:rPr>
              <a:t>Principio Abierto/Cerrado.</a:t>
            </a:r>
            <a:endParaRPr sz="3600" b="0" i="0" u="none" strike="noStrike" cap="none">
              <a:solidFill>
                <a:schemeClr val="dk1"/>
              </a:solidFill>
              <a:latin typeface="Arial"/>
              <a:ea typeface="Arial"/>
              <a:cs typeface="Arial"/>
              <a:sym typeface="Arial"/>
            </a:endParaRPr>
          </a:p>
        </p:txBody>
      </p:sp>
      <p:pic>
        <p:nvPicPr>
          <p:cNvPr id="102" name="Google Shape;102;g2efdfaee476_0_0"/>
          <p:cNvPicPr preferRelativeResize="0"/>
          <p:nvPr/>
        </p:nvPicPr>
        <p:blipFill rotWithShape="1">
          <a:blip r:embed="rId3">
            <a:alphaModFix/>
          </a:blip>
          <a:srcRect/>
          <a:stretch/>
        </p:blipFill>
        <p:spPr>
          <a:xfrm>
            <a:off x="9154597" y="332656"/>
            <a:ext cx="2483508" cy="5539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08" name="Google Shape;108;p8"/>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09" name="Google Shape;109;p8"/>
          <p:cNvSpPr txBox="1"/>
          <p:nvPr/>
        </p:nvSpPr>
        <p:spPr>
          <a:xfrm>
            <a:off x="336804" y="1283173"/>
            <a:ext cx="994105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de sustitución de Liskov (LSP)</a:t>
            </a:r>
            <a:endParaRPr/>
          </a:p>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 </a:t>
            </a:r>
            <a:endParaRPr/>
          </a:p>
        </p:txBody>
      </p:sp>
      <p:sp>
        <p:nvSpPr>
          <p:cNvPr id="110" name="Google Shape;110;p8"/>
          <p:cNvSpPr txBox="1"/>
          <p:nvPr/>
        </p:nvSpPr>
        <p:spPr>
          <a:xfrm>
            <a:off x="521709" y="2196990"/>
            <a:ext cx="11148581" cy="50956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700" b="0" i="0" u="none" strike="noStrike" cap="none">
                <a:solidFill>
                  <a:srgbClr val="000000"/>
                </a:solidFill>
                <a:latin typeface="Arial"/>
                <a:ea typeface="Arial"/>
                <a:cs typeface="Arial"/>
                <a:sym typeface="Arial"/>
              </a:rPr>
              <a:t>Es el tercer principios SOLID en la programación orientada a objetos. Este principio fue formulado por Barbara Liskov y establece que:</a:t>
            </a:r>
            <a:endParaRPr/>
          </a:p>
          <a:p>
            <a:pPr marL="0" marR="0" lvl="0" indent="0" algn="l" rtl="0">
              <a:lnSpc>
                <a:spcPct val="100000"/>
              </a:lnSpc>
              <a:spcBef>
                <a:spcPts val="0"/>
              </a:spcBef>
              <a:spcAft>
                <a:spcPts val="0"/>
              </a:spcAft>
              <a:buNone/>
            </a:pPr>
            <a:endParaRPr sz="27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s-ES" sz="2700" b="1" i="0" u="none" strike="noStrike" cap="none">
                <a:solidFill>
                  <a:srgbClr val="000000"/>
                </a:solidFill>
                <a:latin typeface="Arial"/>
                <a:ea typeface="Arial"/>
                <a:cs typeface="Arial"/>
                <a:sym typeface="Arial"/>
              </a:rPr>
              <a:t>"Los objetos de una clase derivada deben ser reemplazables por objetos de la clase base sin alterar el funcionamiento del programa.“</a:t>
            </a:r>
            <a:endParaRPr/>
          </a:p>
          <a:p>
            <a:pPr marL="0" marR="0" lvl="0" indent="0" algn="l" rtl="0">
              <a:lnSpc>
                <a:spcPct val="100000"/>
              </a:lnSpc>
              <a:spcBef>
                <a:spcPts val="0"/>
              </a:spcBef>
              <a:spcAft>
                <a:spcPts val="0"/>
              </a:spcAft>
              <a:buNone/>
            </a:pPr>
            <a:endParaRPr sz="2700" b="1"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s-ES" sz="2700" b="0" i="0" u="none" strike="noStrike" cap="none">
                <a:solidFill>
                  <a:srgbClr val="000000"/>
                </a:solidFill>
                <a:latin typeface="Arial"/>
                <a:ea typeface="Arial"/>
                <a:cs typeface="Arial"/>
                <a:sym typeface="Arial"/>
              </a:rPr>
              <a:t>En otras palabras, si una clase S es una subclase de T, entonces los objetos de T deben poder ser sustituidos por objetos de S sin que el comportamiento del programa se vea afectado.</a:t>
            </a:r>
            <a:endParaRPr/>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12700" marR="5080" lvl="0" indent="0" algn="just" rtl="0">
              <a:lnSpc>
                <a:spcPct val="150000"/>
              </a:lnSpc>
              <a:spcBef>
                <a:spcPts val="100"/>
              </a:spcBef>
              <a:spcAft>
                <a:spcPts val="0"/>
              </a:spcAft>
              <a:buNone/>
            </a:pP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7"/>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16" name="Google Shape;116;p7"/>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17" name="Google Shape;117;p7"/>
          <p:cNvSpPr txBox="1"/>
          <p:nvPr/>
        </p:nvSpPr>
        <p:spPr>
          <a:xfrm>
            <a:off x="336804" y="1283173"/>
            <a:ext cx="994105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de sustitución de Liskov (LSP)</a:t>
            </a:r>
            <a:endParaRPr/>
          </a:p>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 </a:t>
            </a:r>
            <a:endParaRPr/>
          </a:p>
        </p:txBody>
      </p:sp>
      <p:sp>
        <p:nvSpPr>
          <p:cNvPr id="118" name="Google Shape;118;p7"/>
          <p:cNvSpPr txBox="1"/>
          <p:nvPr/>
        </p:nvSpPr>
        <p:spPr>
          <a:xfrm>
            <a:off x="336804" y="1977534"/>
            <a:ext cx="11148581" cy="55345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Importancia</a:t>
            </a:r>
            <a:endParaRPr/>
          </a:p>
          <a:p>
            <a:pPr marL="0" marR="0" lvl="0" indent="0" algn="l" rtl="0">
              <a:lnSpc>
                <a:spcPct val="100000"/>
              </a:lnSpc>
              <a:spcBef>
                <a:spcPts val="0"/>
              </a:spcBef>
              <a:spcAft>
                <a:spcPts val="0"/>
              </a:spcAft>
              <a:buNone/>
            </a:pPr>
            <a:endParaRPr sz="2800" b="1"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rgbClr val="000000"/>
              </a:buClr>
              <a:buSzPts val="2800"/>
              <a:buFont typeface="Arial"/>
              <a:buChar char="•"/>
            </a:pPr>
            <a:r>
              <a:rPr lang="es-ES" sz="2800" b="1" i="0" u="none" strike="noStrike" cap="none">
                <a:solidFill>
                  <a:srgbClr val="000000"/>
                </a:solidFill>
                <a:latin typeface="Arial"/>
                <a:ea typeface="Arial"/>
                <a:cs typeface="Arial"/>
                <a:sym typeface="Arial"/>
              </a:rPr>
              <a:t>Mejora la mantenibilidad del código</a:t>
            </a:r>
            <a:r>
              <a:rPr lang="es-ES" sz="2800" b="0" i="0" u="none" strike="noStrike" cap="none">
                <a:solidFill>
                  <a:srgbClr val="000000"/>
                </a:solidFill>
                <a:latin typeface="Arial"/>
                <a:ea typeface="Arial"/>
                <a:cs typeface="Arial"/>
                <a:sym typeface="Arial"/>
              </a:rPr>
              <a:t>: Facilita la extensión y modificación del software sin introducir errores.</a:t>
            </a:r>
            <a:endParaRPr/>
          </a:p>
          <a:p>
            <a:pPr marL="457200" marR="0" lvl="0" indent="-27940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rgbClr val="000000"/>
              </a:buClr>
              <a:buSzPts val="2800"/>
              <a:buFont typeface="Arial"/>
              <a:buChar char="•"/>
            </a:pPr>
            <a:r>
              <a:rPr lang="es-ES" sz="2800" b="1" i="0" u="none" strike="noStrike" cap="none">
                <a:solidFill>
                  <a:srgbClr val="000000"/>
                </a:solidFill>
                <a:latin typeface="Arial"/>
                <a:ea typeface="Arial"/>
                <a:cs typeface="Arial"/>
                <a:sym typeface="Arial"/>
              </a:rPr>
              <a:t>Promueve la reutilización del código</a:t>
            </a:r>
            <a:r>
              <a:rPr lang="es-ES" sz="2800" b="0" i="0" u="none" strike="noStrike" cap="none">
                <a:solidFill>
                  <a:srgbClr val="000000"/>
                </a:solidFill>
                <a:latin typeface="Arial"/>
                <a:ea typeface="Arial"/>
                <a:cs typeface="Arial"/>
                <a:sym typeface="Arial"/>
              </a:rPr>
              <a:t>: Las subclases pueden usarse en cualquier lugar donde se use la clase base.</a:t>
            </a:r>
            <a:endParaRPr/>
          </a:p>
          <a:p>
            <a:pPr marL="457200" marR="0" lvl="0" indent="-27940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rgbClr val="000000"/>
              </a:buClr>
              <a:buSzPts val="2800"/>
              <a:buFont typeface="Arial"/>
              <a:buChar char="•"/>
            </a:pPr>
            <a:r>
              <a:rPr lang="es-ES" sz="2800" b="1" i="0" u="none" strike="noStrike" cap="none">
                <a:solidFill>
                  <a:srgbClr val="000000"/>
                </a:solidFill>
                <a:latin typeface="Arial"/>
                <a:ea typeface="Arial"/>
                <a:cs typeface="Arial"/>
                <a:sym typeface="Arial"/>
              </a:rPr>
              <a:t>Aumenta la robustez del software</a:t>
            </a:r>
            <a:r>
              <a:rPr lang="es-ES" sz="2800" b="0" i="0" u="none" strike="noStrike" cap="none">
                <a:solidFill>
                  <a:srgbClr val="000000"/>
                </a:solidFill>
                <a:latin typeface="Arial"/>
                <a:ea typeface="Arial"/>
                <a:cs typeface="Arial"/>
                <a:sym typeface="Arial"/>
              </a:rPr>
              <a:t>: Ayuda a crear sistemas más fiables y menos propensos a fallos.</a:t>
            </a:r>
            <a:endParaRPr/>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12700" marR="5080" lvl="0" indent="0" algn="just" rtl="0">
              <a:lnSpc>
                <a:spcPct val="150000"/>
              </a:lnSpc>
              <a:spcBef>
                <a:spcPts val="100"/>
              </a:spcBef>
              <a:spcAft>
                <a:spcPts val="0"/>
              </a:spcAft>
              <a:buNone/>
            </a:pP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36"/>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24" name="Google Shape;124;p36"/>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25" name="Google Shape;125;p36"/>
          <p:cNvSpPr txBox="1"/>
          <p:nvPr/>
        </p:nvSpPr>
        <p:spPr>
          <a:xfrm>
            <a:off x="336804" y="1283173"/>
            <a:ext cx="994105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de sustitución de Liskov (LSP)</a:t>
            </a:r>
            <a:endParaRPr/>
          </a:p>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 </a:t>
            </a:r>
            <a:endParaRPr/>
          </a:p>
        </p:txBody>
      </p:sp>
      <p:sp>
        <p:nvSpPr>
          <p:cNvPr id="126" name="Google Shape;126;p36"/>
          <p:cNvSpPr txBox="1"/>
          <p:nvPr/>
        </p:nvSpPr>
        <p:spPr>
          <a:xfrm>
            <a:off x="336804" y="1977534"/>
            <a:ext cx="11148581" cy="51651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Ventajas</a:t>
            </a:r>
            <a:endParaRPr/>
          </a:p>
          <a:p>
            <a:pPr marL="0" marR="0" lvl="0" indent="0" algn="l" rtl="0">
              <a:lnSpc>
                <a:spcPct val="100000"/>
              </a:lnSpc>
              <a:spcBef>
                <a:spcPts val="0"/>
              </a:spcBef>
              <a:spcAft>
                <a:spcPts val="0"/>
              </a:spcAft>
              <a:buNone/>
            </a:pPr>
            <a:endParaRPr sz="3600" b="1"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Flexibilidad y Extensibilidad</a:t>
            </a:r>
            <a:r>
              <a:rPr lang="es-ES" sz="3200" b="0" i="0" u="none" strike="noStrike" cap="none">
                <a:solidFill>
                  <a:srgbClr val="000000"/>
                </a:solidFill>
                <a:latin typeface="Arial"/>
                <a:ea typeface="Arial"/>
                <a:cs typeface="Arial"/>
                <a:sym typeface="Arial"/>
              </a:rPr>
              <a:t>: Permite añadir nuevas funcionalidades sin modificar el código existente.</a:t>
            </a:r>
            <a:endParaRPr/>
          </a:p>
          <a:p>
            <a:pPr marL="571500" marR="0" lvl="0" indent="-368300" algn="l" rtl="0">
              <a:lnSpc>
                <a:spcPct val="100000"/>
              </a:lnSpc>
              <a:spcBef>
                <a:spcPts val="0"/>
              </a:spcBef>
              <a:spcAft>
                <a:spcPts val="0"/>
              </a:spcAft>
              <a:buClr>
                <a:srgbClr val="000000"/>
              </a:buClr>
              <a:buSzPts val="3200"/>
              <a:buFont typeface="Arial"/>
              <a:buNone/>
            </a:pPr>
            <a:endParaRPr sz="3200" b="0"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Reducción de Errores</a:t>
            </a:r>
            <a:r>
              <a:rPr lang="es-ES" sz="3200" b="0" i="0" u="none" strike="noStrike" cap="none">
                <a:solidFill>
                  <a:srgbClr val="000000"/>
                </a:solidFill>
                <a:latin typeface="Arial"/>
                <a:ea typeface="Arial"/>
                <a:cs typeface="Arial"/>
                <a:sym typeface="Arial"/>
              </a:rPr>
              <a:t>: Al cumplir con LSP, se reducen las probabilidades de errores al sustituir subclases por clases base.</a:t>
            </a:r>
            <a:endParaRPr/>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12700" marR="5080" lvl="0" indent="0" algn="just" rtl="0">
              <a:lnSpc>
                <a:spcPct val="150000"/>
              </a:lnSpc>
              <a:spcBef>
                <a:spcPts val="100"/>
              </a:spcBef>
              <a:spcAft>
                <a:spcPts val="0"/>
              </a:spcAft>
              <a:buNone/>
            </a:pP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37"/>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32" name="Google Shape;132;p37"/>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33" name="Google Shape;133;p37"/>
          <p:cNvSpPr txBox="1"/>
          <p:nvPr/>
        </p:nvSpPr>
        <p:spPr>
          <a:xfrm>
            <a:off x="336804" y="1283173"/>
            <a:ext cx="994105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de sustitución de Liskov (LSP)</a:t>
            </a:r>
            <a:endParaRPr/>
          </a:p>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 </a:t>
            </a:r>
            <a:endParaRPr/>
          </a:p>
        </p:txBody>
      </p:sp>
      <p:sp>
        <p:nvSpPr>
          <p:cNvPr id="134" name="Google Shape;134;p37"/>
          <p:cNvSpPr txBox="1"/>
          <p:nvPr/>
        </p:nvSpPr>
        <p:spPr>
          <a:xfrm>
            <a:off x="336804" y="1977534"/>
            <a:ext cx="11148581" cy="42418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Desventajas</a:t>
            </a:r>
            <a:endParaRPr/>
          </a:p>
          <a:p>
            <a:pPr marL="0" marR="0" lvl="0" indent="0" algn="l" rtl="0">
              <a:lnSpc>
                <a:spcPct val="100000"/>
              </a:lnSpc>
              <a:spcBef>
                <a:spcPts val="0"/>
              </a:spcBef>
              <a:spcAft>
                <a:spcPts val="0"/>
              </a:spcAft>
              <a:buNone/>
            </a:pPr>
            <a:endParaRPr sz="3600" b="1"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Mayor Complejidad Inicial</a:t>
            </a:r>
            <a:r>
              <a:rPr lang="es-ES" sz="3200" b="0" i="0" u="none" strike="noStrike" cap="none">
                <a:solidFill>
                  <a:srgbClr val="000000"/>
                </a:solidFill>
                <a:latin typeface="Arial"/>
                <a:ea typeface="Arial"/>
                <a:cs typeface="Arial"/>
                <a:sym typeface="Arial"/>
              </a:rPr>
              <a:t>: Requiere una planificación cuidadosa del diseño de clases.</a:t>
            </a:r>
            <a:endParaRPr/>
          </a:p>
          <a:p>
            <a:pPr marL="571500" marR="0" lvl="0" indent="-368300" algn="l" rtl="0">
              <a:lnSpc>
                <a:spcPct val="100000"/>
              </a:lnSpc>
              <a:spcBef>
                <a:spcPts val="0"/>
              </a:spcBef>
              <a:spcAft>
                <a:spcPts val="0"/>
              </a:spcAft>
              <a:buClr>
                <a:srgbClr val="000000"/>
              </a:buClr>
              <a:buSzPts val="3200"/>
              <a:buFont typeface="Arial"/>
              <a:buNone/>
            </a:pPr>
            <a:endParaRPr sz="3200" b="1"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Sobrecarga de Diseño: </a:t>
            </a:r>
            <a:r>
              <a:rPr lang="es-ES" sz="3200" b="0" i="0" u="none" strike="noStrike" cap="none">
                <a:solidFill>
                  <a:srgbClr val="000000"/>
                </a:solidFill>
                <a:latin typeface="Arial"/>
                <a:ea typeface="Arial"/>
                <a:cs typeface="Arial"/>
                <a:sym typeface="Arial"/>
              </a:rPr>
              <a:t>En algunos casos, puede ser excesivo para aplicaciones simples.</a:t>
            </a:r>
            <a:endParaRPr sz="2800" b="0" i="0" u="none" strike="noStrike" cap="none">
              <a:solidFill>
                <a:srgbClr val="000000"/>
              </a:solidFill>
              <a:latin typeface="Arial"/>
              <a:ea typeface="Arial"/>
              <a:cs typeface="Arial"/>
              <a:sym typeface="Arial"/>
            </a:endParaRPr>
          </a:p>
          <a:p>
            <a:pPr marL="12700" marR="5080" lvl="0" indent="0" algn="just" rtl="0">
              <a:lnSpc>
                <a:spcPct val="150000"/>
              </a:lnSpc>
              <a:spcBef>
                <a:spcPts val="100"/>
              </a:spcBef>
              <a:spcAft>
                <a:spcPts val="0"/>
              </a:spcAft>
              <a:buNone/>
            </a:pP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3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40" name="Google Shape;140;p38"/>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41" name="Google Shape;141;p38"/>
          <p:cNvSpPr txBox="1"/>
          <p:nvPr/>
        </p:nvSpPr>
        <p:spPr>
          <a:xfrm>
            <a:off x="336804" y="994785"/>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de sustitución de Liskov (LSP)</a:t>
            </a:r>
            <a:endParaRPr/>
          </a:p>
        </p:txBody>
      </p:sp>
      <p:sp>
        <p:nvSpPr>
          <p:cNvPr id="142" name="Google Shape;142;p38"/>
          <p:cNvSpPr txBox="1"/>
          <p:nvPr/>
        </p:nvSpPr>
        <p:spPr>
          <a:xfrm>
            <a:off x="336804" y="1656475"/>
            <a:ext cx="11148581" cy="56938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Ejemplo: </a:t>
            </a:r>
            <a:r>
              <a:rPr lang="es-ES" sz="2800" b="0" i="0" u="none" strike="noStrike" cap="none">
                <a:solidFill>
                  <a:srgbClr val="000000"/>
                </a:solidFill>
                <a:latin typeface="Arial"/>
                <a:ea typeface="Arial"/>
                <a:cs typeface="Arial"/>
                <a:sym typeface="Arial"/>
              </a:rPr>
              <a:t>Imaginemos una jerarquía de clases relacionada con aves:</a:t>
            </a:r>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class </a:t>
            </a:r>
            <a:r>
              <a:rPr lang="es-ES" sz="2300" b="0" i="0" u="none" strike="noStrike" cap="none">
                <a:solidFill>
                  <a:srgbClr val="FF0000"/>
                </a:solidFill>
                <a:latin typeface="Arial"/>
                <a:ea typeface="Arial"/>
                <a:cs typeface="Arial"/>
                <a:sym typeface="Arial"/>
              </a:rPr>
              <a:t>Ave</a:t>
            </a:r>
            <a:r>
              <a:rPr lang="es-ES" sz="23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    public void volar() {</a:t>
            </a:r>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        System.out.println("El ave está volando");</a:t>
            </a:r>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2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class </a:t>
            </a:r>
            <a:r>
              <a:rPr lang="es-ES" sz="2300" b="0" i="0" u="none" strike="noStrike" cap="none">
                <a:solidFill>
                  <a:srgbClr val="FF0000"/>
                </a:solidFill>
                <a:latin typeface="Arial"/>
                <a:ea typeface="Arial"/>
                <a:cs typeface="Arial"/>
                <a:sym typeface="Arial"/>
              </a:rPr>
              <a:t>Pinguino</a:t>
            </a:r>
            <a:r>
              <a:rPr lang="es-ES" sz="2300" b="0" i="0" u="none" strike="noStrike" cap="none">
                <a:solidFill>
                  <a:srgbClr val="000000"/>
                </a:solidFill>
                <a:latin typeface="Arial"/>
                <a:ea typeface="Arial"/>
                <a:cs typeface="Arial"/>
                <a:sym typeface="Arial"/>
              </a:rPr>
              <a:t> extends Ave {</a:t>
            </a:r>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    public void volar() {</a:t>
            </a:r>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        throw new UnsupportedOperationException("Los pingüinos no pueden volar");</a:t>
            </a:r>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3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43" name="Google Shape;143;p38"/>
          <p:cNvSpPr/>
          <p:nvPr/>
        </p:nvSpPr>
        <p:spPr>
          <a:xfrm>
            <a:off x="7583424" y="3194304"/>
            <a:ext cx="3535680" cy="1048512"/>
          </a:xfrm>
          <a:prstGeom prst="roundRect">
            <a:avLst>
              <a:gd name="adj" fmla="val 16667"/>
            </a:avLst>
          </a:prstGeom>
          <a:solidFill>
            <a:srgbClr val="A5A5A5"/>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ES" sz="2800" b="0" i="0" u="none" strike="noStrike" cap="none">
                <a:solidFill>
                  <a:schemeClr val="dk1"/>
                </a:solidFill>
                <a:latin typeface="Arial"/>
                <a:ea typeface="Arial"/>
                <a:cs typeface="Arial"/>
                <a:sym typeface="Arial"/>
              </a:rPr>
              <a:t>Como se aplicaría el Principio de LSP</a:t>
            </a:r>
            <a:endParaRPr sz="2800" b="0" i="0" u="none" strike="noStrike" cap="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39"/>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49" name="Google Shape;149;p39"/>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50" name="Google Shape;150;p39"/>
          <p:cNvSpPr txBox="1"/>
          <p:nvPr/>
        </p:nvSpPr>
        <p:spPr>
          <a:xfrm>
            <a:off x="336804" y="994785"/>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de sustitución de Liskov (LSP)</a:t>
            </a:r>
            <a:endParaRPr/>
          </a:p>
        </p:txBody>
      </p:sp>
      <p:sp>
        <p:nvSpPr>
          <p:cNvPr id="151" name="Google Shape;151;p39"/>
          <p:cNvSpPr txBox="1"/>
          <p:nvPr/>
        </p:nvSpPr>
        <p:spPr>
          <a:xfrm>
            <a:off x="336804" y="1656475"/>
            <a:ext cx="11148581" cy="458587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Ejemplo: </a:t>
            </a:r>
            <a:r>
              <a:rPr lang="es-ES" sz="2800" b="0" i="0" u="none" strike="noStrike" cap="none">
                <a:solidFill>
                  <a:srgbClr val="000000"/>
                </a:solidFill>
                <a:latin typeface="Arial"/>
                <a:ea typeface="Arial"/>
                <a:cs typeface="Arial"/>
                <a:sym typeface="Arial"/>
              </a:rPr>
              <a:t>Imaginemos una jerarquía de clases relacionada con aves:</a:t>
            </a:r>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Aquí, tenemos una clase base Ave y una subclase Pinguino. </a:t>
            </a:r>
            <a:endParaRPr/>
          </a:p>
          <a:p>
            <a:pPr marL="0" marR="0" lvl="0" indent="0" algn="just"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Según el principio LSP, un Pinguino debería poder sustituir a un Ave sin problemas. </a:t>
            </a:r>
            <a:endParaRPr/>
          </a:p>
          <a:p>
            <a:pPr marL="0" marR="0" lvl="0" indent="0" algn="just"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Sin embargo, en este caso, si intentamos llamar al método volar() en un objeto Pinguino, obtendremos una excepción, lo cual rompe el principio LSP.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40"/>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57" name="Google Shape;157;p40"/>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58" name="Google Shape;158;p40"/>
          <p:cNvSpPr txBox="1"/>
          <p:nvPr/>
        </p:nvSpPr>
        <p:spPr>
          <a:xfrm>
            <a:off x="336804" y="903991"/>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de sustitución de Liskov (LSP)</a:t>
            </a:r>
            <a:endParaRPr/>
          </a:p>
        </p:txBody>
      </p:sp>
      <p:sp>
        <p:nvSpPr>
          <p:cNvPr id="159" name="Google Shape;159;p40"/>
          <p:cNvSpPr txBox="1"/>
          <p:nvPr/>
        </p:nvSpPr>
        <p:spPr>
          <a:xfrm>
            <a:off x="336804" y="1536493"/>
            <a:ext cx="11148581" cy="58169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Solución: </a:t>
            </a:r>
            <a:r>
              <a:rPr lang="es-ES" sz="2400" b="0" i="0" u="none" strike="noStrike" cap="none">
                <a:solidFill>
                  <a:srgbClr val="000000"/>
                </a:solidFill>
                <a:latin typeface="Arial"/>
                <a:ea typeface="Arial"/>
                <a:cs typeface="Arial"/>
                <a:sym typeface="Arial"/>
              </a:rPr>
              <a:t>Para cumplir con el LSP, podemos reestructurar nuestras clases de la siguiente manera:</a:t>
            </a:r>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class </a:t>
            </a:r>
            <a:r>
              <a:rPr lang="es-ES" sz="2000" b="0" i="0" u="none" strike="noStrike" cap="none">
                <a:solidFill>
                  <a:srgbClr val="FF0000"/>
                </a:solidFill>
                <a:latin typeface="Arial"/>
                <a:ea typeface="Arial"/>
                <a:cs typeface="Arial"/>
                <a:sym typeface="Arial"/>
              </a:rPr>
              <a:t>Ave</a:t>
            </a:r>
            <a:r>
              <a:rPr lang="es-ES" sz="20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 Métodos comunes para todas las aves</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class </a:t>
            </a:r>
            <a:r>
              <a:rPr lang="es-ES" sz="2000" b="0" i="0" u="none" strike="noStrike" cap="none">
                <a:solidFill>
                  <a:srgbClr val="FF0000"/>
                </a:solidFill>
                <a:latin typeface="Arial"/>
                <a:ea typeface="Arial"/>
                <a:cs typeface="Arial"/>
                <a:sym typeface="Arial"/>
              </a:rPr>
              <a:t>AveVoladora </a:t>
            </a:r>
            <a:r>
              <a:rPr lang="es-ES" sz="2000" b="0" i="0" u="none" strike="noStrike" cap="none">
                <a:solidFill>
                  <a:srgbClr val="000000"/>
                </a:solidFill>
                <a:latin typeface="Arial"/>
                <a:ea typeface="Arial"/>
                <a:cs typeface="Arial"/>
                <a:sym typeface="Arial"/>
              </a:rPr>
              <a:t>extends Ave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public void volar()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System.out.println("El ave está volando");</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class </a:t>
            </a:r>
            <a:r>
              <a:rPr lang="es-ES" sz="2000" b="0" i="0" u="none" strike="noStrike" cap="none">
                <a:solidFill>
                  <a:srgbClr val="FF0000"/>
                </a:solidFill>
                <a:latin typeface="Arial"/>
                <a:ea typeface="Arial"/>
                <a:cs typeface="Arial"/>
                <a:sym typeface="Arial"/>
              </a:rPr>
              <a:t>Pinguino</a:t>
            </a:r>
            <a:r>
              <a:rPr lang="es-ES" sz="2000" b="0" i="0" u="none" strike="noStrike" cap="none">
                <a:solidFill>
                  <a:srgbClr val="000000"/>
                </a:solidFill>
                <a:latin typeface="Arial"/>
                <a:ea typeface="Arial"/>
                <a:cs typeface="Arial"/>
                <a:sym typeface="Arial"/>
              </a:rPr>
              <a:t> extends Ave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 Métodos específicos para el pingüino</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p:txBody>
      </p:sp>
      <p:sp>
        <p:nvSpPr>
          <p:cNvPr id="160" name="Google Shape;160;p40"/>
          <p:cNvSpPr/>
          <p:nvPr/>
        </p:nvSpPr>
        <p:spPr>
          <a:xfrm>
            <a:off x="7583424" y="3194304"/>
            <a:ext cx="3535680" cy="1048512"/>
          </a:xfrm>
          <a:prstGeom prst="roundRect">
            <a:avLst>
              <a:gd name="adj" fmla="val 16667"/>
            </a:avLst>
          </a:prstGeom>
          <a:solidFill>
            <a:srgbClr val="A5A5A5"/>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ES" sz="2800" b="0" i="0" u="none" strike="noStrike" cap="none">
                <a:solidFill>
                  <a:schemeClr val="dk1"/>
                </a:solidFill>
                <a:latin typeface="Arial"/>
                <a:ea typeface="Arial"/>
                <a:cs typeface="Arial"/>
                <a:sym typeface="Arial"/>
              </a:rPr>
              <a:t>Aplicacion del Principio de LSP</a:t>
            </a:r>
            <a:endParaRPr sz="2800" b="0" i="0" u="none" strike="noStrike" cap="none">
              <a:solidFill>
                <a:schemeClr val="dk1"/>
              </a:solidFill>
              <a:latin typeface="Arial"/>
              <a:ea typeface="Arial"/>
              <a:cs typeface="Arial"/>
              <a:sym typeface="Arial"/>
            </a:endParaRPr>
          </a:p>
        </p:txBody>
      </p:sp>
      <p:sp>
        <p:nvSpPr>
          <p:cNvPr id="161" name="Google Shape;161;p40"/>
          <p:cNvSpPr txBox="1"/>
          <p:nvPr/>
        </p:nvSpPr>
        <p:spPr>
          <a:xfrm>
            <a:off x="6327648" y="5059479"/>
            <a:ext cx="5545334" cy="147732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De esta forma, tenemos una clase Ave que no asume que todas las aves pueden volar, y una subclase AveVoladora que añade el comportamiento de volar. Ahora, Pinguino puede ser sustituido por Ave sin problemas.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p41"/>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67" name="Google Shape;167;p41"/>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68" name="Google Shape;168;p41"/>
          <p:cNvSpPr txBox="1"/>
          <p:nvPr/>
        </p:nvSpPr>
        <p:spPr>
          <a:xfrm>
            <a:off x="336804" y="903991"/>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de sustitución de Liskov (LSP)</a:t>
            </a:r>
            <a:endParaRPr/>
          </a:p>
        </p:txBody>
      </p:sp>
      <p:sp>
        <p:nvSpPr>
          <p:cNvPr id="169" name="Google Shape;169;p41"/>
          <p:cNvSpPr txBox="1"/>
          <p:nvPr/>
        </p:nvSpPr>
        <p:spPr>
          <a:xfrm>
            <a:off x="336804" y="1536493"/>
            <a:ext cx="11148581" cy="24006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Ejercicio Practico:</a:t>
            </a:r>
            <a:endParaRPr/>
          </a:p>
          <a:p>
            <a:pPr marL="0" marR="0" lvl="0" indent="0" algn="l" rtl="0">
              <a:lnSpc>
                <a:spcPct val="100000"/>
              </a:lnSpc>
              <a:spcBef>
                <a:spcPts val="0"/>
              </a:spcBef>
              <a:spcAft>
                <a:spcPts val="0"/>
              </a:spcAft>
              <a:buNone/>
            </a:pPr>
            <a:endParaRPr sz="2800" b="1" i="0" u="none" strike="noStrike" cap="none">
              <a:solidFill>
                <a:srgbClr val="244061"/>
              </a:solidFill>
              <a:latin typeface="Arial"/>
              <a:ea typeface="Arial"/>
              <a:cs typeface="Arial"/>
              <a:sym typeface="Arial"/>
            </a:endParaRPr>
          </a:p>
          <a:p>
            <a:pPr marL="0" marR="0" lvl="0" indent="0" algn="l" rtl="0">
              <a:lnSpc>
                <a:spcPct val="100000"/>
              </a:lnSpc>
              <a:spcBef>
                <a:spcPts val="0"/>
              </a:spcBef>
              <a:spcAft>
                <a:spcPts val="0"/>
              </a:spcAft>
              <a:buNone/>
            </a:pPr>
            <a:endParaRPr sz="1000" b="1" i="0" u="none" strike="noStrike" cap="none">
              <a:solidFill>
                <a:srgbClr val="244061"/>
              </a:solidFill>
              <a:latin typeface="Arial"/>
              <a:ea typeface="Arial"/>
              <a:cs typeface="Arial"/>
              <a:sym typeface="Arial"/>
            </a:endParaRPr>
          </a:p>
          <a:p>
            <a:pPr marL="0" marR="0" lvl="0" indent="0" algn="l"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Supongamos que tenemos una clase base </a:t>
            </a:r>
            <a:r>
              <a:rPr lang="es-ES" sz="2800" b="0" i="0" u="none" strike="noStrike" cap="none">
                <a:solidFill>
                  <a:srgbClr val="FF0000"/>
                </a:solidFill>
                <a:latin typeface="Arial"/>
                <a:ea typeface="Arial"/>
                <a:cs typeface="Arial"/>
                <a:sym typeface="Arial"/>
              </a:rPr>
              <a:t>Vehiculo</a:t>
            </a:r>
            <a:r>
              <a:rPr lang="es-ES" sz="2800" b="0" i="0" u="none" strike="noStrike" cap="none">
                <a:solidFill>
                  <a:srgbClr val="000000"/>
                </a:solidFill>
                <a:latin typeface="Arial"/>
                <a:ea typeface="Arial"/>
                <a:cs typeface="Arial"/>
                <a:sym typeface="Arial"/>
              </a:rPr>
              <a:t> y dos subclases </a:t>
            </a:r>
            <a:r>
              <a:rPr lang="es-ES" sz="2800" b="0" i="0" u="none" strike="noStrike" cap="none">
                <a:solidFill>
                  <a:srgbClr val="FF0000"/>
                </a:solidFill>
                <a:latin typeface="Arial"/>
                <a:ea typeface="Arial"/>
                <a:cs typeface="Arial"/>
                <a:sym typeface="Arial"/>
              </a:rPr>
              <a:t>Coche y Bicicleta</a:t>
            </a:r>
            <a:r>
              <a:rPr lang="es-ES" sz="2800" b="0" i="0" u="none" strike="noStrike" cap="none">
                <a:solidFill>
                  <a:srgbClr val="000000"/>
                </a:solidFill>
                <a:latin typeface="Arial"/>
                <a:ea typeface="Arial"/>
                <a:cs typeface="Arial"/>
                <a:sym typeface="Arial"/>
              </a:rPr>
              <a:t>. Queremos asegurarnos de que la subclase Bicicleta cumple con el principio LSP.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42"/>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75" name="Google Shape;175;p42"/>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76" name="Google Shape;176;p42"/>
          <p:cNvSpPr txBox="1"/>
          <p:nvPr/>
        </p:nvSpPr>
        <p:spPr>
          <a:xfrm>
            <a:off x="336804" y="903991"/>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de sustitución de Liskov (LSP)</a:t>
            </a:r>
            <a:endParaRPr/>
          </a:p>
        </p:txBody>
      </p:sp>
      <p:sp>
        <p:nvSpPr>
          <p:cNvPr id="177" name="Google Shape;177;p42"/>
          <p:cNvSpPr txBox="1"/>
          <p:nvPr/>
        </p:nvSpPr>
        <p:spPr>
          <a:xfrm>
            <a:off x="141733" y="1550322"/>
            <a:ext cx="6527288" cy="53860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Ejercicio Practico:</a:t>
            </a:r>
            <a:endParaRPr/>
          </a:p>
          <a:p>
            <a:pPr marL="0" marR="0" lvl="0" indent="0" algn="l" rtl="0">
              <a:lnSpc>
                <a:spcPct val="100000"/>
              </a:lnSpc>
              <a:spcBef>
                <a:spcPts val="0"/>
              </a:spcBef>
              <a:spcAft>
                <a:spcPts val="0"/>
              </a:spcAft>
              <a:buNone/>
            </a:pPr>
            <a:endParaRPr sz="1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class </a:t>
            </a:r>
            <a:r>
              <a:rPr lang="es-ES" sz="2000" b="0" i="0" u="none" strike="noStrike" cap="none">
                <a:solidFill>
                  <a:srgbClr val="FF0000"/>
                </a:solidFill>
                <a:latin typeface="Arial"/>
                <a:ea typeface="Arial"/>
                <a:cs typeface="Arial"/>
                <a:sym typeface="Arial"/>
              </a:rPr>
              <a:t>Vehiculo</a:t>
            </a:r>
            <a:r>
              <a:rPr lang="es-ES" sz="2000" b="0" i="0" u="none" strike="noStrike" cap="none">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public void arrancar()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System.out.println("El vehículo ha arrancado");</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public void detener()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System.out.println("El vehículo se ha detenido");</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None/>
            </a:pPr>
            <a:endParaRPr sz="105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class </a:t>
            </a:r>
            <a:r>
              <a:rPr lang="es-ES" sz="2000" b="0" i="0" u="none" strike="noStrike" cap="none">
                <a:solidFill>
                  <a:srgbClr val="FF0000"/>
                </a:solidFill>
                <a:latin typeface="Arial"/>
                <a:ea typeface="Arial"/>
                <a:cs typeface="Arial"/>
                <a:sym typeface="Arial"/>
              </a:rPr>
              <a:t>Coche </a:t>
            </a:r>
            <a:r>
              <a:rPr lang="es-ES" sz="2000" b="0" i="0" u="none" strike="noStrike" cap="none">
                <a:solidFill>
                  <a:schemeClr val="dk1"/>
                </a:solidFill>
                <a:latin typeface="Arial"/>
                <a:ea typeface="Arial"/>
                <a:cs typeface="Arial"/>
                <a:sym typeface="Arial"/>
              </a:rPr>
              <a:t>extends Vehiculo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public void abrirPuertas()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System.out.println("Las puertas del coche están abiertas");</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a:t>
            </a:r>
            <a:endParaRPr/>
          </a:p>
        </p:txBody>
      </p:sp>
      <p:cxnSp>
        <p:nvCxnSpPr>
          <p:cNvPr id="178" name="Google Shape;178;p42"/>
          <p:cNvCxnSpPr/>
          <p:nvPr/>
        </p:nvCxnSpPr>
        <p:spPr>
          <a:xfrm>
            <a:off x="6327649" y="2328671"/>
            <a:ext cx="0" cy="4080728"/>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79" name="Google Shape;179;p42"/>
          <p:cNvSpPr txBox="1"/>
          <p:nvPr/>
        </p:nvSpPr>
        <p:spPr>
          <a:xfrm>
            <a:off x="6498337" y="2224085"/>
            <a:ext cx="5462015" cy="45243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class </a:t>
            </a:r>
            <a:r>
              <a:rPr lang="es-ES" sz="2000" b="0" i="0" u="none" strike="noStrike" cap="none">
                <a:solidFill>
                  <a:srgbClr val="FF0000"/>
                </a:solidFill>
                <a:latin typeface="Arial"/>
                <a:ea typeface="Arial"/>
                <a:cs typeface="Arial"/>
                <a:sym typeface="Arial"/>
              </a:rPr>
              <a:t>Bicicleta</a:t>
            </a:r>
            <a:r>
              <a:rPr lang="es-ES" sz="2000" b="0" i="0" u="none" strike="noStrike" cap="none">
                <a:solidFill>
                  <a:schemeClr val="dk1"/>
                </a:solidFill>
                <a:latin typeface="Arial"/>
                <a:ea typeface="Arial"/>
                <a:cs typeface="Arial"/>
                <a:sym typeface="Arial"/>
              </a:rPr>
              <a:t> extends Vehiculo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public void arrancar()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System.out.println("La bicicleta ha comenzado a moverse");</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public void detener()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System.out.println("La bicicleta se ha detenido");</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0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None/>
            </a:pPr>
            <a:endParaRPr sz="2800" b="1" i="0" u="none" strike="noStrike" cap="none">
              <a:solidFill>
                <a:srgbClr val="244061"/>
              </a:solidFill>
              <a:latin typeface="Arial"/>
              <a:ea typeface="Arial"/>
              <a:cs typeface="Arial"/>
              <a:sym typeface="Arial"/>
            </a:endParaRPr>
          </a:p>
        </p:txBody>
      </p:sp>
      <p:sp>
        <p:nvSpPr>
          <p:cNvPr id="180" name="Google Shape;180;p42"/>
          <p:cNvSpPr/>
          <p:nvPr/>
        </p:nvSpPr>
        <p:spPr>
          <a:xfrm>
            <a:off x="7091172" y="5821680"/>
            <a:ext cx="4639577" cy="883920"/>
          </a:xfrm>
          <a:prstGeom prst="roundRect">
            <a:avLst>
              <a:gd name="adj" fmla="val 16667"/>
            </a:avLst>
          </a:prstGeom>
          <a:solidFill>
            <a:srgbClr val="A5A5A5"/>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just" rtl="0">
              <a:lnSpc>
                <a:spcPct val="100000"/>
              </a:lnSpc>
              <a:spcBef>
                <a:spcPts val="0"/>
              </a:spcBef>
              <a:spcAft>
                <a:spcPts val="0"/>
              </a:spcAft>
              <a:buClr>
                <a:srgbClr val="000000"/>
              </a:buClr>
              <a:buSzPts val="1400"/>
              <a:buFont typeface="Arial"/>
              <a:buAutoNum type="arabicPeriod"/>
            </a:pPr>
            <a:r>
              <a:rPr lang="es-ES" sz="1400" b="0" i="0" u="none" strike="noStrike" cap="none">
                <a:solidFill>
                  <a:schemeClr val="dk1"/>
                </a:solidFill>
                <a:latin typeface="Arial"/>
                <a:ea typeface="Arial"/>
                <a:cs typeface="Arial"/>
                <a:sym typeface="Arial"/>
              </a:rPr>
              <a:t>¿Cumple Bicicleta con el principio LSP?</a:t>
            </a:r>
            <a:endParaRPr/>
          </a:p>
          <a:p>
            <a:pPr marL="342900" marR="0" lvl="0" indent="-342900" algn="just" rtl="0">
              <a:lnSpc>
                <a:spcPct val="100000"/>
              </a:lnSpc>
              <a:spcBef>
                <a:spcPts val="0"/>
              </a:spcBef>
              <a:spcAft>
                <a:spcPts val="0"/>
              </a:spcAft>
              <a:buClr>
                <a:srgbClr val="000000"/>
              </a:buClr>
              <a:buSzPts val="1400"/>
              <a:buFont typeface="Arial"/>
              <a:buAutoNum type="arabicPeriod"/>
            </a:pPr>
            <a:r>
              <a:rPr lang="es-ES" sz="1400" b="0" i="0" u="none" strike="noStrike" cap="none">
                <a:solidFill>
                  <a:schemeClr val="dk1"/>
                </a:solidFill>
                <a:latin typeface="Arial"/>
                <a:ea typeface="Arial"/>
                <a:cs typeface="Arial"/>
                <a:sym typeface="Arial"/>
              </a:rPr>
              <a:t>¿Qué cambios harías para mejorar la estructura de clases y cumplir con LSP?</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43"/>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86" name="Google Shape;186;p43"/>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87" name="Google Shape;187;p43"/>
          <p:cNvSpPr txBox="1"/>
          <p:nvPr/>
        </p:nvSpPr>
        <p:spPr>
          <a:xfrm>
            <a:off x="336804" y="903991"/>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de sustitución de Liskov (LSP)</a:t>
            </a:r>
            <a:endParaRPr/>
          </a:p>
        </p:txBody>
      </p:sp>
      <p:sp>
        <p:nvSpPr>
          <p:cNvPr id="188" name="Google Shape;188;p43"/>
          <p:cNvSpPr txBox="1"/>
          <p:nvPr/>
        </p:nvSpPr>
        <p:spPr>
          <a:xfrm>
            <a:off x="141732" y="1550322"/>
            <a:ext cx="11940539" cy="44012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Solucion</a:t>
            </a:r>
            <a:endParaRPr sz="2000" b="0" i="0" u="none" strike="noStrike" cap="none">
              <a:solidFill>
                <a:schemeClr val="dk1"/>
              </a:solidFill>
              <a:latin typeface="Arial"/>
              <a:ea typeface="Arial"/>
              <a:cs typeface="Arial"/>
              <a:sym typeface="Arial"/>
            </a:endParaRPr>
          </a:p>
          <a:p>
            <a:pPr marL="514350" marR="0" lvl="0" indent="-514350" algn="l" rtl="0">
              <a:lnSpc>
                <a:spcPct val="100000"/>
              </a:lnSpc>
              <a:spcBef>
                <a:spcPts val="0"/>
              </a:spcBef>
              <a:spcAft>
                <a:spcPts val="0"/>
              </a:spcAft>
              <a:buClr>
                <a:srgbClr val="000000"/>
              </a:buClr>
              <a:buSzPts val="2800"/>
              <a:buFont typeface="Arial"/>
              <a:buAutoNum type="arabicPeriod"/>
            </a:pPr>
            <a:r>
              <a:rPr lang="es-ES" sz="2800" b="0" i="0" u="none" strike="noStrike" cap="none">
                <a:solidFill>
                  <a:schemeClr val="dk1"/>
                </a:solidFill>
                <a:latin typeface="Arial"/>
                <a:ea typeface="Arial"/>
                <a:cs typeface="Arial"/>
                <a:sym typeface="Arial"/>
              </a:rPr>
              <a:t>Sí, </a:t>
            </a:r>
            <a:r>
              <a:rPr lang="es-ES" sz="2800" b="1" i="0" u="none" strike="noStrike" cap="none">
                <a:solidFill>
                  <a:schemeClr val="dk1"/>
                </a:solidFill>
                <a:latin typeface="Arial"/>
                <a:ea typeface="Arial"/>
                <a:cs typeface="Arial"/>
                <a:sym typeface="Arial"/>
              </a:rPr>
              <a:t>Bicicleta</a:t>
            </a:r>
            <a:r>
              <a:rPr lang="es-ES" sz="2800" b="0" i="0" u="none" strike="noStrike" cap="none">
                <a:solidFill>
                  <a:schemeClr val="dk1"/>
                </a:solidFill>
                <a:latin typeface="Arial"/>
                <a:ea typeface="Arial"/>
                <a:cs typeface="Arial"/>
                <a:sym typeface="Arial"/>
              </a:rPr>
              <a:t> cumple con el LSP porque puede sustituir a </a:t>
            </a:r>
            <a:r>
              <a:rPr lang="es-ES" sz="2800" b="1" i="0" u="none" strike="noStrike" cap="none">
                <a:solidFill>
                  <a:schemeClr val="dk1"/>
                </a:solidFill>
                <a:latin typeface="Arial"/>
                <a:ea typeface="Arial"/>
                <a:cs typeface="Arial"/>
                <a:sym typeface="Arial"/>
              </a:rPr>
              <a:t>Vehiculo</a:t>
            </a:r>
            <a:r>
              <a:rPr lang="es-ES" sz="2800" b="0" i="0" u="none" strike="noStrike" cap="none">
                <a:solidFill>
                  <a:schemeClr val="dk1"/>
                </a:solidFill>
                <a:latin typeface="Arial"/>
                <a:ea typeface="Arial"/>
                <a:cs typeface="Arial"/>
                <a:sym typeface="Arial"/>
              </a:rPr>
              <a:t> sin problemas. </a:t>
            </a:r>
            <a:endParaRPr/>
          </a:p>
          <a:p>
            <a:pPr marL="450850" marR="0" lvl="4" indent="0" algn="l" rtl="0">
              <a:lnSpc>
                <a:spcPct val="100000"/>
              </a:lnSpc>
              <a:spcBef>
                <a:spcPts val="0"/>
              </a:spcBef>
              <a:spcAft>
                <a:spcPts val="0"/>
              </a:spcAft>
              <a:buNone/>
            </a:pPr>
            <a:r>
              <a:rPr lang="es-ES" sz="2800" b="0" i="0" u="none" strike="noStrike" cap="none">
                <a:solidFill>
                  <a:schemeClr val="dk1"/>
                </a:solidFill>
                <a:latin typeface="Arial"/>
                <a:ea typeface="Arial"/>
                <a:cs typeface="Arial"/>
                <a:sym typeface="Arial"/>
              </a:rPr>
              <a:t>La clase Bicicleta simplemente redefine el comportamiento de </a:t>
            </a:r>
            <a:r>
              <a:rPr lang="es-ES" sz="2800" b="1" i="0" u="none" strike="noStrike" cap="none">
                <a:solidFill>
                  <a:schemeClr val="dk1"/>
                </a:solidFill>
                <a:latin typeface="Arial"/>
                <a:ea typeface="Arial"/>
                <a:cs typeface="Arial"/>
                <a:sym typeface="Arial"/>
              </a:rPr>
              <a:t>arrancar y detener </a:t>
            </a:r>
            <a:r>
              <a:rPr lang="es-ES" sz="2800" b="0" i="0" u="none" strike="noStrike" cap="none">
                <a:solidFill>
                  <a:schemeClr val="dk1"/>
                </a:solidFill>
                <a:latin typeface="Arial"/>
                <a:ea typeface="Arial"/>
                <a:cs typeface="Arial"/>
                <a:sym typeface="Arial"/>
              </a:rPr>
              <a:t>sin romper la funcionalidad esperada.</a:t>
            </a:r>
            <a:endParaRPr/>
          </a:p>
          <a:p>
            <a:pPr marL="514350" marR="0" lvl="0" indent="-33655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Arial"/>
              <a:ea typeface="Arial"/>
              <a:cs typeface="Arial"/>
              <a:sym typeface="Arial"/>
            </a:endParaRPr>
          </a:p>
          <a:p>
            <a:pPr marL="514350" marR="0" lvl="0" indent="-514350" algn="l" rtl="0">
              <a:lnSpc>
                <a:spcPct val="100000"/>
              </a:lnSpc>
              <a:spcBef>
                <a:spcPts val="0"/>
              </a:spcBef>
              <a:spcAft>
                <a:spcPts val="0"/>
              </a:spcAft>
              <a:buClr>
                <a:srgbClr val="000000"/>
              </a:buClr>
              <a:buSzPts val="2800"/>
              <a:buFont typeface="Arial"/>
              <a:buAutoNum type="arabicPeriod"/>
            </a:pPr>
            <a:r>
              <a:rPr lang="es-ES" sz="2800" b="0" i="0" u="none" strike="noStrike" cap="none">
                <a:solidFill>
                  <a:schemeClr val="dk1"/>
                </a:solidFill>
                <a:latin typeface="Arial"/>
                <a:ea typeface="Arial"/>
                <a:cs typeface="Arial"/>
                <a:sym typeface="Arial"/>
              </a:rPr>
              <a:t>No se requieren cambios para cumplir con LSP, ya que </a:t>
            </a:r>
            <a:r>
              <a:rPr lang="es-ES" sz="2800" b="1" i="0" u="none" strike="noStrike" cap="none">
                <a:solidFill>
                  <a:schemeClr val="dk1"/>
                </a:solidFill>
                <a:latin typeface="Arial"/>
                <a:ea typeface="Arial"/>
                <a:cs typeface="Arial"/>
                <a:sym typeface="Arial"/>
              </a:rPr>
              <a:t>Bicicleta</a:t>
            </a:r>
            <a:r>
              <a:rPr lang="es-ES" sz="2800" b="0" i="0" u="none" strike="noStrike" cap="none">
                <a:solidFill>
                  <a:schemeClr val="dk1"/>
                </a:solidFill>
                <a:latin typeface="Arial"/>
                <a:ea typeface="Arial"/>
                <a:cs typeface="Arial"/>
                <a:sym typeface="Arial"/>
              </a:rPr>
              <a:t> está bien diseñada. Sin embargo, podríamos considerar agregar métodos específicos para </a:t>
            </a:r>
            <a:r>
              <a:rPr lang="es-ES" sz="2800" b="1" i="0" u="none" strike="noStrike" cap="none">
                <a:solidFill>
                  <a:schemeClr val="dk1"/>
                </a:solidFill>
                <a:latin typeface="Arial"/>
                <a:ea typeface="Arial"/>
                <a:cs typeface="Arial"/>
                <a:sym typeface="Arial"/>
              </a:rPr>
              <a:t>Bicicleta y Coche</a:t>
            </a:r>
            <a:r>
              <a:rPr lang="es-ES" sz="2800" b="0" i="0" u="none" strike="noStrike" cap="none">
                <a:solidFill>
                  <a:schemeClr val="dk1"/>
                </a:solidFill>
                <a:latin typeface="Arial"/>
                <a:ea typeface="Arial"/>
                <a:cs typeface="Arial"/>
                <a:sym typeface="Arial"/>
              </a:rPr>
              <a:t> en sus propias clases para reflejar comportamientos únicos.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44"/>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94" name="Google Shape;194;p44"/>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195" name="Google Shape;195;p44"/>
          <p:cNvSpPr txBox="1"/>
          <p:nvPr/>
        </p:nvSpPr>
        <p:spPr>
          <a:xfrm>
            <a:off x="336804" y="903991"/>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Abierto/Cerrado</a:t>
            </a:r>
            <a:endParaRPr sz="3600" b="1" i="0" u="none" strike="noStrike" cap="none">
              <a:solidFill>
                <a:srgbClr val="244061"/>
              </a:solidFill>
              <a:latin typeface="Arial"/>
              <a:ea typeface="Arial"/>
              <a:cs typeface="Arial"/>
              <a:sym typeface="Arial"/>
            </a:endParaRPr>
          </a:p>
        </p:txBody>
      </p:sp>
      <p:sp>
        <p:nvSpPr>
          <p:cNvPr id="196" name="Google Shape;196;p44"/>
          <p:cNvSpPr txBox="1"/>
          <p:nvPr/>
        </p:nvSpPr>
        <p:spPr>
          <a:xfrm>
            <a:off x="125730" y="1646221"/>
            <a:ext cx="11940539" cy="45243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200" b="0" i="0" u="none" strike="noStrike" cap="none">
                <a:solidFill>
                  <a:srgbClr val="000000"/>
                </a:solidFill>
                <a:latin typeface="Arial"/>
                <a:ea typeface="Arial"/>
                <a:cs typeface="Arial"/>
                <a:sym typeface="Arial"/>
              </a:rPr>
              <a:t>Es uno de los principios SOLID en la programación orientada a objetos. Fue formulado por Bertrand Meyer y establece que:</a:t>
            </a:r>
            <a:endParaRPr/>
          </a:p>
          <a:p>
            <a:pPr marL="0" marR="0" lvl="0" indent="0" algn="l" rtl="0">
              <a:lnSpc>
                <a:spcPct val="100000"/>
              </a:lnSpc>
              <a:spcBef>
                <a:spcPts val="0"/>
              </a:spcBef>
              <a:spcAft>
                <a:spcPts val="0"/>
              </a:spcAft>
              <a:buNone/>
            </a:pP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s-ES" sz="3200" b="1" i="0" u="none" strike="noStrike" cap="none">
                <a:solidFill>
                  <a:srgbClr val="000000"/>
                </a:solidFill>
                <a:latin typeface="Arial"/>
                <a:ea typeface="Arial"/>
                <a:cs typeface="Arial"/>
                <a:sym typeface="Arial"/>
              </a:rPr>
              <a:t>"El software debe estar abierto para la extensión, pero cerrado para la modificación.“</a:t>
            </a:r>
            <a:endParaRPr/>
          </a:p>
          <a:p>
            <a:pPr marL="0" marR="0" lvl="0" indent="0" algn="l" rtl="0">
              <a:lnSpc>
                <a:spcPct val="100000"/>
              </a:lnSpc>
              <a:spcBef>
                <a:spcPts val="0"/>
              </a:spcBef>
              <a:spcAft>
                <a:spcPts val="0"/>
              </a:spcAft>
              <a:buNone/>
            </a:pPr>
            <a:endParaRPr sz="32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s-ES" sz="3200" b="0" i="0" u="none" strike="noStrike" cap="none">
                <a:solidFill>
                  <a:srgbClr val="000000"/>
                </a:solidFill>
                <a:latin typeface="Arial"/>
                <a:ea typeface="Arial"/>
                <a:cs typeface="Arial"/>
                <a:sym typeface="Arial"/>
              </a:rPr>
              <a:t>Esto significa que debemos diseñar nuestras clases y módulos de tal manera que puedan ser extendidos con nuevas funcionalidades sin necesidad de modificar el código existente.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p45"/>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02" name="Google Shape;202;p45"/>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203" name="Google Shape;203;p45"/>
          <p:cNvSpPr txBox="1"/>
          <p:nvPr/>
        </p:nvSpPr>
        <p:spPr>
          <a:xfrm>
            <a:off x="336804" y="903991"/>
            <a:ext cx="994105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Abierto/Cerrado</a:t>
            </a:r>
            <a:endParaRPr/>
          </a:p>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Importancia</a:t>
            </a:r>
            <a:endParaRPr sz="3600" b="1" i="0" u="none" strike="noStrike" cap="none">
              <a:solidFill>
                <a:srgbClr val="244061"/>
              </a:solidFill>
              <a:latin typeface="Arial"/>
              <a:ea typeface="Arial"/>
              <a:cs typeface="Arial"/>
              <a:sym typeface="Arial"/>
            </a:endParaRPr>
          </a:p>
        </p:txBody>
      </p:sp>
      <p:sp>
        <p:nvSpPr>
          <p:cNvPr id="204" name="Google Shape;204;p45"/>
          <p:cNvSpPr txBox="1"/>
          <p:nvPr/>
        </p:nvSpPr>
        <p:spPr>
          <a:xfrm>
            <a:off x="436626" y="2301913"/>
            <a:ext cx="11123676" cy="4524315"/>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Facilita la Mantenibilidad</a:t>
            </a:r>
            <a:r>
              <a:rPr lang="es-ES" sz="3200" b="0" i="0" u="none" strike="noStrike" cap="none">
                <a:solidFill>
                  <a:srgbClr val="000000"/>
                </a:solidFill>
                <a:latin typeface="Arial"/>
                <a:ea typeface="Arial"/>
                <a:cs typeface="Arial"/>
                <a:sym typeface="Arial"/>
              </a:rPr>
              <a:t>: Reduce la necesidad de cambiar el código existente, lo que minimiza la introducción de errores.</a:t>
            </a:r>
            <a:endParaRPr/>
          </a:p>
          <a:p>
            <a:pPr marL="457200" marR="0" lvl="0" indent="-381000" algn="just"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Fomenta la Reutilización</a:t>
            </a:r>
            <a:r>
              <a:rPr lang="es-ES" sz="3200" b="0" i="0" u="none" strike="noStrike" cap="none">
                <a:solidFill>
                  <a:srgbClr val="000000"/>
                </a:solidFill>
                <a:latin typeface="Arial"/>
                <a:ea typeface="Arial"/>
                <a:cs typeface="Arial"/>
                <a:sym typeface="Arial"/>
              </a:rPr>
              <a:t>: Permite añadir nuevas características a los componentes existentes de manera más sencilla.</a:t>
            </a:r>
            <a:endParaRPr/>
          </a:p>
          <a:p>
            <a:pPr marL="457200" marR="0" lvl="0" indent="-400050" algn="just"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Aumenta la Flexibilidad</a:t>
            </a:r>
            <a:r>
              <a:rPr lang="es-ES" sz="3200" b="0" i="0" u="none" strike="noStrike" cap="none">
                <a:solidFill>
                  <a:srgbClr val="000000"/>
                </a:solidFill>
                <a:latin typeface="Arial"/>
                <a:ea typeface="Arial"/>
                <a:cs typeface="Arial"/>
                <a:sym typeface="Arial"/>
              </a:rPr>
              <a:t>: Los sistemas se vuelven más adaptables a los cambios y mejoras.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46"/>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10" name="Google Shape;210;p46"/>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211" name="Google Shape;211;p46"/>
          <p:cNvSpPr txBox="1"/>
          <p:nvPr/>
        </p:nvSpPr>
        <p:spPr>
          <a:xfrm>
            <a:off x="336804" y="903991"/>
            <a:ext cx="994105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Abierto/Cerrado</a:t>
            </a:r>
            <a:endParaRPr/>
          </a:p>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Ventajas</a:t>
            </a:r>
            <a:endParaRPr sz="3600" b="1" i="0" u="none" strike="noStrike" cap="none">
              <a:solidFill>
                <a:srgbClr val="244061"/>
              </a:solidFill>
              <a:latin typeface="Arial"/>
              <a:ea typeface="Arial"/>
              <a:cs typeface="Arial"/>
              <a:sym typeface="Arial"/>
            </a:endParaRPr>
          </a:p>
        </p:txBody>
      </p:sp>
      <p:sp>
        <p:nvSpPr>
          <p:cNvPr id="212" name="Google Shape;212;p46"/>
          <p:cNvSpPr txBox="1"/>
          <p:nvPr/>
        </p:nvSpPr>
        <p:spPr>
          <a:xfrm>
            <a:off x="336804" y="2414579"/>
            <a:ext cx="11123676" cy="4124206"/>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Reducción de Errores: </a:t>
            </a:r>
            <a:r>
              <a:rPr lang="es-ES" sz="3200" b="0" i="0" u="none" strike="noStrike" cap="none">
                <a:solidFill>
                  <a:srgbClr val="000000"/>
                </a:solidFill>
                <a:latin typeface="Arial"/>
                <a:ea typeface="Arial"/>
                <a:cs typeface="Arial"/>
                <a:sym typeface="Arial"/>
              </a:rPr>
              <a:t>Minimiza los cambios en el código existente, lo que reduce la posibilidad de introducir nuevos errores.</a:t>
            </a:r>
            <a:endParaRPr/>
          </a:p>
          <a:p>
            <a:pPr marL="457200" marR="0" lvl="0" indent="-34290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Evolución del Software: </a:t>
            </a:r>
            <a:r>
              <a:rPr lang="es-ES" sz="3200" b="0" i="0" u="none" strike="noStrike" cap="none">
                <a:solidFill>
                  <a:srgbClr val="000000"/>
                </a:solidFill>
                <a:latin typeface="Arial"/>
                <a:ea typeface="Arial"/>
                <a:cs typeface="Arial"/>
                <a:sym typeface="Arial"/>
              </a:rPr>
              <a:t>Permite que el software evolucione de manera más controlada y segura.</a:t>
            </a:r>
            <a:endParaRPr/>
          </a:p>
          <a:p>
            <a:pPr marL="457200" marR="0" lvl="0" indent="-34290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Adaptabilidad:</a:t>
            </a:r>
            <a:r>
              <a:rPr lang="es-ES" sz="3200" b="0" i="0" u="none" strike="noStrike" cap="none">
                <a:solidFill>
                  <a:srgbClr val="000000"/>
                </a:solidFill>
                <a:latin typeface="Arial"/>
                <a:ea typeface="Arial"/>
                <a:cs typeface="Arial"/>
                <a:sym typeface="Arial"/>
              </a:rPr>
              <a:t> Hace que el sistema sea más fácil de adaptar a nuevos requerimientos.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47"/>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18" name="Google Shape;218;p47"/>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219" name="Google Shape;219;p47"/>
          <p:cNvSpPr txBox="1"/>
          <p:nvPr/>
        </p:nvSpPr>
        <p:spPr>
          <a:xfrm>
            <a:off x="336804" y="903991"/>
            <a:ext cx="994105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Abierto/Cerrado</a:t>
            </a:r>
            <a:endParaRPr/>
          </a:p>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Desventajas</a:t>
            </a:r>
            <a:endParaRPr sz="3600" b="1" i="0" u="none" strike="noStrike" cap="none">
              <a:solidFill>
                <a:srgbClr val="244061"/>
              </a:solidFill>
              <a:latin typeface="Arial"/>
              <a:ea typeface="Arial"/>
              <a:cs typeface="Arial"/>
              <a:sym typeface="Arial"/>
            </a:endParaRPr>
          </a:p>
        </p:txBody>
      </p:sp>
      <p:sp>
        <p:nvSpPr>
          <p:cNvPr id="220" name="Google Shape;220;p47"/>
          <p:cNvSpPr txBox="1"/>
          <p:nvPr/>
        </p:nvSpPr>
        <p:spPr>
          <a:xfrm>
            <a:off x="336804" y="2301913"/>
            <a:ext cx="11123676" cy="3354765"/>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Complejidad Inicial: </a:t>
            </a:r>
            <a:r>
              <a:rPr lang="es-ES" sz="3200" b="0" i="0" u="none" strike="noStrike" cap="none">
                <a:solidFill>
                  <a:srgbClr val="000000"/>
                </a:solidFill>
                <a:latin typeface="Arial"/>
                <a:ea typeface="Arial"/>
                <a:cs typeface="Arial"/>
                <a:sym typeface="Arial"/>
              </a:rPr>
              <a:t>Implementar OCP puede requerir una planificación y diseño más cuidadosos desde el inicio.</a:t>
            </a:r>
            <a:endParaRPr/>
          </a:p>
          <a:p>
            <a:pPr marL="457200" marR="0" lvl="0" indent="-34290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rgbClr val="000000"/>
              </a:buClr>
              <a:buSzPts val="3200"/>
              <a:buFont typeface="Arial"/>
              <a:buChar char="•"/>
            </a:pPr>
            <a:r>
              <a:rPr lang="es-ES" sz="3200" b="1" i="0" u="none" strike="noStrike" cap="none">
                <a:solidFill>
                  <a:srgbClr val="000000"/>
                </a:solidFill>
                <a:latin typeface="Arial"/>
                <a:ea typeface="Arial"/>
                <a:cs typeface="Arial"/>
                <a:sym typeface="Arial"/>
              </a:rPr>
              <a:t>Sobrecarga de Código:</a:t>
            </a:r>
            <a:r>
              <a:rPr lang="es-ES" sz="3200" b="0" i="0" u="none" strike="noStrike" cap="none">
                <a:solidFill>
                  <a:srgbClr val="000000"/>
                </a:solidFill>
                <a:latin typeface="Arial"/>
                <a:ea typeface="Arial"/>
                <a:cs typeface="Arial"/>
                <a:sym typeface="Arial"/>
              </a:rPr>
              <a:t> A veces puede llevar a una sobrecarga de clases e interfaces adicionales, aumentando la complejidad del sistema.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4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26" name="Google Shape;226;p48"/>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227" name="Google Shape;227;p48"/>
          <p:cNvSpPr txBox="1"/>
          <p:nvPr/>
        </p:nvSpPr>
        <p:spPr>
          <a:xfrm>
            <a:off x="336804" y="903991"/>
            <a:ext cx="11623548" cy="22159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Abierto/Cerrado</a:t>
            </a:r>
            <a:endParaRPr/>
          </a:p>
          <a:p>
            <a:pPr marL="0" marR="0" lvl="0" indent="0" algn="l" rtl="0">
              <a:lnSpc>
                <a:spcPct val="100000"/>
              </a:lnSpc>
              <a:spcBef>
                <a:spcPts val="0"/>
              </a:spcBef>
              <a:spcAft>
                <a:spcPts val="0"/>
              </a:spcAft>
              <a:buNone/>
            </a:pPr>
            <a:endParaRPr sz="900" b="1" i="0" u="none" strike="noStrike" cap="none">
              <a:solidFill>
                <a:srgbClr val="244061"/>
              </a:solidFill>
              <a:latin typeface="Arial"/>
              <a:ea typeface="Arial"/>
              <a:cs typeface="Arial"/>
              <a:sym typeface="Arial"/>
            </a:endParaRPr>
          </a:p>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Ejemplo</a:t>
            </a:r>
            <a:r>
              <a:rPr lang="es-ES" sz="1800" b="1" i="0" u="none" strike="noStrike" cap="none">
                <a:solidFill>
                  <a:srgbClr val="244061"/>
                </a:solidFill>
                <a:latin typeface="Arial"/>
                <a:ea typeface="Arial"/>
                <a:cs typeface="Arial"/>
                <a:sym typeface="Arial"/>
              </a:rPr>
              <a:t>: </a:t>
            </a:r>
            <a:r>
              <a:rPr lang="es-ES" sz="2400" b="0" i="0" u="none" strike="noStrike" cap="none">
                <a:solidFill>
                  <a:srgbClr val="000000"/>
                </a:solidFill>
                <a:latin typeface="Arial"/>
                <a:ea typeface="Arial"/>
                <a:cs typeface="Arial"/>
                <a:sym typeface="Arial"/>
              </a:rPr>
              <a:t>Imaginemos que tenemos un sistema de cálculo de salario para diferentes tipos de empleados.</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3600" b="1" i="0" u="none" strike="noStrike" cap="none">
              <a:solidFill>
                <a:srgbClr val="244061"/>
              </a:solidFill>
              <a:latin typeface="Arial"/>
              <a:ea typeface="Arial"/>
              <a:cs typeface="Arial"/>
              <a:sym typeface="Arial"/>
            </a:endParaRPr>
          </a:p>
        </p:txBody>
      </p:sp>
      <p:sp>
        <p:nvSpPr>
          <p:cNvPr id="228" name="Google Shape;228;p48"/>
          <p:cNvSpPr txBox="1"/>
          <p:nvPr/>
        </p:nvSpPr>
        <p:spPr>
          <a:xfrm>
            <a:off x="463296" y="2505343"/>
            <a:ext cx="5522976" cy="44012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class Empleado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public double calcularSalario()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 Implementación básica</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return 0;</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class EmpleadoTiempoCompleto extends Empleado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public double calcularSalario()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return 3000;</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a:t>
            </a:r>
            <a:endParaRPr/>
          </a:p>
        </p:txBody>
      </p:sp>
      <p:sp>
        <p:nvSpPr>
          <p:cNvPr id="229" name="Google Shape;229;p48"/>
          <p:cNvSpPr txBox="1"/>
          <p:nvPr/>
        </p:nvSpPr>
        <p:spPr>
          <a:xfrm>
            <a:off x="5980176" y="2399190"/>
            <a:ext cx="6096000" cy="19389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class EmpleadoMedioTiempo extends Empleado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public double calcularSalario()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return 1500;</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000" b="0" i="0" u="none" strike="noStrike" cap="none">
                <a:solidFill>
                  <a:srgbClr val="000000"/>
                </a:solidFill>
                <a:latin typeface="Arial"/>
                <a:ea typeface="Arial"/>
                <a:cs typeface="Arial"/>
                <a:sym typeface="Arial"/>
              </a:rPr>
              <a:t>}</a:t>
            </a:r>
            <a:endParaRPr/>
          </a:p>
        </p:txBody>
      </p:sp>
      <p:cxnSp>
        <p:nvCxnSpPr>
          <p:cNvPr id="230" name="Google Shape;230;p48"/>
          <p:cNvCxnSpPr/>
          <p:nvPr/>
        </p:nvCxnSpPr>
        <p:spPr>
          <a:xfrm>
            <a:off x="5754624" y="2609088"/>
            <a:ext cx="0" cy="3694176"/>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231" name="Google Shape;231;p48"/>
          <p:cNvSpPr/>
          <p:nvPr/>
        </p:nvSpPr>
        <p:spPr>
          <a:xfrm>
            <a:off x="6344411" y="4705945"/>
            <a:ext cx="4933189" cy="1048512"/>
          </a:xfrm>
          <a:prstGeom prst="roundRect">
            <a:avLst>
              <a:gd name="adj" fmla="val 16667"/>
            </a:avLst>
          </a:prstGeom>
          <a:solidFill>
            <a:srgbClr val="A5A5A5"/>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ES" sz="2800" b="0" i="0" u="none" strike="noStrike" cap="none">
                <a:solidFill>
                  <a:schemeClr val="dk1"/>
                </a:solidFill>
                <a:latin typeface="Arial"/>
                <a:ea typeface="Arial"/>
                <a:cs typeface="Arial"/>
                <a:sym typeface="Arial"/>
              </a:rPr>
              <a:t>Como se aplicaría el Principio de Abierto/Cerrado</a:t>
            </a:r>
            <a:endParaRPr sz="2800" b="0" i="0" u="none" strike="noStrike" cap="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49"/>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37" name="Google Shape;237;p49"/>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238" name="Google Shape;238;p49"/>
          <p:cNvSpPr txBox="1"/>
          <p:nvPr/>
        </p:nvSpPr>
        <p:spPr>
          <a:xfrm>
            <a:off x="336804" y="994785"/>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Abierto/Cerrado</a:t>
            </a:r>
            <a:endParaRPr/>
          </a:p>
        </p:txBody>
      </p:sp>
      <p:sp>
        <p:nvSpPr>
          <p:cNvPr id="239" name="Google Shape;239;p49"/>
          <p:cNvSpPr txBox="1"/>
          <p:nvPr/>
        </p:nvSpPr>
        <p:spPr>
          <a:xfrm>
            <a:off x="336804" y="1656475"/>
            <a:ext cx="11148581"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Ejemplo:</a:t>
            </a:r>
            <a:endParaRPr/>
          </a:p>
          <a:p>
            <a:pPr marL="0" marR="0" lvl="0" indent="0" algn="just"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Si queremos añadir un nuevo tipo de empleado, por ejemplo, un contratista, siguiendo el OCP, deberíamos hacerlo sin modificar las clases existentes:</a:t>
            </a:r>
            <a:endParaRPr sz="2000" b="0" i="0" u="none" strike="noStrike" cap="none">
              <a:solidFill>
                <a:srgbClr val="000000"/>
              </a:solidFill>
              <a:latin typeface="Arial"/>
              <a:ea typeface="Arial"/>
              <a:cs typeface="Arial"/>
              <a:sym typeface="Arial"/>
            </a:endParaRPr>
          </a:p>
        </p:txBody>
      </p:sp>
      <p:sp>
        <p:nvSpPr>
          <p:cNvPr id="240" name="Google Shape;240;p49"/>
          <p:cNvSpPr txBox="1"/>
          <p:nvPr/>
        </p:nvSpPr>
        <p:spPr>
          <a:xfrm>
            <a:off x="3048000" y="3749457"/>
            <a:ext cx="6096000" cy="31085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class </a:t>
            </a:r>
            <a:r>
              <a:rPr lang="es-ES" sz="2800" b="0" i="0" u="none" strike="noStrike" cap="none">
                <a:solidFill>
                  <a:srgbClr val="FF0000"/>
                </a:solidFill>
                <a:latin typeface="Arial"/>
                <a:ea typeface="Arial"/>
                <a:cs typeface="Arial"/>
                <a:sym typeface="Arial"/>
              </a:rPr>
              <a:t>EmpleadoContratista</a:t>
            </a:r>
            <a:r>
              <a:rPr lang="es-ES" sz="2800" b="0" i="0" u="none" strike="noStrike" cap="none">
                <a:solidFill>
                  <a:srgbClr val="000000"/>
                </a:solidFill>
                <a:latin typeface="Arial"/>
                <a:ea typeface="Arial"/>
                <a:cs typeface="Arial"/>
                <a:sym typeface="Arial"/>
              </a:rPr>
              <a:t> extends Empleado {</a:t>
            </a:r>
            <a:endParaRPr/>
          </a:p>
          <a:p>
            <a:pPr marL="0" marR="0" lvl="0" indent="0" algn="l"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    public double calcularSalario() {</a:t>
            </a:r>
            <a:endParaRPr/>
          </a:p>
          <a:p>
            <a:pPr marL="0" marR="0" lvl="0" indent="0" algn="l"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        return 2000;</a:t>
            </a:r>
            <a:endParaRPr/>
          </a:p>
          <a:p>
            <a:pPr marL="0" marR="0" lvl="0" indent="0" algn="l"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800" b="0" i="0" u="none" strike="noStrike" cap="none">
                <a:solidFill>
                  <a:srgbClr val="000000"/>
                </a:solidFill>
                <a:latin typeface="Arial"/>
                <a:ea typeface="Arial"/>
                <a:cs typeface="Arial"/>
                <a:sym typeface="Arial"/>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50"/>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46" name="Google Shape;246;p50"/>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247" name="Google Shape;247;p50"/>
          <p:cNvSpPr txBox="1"/>
          <p:nvPr/>
        </p:nvSpPr>
        <p:spPr>
          <a:xfrm>
            <a:off x="336804" y="836896"/>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Abierto/Cerrado</a:t>
            </a:r>
            <a:endParaRPr/>
          </a:p>
        </p:txBody>
      </p:sp>
      <p:sp>
        <p:nvSpPr>
          <p:cNvPr id="248" name="Google Shape;248;p50"/>
          <p:cNvSpPr txBox="1"/>
          <p:nvPr/>
        </p:nvSpPr>
        <p:spPr>
          <a:xfrm>
            <a:off x="336804" y="1483227"/>
            <a:ext cx="11148581" cy="8925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Solucion: </a:t>
            </a:r>
            <a:r>
              <a:rPr lang="es-ES" sz="2400" b="0" i="0" u="none" strike="noStrike" cap="none">
                <a:solidFill>
                  <a:srgbClr val="000000"/>
                </a:solidFill>
                <a:latin typeface="Arial"/>
                <a:ea typeface="Arial"/>
                <a:cs typeface="Arial"/>
                <a:sym typeface="Arial"/>
              </a:rPr>
              <a:t>Para cumplir mejor con el OCP, podemos usar interfaces o clases abstractas para definir el comportamiento común y permitir la extensión:</a:t>
            </a:r>
            <a:endParaRPr sz="2000" b="0" i="0" u="none" strike="noStrike" cap="none">
              <a:solidFill>
                <a:srgbClr val="000000"/>
              </a:solidFill>
              <a:latin typeface="Arial"/>
              <a:ea typeface="Arial"/>
              <a:cs typeface="Arial"/>
              <a:sym typeface="Arial"/>
            </a:endParaRPr>
          </a:p>
        </p:txBody>
      </p:sp>
      <p:sp>
        <p:nvSpPr>
          <p:cNvPr id="249" name="Google Shape;249;p50"/>
          <p:cNvSpPr txBox="1"/>
          <p:nvPr/>
        </p:nvSpPr>
        <p:spPr>
          <a:xfrm>
            <a:off x="426720" y="2386310"/>
            <a:ext cx="6096000" cy="46166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interface </a:t>
            </a:r>
            <a:r>
              <a:rPr lang="es-ES" sz="1800" b="0" i="0" u="none" strike="noStrike" cap="none">
                <a:solidFill>
                  <a:srgbClr val="FF0000"/>
                </a:solidFill>
                <a:latin typeface="Arial"/>
                <a:ea typeface="Arial"/>
                <a:cs typeface="Arial"/>
                <a:sym typeface="Arial"/>
              </a:rPr>
              <a:t>Empleado</a:t>
            </a:r>
            <a:r>
              <a:rPr lang="es-ES" sz="18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double calcularSalario();</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class </a:t>
            </a:r>
            <a:r>
              <a:rPr lang="es-ES" sz="1800" b="0" i="0" u="none" strike="noStrike" cap="none">
                <a:solidFill>
                  <a:srgbClr val="FF0000"/>
                </a:solidFill>
                <a:latin typeface="Arial"/>
                <a:ea typeface="Arial"/>
                <a:cs typeface="Arial"/>
                <a:sym typeface="Arial"/>
              </a:rPr>
              <a:t>EmpleadoTiempo</a:t>
            </a:r>
            <a:r>
              <a:rPr lang="es-ES" sz="1800" b="0" i="0" u="none" strike="noStrike" cap="none">
                <a:solidFill>
                  <a:srgbClr val="000000"/>
                </a:solidFill>
                <a:latin typeface="Arial"/>
                <a:ea typeface="Arial"/>
                <a:cs typeface="Arial"/>
                <a:sym typeface="Arial"/>
              </a:rPr>
              <a:t>Completo implements Empleado {</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public double calcularSalario() {</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return 3000;</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class </a:t>
            </a:r>
            <a:r>
              <a:rPr lang="es-ES" sz="1800" b="0" i="0" u="none" strike="noStrike" cap="none">
                <a:solidFill>
                  <a:srgbClr val="FF0000"/>
                </a:solidFill>
                <a:latin typeface="Arial"/>
                <a:ea typeface="Arial"/>
                <a:cs typeface="Arial"/>
                <a:sym typeface="Arial"/>
              </a:rPr>
              <a:t>EmpleadoMedioTiempo</a:t>
            </a:r>
            <a:r>
              <a:rPr lang="es-ES" sz="1800" b="0" i="0" u="none" strike="noStrike" cap="none">
                <a:solidFill>
                  <a:srgbClr val="000000"/>
                </a:solidFill>
                <a:latin typeface="Arial"/>
                <a:ea typeface="Arial"/>
                <a:cs typeface="Arial"/>
                <a:sym typeface="Arial"/>
              </a:rPr>
              <a:t> implements Empleado {</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public double calcularSalario() {</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return 1500;</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a:t>
            </a:r>
            <a:endParaRPr/>
          </a:p>
        </p:txBody>
      </p:sp>
      <p:sp>
        <p:nvSpPr>
          <p:cNvPr id="250" name="Google Shape;250;p50"/>
          <p:cNvSpPr txBox="1"/>
          <p:nvPr/>
        </p:nvSpPr>
        <p:spPr>
          <a:xfrm>
            <a:off x="6522720" y="2609088"/>
            <a:ext cx="6096000"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class </a:t>
            </a:r>
            <a:r>
              <a:rPr lang="es-ES" sz="1800" b="0" i="0" u="none" strike="noStrike" cap="none">
                <a:solidFill>
                  <a:srgbClr val="FF0000"/>
                </a:solidFill>
                <a:latin typeface="Arial"/>
                <a:ea typeface="Arial"/>
                <a:cs typeface="Arial"/>
                <a:sym typeface="Arial"/>
              </a:rPr>
              <a:t>EmpleadoContratista</a:t>
            </a:r>
            <a:r>
              <a:rPr lang="es-ES" sz="1800" b="0" i="0" u="none" strike="noStrike" cap="none">
                <a:solidFill>
                  <a:srgbClr val="000000"/>
                </a:solidFill>
                <a:latin typeface="Arial"/>
                <a:ea typeface="Arial"/>
                <a:cs typeface="Arial"/>
                <a:sym typeface="Arial"/>
              </a:rPr>
              <a:t> implements Empleado {</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public double calcularSalario() {</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return 2000;</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a:t>
            </a:r>
            <a:endParaRPr/>
          </a:p>
        </p:txBody>
      </p:sp>
      <p:cxnSp>
        <p:nvCxnSpPr>
          <p:cNvPr id="251" name="Google Shape;251;p50"/>
          <p:cNvCxnSpPr/>
          <p:nvPr/>
        </p:nvCxnSpPr>
        <p:spPr>
          <a:xfrm>
            <a:off x="6400800" y="2609088"/>
            <a:ext cx="0" cy="365760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252" name="Google Shape;252;p50"/>
          <p:cNvSpPr/>
          <p:nvPr/>
        </p:nvSpPr>
        <p:spPr>
          <a:xfrm>
            <a:off x="7174601" y="4768143"/>
            <a:ext cx="4145280" cy="937040"/>
          </a:xfrm>
          <a:prstGeom prst="roundRect">
            <a:avLst>
              <a:gd name="adj" fmla="val 16667"/>
            </a:avLst>
          </a:prstGeom>
          <a:solidFill>
            <a:srgbClr val="A5A5A5"/>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ES" sz="1800" b="0" i="0" u="none" strike="noStrike" cap="none">
                <a:solidFill>
                  <a:srgbClr val="000000"/>
                </a:solidFill>
                <a:latin typeface="Arial"/>
                <a:ea typeface="Arial"/>
                <a:cs typeface="Arial"/>
                <a:sym typeface="Arial"/>
              </a:rPr>
              <a:t>De esta manera, podemos agregar nuevos tipos de empleados sin modificar las clases existentes</a:t>
            </a:r>
            <a:r>
              <a:rPr lang="es-ES" sz="1400" b="0" i="0" u="none" strike="noStrike" cap="none">
                <a:solidFill>
                  <a:schemeClr val="lt1"/>
                </a:solidFill>
                <a:latin typeface="Arial"/>
                <a:ea typeface="Arial"/>
                <a:cs typeface="Arial"/>
                <a:sym typeface="Arial"/>
              </a:rPr>
              <a:t>.</a:t>
            </a: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51"/>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58" name="Google Shape;258;p51"/>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259" name="Google Shape;259;p51"/>
          <p:cNvSpPr txBox="1"/>
          <p:nvPr/>
        </p:nvSpPr>
        <p:spPr>
          <a:xfrm>
            <a:off x="336804" y="777453"/>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Abierto/Cerrado</a:t>
            </a:r>
            <a:endParaRPr/>
          </a:p>
        </p:txBody>
      </p:sp>
      <p:sp>
        <p:nvSpPr>
          <p:cNvPr id="260" name="Google Shape;260;p51"/>
          <p:cNvSpPr txBox="1"/>
          <p:nvPr/>
        </p:nvSpPr>
        <p:spPr>
          <a:xfrm>
            <a:off x="336804" y="1403916"/>
            <a:ext cx="11148581" cy="11387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Ejercicio Practico: </a:t>
            </a:r>
            <a:r>
              <a:rPr lang="es-ES" sz="2000" b="0" i="0" u="none" strike="noStrike" cap="none">
                <a:solidFill>
                  <a:srgbClr val="000000"/>
                </a:solidFill>
                <a:latin typeface="Arial"/>
                <a:ea typeface="Arial"/>
                <a:cs typeface="Arial"/>
                <a:sym typeface="Arial"/>
              </a:rPr>
              <a:t>Supongamos que tenemos un sistema de notificaciones que puede enviar mensajes a través de diferentes canales (email, SMS). Queremos asegurarnos de que el sistema cumple con el OCP.</a:t>
            </a:r>
            <a:endParaRPr sz="2000" b="0" i="0" u="none" strike="noStrike" cap="none">
              <a:solidFill>
                <a:srgbClr val="000000"/>
              </a:solidFill>
              <a:latin typeface="Arial"/>
              <a:ea typeface="Arial"/>
              <a:cs typeface="Arial"/>
              <a:sym typeface="Arial"/>
            </a:endParaRPr>
          </a:p>
        </p:txBody>
      </p:sp>
      <p:sp>
        <p:nvSpPr>
          <p:cNvPr id="261" name="Google Shape;261;p51"/>
          <p:cNvSpPr txBox="1"/>
          <p:nvPr/>
        </p:nvSpPr>
        <p:spPr>
          <a:xfrm>
            <a:off x="336803" y="2686656"/>
            <a:ext cx="11148581" cy="46935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class </a:t>
            </a:r>
            <a:r>
              <a:rPr lang="es-ES" sz="2400" b="0" i="0" u="none" strike="noStrike" cap="none">
                <a:solidFill>
                  <a:srgbClr val="FF0000"/>
                </a:solidFill>
                <a:latin typeface="Arial"/>
                <a:ea typeface="Arial"/>
                <a:cs typeface="Arial"/>
                <a:sym typeface="Arial"/>
              </a:rPr>
              <a:t>Notificador</a:t>
            </a:r>
            <a:r>
              <a:rPr lang="es-ES" sz="2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public void enviarNotificacion(String mensaje)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 Enviar notificación por defecto (por ejemplo, email)</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class </a:t>
            </a:r>
            <a:r>
              <a:rPr lang="es-ES" sz="2400" b="0" i="0" u="none" strike="noStrike" cap="none">
                <a:solidFill>
                  <a:srgbClr val="FF0000"/>
                </a:solidFill>
                <a:latin typeface="Arial"/>
                <a:ea typeface="Arial"/>
                <a:cs typeface="Arial"/>
                <a:sym typeface="Arial"/>
              </a:rPr>
              <a:t>NotificadorSMS</a:t>
            </a:r>
            <a:r>
              <a:rPr lang="es-ES" sz="2400" b="0" i="0" u="none" strike="noStrike" cap="none">
                <a:solidFill>
                  <a:srgbClr val="000000"/>
                </a:solidFill>
                <a:latin typeface="Arial"/>
                <a:ea typeface="Arial"/>
                <a:cs typeface="Arial"/>
                <a:sym typeface="Arial"/>
              </a:rPr>
              <a:t> extends Notificador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public void enviarNotificacion(String mensaje)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 Enviar notificación por SMS</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262" name="Google Shape;262;p51"/>
          <p:cNvSpPr/>
          <p:nvPr/>
        </p:nvSpPr>
        <p:spPr>
          <a:xfrm>
            <a:off x="7385043" y="4310520"/>
            <a:ext cx="4639577" cy="883920"/>
          </a:xfrm>
          <a:prstGeom prst="roundRect">
            <a:avLst>
              <a:gd name="adj" fmla="val 16667"/>
            </a:avLst>
          </a:prstGeom>
          <a:solidFill>
            <a:srgbClr val="A5A5A5"/>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just" rtl="0">
              <a:lnSpc>
                <a:spcPct val="100000"/>
              </a:lnSpc>
              <a:spcBef>
                <a:spcPts val="0"/>
              </a:spcBef>
              <a:spcAft>
                <a:spcPts val="0"/>
              </a:spcAft>
              <a:buClr>
                <a:srgbClr val="000000"/>
              </a:buClr>
              <a:buSzPts val="1400"/>
              <a:buFont typeface="Arial"/>
              <a:buAutoNum type="arabicPeriod"/>
            </a:pPr>
            <a:r>
              <a:rPr lang="es-ES" sz="1400" b="0" i="0" u="none" strike="noStrike" cap="none">
                <a:solidFill>
                  <a:schemeClr val="dk1"/>
                </a:solidFill>
                <a:latin typeface="Arial"/>
                <a:ea typeface="Arial"/>
                <a:cs typeface="Arial"/>
                <a:sym typeface="Arial"/>
              </a:rPr>
              <a:t>¿Cumple Bicicleta con el principio LSP?</a:t>
            </a:r>
            <a:endParaRPr/>
          </a:p>
          <a:p>
            <a:pPr marL="342900" marR="0" lvl="0" indent="-342900" algn="just" rtl="0">
              <a:lnSpc>
                <a:spcPct val="100000"/>
              </a:lnSpc>
              <a:spcBef>
                <a:spcPts val="0"/>
              </a:spcBef>
              <a:spcAft>
                <a:spcPts val="0"/>
              </a:spcAft>
              <a:buClr>
                <a:srgbClr val="000000"/>
              </a:buClr>
              <a:buSzPts val="1400"/>
              <a:buFont typeface="Arial"/>
              <a:buAutoNum type="arabicPeriod"/>
            </a:pPr>
            <a:r>
              <a:rPr lang="es-ES" sz="1400" b="0" i="0" u="none" strike="noStrike" cap="none">
                <a:solidFill>
                  <a:schemeClr val="dk1"/>
                </a:solidFill>
                <a:latin typeface="Arial"/>
                <a:ea typeface="Arial"/>
                <a:cs typeface="Arial"/>
                <a:sym typeface="Arial"/>
              </a:rPr>
              <a:t>¿Qué cambios harías para mejorar la estructura de clases y cumplir con LSP?</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p52"/>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68" name="Google Shape;268;p52"/>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269" name="Google Shape;269;p52"/>
          <p:cNvSpPr txBox="1"/>
          <p:nvPr/>
        </p:nvSpPr>
        <p:spPr>
          <a:xfrm>
            <a:off x="336804" y="777453"/>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Abierto/Cerrado</a:t>
            </a:r>
            <a:endParaRPr/>
          </a:p>
        </p:txBody>
      </p:sp>
      <p:sp>
        <p:nvSpPr>
          <p:cNvPr id="270" name="Google Shape;270;p52"/>
          <p:cNvSpPr txBox="1"/>
          <p:nvPr/>
        </p:nvSpPr>
        <p:spPr>
          <a:xfrm>
            <a:off x="336804" y="1565311"/>
            <a:ext cx="11148581" cy="36625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Solución:</a:t>
            </a:r>
            <a:endParaRPr/>
          </a:p>
          <a:p>
            <a:pPr marL="0" marR="0" lvl="0" indent="0" algn="l" rtl="0">
              <a:lnSpc>
                <a:spcPct val="100000"/>
              </a:lnSpc>
              <a:spcBef>
                <a:spcPts val="0"/>
              </a:spcBef>
              <a:spcAft>
                <a:spcPts val="0"/>
              </a:spcAft>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s-ES" sz="2800" b="0" i="0" u="none" strike="noStrike" cap="none">
                <a:solidFill>
                  <a:schemeClr val="dk1"/>
                </a:solidFill>
                <a:latin typeface="Arial"/>
                <a:ea typeface="Arial"/>
                <a:cs typeface="Arial"/>
                <a:sym typeface="Arial"/>
              </a:rPr>
              <a:t>No, Notificador no cumple completamente con el OCP, ya que cada vez que queramos añadir un nuevo canal de notificación, tendríamos que modificar la clase Notificador.</a:t>
            </a:r>
            <a:endParaRPr/>
          </a:p>
          <a:p>
            <a:pPr marL="0" marR="0" lvl="0" indent="0" algn="l" rtl="0">
              <a:lnSpc>
                <a:spcPct val="100000"/>
              </a:lnSpc>
              <a:spcBef>
                <a:spcPts val="0"/>
              </a:spcBef>
              <a:spcAft>
                <a:spcPts val="0"/>
              </a:spcAft>
              <a:buNone/>
            </a:pPr>
            <a:endParaRPr sz="2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s-ES" sz="2800" b="0" i="0" u="none" strike="noStrike" cap="none">
                <a:solidFill>
                  <a:schemeClr val="dk1"/>
                </a:solidFill>
                <a:latin typeface="Arial"/>
                <a:ea typeface="Arial"/>
                <a:cs typeface="Arial"/>
                <a:sym typeface="Arial"/>
              </a:rPr>
              <a:t>Podemos usar una interfaz para Notificador y crear implementaciones específicas para cada canal de notificación:</a:t>
            </a:r>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275" name="Google Shape;275;p53"/>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76" name="Google Shape;276;p53"/>
          <p:cNvSpPr txBox="1"/>
          <p:nvPr/>
        </p:nvSpPr>
        <p:spPr>
          <a:xfrm>
            <a:off x="2651760" y="243840"/>
            <a:ext cx="58674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DISEÑO DE PATRONES</a:t>
            </a:r>
            <a:endParaRPr/>
          </a:p>
        </p:txBody>
      </p:sp>
      <p:sp>
        <p:nvSpPr>
          <p:cNvPr id="277" name="Google Shape;277;p53"/>
          <p:cNvSpPr txBox="1"/>
          <p:nvPr/>
        </p:nvSpPr>
        <p:spPr>
          <a:xfrm>
            <a:off x="336804" y="777453"/>
            <a:ext cx="994105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b="1" i="0" u="none" strike="noStrike" cap="none">
                <a:solidFill>
                  <a:srgbClr val="244061"/>
                </a:solidFill>
                <a:latin typeface="Arial"/>
                <a:ea typeface="Arial"/>
                <a:cs typeface="Arial"/>
                <a:sym typeface="Arial"/>
              </a:rPr>
              <a:t>Principio Abierto/Cerrado</a:t>
            </a:r>
            <a:endParaRPr/>
          </a:p>
        </p:txBody>
      </p:sp>
      <p:sp>
        <p:nvSpPr>
          <p:cNvPr id="278" name="Google Shape;278;p53"/>
          <p:cNvSpPr txBox="1"/>
          <p:nvPr/>
        </p:nvSpPr>
        <p:spPr>
          <a:xfrm>
            <a:off x="336804" y="1565311"/>
            <a:ext cx="1114858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244061"/>
                </a:solidFill>
                <a:latin typeface="Arial"/>
                <a:ea typeface="Arial"/>
                <a:cs typeface="Arial"/>
                <a:sym typeface="Arial"/>
              </a:rPr>
              <a:t>Solución:</a:t>
            </a:r>
            <a:endParaRPr/>
          </a:p>
        </p:txBody>
      </p:sp>
      <p:sp>
        <p:nvSpPr>
          <p:cNvPr id="279" name="Google Shape;279;p53"/>
          <p:cNvSpPr txBox="1"/>
          <p:nvPr/>
        </p:nvSpPr>
        <p:spPr>
          <a:xfrm>
            <a:off x="487680" y="2216788"/>
            <a:ext cx="6096000"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interface Notificador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void enviarNotificacion(String mensaje);</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class NotificadorEmail implements Notificador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public void enviarNotificacion(String mensaje)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 Enviar notificación por email</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280" name="Google Shape;280;p53"/>
          <p:cNvSpPr txBox="1"/>
          <p:nvPr/>
        </p:nvSpPr>
        <p:spPr>
          <a:xfrm>
            <a:off x="6711696" y="2088531"/>
            <a:ext cx="6096000"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class NotificadorSMS implements Notificador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@Override</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public void enviarNotificacion(String mensaje)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 Enviar notificación por SMS</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s-ES" sz="2400" b="0" i="0" u="none" strike="noStrike" cap="none">
                <a:solidFill>
                  <a:srgbClr val="000000"/>
                </a:solidFill>
                <a:latin typeface="Arial"/>
                <a:ea typeface="Arial"/>
                <a:cs typeface="Arial"/>
                <a:sym typeface="Arial"/>
              </a:rPr>
              <a:t>}</a:t>
            </a:r>
            <a:endParaRPr/>
          </a:p>
        </p:txBody>
      </p:sp>
      <p:cxnSp>
        <p:nvCxnSpPr>
          <p:cNvPr id="281" name="Google Shape;281;p53"/>
          <p:cNvCxnSpPr/>
          <p:nvPr/>
        </p:nvCxnSpPr>
        <p:spPr>
          <a:xfrm>
            <a:off x="6449568" y="2088531"/>
            <a:ext cx="0" cy="4263501"/>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282" name="Google Shape;282;p53"/>
          <p:cNvSpPr/>
          <p:nvPr/>
        </p:nvSpPr>
        <p:spPr>
          <a:xfrm>
            <a:off x="7083552" y="5327904"/>
            <a:ext cx="4620768" cy="1189748"/>
          </a:xfrm>
          <a:prstGeom prst="roundRect">
            <a:avLst>
              <a:gd name="adj" fmla="val 16667"/>
            </a:avLst>
          </a:prstGeom>
          <a:solidFill>
            <a:srgbClr val="A5A5A5"/>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1600" b="0" i="0" u="none" strike="noStrike" cap="none">
                <a:solidFill>
                  <a:schemeClr val="dk1"/>
                </a:solidFill>
                <a:latin typeface="Arial"/>
                <a:ea typeface="Arial"/>
                <a:cs typeface="Arial"/>
                <a:sym typeface="Arial"/>
              </a:rPr>
              <a:t>De esta forma, podemos añadir nuevos canales de notificación creando nuevas clases que implementen la interfaz Notificador, sin modificar las clases existentes</a:t>
            </a:r>
            <a:r>
              <a:rPr lang="es-ES" sz="1400" b="0" i="0" u="none" strike="noStrike" cap="none">
                <a:solidFill>
                  <a:schemeClr val="lt1"/>
                </a:solidFill>
                <a:latin typeface="Arial"/>
                <a:ea typeface="Arial"/>
                <a:cs typeface="Arial"/>
                <a:sym typeface="Arial"/>
              </a:rPr>
              <a:t>.</a:t>
            </a: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grpSp>
        <p:nvGrpSpPr>
          <p:cNvPr id="287" name="Google Shape;287;p54"/>
          <p:cNvGrpSpPr/>
          <p:nvPr/>
        </p:nvGrpSpPr>
        <p:grpSpPr>
          <a:xfrm>
            <a:off x="377954" y="2238660"/>
            <a:ext cx="8302750" cy="3528155"/>
            <a:chOff x="-545443" y="-184416"/>
            <a:chExt cx="3471900" cy="1393839"/>
          </a:xfrm>
        </p:grpSpPr>
        <p:sp>
          <p:nvSpPr>
            <p:cNvPr id="288" name="Google Shape;288;p54"/>
            <p:cNvSpPr/>
            <p:nvPr/>
          </p:nvSpPr>
          <p:spPr>
            <a:xfrm>
              <a:off x="-545443" y="-184416"/>
              <a:ext cx="3471900" cy="1393839"/>
            </a:xfrm>
            <a:custGeom>
              <a:avLst/>
              <a:gdLst/>
              <a:ahLst/>
              <a:cxnLst/>
              <a:rect l="l" t="t" r="r" b="b"/>
              <a:pathLst>
                <a:path w="2486406" h="1146351" extrusionOk="0">
                  <a:moveTo>
                    <a:pt x="71889" y="0"/>
                  </a:moveTo>
                  <a:lnTo>
                    <a:pt x="2414517" y="0"/>
                  </a:lnTo>
                  <a:cubicBezTo>
                    <a:pt x="2433583" y="0"/>
                    <a:pt x="2451869" y="7574"/>
                    <a:pt x="2465350" y="21056"/>
                  </a:cubicBezTo>
                  <a:cubicBezTo>
                    <a:pt x="2478832" y="34538"/>
                    <a:pt x="2486406" y="52823"/>
                    <a:pt x="2486406" y="71889"/>
                  </a:cubicBezTo>
                  <a:lnTo>
                    <a:pt x="2486406" y="1074462"/>
                  </a:lnTo>
                  <a:cubicBezTo>
                    <a:pt x="2486406" y="1093528"/>
                    <a:pt x="2478832" y="1111813"/>
                    <a:pt x="2465350" y="1125295"/>
                  </a:cubicBezTo>
                  <a:cubicBezTo>
                    <a:pt x="2451869" y="1138777"/>
                    <a:pt x="2433583" y="1146351"/>
                    <a:pt x="2414517" y="1146351"/>
                  </a:cubicBezTo>
                  <a:lnTo>
                    <a:pt x="71889" y="1146351"/>
                  </a:lnTo>
                  <a:cubicBezTo>
                    <a:pt x="52823" y="1146351"/>
                    <a:pt x="34538" y="1138777"/>
                    <a:pt x="21056" y="1125295"/>
                  </a:cubicBezTo>
                  <a:cubicBezTo>
                    <a:pt x="7574" y="1111813"/>
                    <a:pt x="0" y="1093528"/>
                    <a:pt x="0" y="1074462"/>
                  </a:cubicBezTo>
                  <a:lnTo>
                    <a:pt x="0" y="71889"/>
                  </a:lnTo>
                  <a:cubicBezTo>
                    <a:pt x="0" y="52823"/>
                    <a:pt x="7574" y="34538"/>
                    <a:pt x="21056" y="21056"/>
                  </a:cubicBezTo>
                  <a:cubicBezTo>
                    <a:pt x="34538" y="7574"/>
                    <a:pt x="52823" y="0"/>
                    <a:pt x="71889" y="0"/>
                  </a:cubicBezTo>
                  <a:close/>
                </a:path>
              </a:pathLst>
            </a:custGeom>
            <a:solidFill>
              <a:srgbClr val="000000">
                <a:alpha val="0"/>
              </a:srgbClr>
            </a:solidFill>
            <a:ln w="28575" cap="rnd" cmpd="sng">
              <a:solidFill>
                <a:srgbClr val="000000"/>
              </a:solidFill>
              <a:prstDash val="dash"/>
              <a:round/>
              <a:headEnd type="none" w="sm" len="sm"/>
              <a:tailEnd type="none" w="sm" len="sm"/>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None/>
              </a:pPr>
              <a:r>
                <a:rPr lang="es-ES" sz="2200" b="1" i="0" u="none" strike="noStrike" cap="none">
                  <a:solidFill>
                    <a:srgbClr val="000000"/>
                  </a:solidFill>
                  <a:latin typeface="Arial"/>
                  <a:ea typeface="Arial"/>
                  <a:cs typeface="Arial"/>
                  <a:sym typeface="Arial"/>
                </a:rPr>
                <a:t>Principio de Sustitución de Liskov (LSP)</a:t>
              </a:r>
              <a:r>
                <a:rPr lang="es-ES" sz="2200" b="0" i="0" u="none" strike="noStrike" cap="none">
                  <a:solidFill>
                    <a:srgbClr val="000000"/>
                  </a:solidFill>
                  <a:latin typeface="Arial"/>
                  <a:ea typeface="Arial"/>
                  <a:cs typeface="Arial"/>
                  <a:sym typeface="Arial"/>
                </a:rPr>
                <a:t>: El LSP establece que las subclases deben poder reemplazar a las clases base sin alterar el funcionamiento del programa. Esto asegura la mantenibilidad y reutilización del código, evitando errores al sustituir subclases por clases base.</a:t>
              </a:r>
              <a:endParaRPr/>
            </a:p>
            <a:p>
              <a:pPr marL="0" marR="0" lvl="0" indent="0" algn="just" rtl="0">
                <a:lnSpc>
                  <a:spcPct val="100000"/>
                </a:lnSpc>
                <a:spcBef>
                  <a:spcPts val="0"/>
                </a:spcBef>
                <a:spcAft>
                  <a:spcPts val="0"/>
                </a:spcAft>
                <a:buNone/>
              </a:pPr>
              <a:r>
                <a:rPr lang="es-ES" sz="2200" b="1" i="0" u="none" strike="noStrike" cap="none">
                  <a:solidFill>
                    <a:srgbClr val="000000"/>
                  </a:solidFill>
                  <a:latin typeface="Arial"/>
                  <a:ea typeface="Arial"/>
                  <a:cs typeface="Arial"/>
                  <a:sym typeface="Arial"/>
                </a:rPr>
                <a:t>Principio de Abierto/Cerrado (OCP)</a:t>
              </a:r>
              <a:r>
                <a:rPr lang="es-ES" sz="2200" b="0" i="0" u="none" strike="noStrike" cap="none">
                  <a:solidFill>
                    <a:srgbClr val="000000"/>
                  </a:solidFill>
                  <a:latin typeface="Arial"/>
                  <a:ea typeface="Arial"/>
                  <a:cs typeface="Arial"/>
                  <a:sym typeface="Arial"/>
                </a:rPr>
                <a:t>: El OCP dicta que el software debe estar abierto para la extensión, pero cerrado para la modificación. Esto permite agregar nuevas funcionalidades extendiendo las clases existentes sin modificar su código original, facilitando la evolución y estabilidad del software.</a:t>
              </a:r>
              <a:endParaRPr/>
            </a:p>
          </p:txBody>
        </p:sp>
        <p:sp>
          <p:nvSpPr>
            <p:cNvPr id="289" name="Google Shape;289;p54"/>
            <p:cNvSpPr txBox="1"/>
            <p:nvPr/>
          </p:nvSpPr>
          <p:spPr>
            <a:xfrm>
              <a:off x="0" y="-47625"/>
              <a:ext cx="2486406" cy="1193976"/>
            </a:xfrm>
            <a:prstGeom prst="rect">
              <a:avLst/>
            </a:prstGeom>
            <a:noFill/>
            <a:ln>
              <a:noFill/>
            </a:ln>
          </p:spPr>
          <p:txBody>
            <a:bodyPr spcFirstLastPara="1" wrap="square" lIns="39575" tIns="39575" rIns="39575" bIns="39575" anchor="ctr" anchorCtr="0">
              <a:noAutofit/>
            </a:bodyPr>
            <a:lstStyle/>
            <a:p>
              <a:pPr marL="0" marR="0" lvl="0" indent="0" algn="ctr" rtl="0">
                <a:lnSpc>
                  <a:spcPct val="119957"/>
                </a:lnSpc>
                <a:spcBef>
                  <a:spcPts val="0"/>
                </a:spcBef>
                <a:spcAft>
                  <a:spcPts val="0"/>
                </a:spcAft>
                <a:buNone/>
              </a:pPr>
              <a:endParaRPr sz="1403" b="0" i="0" u="none" strike="noStrike" cap="none">
                <a:solidFill>
                  <a:srgbClr val="000000"/>
                </a:solidFill>
                <a:latin typeface="Arial"/>
                <a:ea typeface="Arial"/>
                <a:cs typeface="Arial"/>
                <a:sym typeface="Arial"/>
              </a:endParaRPr>
            </a:p>
          </p:txBody>
        </p:sp>
      </p:grpSp>
      <p:grpSp>
        <p:nvGrpSpPr>
          <p:cNvPr id="290" name="Google Shape;290;p54"/>
          <p:cNvGrpSpPr/>
          <p:nvPr/>
        </p:nvGrpSpPr>
        <p:grpSpPr>
          <a:xfrm>
            <a:off x="-116008" y="-120549"/>
            <a:ext cx="12424017" cy="253060"/>
            <a:chOff x="0" y="-47625"/>
            <a:chExt cx="4908254" cy="99975"/>
          </a:xfrm>
        </p:grpSpPr>
        <p:sp>
          <p:nvSpPr>
            <p:cNvPr id="291" name="Google Shape;291;p54"/>
            <p:cNvSpPr/>
            <p:nvPr/>
          </p:nvSpPr>
          <p:spPr>
            <a:xfrm>
              <a:off x="0" y="0"/>
              <a:ext cx="4908254" cy="52350"/>
            </a:xfrm>
            <a:custGeom>
              <a:avLst/>
              <a:gdLst/>
              <a:ahLst/>
              <a:cxnLst/>
              <a:rect l="l" t="t" r="r" b="b"/>
              <a:pathLst>
                <a:path w="4908254" h="52350" extrusionOk="0">
                  <a:moveTo>
                    <a:pt x="0" y="0"/>
                  </a:moveTo>
                  <a:lnTo>
                    <a:pt x="4908254" y="0"/>
                  </a:lnTo>
                  <a:lnTo>
                    <a:pt x="4908254" y="52350"/>
                  </a:lnTo>
                  <a:lnTo>
                    <a:pt x="0" y="52350"/>
                  </a:lnTo>
                  <a:close/>
                </a:path>
              </a:pathLst>
            </a:custGeom>
            <a:solidFill>
              <a:srgbClr val="343434">
                <a:alpha val="77254"/>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292" name="Google Shape;292;p54"/>
            <p:cNvSpPr txBox="1"/>
            <p:nvPr/>
          </p:nvSpPr>
          <p:spPr>
            <a:xfrm>
              <a:off x="0" y="-47625"/>
              <a:ext cx="4908254" cy="99975"/>
            </a:xfrm>
            <a:prstGeom prst="rect">
              <a:avLst/>
            </a:prstGeom>
            <a:noFill/>
            <a:ln>
              <a:noFill/>
            </a:ln>
          </p:spPr>
          <p:txBody>
            <a:bodyPr spcFirstLastPara="1" wrap="square" lIns="39575" tIns="39575" rIns="39575" bIns="39575" anchor="ctr" anchorCtr="0">
              <a:noAutofit/>
            </a:bodyPr>
            <a:lstStyle/>
            <a:p>
              <a:pPr marL="0" marR="0" lvl="0" indent="0" algn="ctr" rtl="0">
                <a:lnSpc>
                  <a:spcPct val="119957"/>
                </a:lnSpc>
                <a:spcBef>
                  <a:spcPts val="0"/>
                </a:spcBef>
                <a:spcAft>
                  <a:spcPts val="0"/>
                </a:spcAft>
                <a:buNone/>
              </a:pPr>
              <a:endParaRPr sz="1403" b="0" i="0" u="none" strike="noStrike" cap="none">
                <a:solidFill>
                  <a:srgbClr val="000000"/>
                </a:solidFill>
                <a:latin typeface="Arial"/>
                <a:ea typeface="Arial"/>
                <a:cs typeface="Arial"/>
                <a:sym typeface="Arial"/>
              </a:endParaRPr>
            </a:p>
          </p:txBody>
        </p:sp>
      </p:grpSp>
      <p:sp>
        <p:nvSpPr>
          <p:cNvPr id="293" name="Google Shape;293;p54"/>
          <p:cNvSpPr txBox="1"/>
          <p:nvPr/>
        </p:nvSpPr>
        <p:spPr>
          <a:xfrm>
            <a:off x="268950" y="1248143"/>
            <a:ext cx="7981380" cy="897682"/>
          </a:xfrm>
          <a:prstGeom prst="rect">
            <a:avLst/>
          </a:prstGeom>
          <a:noFill/>
          <a:ln>
            <a:noFill/>
          </a:ln>
        </p:spPr>
        <p:txBody>
          <a:bodyPr spcFirstLastPara="1" wrap="square" lIns="0" tIns="0" rIns="0" bIns="0" anchor="t" anchorCtr="0">
            <a:spAutoFit/>
          </a:bodyPr>
          <a:lstStyle/>
          <a:p>
            <a:pPr marL="0" marR="0" lvl="0" indent="0" algn="ctr" rtl="0">
              <a:lnSpc>
                <a:spcPct val="101998"/>
              </a:lnSpc>
              <a:spcBef>
                <a:spcPts val="0"/>
              </a:spcBef>
              <a:spcAft>
                <a:spcPts val="0"/>
              </a:spcAft>
              <a:buNone/>
            </a:pPr>
            <a:r>
              <a:rPr lang="es-ES" sz="6856" b="1" i="0" u="none" strike="noStrike" cap="none">
                <a:solidFill>
                  <a:srgbClr val="000000"/>
                </a:solidFill>
                <a:latin typeface="Arial"/>
                <a:ea typeface="Arial"/>
                <a:cs typeface="Arial"/>
                <a:sym typeface="Arial"/>
              </a:rPr>
              <a:t>CONCLUSIONES</a:t>
            </a:r>
            <a:endParaRPr/>
          </a:p>
        </p:txBody>
      </p:sp>
      <p:pic>
        <p:nvPicPr>
          <p:cNvPr id="294" name="Google Shape;294;p54"/>
          <p:cNvPicPr preferRelativeResize="0"/>
          <p:nvPr/>
        </p:nvPicPr>
        <p:blipFill rotWithShape="1">
          <a:blip r:embed="rId3">
            <a:alphaModFix/>
          </a:blip>
          <a:srcRect/>
          <a:stretch/>
        </p:blipFill>
        <p:spPr>
          <a:xfrm>
            <a:off x="8786329" y="1761026"/>
            <a:ext cx="2761945" cy="384302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grpSp>
        <p:nvGrpSpPr>
          <p:cNvPr id="299" name="Google Shape;299;p55"/>
          <p:cNvGrpSpPr/>
          <p:nvPr/>
        </p:nvGrpSpPr>
        <p:grpSpPr>
          <a:xfrm>
            <a:off x="1529572" y="2366977"/>
            <a:ext cx="4057060" cy="899493"/>
            <a:chOff x="0" y="-95250"/>
            <a:chExt cx="1602789" cy="355356"/>
          </a:xfrm>
        </p:grpSpPr>
        <p:sp>
          <p:nvSpPr>
            <p:cNvPr id="300" name="Google Shape;300;p55"/>
            <p:cNvSpPr/>
            <p:nvPr/>
          </p:nvSpPr>
          <p:spPr>
            <a:xfrm>
              <a:off x="0" y="0"/>
              <a:ext cx="1602789" cy="260106"/>
            </a:xfrm>
            <a:custGeom>
              <a:avLst/>
              <a:gdLst/>
              <a:ahLst/>
              <a:cxnLst/>
              <a:rect l="l" t="t" r="r" b="b"/>
              <a:pathLst>
                <a:path w="1602789" h="260106" extrusionOk="0">
                  <a:moveTo>
                    <a:pt x="1399589" y="0"/>
                  </a:moveTo>
                  <a:cubicBezTo>
                    <a:pt x="1511813" y="0"/>
                    <a:pt x="1602789" y="58227"/>
                    <a:pt x="1602789" y="130053"/>
                  </a:cubicBezTo>
                  <a:cubicBezTo>
                    <a:pt x="1602789" y="201879"/>
                    <a:pt x="1511813" y="260106"/>
                    <a:pt x="1399589" y="260106"/>
                  </a:cubicBezTo>
                  <a:lnTo>
                    <a:pt x="203200" y="260106"/>
                  </a:lnTo>
                  <a:cubicBezTo>
                    <a:pt x="90976" y="260106"/>
                    <a:pt x="0" y="201879"/>
                    <a:pt x="0" y="130053"/>
                  </a:cubicBezTo>
                  <a:cubicBezTo>
                    <a:pt x="0" y="58227"/>
                    <a:pt x="90976" y="0"/>
                    <a:pt x="203200" y="0"/>
                  </a:cubicBezTo>
                  <a:close/>
                </a:path>
              </a:pathLst>
            </a:custGeom>
            <a:gradFill>
              <a:gsLst>
                <a:gs pos="0">
                  <a:srgbClr val="000000"/>
                </a:gs>
                <a:gs pos="100000">
                  <a:srgbClr val="73737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01" name="Google Shape;301;p55"/>
            <p:cNvSpPr txBox="1"/>
            <p:nvPr/>
          </p:nvSpPr>
          <p:spPr>
            <a:xfrm>
              <a:off x="0" y="-95250"/>
              <a:ext cx="1602789" cy="355356"/>
            </a:xfrm>
            <a:prstGeom prst="rect">
              <a:avLst/>
            </a:prstGeom>
            <a:noFill/>
            <a:ln>
              <a:noFill/>
            </a:ln>
          </p:spPr>
          <p:txBody>
            <a:bodyPr spcFirstLastPara="1" wrap="square" lIns="39575" tIns="39575" rIns="39575" bIns="39575" anchor="ctr" anchorCtr="0">
              <a:noAutofit/>
            </a:bodyPr>
            <a:lstStyle/>
            <a:p>
              <a:pPr marL="0" marR="0" lvl="0" indent="0" algn="ctr" rtl="0">
                <a:lnSpc>
                  <a:spcPct val="139991"/>
                </a:lnSpc>
                <a:spcBef>
                  <a:spcPts val="0"/>
                </a:spcBef>
                <a:spcAft>
                  <a:spcPts val="0"/>
                </a:spcAft>
                <a:buNone/>
              </a:pPr>
              <a:r>
                <a:rPr lang="es-ES" sz="2338" b="1" i="0" u="none" strike="noStrike" cap="none">
                  <a:solidFill>
                    <a:srgbClr val="FFFFFF"/>
                  </a:solidFill>
                  <a:latin typeface="Arial"/>
                  <a:ea typeface="Arial"/>
                  <a:cs typeface="Arial"/>
                  <a:sym typeface="Arial"/>
                </a:rPr>
                <a:t>¿ QUÉ HE APRENDIDO ?</a:t>
              </a:r>
              <a:endParaRPr/>
            </a:p>
          </p:txBody>
        </p:sp>
      </p:grpSp>
      <p:grpSp>
        <p:nvGrpSpPr>
          <p:cNvPr id="302" name="Google Shape;302;p55"/>
          <p:cNvGrpSpPr/>
          <p:nvPr/>
        </p:nvGrpSpPr>
        <p:grpSpPr>
          <a:xfrm>
            <a:off x="608261" y="2537719"/>
            <a:ext cx="799110" cy="799110"/>
            <a:chOff x="0" y="0"/>
            <a:chExt cx="812800" cy="812800"/>
          </a:xfrm>
        </p:grpSpPr>
        <p:sp>
          <p:nvSpPr>
            <p:cNvPr id="303" name="Google Shape;303;p55"/>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04" name="Google Shape;304;p55"/>
            <p:cNvSpPr txBox="1"/>
            <p:nvPr/>
          </p:nvSpPr>
          <p:spPr>
            <a:xfrm>
              <a:off x="152400" y="66675"/>
              <a:ext cx="508000" cy="593725"/>
            </a:xfrm>
            <a:prstGeom prst="rect">
              <a:avLst/>
            </a:prstGeom>
            <a:noFill/>
            <a:ln>
              <a:noFill/>
            </a:ln>
          </p:spPr>
          <p:txBody>
            <a:bodyPr spcFirstLastPara="1" wrap="square" lIns="39575" tIns="39575" rIns="39575" bIns="39575" anchor="ctr" anchorCtr="0">
              <a:noAutofit/>
            </a:bodyPr>
            <a:lstStyle/>
            <a:p>
              <a:pPr marL="0" marR="0" lvl="0" indent="0" algn="ctr" rtl="0">
                <a:lnSpc>
                  <a:spcPct val="140000"/>
                </a:lnSpc>
                <a:spcBef>
                  <a:spcPts val="0"/>
                </a:spcBef>
                <a:spcAft>
                  <a:spcPts val="0"/>
                </a:spcAft>
                <a:buNone/>
              </a:pPr>
              <a:r>
                <a:rPr lang="es-ES" sz="2215" b="1" i="0" u="none" strike="noStrike" cap="none">
                  <a:solidFill>
                    <a:srgbClr val="FFFFFF"/>
                  </a:solidFill>
                  <a:latin typeface="Arial"/>
                  <a:ea typeface="Arial"/>
                  <a:cs typeface="Arial"/>
                  <a:sym typeface="Arial"/>
                </a:rPr>
                <a:t>1</a:t>
              </a:r>
              <a:endParaRPr/>
            </a:p>
          </p:txBody>
        </p:sp>
      </p:grpSp>
      <p:grpSp>
        <p:nvGrpSpPr>
          <p:cNvPr id="305" name="Google Shape;305;p55"/>
          <p:cNvGrpSpPr/>
          <p:nvPr/>
        </p:nvGrpSpPr>
        <p:grpSpPr>
          <a:xfrm>
            <a:off x="1126315" y="3413309"/>
            <a:ext cx="806515" cy="806515"/>
            <a:chOff x="0" y="0"/>
            <a:chExt cx="812800" cy="812800"/>
          </a:xfrm>
        </p:grpSpPr>
        <p:sp>
          <p:nvSpPr>
            <p:cNvPr id="306" name="Google Shape;306;p55"/>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07" name="Google Shape;307;p55"/>
            <p:cNvSpPr txBox="1"/>
            <p:nvPr/>
          </p:nvSpPr>
          <p:spPr>
            <a:xfrm>
              <a:off x="152400" y="66675"/>
              <a:ext cx="508000" cy="593725"/>
            </a:xfrm>
            <a:prstGeom prst="rect">
              <a:avLst/>
            </a:prstGeom>
            <a:noFill/>
            <a:ln>
              <a:noFill/>
            </a:ln>
          </p:spPr>
          <p:txBody>
            <a:bodyPr spcFirstLastPara="1" wrap="square" lIns="39575" tIns="39575" rIns="39575" bIns="39575" anchor="ctr" anchorCtr="0">
              <a:noAutofit/>
            </a:bodyPr>
            <a:lstStyle/>
            <a:p>
              <a:pPr marL="0" marR="0" lvl="0" indent="0" algn="ctr" rtl="0">
                <a:lnSpc>
                  <a:spcPct val="140000"/>
                </a:lnSpc>
                <a:spcBef>
                  <a:spcPts val="0"/>
                </a:spcBef>
                <a:spcAft>
                  <a:spcPts val="0"/>
                </a:spcAft>
                <a:buNone/>
              </a:pPr>
              <a:r>
                <a:rPr lang="es-ES" sz="2215" b="1" i="0" u="none" strike="noStrike" cap="none">
                  <a:solidFill>
                    <a:srgbClr val="FFFFFF"/>
                  </a:solidFill>
                  <a:latin typeface="Arial"/>
                  <a:ea typeface="Arial"/>
                  <a:cs typeface="Arial"/>
                  <a:sym typeface="Arial"/>
                </a:rPr>
                <a:t>2</a:t>
              </a:r>
              <a:endParaRPr/>
            </a:p>
          </p:txBody>
        </p:sp>
      </p:grpSp>
      <p:grpSp>
        <p:nvGrpSpPr>
          <p:cNvPr id="308" name="Google Shape;308;p55"/>
          <p:cNvGrpSpPr/>
          <p:nvPr/>
        </p:nvGrpSpPr>
        <p:grpSpPr>
          <a:xfrm>
            <a:off x="2176486" y="3247229"/>
            <a:ext cx="4797677" cy="897572"/>
            <a:chOff x="0" y="-95250"/>
            <a:chExt cx="1895378" cy="354596"/>
          </a:xfrm>
        </p:grpSpPr>
        <p:sp>
          <p:nvSpPr>
            <p:cNvPr id="309" name="Google Shape;309;p55"/>
            <p:cNvSpPr/>
            <p:nvPr/>
          </p:nvSpPr>
          <p:spPr>
            <a:xfrm>
              <a:off x="0" y="0"/>
              <a:ext cx="1895378" cy="259346"/>
            </a:xfrm>
            <a:custGeom>
              <a:avLst/>
              <a:gdLst/>
              <a:ahLst/>
              <a:cxnLst/>
              <a:rect l="l" t="t" r="r" b="b"/>
              <a:pathLst>
                <a:path w="1895378" h="259346" extrusionOk="0">
                  <a:moveTo>
                    <a:pt x="1692178" y="0"/>
                  </a:moveTo>
                  <a:cubicBezTo>
                    <a:pt x="1804402" y="0"/>
                    <a:pt x="1895378" y="58057"/>
                    <a:pt x="1895378" y="129673"/>
                  </a:cubicBezTo>
                  <a:cubicBezTo>
                    <a:pt x="1895378" y="201290"/>
                    <a:pt x="1804402" y="259346"/>
                    <a:pt x="1692178" y="259346"/>
                  </a:cubicBezTo>
                  <a:lnTo>
                    <a:pt x="203200" y="259346"/>
                  </a:lnTo>
                  <a:cubicBezTo>
                    <a:pt x="90976" y="259346"/>
                    <a:pt x="0" y="201290"/>
                    <a:pt x="0" y="129673"/>
                  </a:cubicBezTo>
                  <a:cubicBezTo>
                    <a:pt x="0" y="58057"/>
                    <a:pt x="90976" y="0"/>
                    <a:pt x="203200" y="0"/>
                  </a:cubicBezTo>
                  <a:close/>
                </a:path>
              </a:pathLst>
            </a:custGeom>
            <a:gradFill>
              <a:gsLst>
                <a:gs pos="0">
                  <a:srgbClr val="000000"/>
                </a:gs>
                <a:gs pos="100000">
                  <a:srgbClr val="73737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10" name="Google Shape;310;p55"/>
            <p:cNvSpPr txBox="1"/>
            <p:nvPr/>
          </p:nvSpPr>
          <p:spPr>
            <a:xfrm>
              <a:off x="0" y="-95250"/>
              <a:ext cx="1895377" cy="354596"/>
            </a:xfrm>
            <a:prstGeom prst="rect">
              <a:avLst/>
            </a:prstGeom>
            <a:noFill/>
            <a:ln>
              <a:noFill/>
            </a:ln>
          </p:spPr>
          <p:txBody>
            <a:bodyPr spcFirstLastPara="1" wrap="square" lIns="39575" tIns="39575" rIns="39575" bIns="39575" anchor="ctr" anchorCtr="0">
              <a:noAutofit/>
            </a:bodyPr>
            <a:lstStyle/>
            <a:p>
              <a:pPr marL="0" marR="0" lvl="0" indent="0" algn="ctr" rtl="0">
                <a:lnSpc>
                  <a:spcPct val="139991"/>
                </a:lnSpc>
                <a:spcBef>
                  <a:spcPts val="0"/>
                </a:spcBef>
                <a:spcAft>
                  <a:spcPts val="0"/>
                </a:spcAft>
                <a:buNone/>
              </a:pPr>
              <a:r>
                <a:rPr lang="es-ES" sz="2338" b="1" i="0" u="none" strike="noStrike" cap="none">
                  <a:solidFill>
                    <a:srgbClr val="FFFFFF"/>
                  </a:solidFill>
                  <a:latin typeface="Arial"/>
                  <a:ea typeface="Arial"/>
                  <a:cs typeface="Arial"/>
                  <a:sym typeface="Arial"/>
                </a:rPr>
                <a:t>¿ CÓMO LO HE APRENDIDO ?</a:t>
              </a:r>
              <a:endParaRPr/>
            </a:p>
          </p:txBody>
        </p:sp>
      </p:grpSp>
      <p:grpSp>
        <p:nvGrpSpPr>
          <p:cNvPr id="311" name="Google Shape;311;p55"/>
          <p:cNvGrpSpPr/>
          <p:nvPr/>
        </p:nvGrpSpPr>
        <p:grpSpPr>
          <a:xfrm>
            <a:off x="2766055" y="4101965"/>
            <a:ext cx="4811666" cy="1006804"/>
            <a:chOff x="0" y="-76200"/>
            <a:chExt cx="1900905" cy="397749"/>
          </a:xfrm>
        </p:grpSpPr>
        <p:sp>
          <p:nvSpPr>
            <p:cNvPr id="312" name="Google Shape;312;p55"/>
            <p:cNvSpPr/>
            <p:nvPr/>
          </p:nvSpPr>
          <p:spPr>
            <a:xfrm>
              <a:off x="0" y="0"/>
              <a:ext cx="1900905" cy="321549"/>
            </a:xfrm>
            <a:custGeom>
              <a:avLst/>
              <a:gdLst/>
              <a:ahLst/>
              <a:cxnLst/>
              <a:rect l="l" t="t" r="r" b="b"/>
              <a:pathLst>
                <a:path w="1900905" h="321549" extrusionOk="0">
                  <a:moveTo>
                    <a:pt x="1697705" y="0"/>
                  </a:moveTo>
                  <a:cubicBezTo>
                    <a:pt x="1809930" y="0"/>
                    <a:pt x="1900905" y="71981"/>
                    <a:pt x="1900905" y="160775"/>
                  </a:cubicBezTo>
                  <a:cubicBezTo>
                    <a:pt x="1900905" y="249568"/>
                    <a:pt x="1809930" y="321549"/>
                    <a:pt x="1697705" y="321549"/>
                  </a:cubicBezTo>
                  <a:lnTo>
                    <a:pt x="203200" y="321549"/>
                  </a:lnTo>
                  <a:cubicBezTo>
                    <a:pt x="90976" y="321549"/>
                    <a:pt x="0" y="249568"/>
                    <a:pt x="0" y="160775"/>
                  </a:cubicBezTo>
                  <a:cubicBezTo>
                    <a:pt x="0" y="71981"/>
                    <a:pt x="90976" y="0"/>
                    <a:pt x="203200" y="0"/>
                  </a:cubicBezTo>
                  <a:close/>
                </a:path>
              </a:pathLst>
            </a:custGeom>
            <a:gradFill>
              <a:gsLst>
                <a:gs pos="0">
                  <a:srgbClr val="000000"/>
                </a:gs>
                <a:gs pos="100000">
                  <a:srgbClr val="73737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13" name="Google Shape;313;p55"/>
            <p:cNvSpPr txBox="1"/>
            <p:nvPr/>
          </p:nvSpPr>
          <p:spPr>
            <a:xfrm>
              <a:off x="0" y="-76200"/>
              <a:ext cx="1900905" cy="397749"/>
            </a:xfrm>
            <a:prstGeom prst="rect">
              <a:avLst/>
            </a:prstGeom>
            <a:noFill/>
            <a:ln>
              <a:noFill/>
            </a:ln>
          </p:spPr>
          <p:txBody>
            <a:bodyPr spcFirstLastPara="1" wrap="square" lIns="39575" tIns="39575" rIns="39575" bIns="39575" anchor="ctr" anchorCtr="0">
              <a:noAutofit/>
            </a:bodyPr>
            <a:lstStyle/>
            <a:p>
              <a:pPr marL="0" marR="0" lvl="0" indent="0" algn="ctr" rtl="0">
                <a:lnSpc>
                  <a:spcPct val="139980"/>
                </a:lnSpc>
                <a:spcBef>
                  <a:spcPts val="0"/>
                </a:spcBef>
                <a:spcAft>
                  <a:spcPts val="0"/>
                </a:spcAft>
                <a:buNone/>
              </a:pPr>
              <a:r>
                <a:rPr lang="es-ES" sz="2026" b="1" i="0" u="none" strike="noStrike" cap="none">
                  <a:solidFill>
                    <a:srgbClr val="FFFFFF"/>
                  </a:solidFill>
                  <a:latin typeface="Arial"/>
                  <a:ea typeface="Arial"/>
                  <a:cs typeface="Arial"/>
                  <a:sym typeface="Arial"/>
                </a:rPr>
                <a:t>¿ QUÉ HA RESULTADO MÁS FÁCIL, MÁS DIFICIL O MÁS NOVEDOSO ?</a:t>
              </a:r>
              <a:endParaRPr/>
            </a:p>
          </p:txBody>
        </p:sp>
      </p:grpSp>
      <p:grpSp>
        <p:nvGrpSpPr>
          <p:cNvPr id="314" name="Google Shape;314;p55"/>
          <p:cNvGrpSpPr/>
          <p:nvPr/>
        </p:nvGrpSpPr>
        <p:grpSpPr>
          <a:xfrm>
            <a:off x="1769525" y="4294045"/>
            <a:ext cx="813922" cy="813922"/>
            <a:chOff x="0" y="0"/>
            <a:chExt cx="812800" cy="812800"/>
          </a:xfrm>
        </p:grpSpPr>
        <p:sp>
          <p:nvSpPr>
            <p:cNvPr id="315" name="Google Shape;315;p55"/>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16" name="Google Shape;316;p55"/>
            <p:cNvSpPr txBox="1"/>
            <p:nvPr/>
          </p:nvSpPr>
          <p:spPr>
            <a:xfrm>
              <a:off x="152400" y="66675"/>
              <a:ext cx="508000" cy="593725"/>
            </a:xfrm>
            <a:prstGeom prst="rect">
              <a:avLst/>
            </a:prstGeom>
            <a:noFill/>
            <a:ln>
              <a:noFill/>
            </a:ln>
          </p:spPr>
          <p:txBody>
            <a:bodyPr spcFirstLastPara="1" wrap="square" lIns="39575" tIns="39575" rIns="39575" bIns="39575" anchor="ctr" anchorCtr="0">
              <a:noAutofit/>
            </a:bodyPr>
            <a:lstStyle/>
            <a:p>
              <a:pPr marL="0" marR="0" lvl="0" indent="0" algn="ctr" rtl="0">
                <a:lnSpc>
                  <a:spcPct val="140000"/>
                </a:lnSpc>
                <a:spcBef>
                  <a:spcPts val="0"/>
                </a:spcBef>
                <a:spcAft>
                  <a:spcPts val="0"/>
                </a:spcAft>
                <a:buNone/>
              </a:pPr>
              <a:r>
                <a:rPr lang="es-ES" sz="2215" b="1" i="0" u="none" strike="noStrike" cap="none">
                  <a:solidFill>
                    <a:srgbClr val="FFFFFF"/>
                  </a:solidFill>
                  <a:latin typeface="Arial"/>
                  <a:ea typeface="Arial"/>
                  <a:cs typeface="Arial"/>
                  <a:sym typeface="Arial"/>
                </a:rPr>
                <a:t>3</a:t>
              </a:r>
              <a:endParaRPr/>
            </a:p>
          </p:txBody>
        </p:sp>
      </p:grpSp>
      <p:grpSp>
        <p:nvGrpSpPr>
          <p:cNvPr id="317" name="Google Shape;317;p55"/>
          <p:cNvGrpSpPr/>
          <p:nvPr/>
        </p:nvGrpSpPr>
        <p:grpSpPr>
          <a:xfrm>
            <a:off x="2359094" y="5257210"/>
            <a:ext cx="813922" cy="813922"/>
            <a:chOff x="0" y="0"/>
            <a:chExt cx="812800" cy="812800"/>
          </a:xfrm>
        </p:grpSpPr>
        <p:sp>
          <p:nvSpPr>
            <p:cNvPr id="318" name="Google Shape;318;p55"/>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19" name="Google Shape;319;p55"/>
            <p:cNvSpPr txBox="1"/>
            <p:nvPr/>
          </p:nvSpPr>
          <p:spPr>
            <a:xfrm>
              <a:off x="152400" y="66675"/>
              <a:ext cx="508000" cy="593725"/>
            </a:xfrm>
            <a:prstGeom prst="rect">
              <a:avLst/>
            </a:prstGeom>
            <a:noFill/>
            <a:ln>
              <a:noFill/>
            </a:ln>
          </p:spPr>
          <p:txBody>
            <a:bodyPr spcFirstLastPara="1" wrap="square" lIns="39575" tIns="39575" rIns="39575" bIns="39575" anchor="ctr" anchorCtr="0">
              <a:noAutofit/>
            </a:bodyPr>
            <a:lstStyle/>
            <a:p>
              <a:pPr marL="0" marR="0" lvl="0" indent="0" algn="ctr" rtl="0">
                <a:lnSpc>
                  <a:spcPct val="140000"/>
                </a:lnSpc>
                <a:spcBef>
                  <a:spcPts val="0"/>
                </a:spcBef>
                <a:spcAft>
                  <a:spcPts val="0"/>
                </a:spcAft>
                <a:buNone/>
              </a:pPr>
              <a:r>
                <a:rPr lang="es-ES" sz="2215" b="1" i="0" u="none" strike="noStrike" cap="none">
                  <a:solidFill>
                    <a:srgbClr val="FFFFFF"/>
                  </a:solidFill>
                  <a:latin typeface="Arial"/>
                  <a:ea typeface="Arial"/>
                  <a:cs typeface="Arial"/>
                  <a:sym typeface="Arial"/>
                </a:rPr>
                <a:t>4</a:t>
              </a:r>
              <a:endParaRPr/>
            </a:p>
          </p:txBody>
        </p:sp>
      </p:grpSp>
      <p:grpSp>
        <p:nvGrpSpPr>
          <p:cNvPr id="320" name="Google Shape;320;p55"/>
          <p:cNvGrpSpPr/>
          <p:nvPr/>
        </p:nvGrpSpPr>
        <p:grpSpPr>
          <a:xfrm>
            <a:off x="3314364" y="5064328"/>
            <a:ext cx="4500609" cy="1006804"/>
            <a:chOff x="0" y="-76200"/>
            <a:chExt cx="1778018" cy="397749"/>
          </a:xfrm>
        </p:grpSpPr>
        <p:sp>
          <p:nvSpPr>
            <p:cNvPr id="321" name="Google Shape;321;p55"/>
            <p:cNvSpPr/>
            <p:nvPr/>
          </p:nvSpPr>
          <p:spPr>
            <a:xfrm>
              <a:off x="0" y="0"/>
              <a:ext cx="1778018" cy="321549"/>
            </a:xfrm>
            <a:custGeom>
              <a:avLst/>
              <a:gdLst/>
              <a:ahLst/>
              <a:cxnLst/>
              <a:rect l="l" t="t" r="r" b="b"/>
              <a:pathLst>
                <a:path w="1778018" h="321549" extrusionOk="0">
                  <a:moveTo>
                    <a:pt x="1574818" y="0"/>
                  </a:moveTo>
                  <a:cubicBezTo>
                    <a:pt x="1687042" y="0"/>
                    <a:pt x="1778018" y="71981"/>
                    <a:pt x="1778018" y="160775"/>
                  </a:cubicBezTo>
                  <a:cubicBezTo>
                    <a:pt x="1778018" y="249568"/>
                    <a:pt x="1687042" y="321549"/>
                    <a:pt x="1574818" y="321549"/>
                  </a:cubicBezTo>
                  <a:lnTo>
                    <a:pt x="203200" y="321549"/>
                  </a:lnTo>
                  <a:cubicBezTo>
                    <a:pt x="90976" y="321549"/>
                    <a:pt x="0" y="249568"/>
                    <a:pt x="0" y="160775"/>
                  </a:cubicBezTo>
                  <a:cubicBezTo>
                    <a:pt x="0" y="71981"/>
                    <a:pt x="90976" y="0"/>
                    <a:pt x="203200" y="0"/>
                  </a:cubicBezTo>
                  <a:close/>
                </a:path>
              </a:pathLst>
            </a:custGeom>
            <a:gradFill>
              <a:gsLst>
                <a:gs pos="0">
                  <a:srgbClr val="000000"/>
                </a:gs>
                <a:gs pos="100000">
                  <a:srgbClr val="73737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22" name="Google Shape;322;p55"/>
            <p:cNvSpPr txBox="1"/>
            <p:nvPr/>
          </p:nvSpPr>
          <p:spPr>
            <a:xfrm>
              <a:off x="0" y="-76200"/>
              <a:ext cx="1778018" cy="397749"/>
            </a:xfrm>
            <a:prstGeom prst="rect">
              <a:avLst/>
            </a:prstGeom>
            <a:noFill/>
            <a:ln>
              <a:noFill/>
            </a:ln>
          </p:spPr>
          <p:txBody>
            <a:bodyPr spcFirstLastPara="1" wrap="square" lIns="39575" tIns="39575" rIns="39575" bIns="39575" anchor="ctr" anchorCtr="0">
              <a:noAutofit/>
            </a:bodyPr>
            <a:lstStyle/>
            <a:p>
              <a:pPr marL="0" marR="0" lvl="0" indent="0" algn="ctr" rtl="0">
                <a:lnSpc>
                  <a:spcPct val="139980"/>
                </a:lnSpc>
                <a:spcBef>
                  <a:spcPts val="0"/>
                </a:spcBef>
                <a:spcAft>
                  <a:spcPts val="0"/>
                </a:spcAft>
                <a:buNone/>
              </a:pPr>
              <a:r>
                <a:rPr lang="es-ES" sz="2026" b="1" i="0" u="none" strike="noStrike" cap="none">
                  <a:solidFill>
                    <a:srgbClr val="FFFFFF"/>
                  </a:solidFill>
                  <a:latin typeface="Arial"/>
                  <a:ea typeface="Arial"/>
                  <a:cs typeface="Arial"/>
                  <a:sym typeface="Arial"/>
                </a:rPr>
                <a:t>¿ CÓMO LO PUEDO MEJORAR?</a:t>
              </a:r>
              <a:endParaRPr/>
            </a:p>
            <a:p>
              <a:pPr marL="0" marR="0" lvl="0" indent="0" algn="ctr" rtl="0">
                <a:lnSpc>
                  <a:spcPct val="139980"/>
                </a:lnSpc>
                <a:spcBef>
                  <a:spcPts val="0"/>
                </a:spcBef>
                <a:spcAft>
                  <a:spcPts val="0"/>
                </a:spcAft>
                <a:buNone/>
              </a:pPr>
              <a:r>
                <a:rPr lang="es-ES" sz="2026" b="1" i="0" u="none" strike="noStrike" cap="none">
                  <a:solidFill>
                    <a:srgbClr val="FFFFFF"/>
                  </a:solidFill>
                  <a:latin typeface="Arial"/>
                  <a:ea typeface="Arial"/>
                  <a:cs typeface="Arial"/>
                  <a:sym typeface="Arial"/>
                </a:rPr>
                <a:t>¿PARA QUÉ ME HA SERVIDO?</a:t>
              </a:r>
              <a:endParaRPr/>
            </a:p>
          </p:txBody>
        </p:sp>
      </p:grpSp>
      <p:sp>
        <p:nvSpPr>
          <p:cNvPr id="323" name="Google Shape;323;p55"/>
          <p:cNvSpPr/>
          <p:nvPr/>
        </p:nvSpPr>
        <p:spPr>
          <a:xfrm>
            <a:off x="8167290" y="2488590"/>
            <a:ext cx="3223061" cy="3389452"/>
          </a:xfrm>
          <a:custGeom>
            <a:avLst/>
            <a:gdLst/>
            <a:ahLst/>
            <a:cxnLst/>
            <a:rect l="l" t="t" r="r" b="b"/>
            <a:pathLst>
              <a:path w="4136262" h="4349797" extrusionOk="0">
                <a:moveTo>
                  <a:pt x="0" y="0"/>
                </a:moveTo>
                <a:lnTo>
                  <a:pt x="4136261" y="0"/>
                </a:lnTo>
                <a:lnTo>
                  <a:pt x="4136261" y="4349797"/>
                </a:lnTo>
                <a:lnTo>
                  <a:pt x="0" y="4349797"/>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24" name="Google Shape;324;p55"/>
          <p:cNvSpPr txBox="1"/>
          <p:nvPr/>
        </p:nvSpPr>
        <p:spPr>
          <a:xfrm>
            <a:off x="131506" y="1286041"/>
            <a:ext cx="7981380" cy="1000274"/>
          </a:xfrm>
          <a:prstGeom prst="rect">
            <a:avLst/>
          </a:prstGeom>
          <a:noFill/>
          <a:ln>
            <a:noFill/>
          </a:ln>
        </p:spPr>
        <p:txBody>
          <a:bodyPr spcFirstLastPara="1" wrap="square" lIns="0" tIns="0" rIns="0" bIns="0" anchor="t" anchorCtr="0">
            <a:spAutoFit/>
          </a:bodyPr>
          <a:lstStyle/>
          <a:p>
            <a:pPr marL="0" marR="0" lvl="0" indent="0" algn="ctr" rtl="0">
              <a:lnSpc>
                <a:spcPct val="102003"/>
              </a:lnSpc>
              <a:spcBef>
                <a:spcPts val="0"/>
              </a:spcBef>
              <a:spcAft>
                <a:spcPts val="0"/>
              </a:spcAft>
              <a:buNone/>
            </a:pPr>
            <a:r>
              <a:rPr lang="es-ES" sz="7635" b="1" i="0" u="none" strike="noStrike" cap="none">
                <a:solidFill>
                  <a:srgbClr val="000000"/>
                </a:solidFill>
                <a:latin typeface="Arial"/>
                <a:ea typeface="Arial"/>
                <a:cs typeface="Arial"/>
                <a:sym typeface="Arial"/>
              </a:rPr>
              <a:t>METACOGNICIÓN</a:t>
            </a:r>
            <a:endParaRPr/>
          </a:p>
        </p:txBody>
      </p:sp>
      <p:grpSp>
        <p:nvGrpSpPr>
          <p:cNvPr id="325" name="Google Shape;325;p55"/>
          <p:cNvGrpSpPr/>
          <p:nvPr/>
        </p:nvGrpSpPr>
        <p:grpSpPr>
          <a:xfrm>
            <a:off x="-116008" y="-120549"/>
            <a:ext cx="12424017" cy="253060"/>
            <a:chOff x="0" y="-47625"/>
            <a:chExt cx="4908254" cy="99975"/>
          </a:xfrm>
        </p:grpSpPr>
        <p:sp>
          <p:nvSpPr>
            <p:cNvPr id="326" name="Google Shape;326;p55"/>
            <p:cNvSpPr/>
            <p:nvPr/>
          </p:nvSpPr>
          <p:spPr>
            <a:xfrm>
              <a:off x="0" y="0"/>
              <a:ext cx="4908254" cy="52350"/>
            </a:xfrm>
            <a:custGeom>
              <a:avLst/>
              <a:gdLst/>
              <a:ahLst/>
              <a:cxnLst/>
              <a:rect l="l" t="t" r="r" b="b"/>
              <a:pathLst>
                <a:path w="4908254" h="52350" extrusionOk="0">
                  <a:moveTo>
                    <a:pt x="0" y="0"/>
                  </a:moveTo>
                  <a:lnTo>
                    <a:pt x="4908254" y="0"/>
                  </a:lnTo>
                  <a:lnTo>
                    <a:pt x="4908254" y="52350"/>
                  </a:lnTo>
                  <a:lnTo>
                    <a:pt x="0" y="52350"/>
                  </a:lnTo>
                  <a:close/>
                </a:path>
              </a:pathLst>
            </a:custGeom>
            <a:solidFill>
              <a:srgbClr val="343434">
                <a:alpha val="77254"/>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27" name="Google Shape;327;p55"/>
            <p:cNvSpPr txBox="1"/>
            <p:nvPr/>
          </p:nvSpPr>
          <p:spPr>
            <a:xfrm>
              <a:off x="0" y="-47625"/>
              <a:ext cx="4908254" cy="99975"/>
            </a:xfrm>
            <a:prstGeom prst="rect">
              <a:avLst/>
            </a:prstGeom>
            <a:noFill/>
            <a:ln>
              <a:noFill/>
            </a:ln>
          </p:spPr>
          <p:txBody>
            <a:bodyPr spcFirstLastPara="1" wrap="square" lIns="39575" tIns="39575" rIns="39575" bIns="39575" anchor="ctr" anchorCtr="0">
              <a:noAutofit/>
            </a:bodyPr>
            <a:lstStyle/>
            <a:p>
              <a:pPr marL="0" marR="0" lvl="0" indent="0" algn="ctr" rtl="0">
                <a:lnSpc>
                  <a:spcPct val="119957"/>
                </a:lnSpc>
                <a:spcBef>
                  <a:spcPts val="0"/>
                </a:spcBef>
                <a:spcAft>
                  <a:spcPts val="0"/>
                </a:spcAft>
                <a:buNone/>
              </a:pPr>
              <a:endParaRPr sz="1403" b="0" i="0" u="none" strike="noStrike" cap="none">
                <a:solidFill>
                  <a:srgbClr val="000000"/>
                </a:solidFill>
                <a:latin typeface="Arial"/>
                <a:ea typeface="Arial"/>
                <a:cs typeface="Arial"/>
                <a:sym typeface="Arial"/>
              </a:endParaRPr>
            </a:p>
          </p:txBody>
        </p:sp>
      </p:grpSp>
      <p:sp>
        <p:nvSpPr>
          <p:cNvPr id="328" name="Google Shape;328;p55"/>
          <p:cNvSpPr txBox="1"/>
          <p:nvPr/>
        </p:nvSpPr>
        <p:spPr>
          <a:xfrm>
            <a:off x="1126315" y="5570422"/>
            <a:ext cx="1168168" cy="233334"/>
          </a:xfrm>
          <a:prstGeom prst="rect">
            <a:avLst/>
          </a:prstGeom>
          <a:noFill/>
          <a:ln>
            <a:noFill/>
          </a:ln>
        </p:spPr>
        <p:txBody>
          <a:bodyPr spcFirstLastPara="1" wrap="square" lIns="0" tIns="0" rIns="0" bIns="0" anchor="t" anchorCtr="0">
            <a:spAutoFit/>
          </a:bodyPr>
          <a:lstStyle/>
          <a:p>
            <a:pPr marL="0" marR="0" lvl="0" indent="0" algn="ctr" rtl="0">
              <a:lnSpc>
                <a:spcPct val="139985"/>
              </a:lnSpc>
              <a:spcBef>
                <a:spcPts val="0"/>
              </a:spcBef>
              <a:spcAft>
                <a:spcPts val="0"/>
              </a:spcAft>
              <a:buNone/>
            </a:pPr>
            <a:r>
              <a:rPr lang="es-ES" sz="1403" b="1" i="0" u="none" strike="noStrike" cap="none">
                <a:solidFill>
                  <a:srgbClr val="000000"/>
                </a:solidFill>
                <a:latin typeface="Arial"/>
                <a:ea typeface="Arial"/>
                <a:cs typeface="Arial"/>
                <a:sym typeface="Arial"/>
              </a:rPr>
              <a:t>PLANIFICAR</a:t>
            </a:r>
            <a:endParaRPr/>
          </a:p>
        </p:txBody>
      </p:sp>
      <p:sp>
        <p:nvSpPr>
          <p:cNvPr id="329" name="Google Shape;329;p55"/>
          <p:cNvSpPr txBox="1"/>
          <p:nvPr/>
        </p:nvSpPr>
        <p:spPr>
          <a:xfrm>
            <a:off x="136625" y="3087448"/>
            <a:ext cx="1197471" cy="489814"/>
          </a:xfrm>
          <a:prstGeom prst="rect">
            <a:avLst/>
          </a:prstGeom>
          <a:noFill/>
          <a:ln>
            <a:noFill/>
          </a:ln>
        </p:spPr>
        <p:txBody>
          <a:bodyPr spcFirstLastPara="1" wrap="square" lIns="0" tIns="0" rIns="0" bIns="0" anchor="t" anchorCtr="0">
            <a:spAutoFit/>
          </a:bodyPr>
          <a:lstStyle/>
          <a:p>
            <a:pPr marL="0" marR="0" lvl="0" indent="0" algn="l" rtl="0">
              <a:lnSpc>
                <a:spcPct val="139985"/>
              </a:lnSpc>
              <a:spcBef>
                <a:spcPts val="0"/>
              </a:spcBef>
              <a:spcAft>
                <a:spcPts val="0"/>
              </a:spcAft>
              <a:buNone/>
            </a:pPr>
            <a:r>
              <a:rPr lang="es-ES" sz="1403" b="1" i="0" u="none" strike="noStrike" cap="none">
                <a:solidFill>
                  <a:srgbClr val="000000"/>
                </a:solidFill>
                <a:latin typeface="Arial"/>
                <a:ea typeface="Arial"/>
                <a:cs typeface="Arial"/>
                <a:sym typeface="Arial"/>
              </a:rPr>
              <a:t>SER CONSCIENTE</a:t>
            </a:r>
            <a:endParaRPr/>
          </a:p>
        </p:txBody>
      </p:sp>
      <p:sp>
        <p:nvSpPr>
          <p:cNvPr id="330" name="Google Shape;330;p55"/>
          <p:cNvSpPr txBox="1"/>
          <p:nvPr/>
        </p:nvSpPr>
        <p:spPr>
          <a:xfrm>
            <a:off x="136625" y="4115113"/>
            <a:ext cx="1197471" cy="245132"/>
          </a:xfrm>
          <a:prstGeom prst="rect">
            <a:avLst/>
          </a:prstGeom>
          <a:noFill/>
          <a:ln>
            <a:noFill/>
          </a:ln>
        </p:spPr>
        <p:txBody>
          <a:bodyPr spcFirstLastPara="1" wrap="square" lIns="0" tIns="0" rIns="0" bIns="0" anchor="t" anchorCtr="0">
            <a:spAutoFit/>
          </a:bodyPr>
          <a:lstStyle/>
          <a:p>
            <a:pPr marL="0" marR="0" lvl="0" indent="0" algn="ctr" rtl="0">
              <a:lnSpc>
                <a:spcPct val="140067"/>
              </a:lnSpc>
              <a:spcBef>
                <a:spcPts val="0"/>
              </a:spcBef>
              <a:spcAft>
                <a:spcPts val="0"/>
              </a:spcAft>
              <a:buNone/>
            </a:pPr>
            <a:r>
              <a:rPr lang="es-ES" sz="1480" b="1" i="0" u="none" strike="noStrike" cap="none">
                <a:solidFill>
                  <a:srgbClr val="000000"/>
                </a:solidFill>
                <a:latin typeface="Arial"/>
                <a:ea typeface="Arial"/>
                <a:cs typeface="Arial"/>
                <a:sym typeface="Arial"/>
              </a:rPr>
              <a:t>DESCRIBIR</a:t>
            </a:r>
            <a:endParaRPr/>
          </a:p>
        </p:txBody>
      </p:sp>
      <p:sp>
        <p:nvSpPr>
          <p:cNvPr id="331" name="Google Shape;331;p55"/>
          <p:cNvSpPr txBox="1"/>
          <p:nvPr/>
        </p:nvSpPr>
        <p:spPr>
          <a:xfrm>
            <a:off x="572055" y="4856913"/>
            <a:ext cx="1197471" cy="245132"/>
          </a:xfrm>
          <a:prstGeom prst="rect">
            <a:avLst/>
          </a:prstGeom>
          <a:noFill/>
          <a:ln>
            <a:noFill/>
          </a:ln>
        </p:spPr>
        <p:txBody>
          <a:bodyPr spcFirstLastPara="1" wrap="square" lIns="0" tIns="0" rIns="0" bIns="0" anchor="t" anchorCtr="0">
            <a:spAutoFit/>
          </a:bodyPr>
          <a:lstStyle/>
          <a:p>
            <a:pPr marL="0" marR="0" lvl="0" indent="0" algn="ctr" rtl="0">
              <a:lnSpc>
                <a:spcPct val="140067"/>
              </a:lnSpc>
              <a:spcBef>
                <a:spcPts val="0"/>
              </a:spcBef>
              <a:spcAft>
                <a:spcPts val="0"/>
              </a:spcAft>
              <a:buNone/>
            </a:pPr>
            <a:r>
              <a:rPr lang="es-ES" sz="1480" b="1" i="0" u="none" strike="noStrike" cap="none">
                <a:solidFill>
                  <a:srgbClr val="000000"/>
                </a:solidFill>
                <a:latin typeface="Arial"/>
                <a:ea typeface="Arial"/>
                <a:cs typeface="Arial"/>
                <a:sym typeface="Arial"/>
              </a:rPr>
              <a:t>EVALUAR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6"/>
          <p:cNvSpPr txBox="1"/>
          <p:nvPr/>
        </p:nvSpPr>
        <p:spPr>
          <a:xfrm>
            <a:off x="734042" y="2187071"/>
            <a:ext cx="10723917" cy="2146998"/>
          </a:xfrm>
          <a:prstGeom prst="rect">
            <a:avLst/>
          </a:prstGeom>
          <a:noFill/>
          <a:ln>
            <a:noFill/>
          </a:ln>
        </p:spPr>
        <p:txBody>
          <a:bodyPr spcFirstLastPara="1" wrap="square" lIns="0" tIns="0" rIns="0" bIns="0" anchor="t" anchorCtr="0">
            <a:spAutoFit/>
          </a:bodyPr>
          <a:lstStyle/>
          <a:p>
            <a:pPr marL="0" marR="0" lvl="0" indent="0" algn="ctr" rtl="0">
              <a:lnSpc>
                <a:spcPct val="122709"/>
              </a:lnSpc>
              <a:spcBef>
                <a:spcPts val="0"/>
              </a:spcBef>
              <a:spcAft>
                <a:spcPts val="0"/>
              </a:spcAft>
              <a:buNone/>
            </a:pPr>
            <a:r>
              <a:rPr lang="es-ES" sz="14571" b="1" i="0" u="none" strike="noStrike" cap="none">
                <a:solidFill>
                  <a:srgbClr val="000000"/>
                </a:solidFill>
                <a:latin typeface="Arial"/>
                <a:ea typeface="Arial"/>
                <a:cs typeface="Arial"/>
                <a:sym typeface="Arial"/>
              </a:rPr>
              <a:t>¡GRACIAS!</a:t>
            </a:r>
            <a:endParaRPr/>
          </a:p>
        </p:txBody>
      </p:sp>
      <p:grpSp>
        <p:nvGrpSpPr>
          <p:cNvPr id="337" name="Google Shape;337;p56"/>
          <p:cNvGrpSpPr/>
          <p:nvPr/>
        </p:nvGrpSpPr>
        <p:grpSpPr>
          <a:xfrm>
            <a:off x="3985931" y="4272738"/>
            <a:ext cx="4529942" cy="664964"/>
            <a:chOff x="0" y="-47625"/>
            <a:chExt cx="1789607" cy="262702"/>
          </a:xfrm>
        </p:grpSpPr>
        <p:sp>
          <p:nvSpPr>
            <p:cNvPr id="338" name="Google Shape;338;p56"/>
            <p:cNvSpPr/>
            <p:nvPr/>
          </p:nvSpPr>
          <p:spPr>
            <a:xfrm>
              <a:off x="0" y="0"/>
              <a:ext cx="1789607" cy="215077"/>
            </a:xfrm>
            <a:custGeom>
              <a:avLst/>
              <a:gdLst/>
              <a:ahLst/>
              <a:cxnLst/>
              <a:rect l="l" t="t" r="r" b="b"/>
              <a:pathLst>
                <a:path w="1789607" h="215077" extrusionOk="0">
                  <a:moveTo>
                    <a:pt x="0" y="0"/>
                  </a:moveTo>
                  <a:lnTo>
                    <a:pt x="1789607" y="0"/>
                  </a:lnTo>
                  <a:lnTo>
                    <a:pt x="1789607" y="215077"/>
                  </a:lnTo>
                  <a:lnTo>
                    <a:pt x="0" y="215077"/>
                  </a:lnTo>
                  <a:close/>
                </a:path>
              </a:pathLst>
            </a:custGeom>
            <a:solidFill>
              <a:srgbClr val="21161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3" b="0" i="0" u="none" strike="noStrike" cap="none">
                <a:solidFill>
                  <a:srgbClr val="000000"/>
                </a:solidFill>
                <a:latin typeface="Arial"/>
                <a:ea typeface="Arial"/>
                <a:cs typeface="Arial"/>
                <a:sym typeface="Arial"/>
              </a:endParaRPr>
            </a:p>
          </p:txBody>
        </p:sp>
        <p:sp>
          <p:nvSpPr>
            <p:cNvPr id="339" name="Google Shape;339;p56"/>
            <p:cNvSpPr txBox="1"/>
            <p:nvPr/>
          </p:nvSpPr>
          <p:spPr>
            <a:xfrm>
              <a:off x="0" y="-47625"/>
              <a:ext cx="1789607" cy="262702"/>
            </a:xfrm>
            <a:prstGeom prst="rect">
              <a:avLst/>
            </a:prstGeom>
            <a:noFill/>
            <a:ln>
              <a:noFill/>
            </a:ln>
          </p:spPr>
          <p:txBody>
            <a:bodyPr spcFirstLastPara="1" wrap="square" lIns="39575" tIns="39575" rIns="39575" bIns="39575" anchor="ctr" anchorCtr="0">
              <a:noAutofit/>
            </a:bodyPr>
            <a:lstStyle/>
            <a:p>
              <a:pPr marL="0" marR="0" lvl="0" indent="0" algn="ctr" rtl="0">
                <a:lnSpc>
                  <a:spcPct val="139972"/>
                </a:lnSpc>
                <a:spcBef>
                  <a:spcPts val="0"/>
                </a:spcBef>
                <a:spcAft>
                  <a:spcPts val="0"/>
                </a:spcAft>
                <a:buNone/>
              </a:pPr>
              <a:r>
                <a:rPr lang="es-ES" sz="1436" b="1" i="0" u="none" strike="noStrike" cap="none">
                  <a:solidFill>
                    <a:srgbClr val="FFFFFF"/>
                  </a:solidFill>
                  <a:latin typeface="Arial"/>
                  <a:ea typeface="Arial"/>
                  <a:cs typeface="Arial"/>
                  <a:sym typeface="Arial"/>
                </a:rPr>
                <a:t>EN LA UTP SABEMOS QUE TODO ES POSIBLE</a:t>
              </a:r>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2012</Words>
  <Application>Microsoft Office PowerPoint</Application>
  <PresentationFormat>Panorámica</PresentationFormat>
  <Paragraphs>329</Paragraphs>
  <Slides>30</Slides>
  <Notes>30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30</vt:i4>
      </vt:variant>
    </vt:vector>
  </HeadingPairs>
  <TitlesOfParts>
    <vt:vector size="34" baseType="lpstr">
      <vt:lpstr>Arial</vt:lpstr>
      <vt:lpstr>Calibri</vt:lpstr>
      <vt:lpstr>Roboto Medium</vt:lpstr>
      <vt:lpstr>Office Theme</vt:lpstr>
      <vt:lpstr>DISEÑO DE PATRONES</vt:lpstr>
      <vt:lpstr>Presentación de PowerPoint</vt:lpstr>
      <vt:lpstr>Presentación de PowerPoint</vt:lpstr>
      <vt:lpstr>Presentación de PowerPoint</vt:lpstr>
      <vt:lpstr>LOGRO DE LA SESIÓN</vt:lpstr>
      <vt:lpstr>IMPORTANCIA DE LA SESIÓN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Julia</dc:creator>
  <cp:lastModifiedBy>Alfredo Guevara</cp:lastModifiedBy>
  <cp:revision>2</cp:revision>
  <dcterms:created xsi:type="dcterms:W3CDTF">2024-06-11T03:36:57Z</dcterms:created>
  <dcterms:modified xsi:type="dcterms:W3CDTF">2024-08-19T16:08:23Z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