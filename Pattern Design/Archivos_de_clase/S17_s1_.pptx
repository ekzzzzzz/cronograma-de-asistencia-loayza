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371" r:id="rId3"/>
    <p:sldId id="372" r:id="rId4"/>
    <p:sldId id="373" r:id="rId5"/>
    <p:sldId id="374" r:id="rId6"/>
    <p:sldId id="375" r:id="rId7"/>
    <p:sldId id="376" r:id="rId8"/>
    <p:sldId id="377" r:id="rId9"/>
    <p:sldId id="379" r:id="rId10"/>
    <p:sldId id="385" r:id="rId11"/>
    <p:sldId id="378" r:id="rId12"/>
    <p:sldId id="386" r:id="rId13"/>
    <p:sldId id="381" r:id="rId14"/>
    <p:sldId id="387" r:id="rId15"/>
    <p:sldId id="388" r:id="rId16"/>
    <p:sldId id="389" r:id="rId17"/>
    <p:sldId id="394" r:id="rId18"/>
    <p:sldId id="395" r:id="rId19"/>
    <p:sldId id="396" r:id="rId20"/>
    <p:sldId id="392" r:id="rId21"/>
    <p:sldId id="399" r:id="rId22"/>
    <p:sldId id="400" r:id="rId23"/>
    <p:sldId id="402" r:id="rId24"/>
    <p:sldId id="403" r:id="rId25"/>
    <p:sldId id="404" r:id="rId26"/>
    <p:sldId id="273" r:id="rId27"/>
  </p:sldIdLst>
  <p:sldSz cx="12192000" cy="6858000"/>
  <p:notesSz cx="12192000" cy="6858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1052D"/>
    <a:srgbClr val="BEC3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39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654E5-2B86-4061-BA67-8AB4A0612CCD}" type="datetimeFigureOut">
              <a:rPr lang="es-PE" smtClean="0"/>
              <a:t>16/08/2024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9008C-742E-4A65-BF8A-7341D8FA003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62588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34820" y="1015746"/>
            <a:ext cx="8722359" cy="1763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6939" y="1784350"/>
            <a:ext cx="4892675" cy="4026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660005" y="1784350"/>
            <a:ext cx="3527425" cy="4026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3493"/>
            <a:ext cx="10358120" cy="1858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00112" y="1838144"/>
            <a:ext cx="10363199" cy="905056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3268979" marR="5080" indent="-3253104" algn="ctr">
              <a:lnSpc>
                <a:spcPts val="6480"/>
              </a:lnSpc>
              <a:spcBef>
                <a:spcPts val="915"/>
              </a:spcBef>
            </a:pPr>
            <a:r>
              <a:rPr lang="es-ES" sz="4800" spc="-45" dirty="0">
                <a:latin typeface="CentSchbkCyrill BT" panose="02040603050705020303" pitchFamily="18" charset="-52"/>
              </a:rPr>
              <a:t>CURSO: DISEÑO DE PATRONES</a:t>
            </a:r>
            <a:endParaRPr sz="4800" spc="-35" dirty="0">
              <a:latin typeface="CentSchbkCyrill BT" panose="02040603050705020303" pitchFamily="18" charset="-52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51E8A21-5A38-43E7-AE9D-98AA48814941}"/>
              </a:ext>
            </a:extLst>
          </p:cNvPr>
          <p:cNvSpPr txBox="1"/>
          <p:nvPr/>
        </p:nvSpPr>
        <p:spPr>
          <a:xfrm>
            <a:off x="1966912" y="3179215"/>
            <a:ext cx="8258176" cy="2087751"/>
          </a:xfrm>
          <a:prstGeom prst="rect">
            <a:avLst/>
          </a:prstGeom>
          <a:solidFill>
            <a:srgbClr val="D1052D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2800" b="1" spc="-25" dirty="0">
                <a:solidFill>
                  <a:schemeClr val="bg1"/>
                </a:solidFill>
                <a:latin typeface="Arial"/>
                <a:cs typeface="Arial"/>
              </a:rPr>
              <a:t>SESIÓN N° </a:t>
            </a:r>
            <a:r>
              <a:rPr lang="es-PE" sz="2800" b="1" spc="-25" dirty="0" smtClean="0">
                <a:solidFill>
                  <a:schemeClr val="bg1"/>
                </a:solidFill>
                <a:latin typeface="Arial"/>
                <a:cs typeface="Arial"/>
              </a:rPr>
              <a:t>17:</a:t>
            </a:r>
            <a:endParaRPr lang="es-PE" sz="2800" b="1" spc="85" dirty="0">
              <a:solidFill>
                <a:schemeClr val="bg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smtClean="0">
                <a:solidFill>
                  <a:schemeClr val="bg1"/>
                </a:solidFill>
              </a:rPr>
              <a:t>PATRONES GRASP </a:t>
            </a:r>
            <a:endParaRPr lang="es-ES" sz="3200" b="1" dirty="0">
              <a:solidFill>
                <a:schemeClr val="bg1"/>
              </a:solidFill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dirty="0" smtClean="0">
                <a:solidFill>
                  <a:schemeClr val="bg1"/>
                </a:solidFill>
              </a:rPr>
              <a:t>Patrones </a:t>
            </a:r>
            <a:r>
              <a:rPr lang="es-ES" sz="3200" dirty="0">
                <a:solidFill>
                  <a:schemeClr val="bg1"/>
                </a:solidFill>
              </a:rPr>
              <a:t>GRASP: Experto en información.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dirty="0">
                <a:solidFill>
                  <a:schemeClr val="bg1"/>
                </a:solidFill>
              </a:rPr>
              <a:t>Fabricación Pura. Polimorfismo.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79D4BDE-00D9-4634-BFF4-101BA4E8B52C}"/>
              </a:ext>
            </a:extLst>
          </p:cNvPr>
          <p:cNvSpPr txBox="1"/>
          <p:nvPr/>
        </p:nvSpPr>
        <p:spPr>
          <a:xfrm>
            <a:off x="3062990" y="5562600"/>
            <a:ext cx="6096000" cy="65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1800" b="1" spc="-25" dirty="0">
                <a:solidFill>
                  <a:srgbClr val="D1052D"/>
                </a:solidFill>
                <a:latin typeface="Arial"/>
                <a:cs typeface="Arial"/>
              </a:rPr>
              <a:t>DOCENTES DE UTP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b="1" spc="-25" dirty="0">
                <a:solidFill>
                  <a:srgbClr val="D1052D"/>
                </a:solidFill>
                <a:latin typeface="Arial"/>
                <a:cs typeface="Arial"/>
              </a:rPr>
              <a:t>SISTEMAS</a:t>
            </a:r>
            <a:endParaRPr lang="es-PE" sz="1800" dirty="0">
              <a:latin typeface="Arial"/>
              <a:cs typeface="Arial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B5B956ED-21D5-4069-B69B-4CE9E409433F}"/>
              </a:ext>
            </a:extLst>
          </p:cNvPr>
          <p:cNvGrpSpPr/>
          <p:nvPr/>
        </p:nvGrpSpPr>
        <p:grpSpPr>
          <a:xfrm>
            <a:off x="3681788" y="152400"/>
            <a:ext cx="8281612" cy="1295400"/>
            <a:chOff x="3681788" y="152400"/>
            <a:chExt cx="8281612" cy="1295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1788" y="370720"/>
              <a:ext cx="4828423" cy="1077080"/>
            </a:xfrm>
            <a:prstGeom prst="rect">
              <a:avLst/>
            </a:prstGeom>
          </p:spPr>
        </p:pic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EBA6524E-EDB1-4440-AE90-883F7F1FD18C}"/>
                </a:ext>
              </a:extLst>
            </p:cNvPr>
            <p:cNvSpPr/>
            <p:nvPr/>
          </p:nvSpPr>
          <p:spPr>
            <a:xfrm>
              <a:off x="9144000" y="152400"/>
              <a:ext cx="2819400" cy="7627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A985DEC5-F30D-46A1-8619-3D91E66BBC7E}"/>
              </a:ext>
            </a:extLst>
          </p:cNvPr>
          <p:cNvSpPr txBox="1"/>
          <p:nvPr/>
        </p:nvSpPr>
        <p:spPr>
          <a:xfrm>
            <a:off x="150603" y="1638089"/>
            <a:ext cx="111127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 smtClean="0">
                <a:solidFill>
                  <a:srgbClr val="D1052D"/>
                </a:solidFill>
              </a:rPr>
              <a:t>UNIDAD </a:t>
            </a:r>
            <a:r>
              <a:rPr lang="es-ES" sz="2000" b="1" dirty="0">
                <a:solidFill>
                  <a:srgbClr val="D1052D"/>
                </a:solidFill>
              </a:rPr>
              <a:t>DE APRENDIZAJE 5:  </a:t>
            </a:r>
            <a:r>
              <a:rPr lang="es-ES" sz="2000" b="1" dirty="0" smtClean="0"/>
              <a:t>PATRONES GENERALES DE ASIGNACIÓN DE RESPONSABILIDADES </a:t>
            </a:r>
            <a:endParaRPr lang="es-PE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Motivación para el </a:t>
            </a:r>
            <a:r>
              <a:rPr sz="2400" b="1" spc="-5" dirty="0" err="1">
                <a:solidFill>
                  <a:srgbClr val="FFFFFF"/>
                </a:solidFill>
                <a:latin typeface="Arial"/>
                <a:cs typeface="Arial"/>
              </a:rPr>
              <a:t>aprendizaje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pic>
        <p:nvPicPr>
          <p:cNvPr id="11" name="object 6">
            <a:extLst>
              <a:ext uri="{FF2B5EF4-FFF2-40B4-BE49-F238E27FC236}">
                <a16:creationId xmlns:a16="http://schemas.microsoft.com/office/drawing/2014/main" id="{E52C9474-7154-4724-A72B-B537E889D3D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53600" y="6184229"/>
            <a:ext cx="445171" cy="44517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47AE2A4-CC8F-4B06-A81C-DB8416DF06EB}"/>
              </a:ext>
            </a:extLst>
          </p:cNvPr>
          <p:cNvSpPr txBox="1"/>
          <p:nvPr/>
        </p:nvSpPr>
        <p:spPr>
          <a:xfrm>
            <a:off x="10198771" y="6222148"/>
            <a:ext cx="1764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14300">
              <a:lnSpc>
                <a:spcPct val="100000"/>
              </a:lnSpc>
              <a:spcBef>
                <a:spcPts val="1345"/>
              </a:spcBef>
            </a:pPr>
            <a:r>
              <a:rPr lang="es-PE" sz="2000" b="1" dirty="0">
                <a:latin typeface="Arial"/>
                <a:cs typeface="Arial"/>
              </a:rPr>
              <a:t>5</a:t>
            </a:r>
            <a:r>
              <a:rPr lang="es-PE" sz="2000" b="1" spc="-55" dirty="0">
                <a:latin typeface="Arial"/>
                <a:cs typeface="Arial"/>
              </a:rPr>
              <a:t> </a:t>
            </a:r>
            <a:r>
              <a:rPr lang="es-PE" sz="2000" b="1" spc="-5" dirty="0">
                <a:latin typeface="Arial"/>
                <a:cs typeface="Arial"/>
              </a:rPr>
              <a:t>minutos</a:t>
            </a:r>
            <a:endParaRPr lang="es-PE" sz="2000" dirty="0"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D11C75D-199E-45B8-BA8D-17CD6C160246}"/>
              </a:ext>
            </a:extLst>
          </p:cNvPr>
          <p:cNvSpPr txBox="1"/>
          <p:nvPr/>
        </p:nvSpPr>
        <p:spPr>
          <a:xfrm>
            <a:off x="687627" y="1402106"/>
            <a:ext cx="10591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i="1" spc="-5" dirty="0" smtClean="0">
                <a:latin typeface="Arial"/>
                <a:cs typeface="Arial"/>
              </a:rPr>
              <a:t>Estar muy atento en tu sesión de clase.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b="1" i="1" spc="-5" dirty="0" smtClean="0">
              <a:latin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i="1" spc="-5" dirty="0" smtClean="0">
                <a:latin typeface="Arial"/>
                <a:cs typeface="Arial"/>
              </a:rPr>
              <a:t>El compromiso y la responsabilidad para trabajar en equipo dentro del aula.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b="1" i="1" spc="-5" dirty="0" smtClean="0">
              <a:latin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i="1" spc="-5" dirty="0" smtClean="0">
                <a:latin typeface="Arial"/>
                <a:cs typeface="Arial"/>
              </a:rPr>
              <a:t>¿</a:t>
            </a:r>
            <a:r>
              <a:rPr lang="es-ES" sz="2000" b="1" i="1" spc="-5" dirty="0" smtClean="0">
                <a:solidFill>
                  <a:srgbClr val="0070C0"/>
                </a:solidFill>
                <a:latin typeface="Arial"/>
                <a:cs typeface="Arial"/>
              </a:rPr>
              <a:t>Por qué</a:t>
            </a:r>
            <a:r>
              <a:rPr lang="es-ES" sz="2000" b="1" i="1" spc="-5" dirty="0" smtClean="0">
                <a:latin typeface="Arial"/>
                <a:cs typeface="Arial"/>
              </a:rPr>
              <a:t>? : Las empresas solicitan profesionales que dominan el  diseño de patrones?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D11C75D-199E-45B8-BA8D-17CD6C160246}"/>
              </a:ext>
            </a:extLst>
          </p:cNvPr>
          <p:cNvSpPr txBox="1"/>
          <p:nvPr/>
        </p:nvSpPr>
        <p:spPr>
          <a:xfrm>
            <a:off x="573616" y="3623890"/>
            <a:ext cx="1081982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i="1" spc="-5" dirty="0" smtClean="0">
                <a:latin typeface="Arial"/>
                <a:cs typeface="Arial"/>
              </a:rPr>
              <a:t>Usted que opina</a:t>
            </a:r>
            <a:r>
              <a:rPr lang="es-ES" sz="2400" b="1" i="1" spc="-5" dirty="0" smtClean="0">
                <a:solidFill>
                  <a:srgbClr val="0070C0"/>
                </a:solidFill>
                <a:latin typeface="Arial"/>
                <a:cs typeface="Arial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b="1" i="1" spc="-5" dirty="0" smtClean="0">
              <a:latin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i="1" spc="-5" dirty="0" smtClean="0">
                <a:latin typeface="Arial"/>
                <a:cs typeface="Arial"/>
              </a:rPr>
              <a:t>¿Diga, por qué el diseño de patrones tiene valor en el modelado del software?</a:t>
            </a:r>
            <a:endParaRPr lang="es-ES" sz="2000" i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9937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Motivación para el </a:t>
            </a:r>
            <a:r>
              <a:rPr sz="2400" b="1" spc="-5" dirty="0" err="1">
                <a:solidFill>
                  <a:srgbClr val="FFFFFF"/>
                </a:solidFill>
                <a:latin typeface="Arial"/>
                <a:cs typeface="Arial"/>
              </a:rPr>
              <a:t>aprendizaje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D11C75D-199E-45B8-BA8D-17CD6C160246}"/>
              </a:ext>
            </a:extLst>
          </p:cNvPr>
          <p:cNvSpPr txBox="1"/>
          <p:nvPr/>
        </p:nvSpPr>
        <p:spPr>
          <a:xfrm>
            <a:off x="381000" y="1206273"/>
            <a:ext cx="10515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i="1" spc="-5" dirty="0" smtClean="0">
                <a:solidFill>
                  <a:srgbClr val="0070C0"/>
                </a:solidFill>
                <a:latin typeface="Arial"/>
                <a:cs typeface="Arial"/>
              </a:rPr>
              <a:t>Estimados estudiantes</a:t>
            </a:r>
          </a:p>
          <a:p>
            <a:endParaRPr lang="es-ES" sz="2400" b="1" i="1" spc="-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marL="457200" indent="-457200">
              <a:buFont typeface="+mj-lt"/>
              <a:buAutoNum type="arabicPeriod"/>
            </a:pPr>
            <a:r>
              <a:rPr lang="es-ES" sz="2400" b="1" i="1" spc="-5" dirty="0" smtClean="0">
                <a:latin typeface="Arial"/>
                <a:cs typeface="Arial"/>
              </a:rPr>
              <a:t>¿Cual es la importancia del curso en tu carrera profesional?</a:t>
            </a:r>
          </a:p>
          <a:p>
            <a:pPr marL="457200" indent="-457200">
              <a:buFont typeface="+mj-lt"/>
              <a:buAutoNum type="arabicPeriod"/>
            </a:pPr>
            <a:endParaRPr lang="es-ES" sz="2400" b="1" i="1" spc="-5" dirty="0" smtClean="0">
              <a:latin typeface="Arial"/>
              <a:cs typeface="Arial"/>
            </a:endParaRPr>
          </a:p>
          <a:p>
            <a:pPr marL="457200" indent="-457200">
              <a:buFont typeface="+mj-lt"/>
              <a:buAutoNum type="arabicPeriod"/>
            </a:pPr>
            <a:r>
              <a:rPr lang="es-ES" sz="2400" b="1" i="1" spc="-5" dirty="0" smtClean="0">
                <a:latin typeface="Arial"/>
                <a:cs typeface="Arial"/>
              </a:rPr>
              <a:t>¿Cómo debes aplicar el  diseño de patrones en un proyecto de desarrollo de software?</a:t>
            </a:r>
          </a:p>
          <a:p>
            <a:pPr marL="457200" indent="-457200">
              <a:buFont typeface="+mj-lt"/>
              <a:buAutoNum type="arabicPeriod"/>
            </a:pPr>
            <a:endParaRPr lang="es-ES" sz="2400" b="1" i="1" spc="-5" dirty="0">
              <a:latin typeface="Arial"/>
              <a:cs typeface="Arial"/>
            </a:endParaRPr>
          </a:p>
          <a:p>
            <a:pPr marL="457200" indent="-457200">
              <a:buFont typeface="+mj-lt"/>
              <a:buAutoNum type="arabicPeriod"/>
            </a:pPr>
            <a:r>
              <a:rPr lang="es-ES" sz="2400" b="1" i="1" spc="-5" dirty="0" smtClean="0">
                <a:latin typeface="Arial"/>
                <a:cs typeface="Arial"/>
              </a:rPr>
              <a:t>¿ Que comprende el modelado en el diseño de patrones para  el desarrollo de  un proyecto?.  </a:t>
            </a:r>
            <a:endParaRPr lang="es-ES" sz="2400" i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0639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Recordando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aprendizajes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D11C75D-199E-45B8-BA8D-17CD6C160246}"/>
              </a:ext>
            </a:extLst>
          </p:cNvPr>
          <p:cNvSpPr txBox="1"/>
          <p:nvPr/>
        </p:nvSpPr>
        <p:spPr>
          <a:xfrm>
            <a:off x="575825" y="1524000"/>
            <a:ext cx="1082039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s-ES" sz="3600" b="1" i="1" spc="-5" dirty="0" smtClean="0">
              <a:latin typeface="Arial"/>
              <a:cs typeface="Arial"/>
            </a:endParaRPr>
          </a:p>
          <a:p>
            <a:pPr algn="just"/>
            <a:r>
              <a:rPr lang="es-ES" sz="3600" b="1" i="1" spc="-5" dirty="0" smtClean="0">
                <a:solidFill>
                  <a:srgbClr val="0070C0"/>
                </a:solidFill>
                <a:latin typeface="Arial"/>
                <a:cs typeface="Arial"/>
              </a:rPr>
              <a:t>Estudiantes</a:t>
            </a:r>
          </a:p>
          <a:p>
            <a:pPr algn="just"/>
            <a:endParaRPr lang="es-ES" sz="3600" b="1" i="1" spc="-5" dirty="0" smtClean="0">
              <a:latin typeface="Arial"/>
              <a:cs typeface="Arial"/>
            </a:endParaRPr>
          </a:p>
          <a:p>
            <a:pPr marL="1657350" lvl="2" indent="-742950" algn="just">
              <a:buFont typeface="+mj-lt"/>
              <a:buAutoNum type="alphaLcPeriod"/>
            </a:pPr>
            <a:r>
              <a:rPr lang="es-ES" sz="2800" b="1" i="1" spc="-5" dirty="0" smtClean="0">
                <a:latin typeface="Arial"/>
                <a:cs typeface="Arial"/>
              </a:rPr>
              <a:t>Diga: ¿Qué</a:t>
            </a:r>
            <a:r>
              <a:rPr lang="es-ES" sz="2800" b="1" i="1" spc="-20" dirty="0" smtClean="0">
                <a:latin typeface="Arial"/>
                <a:cs typeface="Arial"/>
              </a:rPr>
              <a:t> temas del curso fueron explicados </a:t>
            </a:r>
            <a:r>
              <a:rPr lang="es-ES" sz="2800" b="1" i="1" spc="-5" dirty="0" smtClean="0">
                <a:latin typeface="Arial"/>
                <a:cs typeface="Arial"/>
              </a:rPr>
              <a:t>en</a:t>
            </a:r>
            <a:r>
              <a:rPr lang="es-ES" sz="2800" b="1" i="1" spc="-20" dirty="0" smtClean="0">
                <a:latin typeface="Arial"/>
                <a:cs typeface="Arial"/>
              </a:rPr>
              <a:t> </a:t>
            </a:r>
            <a:r>
              <a:rPr lang="es-ES" sz="2800" b="1" i="1" spc="-5" dirty="0">
                <a:latin typeface="Arial"/>
                <a:cs typeface="Arial"/>
              </a:rPr>
              <a:t>la</a:t>
            </a:r>
            <a:r>
              <a:rPr lang="es-ES" sz="2800" b="1" i="1" spc="-20" dirty="0">
                <a:latin typeface="Arial"/>
                <a:cs typeface="Arial"/>
              </a:rPr>
              <a:t> </a:t>
            </a:r>
            <a:r>
              <a:rPr lang="es-ES" sz="2800" b="1" i="1" spc="-5" dirty="0">
                <a:latin typeface="Arial"/>
                <a:cs typeface="Arial"/>
              </a:rPr>
              <a:t>sesión</a:t>
            </a:r>
            <a:r>
              <a:rPr lang="es-ES" sz="2800" b="1" i="1" spc="-20" dirty="0">
                <a:latin typeface="Arial"/>
                <a:cs typeface="Arial"/>
              </a:rPr>
              <a:t> </a:t>
            </a:r>
            <a:r>
              <a:rPr lang="es-ES" sz="2800" b="1" i="1" spc="-5" dirty="0">
                <a:latin typeface="Arial"/>
                <a:cs typeface="Arial"/>
              </a:rPr>
              <a:t>anterior</a:t>
            </a:r>
            <a:r>
              <a:rPr lang="es-ES" sz="2800" b="1" i="1" spc="-5" dirty="0" smtClean="0">
                <a:latin typeface="Arial"/>
                <a:cs typeface="Arial"/>
              </a:rPr>
              <a:t>?</a:t>
            </a:r>
          </a:p>
          <a:p>
            <a:pPr marL="1657350" lvl="2" indent="-742950" algn="just">
              <a:buFont typeface="+mj-lt"/>
              <a:buAutoNum type="alphaLcPeriod"/>
            </a:pPr>
            <a:endParaRPr lang="es-ES" sz="2800" b="1" i="1" spc="-5" dirty="0" smtClean="0">
              <a:latin typeface="Arial"/>
              <a:cs typeface="Arial"/>
            </a:endParaRPr>
          </a:p>
          <a:p>
            <a:pPr marL="1657350" lvl="2" indent="-742950" algn="just">
              <a:buFont typeface="+mj-lt"/>
              <a:buAutoNum type="alphaLcPeriod"/>
            </a:pPr>
            <a:r>
              <a:rPr lang="es-ES" sz="2800" b="1" i="1" spc="-5" dirty="0" smtClean="0">
                <a:latin typeface="Arial"/>
                <a:cs typeface="Arial"/>
              </a:rPr>
              <a:t>Para usted: ¿Qué recuerda de la clase pasada?</a:t>
            </a:r>
            <a:endParaRPr lang="es-ES" sz="2800" i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769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Logro de la sesión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11" name="object 6">
            <a:extLst>
              <a:ext uri="{FF2B5EF4-FFF2-40B4-BE49-F238E27FC236}">
                <a16:creationId xmlns:a16="http://schemas.microsoft.com/office/drawing/2014/main" id="{C7336562-8237-4C19-BF2E-C16CE9CE1CB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6059" y="284572"/>
            <a:ext cx="1093658" cy="1143000"/>
          </a:xfrm>
          <a:prstGeom prst="rect">
            <a:avLst/>
          </a:prstGeom>
        </p:spPr>
      </p:pic>
      <p:sp>
        <p:nvSpPr>
          <p:cNvPr id="10" name="Marcador de contenido 2"/>
          <p:cNvSpPr txBox="1">
            <a:spLocks/>
          </p:cNvSpPr>
          <p:nvPr/>
        </p:nvSpPr>
        <p:spPr>
          <a:xfrm>
            <a:off x="748258" y="2104072"/>
            <a:ext cx="10515601" cy="2954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3200" b="1" i="1" dirty="0"/>
              <a:t>Al finalizar la clase el estudiante será capaz de analizar, comprender y aplicar los fundamentos en el diseño de patrones de software que están  relacionados </a:t>
            </a:r>
            <a:r>
              <a:rPr lang="es-ES" sz="3200" b="1" i="1" dirty="0" smtClean="0"/>
              <a:t>a diferentes patrones </a:t>
            </a:r>
            <a:r>
              <a:rPr lang="es-ES" sz="3200" b="1" i="1" dirty="0"/>
              <a:t>GRASP, considerando a Experto en información, fabricación pura, </a:t>
            </a:r>
            <a:r>
              <a:rPr lang="es-ES" sz="3200" b="1" i="1" dirty="0" smtClean="0"/>
              <a:t>polimorfismo</a:t>
            </a:r>
            <a:r>
              <a:rPr lang="es-ES" sz="3200" b="1" i="1" dirty="0"/>
              <a:t>, </a:t>
            </a:r>
            <a:r>
              <a:rPr lang="es-ES" sz="3200" b="1" i="1" dirty="0" smtClean="0"/>
              <a:t>con alineación a proyectos </a:t>
            </a:r>
            <a:r>
              <a:rPr lang="es-ES" sz="3200" b="1" i="1" dirty="0"/>
              <a:t>de sistemas informáticos. </a:t>
            </a:r>
            <a:r>
              <a:rPr lang="es-ES" sz="3200" b="1" dirty="0"/>
              <a:t> 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946091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Logro de la sesión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11" name="object 6">
            <a:extLst>
              <a:ext uri="{FF2B5EF4-FFF2-40B4-BE49-F238E27FC236}">
                <a16:creationId xmlns:a16="http://schemas.microsoft.com/office/drawing/2014/main" id="{C7336562-8237-4C19-BF2E-C16CE9CE1CB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400" y="304801"/>
            <a:ext cx="845778" cy="774253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905000"/>
            <a:ext cx="11277600" cy="3657600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1593267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Importancia de la sesión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2A6F3E7-9979-4364-9955-A30A48479D96}"/>
              </a:ext>
            </a:extLst>
          </p:cNvPr>
          <p:cNvSpPr txBox="1"/>
          <p:nvPr/>
        </p:nvSpPr>
        <p:spPr>
          <a:xfrm>
            <a:off x="699136" y="2590800"/>
            <a:ext cx="1088326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b="1" i="1" spc="-5" dirty="0" smtClean="0">
                <a:latin typeface="Arial MT"/>
                <a:cs typeface="Arial MT"/>
              </a:rPr>
              <a:t>La </a:t>
            </a:r>
            <a:r>
              <a:rPr lang="es-ES" sz="2000" b="1" i="1" spc="-5" dirty="0">
                <a:latin typeface="Arial MT"/>
                <a:cs typeface="Arial MT"/>
              </a:rPr>
              <a:t>importancia </a:t>
            </a:r>
            <a:r>
              <a:rPr lang="es-ES" sz="2000" b="1" i="1" spc="-5" dirty="0" smtClean="0">
                <a:latin typeface="Arial MT"/>
                <a:cs typeface="Arial MT"/>
              </a:rPr>
              <a:t> de utilizar los patrones de tipo GRASP es que ambos deben estar alineados al experto </a:t>
            </a:r>
            <a:r>
              <a:rPr lang="es-ES" sz="2000" b="1" i="1" spc="-5" dirty="0">
                <a:latin typeface="Arial MT"/>
                <a:cs typeface="Arial MT"/>
              </a:rPr>
              <a:t>en </a:t>
            </a:r>
            <a:r>
              <a:rPr lang="es-ES" sz="2000" b="1" i="1" spc="-5" dirty="0" smtClean="0">
                <a:latin typeface="Arial MT"/>
                <a:cs typeface="Arial MT"/>
              </a:rPr>
              <a:t>información, fabricación pura y polimorfismo, esto genera  responsabilidad de jerarquía para lograr asignar control  en el flujo </a:t>
            </a:r>
            <a:r>
              <a:rPr lang="es-ES" sz="2000" b="1" i="1" spc="-5" dirty="0">
                <a:latin typeface="Arial MT"/>
                <a:cs typeface="Arial MT"/>
              </a:rPr>
              <a:t>de eventos del sistema a clases </a:t>
            </a:r>
            <a:r>
              <a:rPr lang="es-ES" sz="2000" b="1" i="1" spc="-5" dirty="0" smtClean="0">
                <a:latin typeface="Arial MT"/>
                <a:cs typeface="Arial MT"/>
              </a:rPr>
              <a:t>específicas, porque provee una correcta validación </a:t>
            </a:r>
            <a:r>
              <a:rPr lang="es-ES" sz="2000" b="1" i="1" spc="-5" dirty="0">
                <a:latin typeface="Arial MT"/>
                <a:cs typeface="Arial MT"/>
              </a:rPr>
              <a:t>y </a:t>
            </a:r>
            <a:r>
              <a:rPr lang="es-ES" sz="2000" b="1" i="1" spc="-5" dirty="0" smtClean="0">
                <a:latin typeface="Arial MT"/>
                <a:cs typeface="Arial MT"/>
              </a:rPr>
              <a:t>nivel de  seguridad de información en el área de diseño de software. </a:t>
            </a:r>
            <a:endParaRPr lang="es-ES" sz="2000" b="1" i="1" spc="-5" dirty="0">
              <a:latin typeface="Arial MT"/>
              <a:cs typeface="Arial MT"/>
            </a:endParaRPr>
          </a:p>
        </p:txBody>
      </p:sp>
      <p:pic>
        <p:nvPicPr>
          <p:cNvPr id="12" name="object 10">
            <a:extLst>
              <a:ext uri="{FF2B5EF4-FFF2-40B4-BE49-F238E27FC236}">
                <a16:creationId xmlns:a16="http://schemas.microsoft.com/office/drawing/2014/main" id="{BD6947E1-33EA-4945-AA08-BDC665508EC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7875" y="304800"/>
            <a:ext cx="811525" cy="56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421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4">
            <a:extLst>
              <a:ext uri="{FF2B5EF4-FFF2-40B4-BE49-F238E27FC236}">
                <a16:creationId xmlns:a16="http://schemas.microsoft.com/office/drawing/2014/main" id="{44A62F85-1502-4D7C-93F5-FDF5EB2D1026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31BDD320-46CF-4CF8-8ED7-B9CC2CD22623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s-PE" sz="2400" b="1" spc="-5" dirty="0" err="1">
                <a:solidFill>
                  <a:srgbClr val="FFFFFF"/>
                </a:solidFill>
                <a:latin typeface="Arial"/>
                <a:cs typeface="Arial"/>
              </a:rPr>
              <a:t>emario</a:t>
            </a:r>
            <a:endParaRPr lang="es-PE" sz="2400" dirty="0">
              <a:latin typeface="Arial"/>
              <a:cs typeface="Arial"/>
            </a:endParaRPr>
          </a:p>
        </p:txBody>
      </p:sp>
      <p:pic>
        <p:nvPicPr>
          <p:cNvPr id="10" name="object 7">
            <a:extLst>
              <a:ext uri="{FF2B5EF4-FFF2-40B4-BE49-F238E27FC236}">
                <a16:creationId xmlns:a16="http://schemas.microsoft.com/office/drawing/2014/main" id="{229EF982-4AD6-41B4-B055-812DA365FB4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2310588"/>
            <a:ext cx="914400" cy="111841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51E8A21-5A38-43E7-AE9D-98AA48814941}"/>
              </a:ext>
            </a:extLst>
          </p:cNvPr>
          <p:cNvSpPr txBox="1"/>
          <p:nvPr/>
        </p:nvSpPr>
        <p:spPr>
          <a:xfrm>
            <a:off x="2438400" y="1670479"/>
            <a:ext cx="8258176" cy="3049553"/>
          </a:xfrm>
          <a:prstGeom prst="rect">
            <a:avLst/>
          </a:prstGeom>
          <a:solidFill>
            <a:srgbClr val="D1052D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2800" b="1" spc="-25" dirty="0">
                <a:solidFill>
                  <a:schemeClr val="bg1"/>
                </a:solidFill>
                <a:latin typeface="Arial"/>
                <a:cs typeface="Arial"/>
              </a:rPr>
              <a:t>SESIÓN N° </a:t>
            </a:r>
            <a:r>
              <a:rPr lang="es-PE" sz="2800" b="1" spc="-25" dirty="0" smtClean="0">
                <a:solidFill>
                  <a:schemeClr val="bg1"/>
                </a:solidFill>
                <a:latin typeface="Arial"/>
                <a:cs typeface="Arial"/>
              </a:rPr>
              <a:t>17:</a:t>
            </a:r>
            <a:endParaRPr lang="es-PE" sz="2800" b="1" spc="85" dirty="0">
              <a:solidFill>
                <a:schemeClr val="bg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smtClean="0">
                <a:solidFill>
                  <a:schemeClr val="bg1"/>
                </a:solidFill>
              </a:rPr>
              <a:t>PATRONES GRASP </a:t>
            </a:r>
            <a:endParaRPr lang="es-ES" sz="3200" b="1" dirty="0">
              <a:solidFill>
                <a:schemeClr val="bg1"/>
              </a:solidFill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dirty="0" smtClean="0">
                <a:solidFill>
                  <a:schemeClr val="bg1"/>
                </a:solidFill>
              </a:rPr>
              <a:t>Patrones </a:t>
            </a:r>
            <a:r>
              <a:rPr lang="es-ES" sz="3200" dirty="0">
                <a:solidFill>
                  <a:schemeClr val="bg1"/>
                </a:solidFill>
              </a:rPr>
              <a:t>GRASP</a:t>
            </a:r>
            <a:r>
              <a:rPr lang="es-ES" sz="3200" dirty="0" smtClean="0">
                <a:solidFill>
                  <a:schemeClr val="bg1"/>
                </a:solidFill>
              </a:rPr>
              <a:t>:</a:t>
            </a:r>
          </a:p>
          <a:p>
            <a:pPr marL="927100" lvl="1" indent="-4572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ES" sz="3200" dirty="0" smtClean="0">
                <a:solidFill>
                  <a:schemeClr val="bg1"/>
                </a:solidFill>
              </a:rPr>
              <a:t>Experto </a:t>
            </a:r>
            <a:r>
              <a:rPr lang="es-ES" sz="3200" dirty="0">
                <a:solidFill>
                  <a:schemeClr val="bg1"/>
                </a:solidFill>
              </a:rPr>
              <a:t>en información</a:t>
            </a:r>
            <a:r>
              <a:rPr lang="es-ES" sz="3200" dirty="0" smtClean="0">
                <a:solidFill>
                  <a:schemeClr val="bg1"/>
                </a:solidFill>
              </a:rPr>
              <a:t>.</a:t>
            </a:r>
          </a:p>
          <a:p>
            <a:pPr marL="927100" lvl="1" indent="-4572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ES" sz="3200" dirty="0" smtClean="0">
                <a:solidFill>
                  <a:schemeClr val="bg1"/>
                </a:solidFill>
              </a:rPr>
              <a:t>Fabricación </a:t>
            </a:r>
            <a:r>
              <a:rPr lang="es-ES" sz="3200" dirty="0">
                <a:solidFill>
                  <a:schemeClr val="bg1"/>
                </a:solidFill>
              </a:rPr>
              <a:t>Pura. </a:t>
            </a:r>
            <a:endParaRPr lang="es-ES" sz="3200" dirty="0" smtClean="0">
              <a:solidFill>
                <a:schemeClr val="bg1"/>
              </a:solidFill>
            </a:endParaRPr>
          </a:p>
          <a:p>
            <a:pPr marL="927100" lvl="1" indent="-4572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ES" sz="3200" dirty="0" smtClean="0">
                <a:solidFill>
                  <a:schemeClr val="bg1"/>
                </a:solidFill>
              </a:rPr>
              <a:t>Polimorfismo</a:t>
            </a:r>
            <a:r>
              <a:rPr lang="es-ES" sz="32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6946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4294967295"/>
          </p:nvPr>
        </p:nvSpPr>
        <p:spPr>
          <a:xfrm>
            <a:off x="381000" y="2286000"/>
            <a:ext cx="11125200" cy="39702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800" b="1" dirty="0" smtClean="0">
                <a:solidFill>
                  <a:schemeClr val="tx1"/>
                </a:solidFill>
              </a:rPr>
              <a:t>Es de gran utilidad mostrar la principal estructura del Patrón </a:t>
            </a:r>
            <a:r>
              <a:rPr lang="es-ES" sz="2800" b="1" dirty="0">
                <a:solidFill>
                  <a:schemeClr val="tx1"/>
                </a:solidFill>
              </a:rPr>
              <a:t>GRASP </a:t>
            </a:r>
            <a:r>
              <a:rPr lang="es-ES" sz="2800" b="1" dirty="0" smtClean="0">
                <a:solidFill>
                  <a:schemeClr val="tx1"/>
                </a:solidFill>
              </a:rPr>
              <a:t>en función a su tipología: </a:t>
            </a:r>
            <a:endParaRPr lang="es-ES" sz="2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s-ES" dirty="0" smtClean="0"/>
          </a:p>
          <a:p>
            <a:pPr marL="1885950" lvl="3" indent="-514350">
              <a:buFont typeface="+mj-lt"/>
              <a:buAutoNum type="arabicPeriod"/>
            </a:pPr>
            <a:r>
              <a:rPr lang="es-ES" sz="2800" b="1" dirty="0">
                <a:solidFill>
                  <a:schemeClr val="tx1"/>
                </a:solidFill>
              </a:rPr>
              <a:t>Alta cohesión y bajo acoplamiento</a:t>
            </a:r>
          </a:p>
          <a:p>
            <a:pPr marL="1885950" lvl="3" indent="-514350">
              <a:buFont typeface="+mj-lt"/>
              <a:buAutoNum type="arabicPeriod"/>
            </a:pPr>
            <a:r>
              <a:rPr lang="es-ES" sz="2800" b="1" dirty="0">
                <a:solidFill>
                  <a:schemeClr val="tx1"/>
                </a:solidFill>
              </a:rPr>
              <a:t>Controlador</a:t>
            </a:r>
          </a:p>
          <a:p>
            <a:pPr marL="1885950" lvl="3" indent="-514350">
              <a:buFont typeface="+mj-lt"/>
              <a:buAutoNum type="arabicPeriod"/>
            </a:pPr>
            <a:r>
              <a:rPr lang="es-ES" sz="2800" b="1" dirty="0">
                <a:solidFill>
                  <a:schemeClr val="tx1"/>
                </a:solidFill>
              </a:rPr>
              <a:t>Creador</a:t>
            </a:r>
          </a:p>
          <a:p>
            <a:pPr marL="1885950" lvl="3" indent="-514350">
              <a:buFont typeface="+mj-lt"/>
              <a:buAutoNum type="arabicPeriod"/>
            </a:pPr>
            <a:r>
              <a:rPr lang="es-ES" sz="2800" b="1" u="sng" dirty="0">
                <a:solidFill>
                  <a:srgbClr val="FF0000"/>
                </a:solidFill>
              </a:rPr>
              <a:t>Experto en información</a:t>
            </a:r>
          </a:p>
          <a:p>
            <a:pPr marL="1885950" lvl="3" indent="-514350">
              <a:buFont typeface="+mj-lt"/>
              <a:buAutoNum type="arabicPeriod"/>
            </a:pPr>
            <a:r>
              <a:rPr lang="es-ES" sz="2800" b="1" u="sng" dirty="0">
                <a:solidFill>
                  <a:srgbClr val="FF0000"/>
                </a:solidFill>
              </a:rPr>
              <a:t>Fabricación pura</a:t>
            </a:r>
          </a:p>
          <a:p>
            <a:pPr marL="1885950" lvl="3" indent="-514350">
              <a:buFont typeface="+mj-lt"/>
              <a:buAutoNum type="arabicPeriod"/>
            </a:pPr>
            <a:r>
              <a:rPr lang="es-ES" sz="2800" b="1" u="sng" dirty="0" smtClean="0">
                <a:solidFill>
                  <a:srgbClr val="FF0000"/>
                </a:solidFill>
              </a:rPr>
              <a:t>Polimorfismo</a:t>
            </a:r>
            <a:endParaRPr lang="es-ES" sz="2800" b="1" u="sng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381000" y="1060136"/>
            <a:ext cx="11125200" cy="9848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algn="ctr"/>
            <a:r>
              <a:rPr lang="es-ES" sz="3200" b="1" kern="0" dirty="0" smtClean="0">
                <a:latin typeface="Berlin Sans FB Demi" panose="020E0802020502020306" pitchFamily="34" charset="0"/>
              </a:rPr>
              <a:t>¿CUÁL ES LA ESTRUCTURA FUNDAMENTAL QUE PRESENTA EL PATRÓN GRASP?</a:t>
            </a:r>
            <a:endParaRPr lang="en-US" sz="3200" b="1" kern="0" dirty="0">
              <a:latin typeface="Berlin Sans FB Demi" panose="020E0802020502020306" pitchFamily="34" charset="0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44A62F85-1502-4D7C-93F5-FDF5EB2D1026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31BDD320-46CF-4CF8-8ED7-B9CC2CD22623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s-PE" sz="2400" b="1" spc="-5" dirty="0" err="1">
                <a:solidFill>
                  <a:srgbClr val="FFFFFF"/>
                </a:solidFill>
                <a:latin typeface="Arial"/>
                <a:cs typeface="Arial"/>
              </a:rPr>
              <a:t>emario</a:t>
            </a:r>
            <a:endParaRPr lang="es-PE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7495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4294967295"/>
          </p:nvPr>
        </p:nvSpPr>
        <p:spPr>
          <a:xfrm>
            <a:off x="512377" y="2895600"/>
            <a:ext cx="11083157" cy="3016210"/>
          </a:xfrm>
        </p:spPr>
        <p:txBody>
          <a:bodyPr/>
          <a:lstStyle/>
          <a:p>
            <a:pPr algn="just"/>
            <a:r>
              <a:rPr lang="es-ES" sz="2800" b="1" dirty="0">
                <a:solidFill>
                  <a:schemeClr val="tx1"/>
                </a:solidFill>
              </a:rPr>
              <a:t>El </a:t>
            </a:r>
            <a:r>
              <a:rPr lang="es-ES" sz="2800" b="1" dirty="0" smtClean="0">
                <a:solidFill>
                  <a:schemeClr val="tx1"/>
                </a:solidFill>
              </a:rPr>
              <a:t>Patrón </a:t>
            </a:r>
            <a:r>
              <a:rPr lang="es-ES" sz="2800" b="1" dirty="0">
                <a:solidFill>
                  <a:schemeClr val="tx1"/>
                </a:solidFill>
              </a:rPr>
              <a:t>Experto </a:t>
            </a:r>
            <a:r>
              <a:rPr lang="es-ES" sz="2800" b="1" dirty="0" smtClean="0"/>
              <a:t>en Información </a:t>
            </a:r>
            <a:r>
              <a:rPr lang="es-ES" sz="2800" b="1" dirty="0" smtClean="0">
                <a:solidFill>
                  <a:schemeClr val="tx1"/>
                </a:solidFill>
              </a:rPr>
              <a:t>consiste </a:t>
            </a:r>
            <a:r>
              <a:rPr lang="es-ES" sz="2800" b="1" dirty="0">
                <a:solidFill>
                  <a:schemeClr val="tx1"/>
                </a:solidFill>
              </a:rPr>
              <a:t>en un tipo de patrón de diseño de software que se utiliza en el desarrollo de aplicaciones para separar las responsabilidades y mejorar la modularidad del código. </a:t>
            </a:r>
            <a:r>
              <a:rPr lang="es-ES" sz="2800" b="1" dirty="0" smtClean="0">
                <a:solidFill>
                  <a:schemeClr val="tx1"/>
                </a:solidFill>
              </a:rPr>
              <a:t>Tiene como característica y ventaja principal que en su contexto alineado a la </a:t>
            </a:r>
            <a:r>
              <a:rPr lang="es-ES" sz="2800" b="1" dirty="0">
                <a:solidFill>
                  <a:schemeClr val="tx1"/>
                </a:solidFill>
              </a:rPr>
              <a:t>gestión de la </a:t>
            </a:r>
            <a:r>
              <a:rPr lang="es-ES" sz="2800" b="1" dirty="0" smtClean="0">
                <a:solidFill>
                  <a:schemeClr val="tx1"/>
                </a:solidFill>
              </a:rPr>
              <a:t>información.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El Patrón </a:t>
            </a:r>
            <a:r>
              <a:rPr lang="es-ES" sz="2800" b="1" dirty="0">
                <a:solidFill>
                  <a:schemeClr val="tx1"/>
                </a:solidFill>
              </a:rPr>
              <a:t>llamado Experto se aplica para asegurar que la manipulación de los datos se realice de manera coherente y eficiente.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512377" y="1143000"/>
            <a:ext cx="11125200" cy="123110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algn="ctr"/>
            <a:r>
              <a:rPr lang="es-ES" sz="4000" b="1" kern="0" dirty="0" smtClean="0">
                <a:latin typeface="Berlin Sans FB Demi" panose="020E0802020502020306" pitchFamily="34" charset="0"/>
              </a:rPr>
              <a:t>¿QUÉ CARACTERISTICAS PRESENTA EL PATRÓN EXPERTO EN INFORMACIÓN?</a:t>
            </a:r>
            <a:endParaRPr lang="en-US" sz="4000" b="1" kern="0" dirty="0">
              <a:latin typeface="Berlin Sans FB Demi" panose="020E0802020502020306" pitchFamily="34" charset="0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44A62F85-1502-4D7C-93F5-FDF5EB2D1026}"/>
              </a:ext>
            </a:extLst>
          </p:cNvPr>
          <p:cNvSpPr/>
          <p:nvPr/>
        </p:nvSpPr>
        <p:spPr>
          <a:xfrm>
            <a:off x="554420" y="381000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r>
              <a:rPr lang="es-ES" sz="3200" b="1" dirty="0" smtClean="0">
                <a:solidFill>
                  <a:schemeClr val="bg1"/>
                </a:solidFill>
              </a:rPr>
              <a:t>TEMARIO</a:t>
            </a:r>
            <a:endParaRPr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999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4294967295"/>
          </p:nvPr>
        </p:nvSpPr>
        <p:spPr>
          <a:xfrm>
            <a:off x="496138" y="2127885"/>
            <a:ext cx="11083157" cy="3225348"/>
          </a:xfrm>
        </p:spPr>
        <p:txBody>
          <a:bodyPr/>
          <a:lstStyle/>
          <a:p>
            <a:r>
              <a:rPr lang="es-ES" sz="2800" b="1" dirty="0" smtClean="0"/>
              <a:t>Las </a:t>
            </a:r>
            <a:r>
              <a:rPr lang="es-ES" sz="2800" b="1" dirty="0"/>
              <a:t>principales ventajas que presenta este tipo de P</a:t>
            </a:r>
            <a:r>
              <a:rPr lang="es-ES" sz="2800" b="1" dirty="0" smtClean="0"/>
              <a:t>atrón </a:t>
            </a:r>
            <a:r>
              <a:rPr lang="es-ES" sz="2800" b="1" dirty="0"/>
              <a:t>Experto se describe de la siguiente manera:</a:t>
            </a:r>
          </a:p>
          <a:p>
            <a:pPr algn="just"/>
            <a:endParaRPr lang="es-ES" sz="3200" b="1" dirty="0" smtClean="0"/>
          </a:p>
          <a:p>
            <a:pPr algn="just"/>
            <a:r>
              <a:rPr lang="es-ES" sz="3200" b="1" dirty="0" smtClean="0"/>
              <a:t>VENTAJAS: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rgbClr val="FF0000"/>
                </a:solidFill>
              </a:rPr>
              <a:t>Coherencia </a:t>
            </a:r>
            <a:r>
              <a:rPr lang="es-ES" sz="2800" b="1" dirty="0">
                <a:solidFill>
                  <a:srgbClr val="FF0000"/>
                </a:solidFill>
              </a:rPr>
              <a:t>y claridad</a:t>
            </a:r>
            <a:r>
              <a:rPr lang="es-ES" sz="2800" dirty="0"/>
              <a:t>: Al centralizar la lógica relacionada con la manipulación de datos en una sola clase, se mejora la coherencia y la claridad del código</a:t>
            </a:r>
            <a:r>
              <a:rPr lang="es-ES" sz="2800" dirty="0" smtClean="0"/>
              <a:t>.</a:t>
            </a:r>
            <a:endParaRPr lang="es-ES" sz="2800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512377" y="1143000"/>
            <a:ext cx="11125200" cy="9848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algn="ctr"/>
            <a:r>
              <a:rPr lang="es-ES" sz="3200" b="1" kern="0" dirty="0" smtClean="0">
                <a:latin typeface="Berlin Sans FB Demi" panose="020E0802020502020306" pitchFamily="34" charset="0"/>
              </a:rPr>
              <a:t>¿QUE VENTAJAS PRESENTA EL PATRÓN EXPERTO EN INFORMACIÓN?</a:t>
            </a:r>
            <a:endParaRPr lang="en-US" sz="3200" b="1" kern="0" dirty="0">
              <a:latin typeface="Berlin Sans FB Demi" panose="020E0802020502020306" pitchFamily="34" charset="0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44A62F85-1502-4D7C-93F5-FDF5EB2D1026}"/>
              </a:ext>
            </a:extLst>
          </p:cNvPr>
          <p:cNvSpPr/>
          <p:nvPr/>
        </p:nvSpPr>
        <p:spPr>
          <a:xfrm>
            <a:off x="554420" y="381000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r>
              <a:rPr lang="es-ES" sz="3200" b="1" dirty="0" smtClean="0">
                <a:solidFill>
                  <a:schemeClr val="bg1"/>
                </a:solidFill>
              </a:rPr>
              <a:t>TEMARIO</a:t>
            </a:r>
            <a:endParaRPr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9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4294967295"/>
          </p:nvPr>
        </p:nvSpPr>
        <p:spPr>
          <a:xfrm>
            <a:off x="496138" y="2127885"/>
            <a:ext cx="11083157" cy="3877985"/>
          </a:xfrm>
        </p:spPr>
        <p:txBody>
          <a:bodyPr/>
          <a:lstStyle/>
          <a:p>
            <a:r>
              <a:rPr lang="es-ES" sz="2800" b="1" dirty="0" smtClean="0"/>
              <a:t>Principales </a:t>
            </a:r>
            <a:r>
              <a:rPr lang="es-ES" sz="2800" b="1" dirty="0"/>
              <a:t>ventajas que presenta este tipo de P</a:t>
            </a:r>
            <a:r>
              <a:rPr lang="es-ES" sz="2800" b="1" dirty="0" smtClean="0"/>
              <a:t>atrón </a:t>
            </a:r>
            <a:r>
              <a:rPr lang="es-ES" sz="2800" b="1" dirty="0"/>
              <a:t>Experto se describe de la siguiente manera</a:t>
            </a:r>
            <a:r>
              <a:rPr lang="es-ES" sz="2800" dirty="0" smtClean="0"/>
              <a:t>:</a:t>
            </a:r>
          </a:p>
          <a:p>
            <a:endParaRPr lang="es-E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rgbClr val="FF0000"/>
                </a:solidFill>
              </a:rPr>
              <a:t>Facilidad </a:t>
            </a:r>
            <a:r>
              <a:rPr lang="es-ES" sz="2800" b="1" dirty="0">
                <a:solidFill>
                  <a:srgbClr val="FF0000"/>
                </a:solidFill>
              </a:rPr>
              <a:t>de mantenimiento</a:t>
            </a:r>
            <a:r>
              <a:rPr lang="es-ES" sz="2800" dirty="0"/>
              <a:t>: Al tener una única ubicación para la manipulación de datos, resulta más sencillo realizar cambios y mantenimiento en el código.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rgbClr val="FF0000"/>
                </a:solidFill>
              </a:rPr>
              <a:t>Reutilización de código</a:t>
            </a:r>
            <a:r>
              <a:rPr lang="es-ES" sz="2800" dirty="0">
                <a:solidFill>
                  <a:srgbClr val="FF0000"/>
                </a:solidFill>
              </a:rPr>
              <a:t>: </a:t>
            </a:r>
            <a:r>
              <a:rPr lang="es-ES" sz="2800" dirty="0"/>
              <a:t>Al encapsular la lógica de manipulación de datos en una clase especializada, se facilita la reutilización de este código en diferentes partes de la </a:t>
            </a:r>
            <a:r>
              <a:rPr lang="es-ES" sz="2800" dirty="0" smtClean="0"/>
              <a:t>aplicación.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512377" y="1143000"/>
            <a:ext cx="11125200" cy="9848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algn="ctr"/>
            <a:r>
              <a:rPr lang="es-ES" sz="3200" b="1" kern="0" dirty="0" smtClean="0">
                <a:latin typeface="Berlin Sans FB Demi" panose="020E0802020502020306" pitchFamily="34" charset="0"/>
              </a:rPr>
              <a:t>¿QUE VENTAJAS PRESENTA EL PATRÓN EXPERTO EN INFORMACIÓN?</a:t>
            </a:r>
            <a:endParaRPr lang="en-US" sz="3200" b="1" kern="0" dirty="0">
              <a:latin typeface="Berlin Sans FB Demi" panose="020E0802020502020306" pitchFamily="34" charset="0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44A62F85-1502-4D7C-93F5-FDF5EB2D1026}"/>
              </a:ext>
            </a:extLst>
          </p:cNvPr>
          <p:cNvSpPr/>
          <p:nvPr/>
        </p:nvSpPr>
        <p:spPr>
          <a:xfrm>
            <a:off x="554420" y="381000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r>
              <a:rPr lang="es-ES" sz="3200" b="1" dirty="0" smtClean="0">
                <a:solidFill>
                  <a:schemeClr val="bg1"/>
                </a:solidFill>
              </a:rPr>
              <a:t>TEMARIO</a:t>
            </a:r>
            <a:endParaRPr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309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4294967295"/>
          </p:nvPr>
        </p:nvSpPr>
        <p:spPr>
          <a:xfrm>
            <a:off x="560666" y="2438400"/>
            <a:ext cx="11161985" cy="3505199"/>
          </a:xfrm>
        </p:spPr>
        <p:txBody>
          <a:bodyPr>
            <a:noAutofit/>
          </a:bodyPr>
          <a:lstStyle/>
          <a:p>
            <a:r>
              <a:rPr lang="es-ES" sz="2400" b="1" u="sng" dirty="0">
                <a:solidFill>
                  <a:srgbClr val="0070C0"/>
                </a:solidFill>
              </a:rPr>
              <a:t>SISTEMA DE GESTIÓN DE USUARIOS</a:t>
            </a:r>
            <a:r>
              <a:rPr lang="es-ES" sz="2400" b="1" u="sng" dirty="0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es-ES" sz="2400" b="1" dirty="0">
                <a:solidFill>
                  <a:schemeClr val="tx1"/>
                </a:solidFill>
              </a:rPr>
              <a:t>Clase Usuario: Esta clase contiene los datos del usuario (como nombre, correo electrónico, contraseña) y también métodos para operaciones relacionadas con usuarios, como cambiar la contraseña, actualizar la información del perfil.</a:t>
            </a:r>
          </a:p>
          <a:p>
            <a:endParaRPr lang="es-ES" sz="2400" b="1" dirty="0" smtClean="0">
              <a:solidFill>
                <a:schemeClr val="tx1"/>
              </a:solidFill>
            </a:endParaRPr>
          </a:p>
          <a:p>
            <a:r>
              <a:rPr lang="es-ES" sz="2400" b="1" u="sng" dirty="0" smtClean="0">
                <a:solidFill>
                  <a:srgbClr val="0070C0"/>
                </a:solidFill>
              </a:rPr>
              <a:t>APLICACIÓN </a:t>
            </a:r>
            <a:r>
              <a:rPr lang="es-ES" sz="2400" b="1" u="sng" dirty="0">
                <a:solidFill>
                  <a:srgbClr val="0070C0"/>
                </a:solidFill>
              </a:rPr>
              <a:t>DE RESERVAS DE VUELOS</a:t>
            </a:r>
            <a:r>
              <a:rPr lang="es-ES" sz="2400" b="1" u="sng" dirty="0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es-ES" sz="2400" b="1" dirty="0">
                <a:solidFill>
                  <a:schemeClr val="tx1"/>
                </a:solidFill>
              </a:rPr>
              <a:t>Clase Vuelo: Contiene los datos de un vuelo (número de vuelo, origen, destino, fecha, hora) y métodos para reservar un asiento, cancelar una reserva, calcular el precio total.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4A62F85-1502-4D7C-93F5-FDF5EB2D1026}"/>
              </a:ext>
            </a:extLst>
          </p:cNvPr>
          <p:cNvSpPr/>
          <p:nvPr/>
        </p:nvSpPr>
        <p:spPr>
          <a:xfrm>
            <a:off x="554420" y="381000"/>
            <a:ext cx="6151180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r>
              <a:rPr lang="es-ES" sz="3200" b="1" dirty="0" smtClean="0">
                <a:solidFill>
                  <a:schemeClr val="bg1"/>
                </a:solidFill>
              </a:rPr>
              <a:t>TEMARIO</a:t>
            </a:r>
            <a:endParaRPr sz="3200" b="1" dirty="0">
              <a:solidFill>
                <a:schemeClr val="bg1"/>
              </a:solidFill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12377" y="1143000"/>
            <a:ext cx="11125200" cy="9848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algn="ctr"/>
            <a:r>
              <a:rPr lang="es-ES" sz="3200" b="1" kern="0" dirty="0" smtClean="0">
                <a:latin typeface="Berlin Sans FB Demi" panose="020E0802020502020306" pitchFamily="34" charset="0"/>
              </a:rPr>
              <a:t>EJEMPLOS</a:t>
            </a:r>
          </a:p>
          <a:p>
            <a:pPr algn="ctr"/>
            <a:r>
              <a:rPr lang="es-ES" sz="3200" b="1" kern="0" dirty="0" smtClean="0">
                <a:latin typeface="Berlin Sans FB Demi" panose="020E0802020502020306" pitchFamily="34" charset="0"/>
              </a:rPr>
              <a:t>PATRÓN EXPERTO EN INFORMACIÓN</a:t>
            </a:r>
            <a:endParaRPr lang="en-US" sz="3200" b="1" kern="0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056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4294967295"/>
          </p:nvPr>
        </p:nvSpPr>
        <p:spPr>
          <a:xfrm>
            <a:off x="554420" y="2590800"/>
            <a:ext cx="11161985" cy="3352800"/>
          </a:xfrm>
        </p:spPr>
        <p:txBody>
          <a:bodyPr>
            <a:normAutofit/>
          </a:bodyPr>
          <a:lstStyle/>
          <a:p>
            <a:r>
              <a:rPr lang="es-ES" sz="2400" b="1" u="sng" dirty="0">
                <a:solidFill>
                  <a:srgbClr val="0070C0"/>
                </a:solidFill>
              </a:rPr>
              <a:t>SISTEMA DE GESTIÓN DE INVENTARIOS: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Clase Producto: Almacena los detalles de un producto (nombre, precio, cantidad en stock) y métodos para actualizar el stock, calcular el valor total del inventario.</a:t>
            </a:r>
          </a:p>
          <a:p>
            <a:endParaRPr lang="es-ES" sz="2400" b="1" dirty="0" smtClean="0"/>
          </a:p>
          <a:p>
            <a:endParaRPr lang="es-ES" sz="2400" b="1" dirty="0"/>
          </a:p>
          <a:p>
            <a:r>
              <a:rPr lang="es-ES" sz="2400" b="1" u="sng" dirty="0" smtClean="0">
                <a:solidFill>
                  <a:srgbClr val="0070C0"/>
                </a:solidFill>
              </a:rPr>
              <a:t>SISTEMA </a:t>
            </a:r>
            <a:r>
              <a:rPr lang="es-ES" sz="2400" b="1" u="sng" dirty="0">
                <a:solidFill>
                  <a:srgbClr val="0070C0"/>
                </a:solidFill>
              </a:rPr>
              <a:t>DE GESTIÓN DE EMPLEADOS: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Clase Empleado: Almacena la información de un empleado (nombre, cargo, salario) y métodos para calcular el salario neto, actualizar la información del empleado.</a:t>
            </a:r>
            <a:endParaRPr lang="en-US" sz="2400" b="1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4A62F85-1502-4D7C-93F5-FDF5EB2D1026}"/>
              </a:ext>
            </a:extLst>
          </p:cNvPr>
          <p:cNvSpPr/>
          <p:nvPr/>
        </p:nvSpPr>
        <p:spPr>
          <a:xfrm>
            <a:off x="554420" y="381000"/>
            <a:ext cx="6151180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r>
              <a:rPr lang="es-ES" sz="3200" b="1" dirty="0" smtClean="0">
                <a:solidFill>
                  <a:schemeClr val="bg1"/>
                </a:solidFill>
              </a:rPr>
              <a:t>TEMARIO</a:t>
            </a:r>
            <a:endParaRPr sz="3200" b="1" dirty="0">
              <a:solidFill>
                <a:schemeClr val="bg1"/>
              </a:solidFill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12377" y="1143000"/>
            <a:ext cx="11125200" cy="9848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algn="ctr"/>
            <a:r>
              <a:rPr lang="es-ES" sz="3200" b="1" kern="0" dirty="0" smtClean="0">
                <a:latin typeface="Berlin Sans FB Demi" panose="020E0802020502020306" pitchFamily="34" charset="0"/>
              </a:rPr>
              <a:t>EJEMPLOS</a:t>
            </a:r>
          </a:p>
          <a:p>
            <a:pPr algn="ctr"/>
            <a:r>
              <a:rPr lang="es-ES" sz="3200" b="1" kern="0" dirty="0" smtClean="0">
                <a:latin typeface="Berlin Sans FB Demi" panose="020E0802020502020306" pitchFamily="34" charset="0"/>
              </a:rPr>
              <a:t>PATRÓN EXPERTO EN INFORMACIÓN</a:t>
            </a:r>
            <a:endParaRPr lang="en-US" sz="3200" b="1" kern="0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734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4294967295"/>
          </p:nvPr>
        </p:nvSpPr>
        <p:spPr>
          <a:xfrm>
            <a:off x="536027" y="2329310"/>
            <a:ext cx="11161985" cy="3810000"/>
          </a:xfrm>
        </p:spPr>
        <p:txBody>
          <a:bodyPr>
            <a:normAutofit fontScale="92500"/>
          </a:bodyPr>
          <a:lstStyle/>
          <a:p>
            <a:r>
              <a:rPr lang="es-ES" sz="2600" b="1" dirty="0"/>
              <a:t>En el </a:t>
            </a:r>
            <a:r>
              <a:rPr lang="es-ES" sz="2600" b="1" dirty="0" smtClean="0"/>
              <a:t>contexto de modelamiento del diseño del Patrón </a:t>
            </a:r>
            <a:r>
              <a:rPr lang="es-ES" sz="2600" b="1" dirty="0"/>
              <a:t>GRASP la fabricación pura </a:t>
            </a:r>
            <a:r>
              <a:rPr lang="es-ES" sz="2600" b="1" dirty="0" smtClean="0"/>
              <a:t>presenta usos y beneficios principales:</a:t>
            </a:r>
          </a:p>
          <a:p>
            <a:endParaRPr lang="es-ES" sz="2400" b="1" dirty="0"/>
          </a:p>
          <a:p>
            <a:pPr marL="514350" indent="-514350" algn="just">
              <a:buFont typeface="+mj-lt"/>
              <a:buAutoNum type="alphaLcPeriod"/>
            </a:pPr>
            <a:r>
              <a:rPr lang="es-ES" sz="2400" b="1" dirty="0"/>
              <a:t>La creación de una clase adicional para mejorar la cohesión de una clase que inicialmente carece de ella y no tiene otro lugar donde implementar ciertos métodos. </a:t>
            </a:r>
            <a:endParaRPr lang="es-ES" sz="2400" b="1" dirty="0" smtClean="0"/>
          </a:p>
          <a:p>
            <a:pPr marL="514350" indent="-514350" algn="just">
              <a:buFont typeface="+mj-lt"/>
              <a:buAutoNum type="alphaLcPeriod"/>
            </a:pPr>
            <a:r>
              <a:rPr lang="es-ES" sz="2400" b="1" dirty="0" smtClean="0"/>
              <a:t>Esta </a:t>
            </a:r>
            <a:r>
              <a:rPr lang="es-ES" sz="2400" b="1" dirty="0"/>
              <a:t>práctica implica la introducción de una clase adicional que mejora  la organización del sistema</a:t>
            </a:r>
            <a:r>
              <a:rPr lang="es-ES" sz="2400" b="1" dirty="0" smtClean="0"/>
              <a:t>.</a:t>
            </a:r>
          </a:p>
          <a:p>
            <a:pPr marL="514350" indent="-514350" algn="just">
              <a:buFont typeface="+mj-lt"/>
              <a:buAutoNum type="alphaLcPeriod"/>
            </a:pPr>
            <a:r>
              <a:rPr lang="es-ES" sz="2400" b="1" dirty="0" smtClean="0"/>
              <a:t>Esta técnica de diseño </a:t>
            </a:r>
            <a:r>
              <a:rPr lang="es-ES" sz="2400" b="1" dirty="0"/>
              <a:t>ayuda a optimizar la estructura del sistema, su uso excesivo puede resultar en la creación de clases que contienen una única función o algoritmo, lo que puede disminuir </a:t>
            </a:r>
            <a:r>
              <a:rPr lang="es-ES" sz="2400" b="1" dirty="0" smtClean="0"/>
              <a:t>los valores de la </a:t>
            </a:r>
            <a:r>
              <a:rPr lang="es-ES" sz="2400" b="1" dirty="0"/>
              <a:t>eficiencia y la claridad del código.</a:t>
            </a:r>
            <a:endParaRPr lang="en-US" sz="2400" b="1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4A62F85-1502-4D7C-93F5-FDF5EB2D1026}"/>
              </a:ext>
            </a:extLst>
          </p:cNvPr>
          <p:cNvSpPr/>
          <p:nvPr/>
        </p:nvSpPr>
        <p:spPr>
          <a:xfrm>
            <a:off x="554420" y="381000"/>
            <a:ext cx="6151180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r>
              <a:rPr lang="es-ES" sz="3200" b="1" dirty="0" smtClean="0">
                <a:solidFill>
                  <a:schemeClr val="bg1"/>
                </a:solidFill>
              </a:rPr>
              <a:t>TEMARIO</a:t>
            </a:r>
            <a:endParaRPr sz="3200" b="1" dirty="0">
              <a:solidFill>
                <a:schemeClr val="bg1"/>
              </a:solidFill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54420" y="1143000"/>
            <a:ext cx="11125200" cy="9848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algn="ctr"/>
            <a:r>
              <a:rPr lang="es-ES" sz="3200" b="1" kern="0" dirty="0" smtClean="0">
                <a:latin typeface="Berlin Sans FB Demi" panose="020E0802020502020306" pitchFamily="34" charset="0"/>
              </a:rPr>
              <a:t>¿QUÉ USOS Y BENEFICIOS PROPONE LA FABRICACIÓN PURA EN EL CONTEXTO DEL PATRÓN GRASP?</a:t>
            </a:r>
            <a:endParaRPr lang="en-US" sz="3200" b="1" kern="0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86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4294967295"/>
          </p:nvPr>
        </p:nvSpPr>
        <p:spPr>
          <a:xfrm>
            <a:off x="517635" y="2328061"/>
            <a:ext cx="11161985" cy="3810000"/>
          </a:xfrm>
        </p:spPr>
        <p:txBody>
          <a:bodyPr>
            <a:normAutofit/>
          </a:bodyPr>
          <a:lstStyle/>
          <a:p>
            <a:pPr algn="just"/>
            <a:r>
              <a:rPr lang="es-ES" sz="2800" b="1" dirty="0"/>
              <a:t>En el </a:t>
            </a:r>
            <a:r>
              <a:rPr lang="es-ES" sz="2800" b="1" dirty="0" smtClean="0"/>
              <a:t>contexto de modelamiento del diseño del Patrón </a:t>
            </a:r>
            <a:r>
              <a:rPr lang="es-ES" sz="2800" b="1" dirty="0"/>
              <a:t>GRASP la fabricación pura </a:t>
            </a:r>
            <a:r>
              <a:rPr lang="es-ES" sz="2800" b="1" dirty="0" smtClean="0"/>
              <a:t>presenta las ventajas y las características principales:</a:t>
            </a:r>
          </a:p>
          <a:p>
            <a:endParaRPr lang="es-ES" sz="2400" b="1" dirty="0"/>
          </a:p>
          <a:p>
            <a:pPr marL="457200" indent="-457200">
              <a:buFont typeface="+mj-lt"/>
              <a:buAutoNum type="alphaLcPeriod"/>
            </a:pPr>
            <a:r>
              <a:rPr lang="es-ES" sz="2400" b="1" dirty="0" smtClean="0"/>
              <a:t>Las ventajas y las características de fabricación pura se presentan como la técnica que soporta una Alta Cohesión </a:t>
            </a:r>
            <a:r>
              <a:rPr lang="es-ES" sz="2400" b="1" dirty="0"/>
              <a:t>puesto que las responsabilidades se factorizan en un clase especita que solo se centra en un conjunto de tareas relacionadas.</a:t>
            </a:r>
          </a:p>
          <a:p>
            <a:pPr marL="457200" indent="-457200">
              <a:buFont typeface="+mj-lt"/>
              <a:buAutoNum type="alphaLcPeriod"/>
            </a:pPr>
            <a:endParaRPr lang="es-ES" sz="2400" b="1" dirty="0"/>
          </a:p>
          <a:p>
            <a:pPr marL="457200" indent="-457200">
              <a:buFont typeface="+mj-lt"/>
              <a:buAutoNum type="alphaLcPeriod"/>
            </a:pPr>
            <a:r>
              <a:rPr lang="es-ES" sz="2400" b="1" dirty="0"/>
              <a:t>Posee un potencial para reutilizar parte del código o aumentar debido a la presencia de clases de fabricación pura cuyas responsabilidades tienen aplicación en otras </a:t>
            </a:r>
            <a:r>
              <a:rPr lang="es-ES" sz="2400" b="1" dirty="0" smtClean="0"/>
              <a:t>aplicaciones</a:t>
            </a:r>
            <a:endParaRPr lang="en-US" sz="2400" b="1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4A62F85-1502-4D7C-93F5-FDF5EB2D1026}"/>
              </a:ext>
            </a:extLst>
          </p:cNvPr>
          <p:cNvSpPr/>
          <p:nvPr/>
        </p:nvSpPr>
        <p:spPr>
          <a:xfrm>
            <a:off x="554420" y="381000"/>
            <a:ext cx="6151180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r>
              <a:rPr lang="es-ES" sz="3200" b="1" dirty="0" smtClean="0">
                <a:solidFill>
                  <a:schemeClr val="bg1"/>
                </a:solidFill>
              </a:rPr>
              <a:t>TEMARIO</a:t>
            </a:r>
            <a:endParaRPr sz="3200" b="1" dirty="0">
              <a:solidFill>
                <a:schemeClr val="bg1"/>
              </a:solidFill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54420" y="1143000"/>
            <a:ext cx="11125200" cy="9848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algn="ctr"/>
            <a:r>
              <a:rPr lang="es-ES" sz="3200" b="1" kern="0" dirty="0" smtClean="0">
                <a:latin typeface="Berlin Sans FB Demi" panose="020E0802020502020306" pitchFamily="34" charset="0"/>
              </a:rPr>
              <a:t>¿FABRICACIÓN PURA PRINCIPALES VENTAJAS Y CARACTERISTICAS EN EL DISEÑO DEL PATRÓN GRASP?</a:t>
            </a:r>
            <a:endParaRPr lang="en-US" sz="3200" b="1" kern="0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936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4294967295"/>
          </p:nvPr>
        </p:nvSpPr>
        <p:spPr>
          <a:xfrm>
            <a:off x="517635" y="2209800"/>
            <a:ext cx="11161985" cy="3810000"/>
          </a:xfrm>
        </p:spPr>
        <p:txBody>
          <a:bodyPr>
            <a:normAutofit/>
          </a:bodyPr>
          <a:lstStyle/>
          <a:p>
            <a:r>
              <a:rPr lang="es-ES" sz="3200" b="1" dirty="0" smtClean="0"/>
              <a:t>El polimorfismo señala que:</a:t>
            </a:r>
          </a:p>
          <a:p>
            <a:endParaRPr lang="es-ES" sz="2800" dirty="0"/>
          </a:p>
          <a:p>
            <a:pPr marL="514350" indent="-514350" algn="just">
              <a:buFont typeface="+mj-lt"/>
              <a:buAutoNum type="arabicPeriod"/>
            </a:pPr>
            <a:r>
              <a:rPr lang="es-ES" sz="3000" b="1" dirty="0"/>
              <a:t>La técnica </a:t>
            </a:r>
            <a:r>
              <a:rPr lang="es-ES" sz="3000" b="1" dirty="0" smtClean="0"/>
              <a:t>denominada polimorfismo </a:t>
            </a:r>
            <a:r>
              <a:rPr lang="es-ES" sz="3000" b="1" dirty="0"/>
              <a:t>permite que varias clases se comporten de manera distinta dependiendo del tipo que </a:t>
            </a:r>
            <a:r>
              <a:rPr lang="es-ES" sz="3000" b="1" dirty="0" smtClean="0"/>
              <a:t>sean </a:t>
            </a:r>
            <a:r>
              <a:rPr lang="es-ES" sz="3000" b="1" dirty="0"/>
              <a:t>diferentes objetos acordes con cada </a:t>
            </a:r>
            <a:r>
              <a:rPr lang="es-ES" sz="3000" b="1" dirty="0" smtClean="0"/>
              <a:t>tipo.</a:t>
            </a:r>
          </a:p>
          <a:p>
            <a:pPr marL="514350" indent="-514350" algn="just">
              <a:buFont typeface="+mj-lt"/>
              <a:buAutoNum type="arabicPeriod"/>
            </a:pPr>
            <a:endParaRPr lang="es-ES" sz="3000" b="1" dirty="0"/>
          </a:p>
          <a:p>
            <a:pPr marL="514350" indent="-514350" algn="just">
              <a:buFont typeface="+mj-lt"/>
              <a:buAutoNum type="arabicPeriod"/>
            </a:pPr>
            <a:r>
              <a:rPr lang="es-ES" sz="3000" b="1" dirty="0"/>
              <a:t>El patrón Experto nos </a:t>
            </a:r>
            <a:r>
              <a:rPr lang="es-ES" sz="3000" b="1" dirty="0" smtClean="0"/>
              <a:t>propone </a:t>
            </a:r>
            <a:r>
              <a:rPr lang="es-ES" sz="3000" b="1" dirty="0"/>
              <a:t>asignar la responsabilidad al objeto que posea la información necesaria para desempeñarla.</a:t>
            </a:r>
          </a:p>
          <a:p>
            <a:pPr marL="457200" indent="-457200">
              <a:buFont typeface="+mj-lt"/>
              <a:buAutoNum type="alphaLcPeriod"/>
            </a:pPr>
            <a:endParaRPr lang="en-US" sz="2400" b="1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4A62F85-1502-4D7C-93F5-FDF5EB2D1026}"/>
              </a:ext>
            </a:extLst>
          </p:cNvPr>
          <p:cNvSpPr/>
          <p:nvPr/>
        </p:nvSpPr>
        <p:spPr>
          <a:xfrm>
            <a:off x="554420" y="381000"/>
            <a:ext cx="6151180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r>
              <a:rPr lang="es-ES" sz="3200" b="1" dirty="0" smtClean="0">
                <a:solidFill>
                  <a:schemeClr val="bg1"/>
                </a:solidFill>
              </a:rPr>
              <a:t>TEMARIO</a:t>
            </a:r>
            <a:endParaRPr sz="3200" b="1" dirty="0">
              <a:solidFill>
                <a:schemeClr val="bg1"/>
              </a:solidFill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54420" y="1143000"/>
            <a:ext cx="11125200" cy="9848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algn="ctr"/>
            <a:r>
              <a:rPr lang="es-ES" sz="3200" b="1" kern="0" dirty="0" smtClean="0">
                <a:latin typeface="Berlin Sans FB Demi" panose="020E0802020502020306" pitchFamily="34" charset="0"/>
              </a:rPr>
              <a:t>¿Qué permite realizar el Polimorfismo en el contexto de Patrones </a:t>
            </a:r>
            <a:r>
              <a:rPr lang="es-ES" sz="3200" b="1" kern="0" dirty="0" err="1" smtClean="0">
                <a:latin typeface="Berlin Sans FB Demi" panose="020E0802020502020306" pitchFamily="34" charset="0"/>
              </a:rPr>
              <a:t>Grasp</a:t>
            </a:r>
            <a:r>
              <a:rPr lang="es-ES" sz="3200" b="1" kern="0" dirty="0" smtClean="0">
                <a:latin typeface="Berlin Sans FB Demi" panose="020E0802020502020306" pitchFamily="34" charset="0"/>
              </a:rPr>
              <a:t>?</a:t>
            </a:r>
            <a:endParaRPr lang="en-US" sz="3200" b="1" kern="0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273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4294967295"/>
          </p:nvPr>
        </p:nvSpPr>
        <p:spPr>
          <a:xfrm>
            <a:off x="517635" y="2209800"/>
            <a:ext cx="11161985" cy="3810000"/>
          </a:xfrm>
        </p:spPr>
        <p:txBody>
          <a:bodyPr>
            <a:normAutofit fontScale="85000" lnSpcReduction="20000"/>
          </a:bodyPr>
          <a:lstStyle/>
          <a:p>
            <a:r>
              <a:rPr lang="es-ES" sz="3800" b="1" dirty="0">
                <a:solidFill>
                  <a:srgbClr val="0070C0"/>
                </a:solidFill>
              </a:rPr>
              <a:t>El polimorfismo </a:t>
            </a:r>
            <a:r>
              <a:rPr lang="es-ES" sz="3800" b="1" dirty="0" smtClean="0">
                <a:solidFill>
                  <a:srgbClr val="0070C0"/>
                </a:solidFill>
              </a:rPr>
              <a:t>reconoce que</a:t>
            </a:r>
            <a:r>
              <a:rPr lang="es-ES" sz="4200" b="1" dirty="0">
                <a:solidFill>
                  <a:srgbClr val="0070C0"/>
                </a:solidFill>
              </a:rPr>
              <a:t>:</a:t>
            </a:r>
          </a:p>
          <a:p>
            <a:endParaRPr lang="es-ES" sz="2100" dirty="0"/>
          </a:p>
          <a:p>
            <a:pPr marL="514350" indent="-514350" algn="just">
              <a:buFont typeface="+mj-lt"/>
              <a:buAutoNum type="alphaLcPeriod"/>
            </a:pPr>
            <a:r>
              <a:rPr lang="es-ES" sz="3200" b="1" dirty="0" smtClean="0"/>
              <a:t>Las ventajas mas importantes del polimorfismo propone ser un </a:t>
            </a:r>
            <a:r>
              <a:rPr lang="es-ES" sz="3200" b="1" dirty="0"/>
              <a:t>conjunto de técnicas que permite programar </a:t>
            </a:r>
            <a:r>
              <a:rPr lang="es-ES" sz="3200" b="1" dirty="0" smtClean="0"/>
              <a:t>de </a:t>
            </a:r>
            <a:r>
              <a:rPr lang="es-ES" sz="3200" b="1" dirty="0"/>
              <a:t>manera general en lugar de programar de manera </a:t>
            </a:r>
            <a:r>
              <a:rPr lang="es-ES" sz="3200" b="1" dirty="0" smtClean="0"/>
              <a:t>específica</a:t>
            </a:r>
            <a:r>
              <a:rPr lang="es-ES" sz="3200" b="1" dirty="0"/>
              <a:t>, cada una de estas técnicas de las cuales permite una </a:t>
            </a:r>
            <a:r>
              <a:rPr lang="es-ES" sz="3200" b="1" dirty="0" smtClean="0"/>
              <a:t> forma </a:t>
            </a:r>
            <a:r>
              <a:rPr lang="es-ES" sz="3200" b="1" dirty="0"/>
              <a:t>distinta de reutilización de software, que facilita a su </a:t>
            </a:r>
            <a:r>
              <a:rPr lang="es-ES" sz="3200" b="1" dirty="0" smtClean="0"/>
              <a:t>vez  </a:t>
            </a:r>
            <a:r>
              <a:rPr lang="es-ES" sz="3200" b="1" dirty="0"/>
              <a:t>el desarrollo rápido, la confianza y la facilidad de uso y mantenimiento</a:t>
            </a:r>
            <a:r>
              <a:rPr lang="es-ES" sz="3200" b="1" dirty="0" smtClean="0"/>
              <a:t>.</a:t>
            </a:r>
          </a:p>
          <a:p>
            <a:pPr marL="514350" indent="-514350" algn="just">
              <a:buFont typeface="+mj-lt"/>
              <a:buAutoNum type="alphaLcPeriod"/>
            </a:pPr>
            <a:r>
              <a:rPr lang="es-ES" sz="3200" b="1" dirty="0" smtClean="0"/>
              <a:t>Es </a:t>
            </a:r>
            <a:r>
              <a:rPr lang="es-ES" sz="3200" b="1" dirty="0"/>
              <a:t>uno de los principios de los patrones GRASP que va </a:t>
            </a:r>
            <a:r>
              <a:rPr lang="es-ES" sz="3200" b="1" dirty="0" smtClean="0"/>
              <a:t>permitir  </a:t>
            </a:r>
            <a:r>
              <a:rPr lang="es-ES" sz="3200" b="1" dirty="0"/>
              <a:t>que varias clases se comporten de manera distinta dependiendo del tipo de la clase principal.</a:t>
            </a:r>
            <a:endParaRPr lang="en-US" sz="3200" b="1" dirty="0"/>
          </a:p>
          <a:p>
            <a:pPr marL="457200" indent="-457200">
              <a:buFont typeface="+mj-lt"/>
              <a:buAutoNum type="alphaLcPeriod"/>
            </a:pPr>
            <a:endParaRPr lang="en-US" sz="2400" b="1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4A62F85-1502-4D7C-93F5-FDF5EB2D1026}"/>
              </a:ext>
            </a:extLst>
          </p:cNvPr>
          <p:cNvSpPr/>
          <p:nvPr/>
        </p:nvSpPr>
        <p:spPr>
          <a:xfrm>
            <a:off x="554420" y="381000"/>
            <a:ext cx="6151180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r>
              <a:rPr lang="es-ES" sz="3200" b="1" dirty="0" smtClean="0">
                <a:solidFill>
                  <a:schemeClr val="bg1"/>
                </a:solidFill>
              </a:rPr>
              <a:t>TEMARIO</a:t>
            </a:r>
            <a:endParaRPr sz="3200" b="1" dirty="0">
              <a:solidFill>
                <a:schemeClr val="bg1"/>
              </a:solidFill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54420" y="1143000"/>
            <a:ext cx="11125200" cy="9848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algn="ctr"/>
            <a:r>
              <a:rPr lang="es-ES" sz="3200" b="1" kern="0" dirty="0" smtClean="0">
                <a:latin typeface="Berlin Sans FB Demi" panose="020E0802020502020306" pitchFamily="34" charset="0"/>
              </a:rPr>
              <a:t>¿Qué permite realizar el Polimorfismo en el contexto de Patrones </a:t>
            </a:r>
            <a:r>
              <a:rPr lang="es-ES" sz="3200" b="1" kern="0" dirty="0" err="1" smtClean="0">
                <a:latin typeface="Berlin Sans FB Demi" panose="020E0802020502020306" pitchFamily="34" charset="0"/>
              </a:rPr>
              <a:t>Grasp</a:t>
            </a:r>
            <a:r>
              <a:rPr lang="es-ES" sz="3200" b="1" kern="0" dirty="0" smtClean="0">
                <a:latin typeface="Berlin Sans FB Demi" panose="020E0802020502020306" pitchFamily="34" charset="0"/>
              </a:rPr>
              <a:t>?</a:t>
            </a:r>
            <a:endParaRPr lang="en-US" sz="3200" b="1" kern="0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99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4294967295"/>
          </p:nvPr>
        </p:nvSpPr>
        <p:spPr>
          <a:xfrm>
            <a:off x="517635" y="2209800"/>
            <a:ext cx="11161985" cy="3810000"/>
          </a:xfrm>
        </p:spPr>
        <p:txBody>
          <a:bodyPr>
            <a:normAutofit/>
          </a:bodyPr>
          <a:lstStyle/>
          <a:p>
            <a:r>
              <a:rPr lang="es-ES" sz="3200" b="1" dirty="0" smtClean="0">
                <a:solidFill>
                  <a:srgbClr val="0070C0"/>
                </a:solidFill>
              </a:rPr>
              <a:t>Analizar el ejemplo</a:t>
            </a:r>
            <a:r>
              <a:rPr lang="es-ES" sz="3600" b="1" dirty="0" smtClean="0"/>
              <a:t>:</a:t>
            </a:r>
            <a:endParaRPr lang="es-ES" sz="3200" b="1" dirty="0"/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s-ES" sz="2700" b="1" dirty="0" smtClean="0"/>
              <a:t>Veamos esto: Nuestro </a:t>
            </a:r>
            <a:r>
              <a:rPr lang="es-ES" sz="2700" b="1" dirty="0" err="1"/>
              <a:t>array</a:t>
            </a:r>
            <a:r>
              <a:rPr lang="es-ES" sz="2700" b="1" dirty="0"/>
              <a:t> de vehículos, </a:t>
            </a:r>
            <a:r>
              <a:rPr lang="es-ES" sz="2700" b="1" dirty="0" smtClean="0"/>
              <a:t>con el apoyo del </a:t>
            </a:r>
            <a:r>
              <a:rPr lang="es-ES" sz="2700" b="1" dirty="0"/>
              <a:t>polimorfismo podrá contener en los elementos del </a:t>
            </a:r>
            <a:r>
              <a:rPr lang="es-ES" sz="2700" b="1" dirty="0" err="1"/>
              <a:t>array</a:t>
            </a:r>
            <a:r>
              <a:rPr lang="es-ES" sz="2700" b="1" dirty="0"/>
              <a:t> no solo vehículos genéricos, sino también todos los objetos de clases hijas o derivadas de la clase "</a:t>
            </a:r>
            <a:r>
              <a:rPr lang="es-ES" sz="2700" b="1" dirty="0" err="1"/>
              <a:t>Vehiculo</a:t>
            </a:r>
            <a:r>
              <a:rPr lang="es-ES" sz="2700" b="1" dirty="0"/>
              <a:t>", </a:t>
            </a:r>
            <a:r>
              <a:rPr lang="es-ES" sz="2700" b="1" dirty="0" err="1"/>
              <a:t>osea</a:t>
            </a:r>
            <a:r>
              <a:rPr lang="es-ES" sz="2700" b="1" dirty="0"/>
              <a:t> objetos de la clase "Coche", "Moto", "Bus" o cualquier hija que se haya definido.</a:t>
            </a:r>
            <a:endParaRPr lang="en-US" sz="2700" b="1" dirty="0"/>
          </a:p>
          <a:p>
            <a:pPr marL="457200" indent="-457200">
              <a:buFont typeface="+mj-lt"/>
              <a:buAutoNum type="alphaLcPeriod"/>
            </a:pPr>
            <a:endParaRPr lang="en-US" sz="2400" b="1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4A62F85-1502-4D7C-93F5-FDF5EB2D1026}"/>
              </a:ext>
            </a:extLst>
          </p:cNvPr>
          <p:cNvSpPr/>
          <p:nvPr/>
        </p:nvSpPr>
        <p:spPr>
          <a:xfrm>
            <a:off x="554420" y="381000"/>
            <a:ext cx="6151180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r>
              <a:rPr lang="es-ES" sz="3200" b="1" dirty="0" smtClean="0">
                <a:solidFill>
                  <a:schemeClr val="bg1"/>
                </a:solidFill>
              </a:rPr>
              <a:t>TEMARIO</a:t>
            </a:r>
            <a:endParaRPr sz="3200" b="1" dirty="0">
              <a:solidFill>
                <a:schemeClr val="bg1"/>
              </a:solidFill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54420" y="1143000"/>
            <a:ext cx="11125200" cy="9848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algn="ctr"/>
            <a:r>
              <a:rPr lang="es-ES" sz="3200" b="1" kern="0" dirty="0" smtClean="0">
                <a:latin typeface="Berlin Sans FB Demi" panose="020E0802020502020306" pitchFamily="34" charset="0"/>
              </a:rPr>
              <a:t>POLIMORFISMO EN EL CONTEXTO DE PATRONES GRASP. </a:t>
            </a:r>
            <a:r>
              <a:rPr lang="es-ES" sz="3200" b="1" kern="0" dirty="0" smtClean="0">
                <a:solidFill>
                  <a:srgbClr val="0070C0"/>
                </a:solidFill>
                <a:latin typeface="Berlin Sans FB Demi" panose="020E0802020502020306" pitchFamily="34" charset="0"/>
              </a:rPr>
              <a:t>Ejemplo</a:t>
            </a:r>
            <a:endParaRPr lang="en-US" sz="3200" b="1" kern="0" dirty="0">
              <a:solidFill>
                <a:srgbClr val="0070C0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430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66800" y="1066800"/>
            <a:ext cx="9982200" cy="492443"/>
          </a:xfrm>
        </p:spPr>
        <p:txBody>
          <a:bodyPr/>
          <a:lstStyle/>
          <a:p>
            <a:r>
              <a:rPr lang="es-ES" sz="3200" b="1" dirty="0">
                <a:latin typeface="Berlin Sans FB Demi" panose="020E0802020502020306" pitchFamily="34" charset="0"/>
              </a:rPr>
              <a:t>Representación grafica del caso anterior</a:t>
            </a:r>
            <a:endParaRPr lang="en-US" sz="3200" b="1" dirty="0">
              <a:latin typeface="Berlin Sans FB Demi" panose="020E0802020502020306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07202"/>
            <a:ext cx="7884826" cy="3652344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44A62F85-1502-4D7C-93F5-FDF5EB2D1026}"/>
              </a:ext>
            </a:extLst>
          </p:cNvPr>
          <p:cNvSpPr/>
          <p:nvPr/>
        </p:nvSpPr>
        <p:spPr>
          <a:xfrm>
            <a:off x="457200" y="284499"/>
            <a:ext cx="6151180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r>
              <a:rPr lang="es-ES" sz="3200" b="1" dirty="0" smtClean="0">
                <a:solidFill>
                  <a:schemeClr val="bg1"/>
                </a:solidFill>
              </a:rPr>
              <a:t>TEMARIO</a:t>
            </a:r>
            <a:endParaRPr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23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F4F96B2-8257-4187-BF20-F9EA78F3DF01}"/>
              </a:ext>
            </a:extLst>
          </p:cNvPr>
          <p:cNvSpPr/>
          <p:nvPr/>
        </p:nvSpPr>
        <p:spPr>
          <a:xfrm>
            <a:off x="533400" y="685800"/>
            <a:ext cx="6619407" cy="762000"/>
          </a:xfrm>
          <a:custGeom>
            <a:avLst/>
            <a:gdLst/>
            <a:ahLst/>
            <a:cxnLst/>
            <a:rect l="l" t="t" r="r" b="b"/>
            <a:pathLst>
              <a:path w="9144635" h="700405">
                <a:moveTo>
                  <a:pt x="9027447" y="700199"/>
                </a:moveTo>
                <a:lnTo>
                  <a:pt x="116702" y="700199"/>
                </a:lnTo>
                <a:lnTo>
                  <a:pt x="71276" y="691028"/>
                </a:lnTo>
                <a:lnTo>
                  <a:pt x="34181" y="666018"/>
                </a:lnTo>
                <a:lnTo>
                  <a:pt x="9171" y="628923"/>
                </a:lnTo>
                <a:lnTo>
                  <a:pt x="0" y="583497"/>
                </a:lnTo>
                <a:lnTo>
                  <a:pt x="0" y="116702"/>
                </a:lnTo>
                <a:lnTo>
                  <a:pt x="9171" y="71276"/>
                </a:lnTo>
                <a:lnTo>
                  <a:pt x="34181" y="34181"/>
                </a:lnTo>
                <a:lnTo>
                  <a:pt x="71276" y="9171"/>
                </a:lnTo>
                <a:lnTo>
                  <a:pt x="116702" y="0"/>
                </a:lnTo>
                <a:lnTo>
                  <a:pt x="9027447" y="0"/>
                </a:lnTo>
                <a:lnTo>
                  <a:pt x="9072107" y="8883"/>
                </a:lnTo>
                <a:lnTo>
                  <a:pt x="9109968" y="34181"/>
                </a:lnTo>
                <a:lnTo>
                  <a:pt x="9135266" y="72042"/>
                </a:lnTo>
                <a:lnTo>
                  <a:pt x="9144149" y="116702"/>
                </a:lnTo>
                <a:lnTo>
                  <a:pt x="9144149" y="583497"/>
                </a:lnTo>
                <a:lnTo>
                  <a:pt x="9134978" y="628923"/>
                </a:lnTo>
                <a:lnTo>
                  <a:pt x="9109968" y="666018"/>
                </a:lnTo>
                <a:lnTo>
                  <a:pt x="9072873" y="691028"/>
                </a:lnTo>
                <a:lnTo>
                  <a:pt x="9027447" y="7001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r>
              <a:rPr lang="es-ES" sz="3600" b="1" dirty="0" smtClean="0">
                <a:solidFill>
                  <a:schemeClr val="bg1"/>
                </a:solidFill>
              </a:rPr>
              <a:t>CASO PRÁCTICO</a:t>
            </a:r>
            <a:endParaRPr sz="3600" b="1" dirty="0">
              <a:solidFill>
                <a:schemeClr val="bg1"/>
              </a:solidFill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762000" y="1828800"/>
            <a:ext cx="108204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endParaRPr lang="es-ES" sz="2800" b="1" dirty="0"/>
          </a:p>
          <a:p>
            <a:pPr marL="514350" indent="-514350">
              <a:buFont typeface="+mj-lt"/>
              <a:buAutoNum type="arabicPeriod"/>
            </a:pPr>
            <a:r>
              <a:rPr lang="es-ES" sz="2800" b="1" dirty="0"/>
              <a:t>Elaborar una tabla que contenga los tres principios explicados en clase e incluir: Definición. Ventajas. Un ejemplo de cada uno. (20 min).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800" b="1" dirty="0" smtClean="0"/>
              <a:t>Graficar </a:t>
            </a:r>
            <a:r>
              <a:rPr lang="es-ES" sz="2800" b="1" dirty="0"/>
              <a:t>dos ejemplos de polimorfismo y explicar las características del modelado(10 min</a:t>
            </a:r>
            <a:r>
              <a:rPr lang="es-ES" sz="2800" b="1" dirty="0" smtClean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800" b="1" dirty="0" smtClean="0"/>
              <a:t>Exposición de cada grupo.</a:t>
            </a:r>
            <a:endParaRPr lang="es-ES" sz="2800" b="1" dirty="0"/>
          </a:p>
        </p:txBody>
      </p:sp>
    </p:spTree>
    <p:extLst>
      <p:ext uri="{BB962C8B-B14F-4D97-AF65-F5344CB8AC3E}">
        <p14:creationId xmlns:p14="http://schemas.microsoft.com/office/powerpoint/2010/main" val="989294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Nombre de la sesión</a:t>
            </a:r>
            <a:endParaRPr lang="es-PE" sz="2400" dirty="0">
              <a:latin typeface="Arial"/>
              <a:cs typeface="Arial"/>
            </a:endParaRP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435EC088-AD41-45D0-BAA6-A29C3F48F9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3909" y="304800"/>
            <a:ext cx="626891" cy="561824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4CCFC334-434E-4946-8150-7F52AD5BD21D}"/>
              </a:ext>
            </a:extLst>
          </p:cNvPr>
          <p:cNvSpPr txBox="1"/>
          <p:nvPr/>
        </p:nvSpPr>
        <p:spPr>
          <a:xfrm>
            <a:off x="533400" y="1017286"/>
            <a:ext cx="10668000" cy="189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latin typeface="Arial MT"/>
                <a:cs typeface="Arial MT"/>
              </a:rPr>
              <a:t>Patrones GRASP: Experto en información</a:t>
            </a:r>
            <a:r>
              <a:rPr lang="es-ES" sz="2400" b="1" spc="-5" dirty="0" smtClean="0">
                <a:latin typeface="Arial MT"/>
                <a:cs typeface="Arial MT"/>
              </a:rPr>
              <a:t>. Fabricación </a:t>
            </a:r>
            <a:r>
              <a:rPr lang="es-ES" sz="2400" b="1" spc="-5" dirty="0">
                <a:latin typeface="Arial MT"/>
                <a:cs typeface="Arial MT"/>
              </a:rPr>
              <a:t>Pura. Polimorfismo</a:t>
            </a:r>
            <a:r>
              <a:rPr lang="es-ES" sz="2800" spc="-5" dirty="0">
                <a:latin typeface="Arial MT"/>
                <a:cs typeface="Arial MT"/>
              </a:rPr>
              <a:t>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s-ES" sz="2800" spc="-5" dirty="0" smtClean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s-ES" sz="2000" b="1" spc="-5" dirty="0" smtClean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 smtClean="0">
                <a:latin typeface="Arial MT"/>
                <a:cs typeface="Arial MT"/>
              </a:rPr>
              <a:t>¿</a:t>
            </a:r>
            <a:r>
              <a:rPr sz="2000" b="1" spc="-5" dirty="0">
                <a:latin typeface="Arial MT"/>
                <a:cs typeface="Arial MT"/>
              </a:rPr>
              <a:t>Quién</a:t>
            </a:r>
            <a:r>
              <a:rPr sz="2000" b="1" spc="-25" dirty="0">
                <a:latin typeface="Arial MT"/>
                <a:cs typeface="Arial MT"/>
              </a:rPr>
              <a:t> </a:t>
            </a:r>
            <a:r>
              <a:rPr sz="2000" b="1" spc="-5" dirty="0">
                <a:latin typeface="Arial MT"/>
                <a:cs typeface="Arial MT"/>
              </a:rPr>
              <a:t>quisiera</a:t>
            </a:r>
            <a:r>
              <a:rPr sz="2000" b="1" spc="-25" dirty="0">
                <a:latin typeface="Arial MT"/>
                <a:cs typeface="Arial MT"/>
              </a:rPr>
              <a:t> </a:t>
            </a:r>
            <a:r>
              <a:rPr sz="2000" b="1" spc="-5" dirty="0">
                <a:latin typeface="Arial MT"/>
                <a:cs typeface="Arial MT"/>
              </a:rPr>
              <a:t>participar?</a:t>
            </a:r>
            <a:r>
              <a:rPr sz="2000" b="1" spc="-2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 MT"/>
                <a:cs typeface="Arial MT"/>
              </a:rPr>
              <a:t>(2</a:t>
            </a:r>
            <a:r>
              <a:rPr sz="2000" b="1" spc="-2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 MT"/>
                <a:cs typeface="Arial MT"/>
              </a:rPr>
              <a:t>voluntarios)</a:t>
            </a:r>
          </a:p>
        </p:txBody>
      </p:sp>
      <p:pic>
        <p:nvPicPr>
          <p:cNvPr id="11" name="object 5">
            <a:extLst>
              <a:ext uri="{FF2B5EF4-FFF2-40B4-BE49-F238E27FC236}">
                <a16:creationId xmlns:a16="http://schemas.microsoft.com/office/drawing/2014/main" id="{9D2CA911-F96C-4C2E-940C-40856F4E615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8200" y="2407254"/>
            <a:ext cx="1517845" cy="168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810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Aprendizajes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751C15-745F-4C85-B21A-843C83F11E8E}"/>
              </a:ext>
            </a:extLst>
          </p:cNvPr>
          <p:cNvSpPr txBox="1"/>
          <p:nvPr/>
        </p:nvSpPr>
        <p:spPr>
          <a:xfrm>
            <a:off x="2243577" y="3149025"/>
            <a:ext cx="768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ES" sz="3200" b="1" spc="-5" dirty="0">
                <a:latin typeface="Arial"/>
                <a:cs typeface="Arial"/>
              </a:rPr>
              <a:t>¿Qué</a:t>
            </a:r>
            <a:r>
              <a:rPr lang="es-ES" sz="3200" b="1" spc="-20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hemos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aprendido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el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día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de</a:t>
            </a:r>
            <a:r>
              <a:rPr lang="es-ES" sz="3200" b="1" spc="-20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hoy?</a:t>
            </a:r>
            <a:endParaRPr lang="es-ES" sz="3200" dirty="0">
              <a:latin typeface="Arial"/>
              <a:cs typeface="Arial"/>
            </a:endParaRPr>
          </a:p>
        </p:txBody>
      </p:sp>
      <p:pic>
        <p:nvPicPr>
          <p:cNvPr id="9" name="object 4">
            <a:extLst>
              <a:ext uri="{FF2B5EF4-FFF2-40B4-BE49-F238E27FC236}">
                <a16:creationId xmlns:a16="http://schemas.microsoft.com/office/drawing/2014/main" id="{F428FEBE-63F0-4356-811F-98BF885720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6673" y="318461"/>
            <a:ext cx="548164" cy="54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014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Conclusiones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751C15-745F-4C85-B21A-843C83F11E8E}"/>
              </a:ext>
            </a:extLst>
          </p:cNvPr>
          <p:cNvSpPr txBox="1"/>
          <p:nvPr/>
        </p:nvSpPr>
        <p:spPr>
          <a:xfrm>
            <a:off x="381000" y="1981200"/>
            <a:ext cx="10058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latin typeface="Arial"/>
                <a:cs typeface="Arial"/>
              </a:rPr>
              <a:t>Tomar apuntes de manera eficaz ayuda a consolidar el  aprendizaje y prepararse para los exámenes.</a:t>
            </a: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0755" y="609600"/>
            <a:ext cx="1228890" cy="761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74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24A635F-D0BC-448C-963A-9F264D0DBAC1}"/>
              </a:ext>
            </a:extLst>
          </p:cNvPr>
          <p:cNvSpPr txBox="1"/>
          <p:nvPr/>
        </p:nvSpPr>
        <p:spPr>
          <a:xfrm>
            <a:off x="914400" y="388620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MUCHAS</a:t>
            </a:r>
            <a:r>
              <a:rPr lang="es-ES" sz="3600" b="1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spc="-10" dirty="0">
                <a:latin typeface="Arial" panose="020B0604020202020204" pitchFamily="34" charset="0"/>
                <a:cs typeface="Arial" panose="020B0604020202020204" pitchFamily="34" charset="0"/>
              </a:rPr>
              <a:t>GRACIAS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s-ES" sz="36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DIOS</a:t>
            </a:r>
            <a:r>
              <a:rPr lang="es-ES" sz="36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s-ES" sz="36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spc="-10" dirty="0">
                <a:latin typeface="Arial" panose="020B0604020202020204" pitchFamily="34" charset="0"/>
                <a:cs typeface="Arial" panose="020B0604020202020204" pitchFamily="34" charset="0"/>
              </a:rPr>
              <a:t>BENDIGA!!!</a:t>
            </a:r>
            <a:endParaRPr lang="es-P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object 3">
            <a:extLst>
              <a:ext uri="{FF2B5EF4-FFF2-40B4-BE49-F238E27FC236}">
                <a16:creationId xmlns:a16="http://schemas.microsoft.com/office/drawing/2014/main" id="{3D95F103-6F5F-4016-A9CD-2446F09D302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67600" y="1216152"/>
            <a:ext cx="3056381" cy="442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364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191E5126-E36B-4AD7-8091-51DA2789C594}"/>
              </a:ext>
            </a:extLst>
          </p:cNvPr>
          <p:cNvGrpSpPr/>
          <p:nvPr/>
        </p:nvGrpSpPr>
        <p:grpSpPr>
          <a:xfrm>
            <a:off x="2057400" y="152400"/>
            <a:ext cx="9906000" cy="4152900"/>
            <a:chOff x="2057400" y="152400"/>
            <a:chExt cx="9906000" cy="415290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185A945-435F-4D6F-A7D2-DE90E0F7205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7400" y="2552700"/>
              <a:ext cx="7856700" cy="1752600"/>
            </a:xfrm>
            <a:prstGeom prst="rect">
              <a:avLst/>
            </a:prstGeom>
          </p:spPr>
        </p:pic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9E930664-20E1-44C4-BD93-6761C99A64C5}"/>
                </a:ext>
              </a:extLst>
            </p:cNvPr>
            <p:cNvSpPr/>
            <p:nvPr/>
          </p:nvSpPr>
          <p:spPr>
            <a:xfrm>
              <a:off x="9144000" y="152400"/>
              <a:ext cx="2819400" cy="7627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816</TotalTime>
  <Words>1365</Words>
  <Application>Microsoft Office PowerPoint</Application>
  <PresentationFormat>Panorámica</PresentationFormat>
  <Paragraphs>136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3" baseType="lpstr">
      <vt:lpstr>Arial</vt:lpstr>
      <vt:lpstr>Arial MT</vt:lpstr>
      <vt:lpstr>Berlin Sans FB Demi</vt:lpstr>
      <vt:lpstr>Calibri</vt:lpstr>
      <vt:lpstr>Calibri Light</vt:lpstr>
      <vt:lpstr>CentSchbkCyrill BT</vt:lpstr>
      <vt:lpstr>Office Theme</vt:lpstr>
      <vt:lpstr>CURSO: DISEÑO DE PATRONES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Representación grafica del caso anterior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VPC Networking</dc:title>
  <dc:creator>Julia</dc:creator>
  <cp:lastModifiedBy>user</cp:lastModifiedBy>
  <cp:revision>105</cp:revision>
  <dcterms:created xsi:type="dcterms:W3CDTF">2024-06-11T03:36:57Z</dcterms:created>
  <dcterms:modified xsi:type="dcterms:W3CDTF">2024-08-17T03:50:44Z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2020-06-18T00:00:00Z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2024-06-11T00:00:00Z</vt:filetime>
  </property>
</Properties>
</file>