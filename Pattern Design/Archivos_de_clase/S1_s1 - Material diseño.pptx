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12192000"/>
  <p:notesSz cx="12192000" cy="6858000"/>
  <p:embeddedFontLst>
    <p:embeddedFont>
      <p:font typeface="Roboto Medium"/>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3" roundtripDataSignature="AMtx7mh754BakCgt7wKr436ECx4k3Zav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italic.fntdata"/><Relationship Id="rId50" Type="http://schemas.openxmlformats.org/officeDocument/2006/relationships/font" Target="fonts/RobotoMedium-bold.fntdata"/><Relationship Id="rId53" Type="http://customschemas.google.com/relationships/presentationmetadata" Target="metadata"/><Relationship Id="rId52" Type="http://schemas.openxmlformats.org/officeDocument/2006/relationships/font" Target="fonts/Roboto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p3: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efdfaee476_0_0: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2efdfaee476_0_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3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3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3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3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4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4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4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4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4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4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4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4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4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4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4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5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5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5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5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5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5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5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5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5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5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5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5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5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5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5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5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5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5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5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6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6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6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6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6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6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6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6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6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6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6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6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6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p6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6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p6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6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6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6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7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7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28"/>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 name="Shape 21"/>
        <p:cNvGrpSpPr/>
        <p:nvPr/>
      </p:nvGrpSpPr>
      <p:grpSpPr>
        <a:xfrm>
          <a:off x="0" y="0"/>
          <a:ext cx="0" cy="0"/>
          <a:chOff x="0" y="0"/>
          <a:chExt cx="0" cy="0"/>
        </a:xfrm>
      </p:grpSpPr>
      <p:sp>
        <p:nvSpPr>
          <p:cNvPr id="22" name="Google Shape;22;p3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34"/>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4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34"/>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bg>
      <p:bgPr>
        <a:solidFill>
          <a:schemeClr val="lt1"/>
        </a:solidFill>
      </p:bgPr>
    </p:bg>
    <p:spTree>
      <p:nvGrpSpPr>
        <p:cNvPr id="32" name="Shape 32"/>
        <p:cNvGrpSpPr/>
        <p:nvPr/>
      </p:nvGrpSpPr>
      <p:grpSpPr>
        <a:xfrm>
          <a:off x="0" y="0"/>
          <a:ext cx="0" cy="0"/>
          <a:chOff x="0" y="0"/>
          <a:chExt cx="0" cy="0"/>
        </a:xfrm>
      </p:grpSpPr>
      <p:sp>
        <p:nvSpPr>
          <p:cNvPr id="33" name="Google Shape;33;p3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lnSpc>
                <a:spcPct val="100000"/>
              </a:lnSpc>
              <a:spcBef>
                <a:spcPts val="0"/>
              </a:spcBef>
              <a:spcAft>
                <a:spcPts val="0"/>
              </a:spcAft>
              <a:buSzPts val="1800"/>
              <a:buNone/>
              <a:defRPr>
                <a:solidFill>
                  <a:srgbClr val="888888"/>
                </a:solidFill>
              </a:defRPr>
            </a:lvl1pPr>
            <a:lvl2pPr indent="0" lvl="1" marL="0" algn="r">
              <a:lnSpc>
                <a:spcPct val="100000"/>
              </a:lnSpc>
              <a:spcBef>
                <a:spcPts val="0"/>
              </a:spcBef>
              <a:spcAft>
                <a:spcPts val="0"/>
              </a:spcAft>
              <a:buSzPts val="1800"/>
              <a:buNone/>
              <a:defRPr>
                <a:solidFill>
                  <a:srgbClr val="888888"/>
                </a:solidFill>
              </a:defRPr>
            </a:lvl2pPr>
            <a:lvl3pPr indent="0" lvl="2" marL="0" algn="r">
              <a:lnSpc>
                <a:spcPct val="100000"/>
              </a:lnSpc>
              <a:spcBef>
                <a:spcPts val="0"/>
              </a:spcBef>
              <a:spcAft>
                <a:spcPts val="0"/>
              </a:spcAft>
              <a:buSzPts val="1800"/>
              <a:buNone/>
              <a:defRPr>
                <a:solidFill>
                  <a:srgbClr val="888888"/>
                </a:solidFill>
              </a:defRPr>
            </a:lvl3pPr>
            <a:lvl4pPr indent="0" lvl="3" marL="0" algn="r">
              <a:lnSpc>
                <a:spcPct val="100000"/>
              </a:lnSpc>
              <a:spcBef>
                <a:spcPts val="0"/>
              </a:spcBef>
              <a:spcAft>
                <a:spcPts val="0"/>
              </a:spcAft>
              <a:buSzPts val="1800"/>
              <a:buNone/>
              <a:defRPr>
                <a:solidFill>
                  <a:srgbClr val="888888"/>
                </a:solidFill>
              </a:defRPr>
            </a:lvl4pPr>
            <a:lvl5pPr indent="0" lvl="4" marL="0" algn="r">
              <a:lnSpc>
                <a:spcPct val="100000"/>
              </a:lnSpc>
              <a:spcBef>
                <a:spcPts val="0"/>
              </a:spcBef>
              <a:spcAft>
                <a:spcPts val="0"/>
              </a:spcAft>
              <a:buSzPts val="1800"/>
              <a:buNone/>
              <a:defRPr>
                <a:solidFill>
                  <a:srgbClr val="888888"/>
                </a:solidFill>
              </a:defRPr>
            </a:lvl5pPr>
            <a:lvl6pPr indent="0" lvl="5" marL="0" algn="r">
              <a:lnSpc>
                <a:spcPct val="100000"/>
              </a:lnSpc>
              <a:spcBef>
                <a:spcPts val="0"/>
              </a:spcBef>
              <a:spcAft>
                <a:spcPts val="0"/>
              </a:spcAft>
              <a:buSzPts val="1800"/>
              <a:buNone/>
              <a:defRPr>
                <a:solidFill>
                  <a:srgbClr val="888888"/>
                </a:solidFill>
              </a:defRPr>
            </a:lvl6pPr>
            <a:lvl7pPr indent="0" lvl="6" marL="0" algn="r">
              <a:lnSpc>
                <a:spcPct val="100000"/>
              </a:lnSpc>
              <a:spcBef>
                <a:spcPts val="0"/>
              </a:spcBef>
              <a:spcAft>
                <a:spcPts val="0"/>
              </a:spcAft>
              <a:buSzPts val="1800"/>
              <a:buNone/>
              <a:defRPr>
                <a:solidFill>
                  <a:srgbClr val="888888"/>
                </a:solidFill>
              </a:defRPr>
            </a:lvl7pPr>
            <a:lvl8pPr indent="0" lvl="7" marL="0" algn="r">
              <a:lnSpc>
                <a:spcPct val="100000"/>
              </a:lnSpc>
              <a:spcBef>
                <a:spcPts val="0"/>
              </a:spcBef>
              <a:spcAft>
                <a:spcPts val="0"/>
              </a:spcAft>
              <a:buSzPts val="1800"/>
              <a:buNone/>
              <a:defRPr>
                <a:solidFill>
                  <a:srgbClr val="888888"/>
                </a:solidFill>
              </a:defRPr>
            </a:lvl8pPr>
            <a:lvl9pPr indent="0" lvl="8" marL="0" algn="r">
              <a:lnSpc>
                <a:spcPct val="100000"/>
              </a:lnSpc>
              <a:spcBef>
                <a:spcPts val="0"/>
              </a:spcBef>
              <a:spcAft>
                <a:spcPts val="0"/>
              </a:spcAft>
              <a:buSzPts val="1800"/>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
        <p:nvSpPr>
          <p:cNvPr id="36" name="Google Shape;36;p35"/>
          <p:cNvSpPr/>
          <p:nvPr/>
        </p:nvSpPr>
        <p:spPr>
          <a:xfrm>
            <a:off x="376313" y="348595"/>
            <a:ext cx="3205083" cy="818999"/>
          </a:xfrm>
          <a:custGeom>
            <a:rect b="b" l="l" r="r" t="t"/>
            <a:pathLst>
              <a:path extrusionOk="0" h="1165910" w="4305684">
                <a:moveTo>
                  <a:pt x="0" y="0"/>
                </a:moveTo>
                <a:lnTo>
                  <a:pt x="4305684" y="0"/>
                </a:lnTo>
                <a:lnTo>
                  <a:pt x="4305684" y="1165910"/>
                </a:lnTo>
                <a:lnTo>
                  <a:pt x="0" y="1165910"/>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7" name="Google Shape;37;p35"/>
          <p:cNvGrpSpPr/>
          <p:nvPr/>
        </p:nvGrpSpPr>
        <p:grpSpPr>
          <a:xfrm>
            <a:off x="-9143" y="6005473"/>
            <a:ext cx="12201144" cy="818999"/>
            <a:chOff x="0" y="-47625"/>
            <a:chExt cx="4908254" cy="252121"/>
          </a:xfrm>
        </p:grpSpPr>
        <p:sp>
          <p:nvSpPr>
            <p:cNvPr id="38" name="Google Shape;38;p35"/>
            <p:cNvSpPr/>
            <p:nvPr/>
          </p:nvSpPr>
          <p:spPr>
            <a:xfrm>
              <a:off x="0" y="0"/>
              <a:ext cx="4908254" cy="204496"/>
            </a:xfrm>
            <a:custGeom>
              <a:rect b="b" l="l" r="r" t="t"/>
              <a:pathLst>
                <a:path extrusionOk="0" h="204496" w="4908254">
                  <a:moveTo>
                    <a:pt x="0" y="0"/>
                  </a:moveTo>
                  <a:lnTo>
                    <a:pt x="4908254" y="0"/>
                  </a:lnTo>
                  <a:lnTo>
                    <a:pt x="4908254" y="204496"/>
                  </a:lnTo>
                  <a:lnTo>
                    <a:pt x="0" y="204496"/>
                  </a:lnTo>
                  <a:close/>
                </a:path>
              </a:pathLst>
            </a:custGeom>
            <a:solidFill>
              <a:srgbClr val="343434">
                <a:alpha val="7725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35"/>
            <p:cNvSpPr txBox="1"/>
            <p:nvPr/>
          </p:nvSpPr>
          <p:spPr>
            <a:xfrm>
              <a:off x="0" y="-47625"/>
              <a:ext cx="4908254" cy="252121"/>
            </a:xfrm>
            <a:prstGeom prst="rect">
              <a:avLst/>
            </a:prstGeom>
            <a:noFill/>
            <a:ln>
              <a:noFill/>
            </a:ln>
          </p:spPr>
          <p:txBody>
            <a:bodyPr anchorCtr="0" anchor="ctr" bIns="50800" lIns="50800" spcFirstLastPara="1" rIns="50800" wrap="square" tIns="50800">
              <a:noAutofit/>
            </a:bodyPr>
            <a:lstStyle/>
            <a:p>
              <a:pPr indent="0" lvl="0" marL="0" marR="0" rtl="0" algn="ctr">
                <a:lnSpc>
                  <a:spcPct val="154285"/>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cxnSp>
        <p:nvCxnSpPr>
          <p:cNvPr id="40" name="Google Shape;40;p35"/>
          <p:cNvCxnSpPr/>
          <p:nvPr/>
        </p:nvCxnSpPr>
        <p:spPr>
          <a:xfrm>
            <a:off x="9829800" y="450317"/>
            <a:ext cx="0" cy="591187"/>
          </a:xfrm>
          <a:prstGeom prst="straightConnector1">
            <a:avLst/>
          </a:prstGeom>
          <a:noFill/>
          <a:ln cap="flat" cmpd="sng" w="19050">
            <a:solidFill>
              <a:srgbClr val="000000"/>
            </a:solidFill>
            <a:prstDash val="solid"/>
            <a:round/>
            <a:headEnd len="sm" w="sm" type="none"/>
            <a:tailEnd len="sm" w="sm" type="none"/>
          </a:ln>
        </p:spPr>
      </p:cxnSp>
      <p:sp>
        <p:nvSpPr>
          <p:cNvPr id="41" name="Google Shape;41;p35"/>
          <p:cNvSpPr txBox="1"/>
          <p:nvPr/>
        </p:nvSpPr>
        <p:spPr>
          <a:xfrm>
            <a:off x="9982200" y="450317"/>
            <a:ext cx="1854823" cy="591187"/>
          </a:xfrm>
          <a:prstGeom prst="rect">
            <a:avLst/>
          </a:prstGeom>
          <a:noFill/>
          <a:ln>
            <a:noFill/>
          </a:ln>
        </p:spPr>
        <p:txBody>
          <a:bodyPr anchorCtr="0" anchor="t" bIns="0" lIns="0" spcFirstLastPara="1" rIns="0" wrap="square" tIns="0">
            <a:spAutoFit/>
          </a:bodyPr>
          <a:lstStyle/>
          <a:p>
            <a:pPr indent="0" lvl="0" marL="0" marR="0" rtl="0" algn="just">
              <a:lnSpc>
                <a:spcPct val="133611"/>
              </a:lnSpc>
              <a:spcBef>
                <a:spcPts val="0"/>
              </a:spcBef>
              <a:spcAft>
                <a:spcPts val="0"/>
              </a:spcAft>
              <a:buNone/>
            </a:pPr>
            <a:r>
              <a:rPr b="0" i="0" lang="es-ES" sz="1800" u="none" cap="none" strike="noStrike">
                <a:solidFill>
                  <a:srgbClr val="343434"/>
                </a:solidFill>
                <a:latin typeface="Arial"/>
                <a:ea typeface="Arial"/>
                <a:cs typeface="Arial"/>
                <a:sym typeface="Arial"/>
              </a:rPr>
              <a:t>FACULTADAD DE INGENIERÍA</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p:cSld name="제목 및 내용">
    <p:bg>
      <p:bgPr>
        <a:solidFill>
          <a:schemeClr val="lt1"/>
        </a:solidFill>
      </p:bgPr>
    </p:bg>
    <p:spTree>
      <p:nvGrpSpPr>
        <p:cNvPr id="42" name="Shape 42"/>
        <p:cNvGrpSpPr/>
        <p:nvPr/>
      </p:nvGrpSpPr>
      <p:grpSpPr>
        <a:xfrm>
          <a:off x="0" y="0"/>
          <a:ext cx="0" cy="0"/>
          <a:chOff x="0" y="0"/>
          <a:chExt cx="0" cy="0"/>
        </a:xfrm>
      </p:grpSpPr>
      <p:pic>
        <p:nvPicPr>
          <p:cNvPr id="43" name="Google Shape;43;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4" name="Google Shape;44;p29"/>
          <p:cNvSpPr txBox="1"/>
          <p:nvPr>
            <p:ph idx="10" type="dt"/>
          </p:nvPr>
        </p:nvSpPr>
        <p:spPr>
          <a:xfrm>
            <a:off x="609600" y="6500835"/>
            <a:ext cx="2844800" cy="22064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9"/>
          <p:cNvSpPr txBox="1"/>
          <p:nvPr>
            <p:ph idx="11" type="ftr"/>
          </p:nvPr>
        </p:nvSpPr>
        <p:spPr>
          <a:xfrm>
            <a:off x="4165600" y="6500835"/>
            <a:ext cx="3860800" cy="220641"/>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9"/>
          <p:cNvSpPr txBox="1"/>
          <p:nvPr>
            <p:ph idx="12" type="sldNum"/>
          </p:nvPr>
        </p:nvSpPr>
        <p:spPr>
          <a:xfrm>
            <a:off x="8737600" y="6500835"/>
            <a:ext cx="2844800" cy="220641"/>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47" name="Google Shape;47;p29"/>
          <p:cNvSpPr txBox="1"/>
          <p:nvPr>
            <p:ph idx="1" type="body"/>
          </p:nvPr>
        </p:nvSpPr>
        <p:spPr>
          <a:xfrm>
            <a:off x="527382" y="1268760"/>
            <a:ext cx="11203367" cy="4881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1pPr>
            <a:lvl2pPr indent="-228600" lvl="1" marL="9144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2pPr>
            <a:lvl3pPr indent="-228600" lvl="2" marL="13716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3pPr>
            <a:lvl4pPr indent="-228600" lvl="3" marL="18288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4pPr>
            <a:lvl5pPr indent="-228600" lvl="4" marL="22860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29"/>
          <p:cNvSpPr txBox="1"/>
          <p:nvPr>
            <p:ph type="title"/>
          </p:nvPr>
        </p:nvSpPr>
        <p:spPr>
          <a:xfrm>
            <a:off x="527381" y="116632"/>
            <a:ext cx="10214928" cy="796908"/>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595959"/>
              </a:buClr>
              <a:buSzPts val="2500"/>
              <a:buFont typeface="Calibri"/>
              <a:buNone/>
              <a:defRPr b="1" sz="2500">
                <a:solidFill>
                  <a:srgbClr val="59595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bg>
      <p:bgPr>
        <a:solidFill>
          <a:schemeClr val="lt1"/>
        </a:solidFill>
      </p:bgPr>
    </p:bg>
    <p:spTree>
      <p:nvGrpSpPr>
        <p:cNvPr id="49" name="Shape 49"/>
        <p:cNvGrpSpPr/>
        <p:nvPr/>
      </p:nvGrpSpPr>
      <p:grpSpPr>
        <a:xfrm>
          <a:off x="0" y="0"/>
          <a:ext cx="0" cy="0"/>
          <a:chOff x="0" y="0"/>
          <a:chExt cx="0" cy="0"/>
        </a:xfrm>
      </p:grpSpPr>
      <p:pic>
        <p:nvPicPr>
          <p:cNvPr id="50" name="Google Shape;50;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1" name="Google Shape;51;p3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p:cSld name="구역 머리글">
    <p:bg>
      <p:bgPr>
        <a:solidFill>
          <a:schemeClr val="lt1"/>
        </a:solidFill>
      </p:bgPr>
    </p:bg>
    <p:spTree>
      <p:nvGrpSpPr>
        <p:cNvPr id="54" name="Shape 54"/>
        <p:cNvGrpSpPr/>
        <p:nvPr/>
      </p:nvGrpSpPr>
      <p:grpSpPr>
        <a:xfrm>
          <a:off x="0" y="0"/>
          <a:ext cx="0" cy="0"/>
          <a:chOff x="0" y="0"/>
          <a:chExt cx="0" cy="0"/>
        </a:xfrm>
      </p:grpSpPr>
      <p:sp>
        <p:nvSpPr>
          <p:cNvPr id="55" name="Google Shape;55;p31"/>
          <p:cNvSpPr txBox="1"/>
          <p:nvPr>
            <p:ph type="title"/>
          </p:nvPr>
        </p:nvSpPr>
        <p:spPr>
          <a:xfrm>
            <a:off x="911424" y="2636913"/>
            <a:ext cx="10363200" cy="1362075"/>
          </a:xfrm>
          <a:prstGeom prst="rect">
            <a:avLst/>
          </a:prstGeom>
          <a:noFill/>
          <a:ln>
            <a:noFill/>
          </a:ln>
        </p:spPr>
        <p:txBody>
          <a:bodyPr anchorCtr="0" anchor="ctr" bIns="0" lIns="0" spcFirstLastPara="1" rIns="0" wrap="square" tIns="0">
            <a:spAutoFit/>
          </a:bodyPr>
          <a:lstStyle>
            <a:lvl1pPr lvl="0" algn="ctr">
              <a:lnSpc>
                <a:spcPct val="100000"/>
              </a:lnSpc>
              <a:spcBef>
                <a:spcPts val="0"/>
              </a:spcBef>
              <a:spcAft>
                <a:spcPts val="0"/>
              </a:spcAft>
              <a:buSzPts val="1400"/>
              <a:buNone/>
              <a:defRPr b="0" sz="4000" cap="none">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pic>
        <p:nvPicPr>
          <p:cNvPr id="59" name="Google Shape;59;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7"/>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2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hyperlink" Target="about:blank" TargetMode="External"/><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 name="Shape 63"/>
        <p:cNvGrpSpPr/>
        <p:nvPr/>
      </p:nvGrpSpPr>
      <p:grpSpPr>
        <a:xfrm>
          <a:off x="0" y="0"/>
          <a:ext cx="0" cy="0"/>
          <a:chOff x="0" y="0"/>
          <a:chExt cx="0" cy="0"/>
        </a:xfrm>
      </p:grpSpPr>
      <p:sp>
        <p:nvSpPr>
          <p:cNvPr id="64" name="Google Shape;64;p1"/>
          <p:cNvSpPr txBox="1"/>
          <p:nvPr>
            <p:ph type="ctrTitle"/>
          </p:nvPr>
        </p:nvSpPr>
        <p:spPr>
          <a:xfrm>
            <a:off x="1734819" y="2965741"/>
            <a:ext cx="8722359" cy="1114531"/>
          </a:xfrm>
          <a:prstGeom prst="rect">
            <a:avLst/>
          </a:prstGeom>
          <a:noFill/>
          <a:ln>
            <a:noFill/>
          </a:ln>
        </p:spPr>
        <p:txBody>
          <a:bodyPr anchorCtr="0" anchor="t" bIns="0" lIns="0" spcFirstLastPara="1" rIns="0" wrap="square" tIns="116200">
            <a:spAutoFit/>
          </a:bodyPr>
          <a:lstStyle/>
          <a:p>
            <a:pPr indent="-3253104" lvl="0" marL="3268979" marR="5080" rtl="0" algn="ctr">
              <a:lnSpc>
                <a:spcPct val="108000"/>
              </a:lnSpc>
              <a:spcBef>
                <a:spcPts val="0"/>
              </a:spcBef>
              <a:spcAft>
                <a:spcPts val="0"/>
              </a:spcAft>
              <a:buSzPts val="1400"/>
              <a:buNone/>
            </a:pPr>
            <a:r>
              <a:rPr lang="es-ES">
                <a:latin typeface="Arial"/>
                <a:ea typeface="Arial"/>
                <a:cs typeface="Arial"/>
                <a:sym typeface="Arial"/>
              </a:rPr>
              <a:t>DISEÑO DE PATRONES</a:t>
            </a:r>
            <a:endParaRPr>
              <a:latin typeface="Arial"/>
              <a:ea typeface="Arial"/>
              <a:cs typeface="Arial"/>
              <a:sym typeface="Arial"/>
            </a:endParaRPr>
          </a:p>
        </p:txBody>
      </p:sp>
      <p:pic>
        <p:nvPicPr>
          <p:cNvPr id="65" name="Google Shape;65;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66" name="Google Shape;66;p1"/>
          <p:cNvSpPr txBox="1"/>
          <p:nvPr/>
        </p:nvSpPr>
        <p:spPr>
          <a:xfrm>
            <a:off x="6486144" y="5897381"/>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Clr>
                <a:srgbClr val="000000"/>
              </a:buClr>
              <a:buSzPts val="1800"/>
              <a:buFont typeface="Arial"/>
              <a:buNone/>
            </a:pPr>
            <a:r>
              <a:rPr b="1" i="0" lang="es-ES" sz="1800" u="none" cap="none" strike="noStrike">
                <a:solidFill>
                  <a:srgbClr val="D1052D"/>
                </a:solidFill>
                <a:latin typeface="Arial"/>
                <a:ea typeface="Arial"/>
                <a:cs typeface="Arial"/>
                <a:sym typeface="Arial"/>
              </a:rPr>
              <a:t>DOCENTE:</a:t>
            </a:r>
            <a:endParaRPr b="1" i="0" sz="1800" u="none" cap="none" strike="noStrike">
              <a:solidFill>
                <a:srgbClr val="D1052D"/>
              </a:solidFill>
              <a:latin typeface="Arial"/>
              <a:ea typeface="Arial"/>
              <a:cs typeface="Arial"/>
              <a:sym typeface="Arial"/>
            </a:endParaRPr>
          </a:p>
          <a:p>
            <a:pPr indent="0" lvl="0" marL="12700" marR="0" rtl="0" algn="ctr">
              <a:lnSpc>
                <a:spcPct val="100000"/>
              </a:lnSpc>
              <a:spcBef>
                <a:spcPts val="10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Dr. Jose Adrian Nuñez Huerta</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nvSpPr>
        <p:spPr>
          <a:xfrm>
            <a:off x="699506" y="646344"/>
            <a:ext cx="35814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ES" sz="3200" u="none" cap="none" strike="noStrike">
                <a:solidFill>
                  <a:schemeClr val="dk1"/>
                </a:solidFill>
                <a:latin typeface="Roboto Medium"/>
                <a:ea typeface="Roboto Medium"/>
                <a:cs typeface="Roboto Medium"/>
                <a:sym typeface="Roboto Medium"/>
              </a:rPr>
              <a:t>MOTIVACIÓN</a:t>
            </a:r>
            <a:endParaRPr b="0" i="0" sz="1400" u="none" cap="none" strike="noStrike">
              <a:solidFill>
                <a:srgbClr val="000000"/>
              </a:solidFill>
              <a:latin typeface="Arial"/>
              <a:ea typeface="Arial"/>
              <a:cs typeface="Arial"/>
              <a:sym typeface="Arial"/>
            </a:endParaRPr>
          </a:p>
        </p:txBody>
      </p:sp>
      <p:pic>
        <p:nvPicPr>
          <p:cNvPr id="72" name="Google Shape;72;p2"/>
          <p:cNvPicPr preferRelativeResize="0"/>
          <p:nvPr/>
        </p:nvPicPr>
        <p:blipFill rotWithShape="1">
          <a:blip r:embed="rId3">
            <a:alphaModFix/>
          </a:blip>
          <a:srcRect b="0" l="0" r="0" t="0"/>
          <a:stretch/>
        </p:blipFill>
        <p:spPr>
          <a:xfrm>
            <a:off x="9247241" y="238087"/>
            <a:ext cx="2483508" cy="553998"/>
          </a:xfrm>
          <a:prstGeom prst="rect">
            <a:avLst/>
          </a:prstGeom>
          <a:noFill/>
          <a:ln>
            <a:noFill/>
          </a:ln>
        </p:spPr>
      </p:pic>
      <p:sp>
        <p:nvSpPr>
          <p:cNvPr id="73" name="Google Shape;73;p2">
            <a:hlinkClick r:id="rId4"/>
          </p:cNvPr>
          <p:cNvSpPr/>
          <p:nvPr/>
        </p:nvSpPr>
        <p:spPr>
          <a:xfrm>
            <a:off x="10622280" y="5821680"/>
            <a:ext cx="944880" cy="655320"/>
          </a:xfrm>
          <a:custGeom>
            <a:rect b="b" l="l" r="r" t="t"/>
            <a:pathLst>
              <a:path extrusionOk="0" h="120000" w="120000">
                <a:moveTo>
                  <a:pt x="0" y="0"/>
                </a:moveTo>
                <a:lnTo>
                  <a:pt x="120000" y="0"/>
                </a:lnTo>
                <a:lnTo>
                  <a:pt x="120000" y="120000"/>
                </a:lnTo>
                <a:lnTo>
                  <a:pt x="0" y="120000"/>
                </a:lnTo>
                <a:close/>
                <a:moveTo>
                  <a:pt x="28790" y="37000"/>
                </a:moveTo>
                <a:lnTo>
                  <a:pt x="28790" y="54813"/>
                </a:lnTo>
                <a:lnTo>
                  <a:pt x="32995" y="54813"/>
                </a:lnTo>
                <a:lnTo>
                  <a:pt x="34295" y="52779"/>
                </a:lnTo>
                <a:lnTo>
                  <a:pt x="35509" y="52779"/>
                </a:lnTo>
                <a:lnTo>
                  <a:pt x="35509" y="79967"/>
                </a:lnTo>
                <a:lnTo>
                  <a:pt x="77946" y="79967"/>
                </a:lnTo>
                <a:lnTo>
                  <a:pt x="77946" y="70592"/>
                </a:lnTo>
                <a:lnTo>
                  <a:pt x="84664" y="70592"/>
                </a:lnTo>
                <a:lnTo>
                  <a:pt x="88305" y="75750"/>
                </a:lnTo>
                <a:lnTo>
                  <a:pt x="91210" y="75750"/>
                </a:lnTo>
                <a:lnTo>
                  <a:pt x="91210" y="42625"/>
                </a:lnTo>
                <a:lnTo>
                  <a:pt x="88305" y="42625"/>
                </a:lnTo>
                <a:lnTo>
                  <a:pt x="85791" y="46217"/>
                </a:lnTo>
                <a:lnTo>
                  <a:pt x="77946" y="46217"/>
                </a:lnTo>
                <a:lnTo>
                  <a:pt x="77946" y="42625"/>
                </a:lnTo>
                <a:lnTo>
                  <a:pt x="75475" y="38875"/>
                </a:lnTo>
                <a:lnTo>
                  <a:pt x="34295" y="38875"/>
                </a:lnTo>
                <a:lnTo>
                  <a:pt x="32995" y="37000"/>
                </a:lnTo>
                <a:close/>
              </a:path>
              <a:path extrusionOk="0" fill="darken" h="120000" w="120000">
                <a:moveTo>
                  <a:pt x="28790" y="37000"/>
                </a:moveTo>
                <a:lnTo>
                  <a:pt x="28790" y="54813"/>
                </a:lnTo>
                <a:lnTo>
                  <a:pt x="32995" y="54813"/>
                </a:lnTo>
                <a:lnTo>
                  <a:pt x="34295" y="52779"/>
                </a:lnTo>
                <a:lnTo>
                  <a:pt x="35509" y="52779"/>
                </a:lnTo>
                <a:lnTo>
                  <a:pt x="35509" y="79967"/>
                </a:lnTo>
                <a:lnTo>
                  <a:pt x="77946" y="79967"/>
                </a:lnTo>
                <a:lnTo>
                  <a:pt x="77946" y="70592"/>
                </a:lnTo>
                <a:lnTo>
                  <a:pt x="84664" y="70592"/>
                </a:lnTo>
                <a:lnTo>
                  <a:pt x="88305" y="75750"/>
                </a:lnTo>
                <a:lnTo>
                  <a:pt x="91210" y="75750"/>
                </a:lnTo>
                <a:lnTo>
                  <a:pt x="91210" y="42625"/>
                </a:lnTo>
                <a:lnTo>
                  <a:pt x="88305" y="42625"/>
                </a:lnTo>
                <a:lnTo>
                  <a:pt x="85791" y="46217"/>
                </a:lnTo>
                <a:lnTo>
                  <a:pt x="77946" y="46217"/>
                </a:lnTo>
                <a:lnTo>
                  <a:pt x="77946" y="42625"/>
                </a:lnTo>
                <a:lnTo>
                  <a:pt x="75475" y="38875"/>
                </a:lnTo>
                <a:lnTo>
                  <a:pt x="34295" y="38875"/>
                </a:lnTo>
                <a:lnTo>
                  <a:pt x="32995" y="37000"/>
                </a:lnTo>
                <a:close/>
              </a:path>
              <a:path extrusionOk="0" fill="none" h="120000" w="120000">
                <a:moveTo>
                  <a:pt x="28790" y="37000"/>
                </a:moveTo>
                <a:lnTo>
                  <a:pt x="32995" y="37000"/>
                </a:lnTo>
                <a:lnTo>
                  <a:pt x="34295" y="38875"/>
                </a:lnTo>
                <a:lnTo>
                  <a:pt x="75475" y="38875"/>
                </a:lnTo>
                <a:lnTo>
                  <a:pt x="77946" y="42625"/>
                </a:lnTo>
                <a:lnTo>
                  <a:pt x="77946" y="46217"/>
                </a:lnTo>
                <a:lnTo>
                  <a:pt x="85791" y="46217"/>
                </a:lnTo>
                <a:lnTo>
                  <a:pt x="88305" y="42625"/>
                </a:lnTo>
                <a:lnTo>
                  <a:pt x="91210" y="42625"/>
                </a:lnTo>
                <a:lnTo>
                  <a:pt x="91210" y="75750"/>
                </a:lnTo>
                <a:lnTo>
                  <a:pt x="88305" y="75750"/>
                </a:lnTo>
                <a:lnTo>
                  <a:pt x="84664" y="70592"/>
                </a:lnTo>
                <a:lnTo>
                  <a:pt x="77946" y="70592"/>
                </a:lnTo>
                <a:lnTo>
                  <a:pt x="77946" y="79967"/>
                </a:lnTo>
                <a:lnTo>
                  <a:pt x="35509" y="79967"/>
                </a:lnTo>
                <a:lnTo>
                  <a:pt x="35509" y="52779"/>
                </a:lnTo>
                <a:lnTo>
                  <a:pt x="34295" y="52779"/>
                </a:lnTo>
                <a:lnTo>
                  <a:pt x="32995" y="54813"/>
                </a:lnTo>
                <a:lnTo>
                  <a:pt x="28790" y="54813"/>
                </a:lnTo>
                <a:close/>
              </a:path>
              <a:path extrusionOk="0" fill="none"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74" name="Google Shape;74;p2"/>
          <p:cNvPicPr preferRelativeResize="0"/>
          <p:nvPr/>
        </p:nvPicPr>
        <p:blipFill rotWithShape="1">
          <a:blip r:embed="rId5">
            <a:alphaModFix/>
          </a:blip>
          <a:srcRect b="0" l="0" r="0" t="0"/>
          <a:stretch/>
        </p:blipFill>
        <p:spPr>
          <a:xfrm>
            <a:off x="699506" y="1455474"/>
            <a:ext cx="7575814" cy="46938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nvSpPr>
        <p:spPr>
          <a:xfrm>
            <a:off x="0" y="1498287"/>
            <a:ext cx="4305321" cy="1200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ES" sz="3600" u="none" cap="none" strike="noStrike">
                <a:solidFill>
                  <a:schemeClr val="dk1"/>
                </a:solidFill>
                <a:latin typeface="Calibri"/>
                <a:ea typeface="Calibri"/>
                <a:cs typeface="Calibri"/>
                <a:sym typeface="Calibri"/>
              </a:rPr>
              <a:t>CONOCIMIENTOS PREVIOS</a:t>
            </a:r>
            <a:endParaRPr b="0" i="0" sz="1100" u="none" cap="none" strike="noStrike">
              <a:solidFill>
                <a:schemeClr val="dk1"/>
              </a:solidFill>
              <a:latin typeface="Arial"/>
              <a:ea typeface="Arial"/>
              <a:cs typeface="Arial"/>
              <a:sym typeface="Arial"/>
            </a:endParaRPr>
          </a:p>
        </p:txBody>
      </p:sp>
      <p:pic>
        <p:nvPicPr>
          <p:cNvPr id="81" name="Google Shape;81;p3"/>
          <p:cNvPicPr preferRelativeResize="0"/>
          <p:nvPr/>
        </p:nvPicPr>
        <p:blipFill rotWithShape="1">
          <a:blip r:embed="rId3">
            <a:alphaModFix/>
          </a:blip>
          <a:srcRect b="0" l="0" r="0" t="0"/>
          <a:stretch/>
        </p:blipFill>
        <p:spPr>
          <a:xfrm>
            <a:off x="350519" y="155037"/>
            <a:ext cx="2483508" cy="553998"/>
          </a:xfrm>
          <a:prstGeom prst="rect">
            <a:avLst/>
          </a:prstGeom>
          <a:noFill/>
          <a:ln>
            <a:noFill/>
          </a:ln>
        </p:spPr>
      </p:pic>
      <p:sp>
        <p:nvSpPr>
          <p:cNvPr id="82" name="Google Shape;82;p3"/>
          <p:cNvSpPr txBox="1"/>
          <p:nvPr/>
        </p:nvSpPr>
        <p:spPr>
          <a:xfrm>
            <a:off x="1360624" y="3429000"/>
            <a:ext cx="9782863" cy="144650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4400"/>
              <a:buFont typeface="Arial"/>
              <a:buNone/>
            </a:pPr>
            <a:r>
              <a:rPr b="1" i="0" lang="es-ES" sz="4400" u="none" cap="none" strike="noStrike">
                <a:solidFill>
                  <a:srgbClr val="262626"/>
                </a:solidFill>
                <a:latin typeface="Calibri"/>
                <a:ea typeface="Calibri"/>
                <a:cs typeface="Calibri"/>
                <a:sym typeface="Calibri"/>
              </a:rPr>
              <a:t>¿Qué entiendes por principios de diseño?</a:t>
            </a:r>
            <a:endParaRPr/>
          </a:p>
          <a:p>
            <a:pPr indent="0" lvl="0" marL="0" marR="0" rtl="0" algn="just">
              <a:lnSpc>
                <a:spcPct val="100000"/>
              </a:lnSpc>
              <a:spcBef>
                <a:spcPts val="0"/>
              </a:spcBef>
              <a:spcAft>
                <a:spcPts val="0"/>
              </a:spcAft>
              <a:buClr>
                <a:srgbClr val="000000"/>
              </a:buClr>
              <a:buSzPts val="4400"/>
              <a:buFont typeface="Arial"/>
              <a:buNone/>
            </a:pPr>
            <a:r>
              <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5"/>
          <p:cNvPicPr preferRelativeResize="0"/>
          <p:nvPr/>
        </p:nvPicPr>
        <p:blipFill rotWithShape="1">
          <a:blip r:embed="rId3">
            <a:alphaModFix/>
          </a:blip>
          <a:srcRect b="0" l="0" r="0" t="0"/>
          <a:stretch/>
        </p:blipFill>
        <p:spPr>
          <a:xfrm>
            <a:off x="2838022" y="332656"/>
            <a:ext cx="2483508" cy="553998"/>
          </a:xfrm>
          <a:prstGeom prst="rect">
            <a:avLst/>
          </a:prstGeom>
          <a:noFill/>
          <a:ln>
            <a:noFill/>
          </a:ln>
        </p:spPr>
      </p:pic>
      <p:sp>
        <p:nvSpPr>
          <p:cNvPr id="88" name="Google Shape;88;p5"/>
          <p:cNvSpPr txBox="1"/>
          <p:nvPr>
            <p:ph idx="4294967295" type="title"/>
          </p:nvPr>
        </p:nvSpPr>
        <p:spPr>
          <a:xfrm rot="625">
            <a:off x="548640" y="1560077"/>
            <a:ext cx="3384550" cy="142557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s-ES">
                <a:latin typeface="Roboto Medium"/>
                <a:ea typeface="Roboto Medium"/>
                <a:cs typeface="Roboto Medium"/>
                <a:sym typeface="Roboto Medium"/>
              </a:rPr>
              <a:t>LOGRO DE LA SESIÓN</a:t>
            </a:r>
            <a:endParaRPr/>
          </a:p>
        </p:txBody>
      </p:sp>
      <p:sp>
        <p:nvSpPr>
          <p:cNvPr id="89" name="Google Shape;89;p5"/>
          <p:cNvSpPr txBox="1"/>
          <p:nvPr/>
        </p:nvSpPr>
        <p:spPr>
          <a:xfrm>
            <a:off x="5103258" y="2362200"/>
            <a:ext cx="6098344" cy="28622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3600" u="none" cap="none" strike="noStrike">
                <a:solidFill>
                  <a:srgbClr val="000000"/>
                </a:solidFill>
                <a:latin typeface="Arial"/>
                <a:ea typeface="Arial"/>
                <a:cs typeface="Arial"/>
                <a:sym typeface="Arial"/>
              </a:rPr>
              <a:t>Al finalizar la unidad el participante identifica los principios de diseño de los patrones de software para la solución de problemas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800"/>
                                        <p:tgtEl>
                                          <p:spTgt spid="88"/>
                                        </p:tgtEl>
                                        <p:attrNameLst>
                                          <p:attrName>ppt_w</p:attrName>
                                        </p:attrNameLst>
                                      </p:cBhvr>
                                      <p:tavLst>
                                        <p:tav fmla="" tm="0">
                                          <p:val>
                                            <p:strVal val="0"/>
                                          </p:val>
                                        </p:tav>
                                        <p:tav fmla="" tm="100000">
                                          <p:val>
                                            <p:strVal val="#ppt_w"/>
                                          </p:val>
                                        </p:tav>
                                      </p:tavLst>
                                    </p:anim>
                                    <p:anim calcmode="lin" valueType="num">
                                      <p:cBhvr additive="base">
                                        <p:cTn dur="800"/>
                                        <p:tgtEl>
                                          <p:spTgt spid="8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6"/>
          <p:cNvPicPr preferRelativeResize="0"/>
          <p:nvPr/>
        </p:nvPicPr>
        <p:blipFill rotWithShape="1">
          <a:blip r:embed="rId3">
            <a:alphaModFix/>
          </a:blip>
          <a:srcRect b="0" l="0" r="0" t="0"/>
          <a:stretch/>
        </p:blipFill>
        <p:spPr>
          <a:xfrm>
            <a:off x="2838022" y="332656"/>
            <a:ext cx="2483508" cy="553998"/>
          </a:xfrm>
          <a:prstGeom prst="rect">
            <a:avLst/>
          </a:prstGeom>
          <a:noFill/>
          <a:ln>
            <a:noFill/>
          </a:ln>
        </p:spPr>
      </p:pic>
      <p:sp>
        <p:nvSpPr>
          <p:cNvPr id="95" name="Google Shape;95;p6"/>
          <p:cNvSpPr txBox="1"/>
          <p:nvPr>
            <p:ph idx="4294967295" type="title"/>
          </p:nvPr>
        </p:nvSpPr>
        <p:spPr>
          <a:xfrm rot="625">
            <a:off x="234584" y="1925918"/>
            <a:ext cx="5105439" cy="142557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s-ES">
                <a:latin typeface="Roboto Medium"/>
                <a:ea typeface="Roboto Medium"/>
                <a:cs typeface="Roboto Medium"/>
                <a:sym typeface="Roboto Medium"/>
              </a:rPr>
              <a:t>IMPORTANCIA DE LA SESIÓN</a:t>
            </a:r>
            <a:endParaRPr/>
          </a:p>
        </p:txBody>
      </p:sp>
      <p:sp>
        <p:nvSpPr>
          <p:cNvPr id="96" name="Google Shape;96;p6"/>
          <p:cNvSpPr txBox="1"/>
          <p:nvPr/>
        </p:nvSpPr>
        <p:spPr>
          <a:xfrm>
            <a:off x="6324600" y="2178576"/>
            <a:ext cx="5349240" cy="28622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3600" u="none" cap="none" strike="noStrike">
                <a:solidFill>
                  <a:srgbClr val="000000"/>
                </a:solidFill>
                <a:latin typeface="Arial"/>
                <a:ea typeface="Arial"/>
                <a:cs typeface="Arial"/>
                <a:sym typeface="Arial"/>
              </a:rPr>
              <a:t>La aplicación de los patrones de software a permitirá solucionar los problemas habituales de software planteados.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800"/>
                                        <p:tgtEl>
                                          <p:spTgt spid="95"/>
                                        </p:tgtEl>
                                        <p:attrNameLst>
                                          <p:attrName>ppt_w</p:attrName>
                                        </p:attrNameLst>
                                      </p:cBhvr>
                                      <p:tavLst>
                                        <p:tav fmla="" tm="0">
                                          <p:val>
                                            <p:strVal val="0"/>
                                          </p:val>
                                        </p:tav>
                                        <p:tav fmla="" tm="100000">
                                          <p:val>
                                            <p:strVal val="#ppt_w"/>
                                          </p:val>
                                        </p:tav>
                                      </p:tavLst>
                                    </p:anim>
                                    <p:anim calcmode="lin" valueType="num">
                                      <p:cBhvr additive="base">
                                        <p:cTn dur="800"/>
                                        <p:tgtEl>
                                          <p:spTgt spid="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g2efdfaee476_0_0"/>
          <p:cNvSpPr txBox="1"/>
          <p:nvPr/>
        </p:nvSpPr>
        <p:spPr>
          <a:xfrm>
            <a:off x="170688" y="1588135"/>
            <a:ext cx="11777472" cy="3516307"/>
          </a:xfrm>
          <a:prstGeom prst="rect">
            <a:avLst/>
          </a:prstGeom>
          <a:noFill/>
          <a:ln>
            <a:noFill/>
          </a:ln>
        </p:spPr>
        <p:txBody>
          <a:bodyPr anchorCtr="0" anchor="t" bIns="45700" lIns="91425" spcFirstLastPara="1" rIns="91425" wrap="square" tIns="45700">
            <a:spAutoFit/>
          </a:bodyPr>
          <a:lstStyle/>
          <a:p>
            <a:pPr indent="0" lvl="0" marL="12700" marR="0" rtl="0" algn="just">
              <a:lnSpc>
                <a:spcPct val="100000"/>
              </a:lnSpc>
              <a:spcBef>
                <a:spcPts val="0"/>
              </a:spcBef>
              <a:spcAft>
                <a:spcPts val="0"/>
              </a:spcAft>
              <a:buClr>
                <a:srgbClr val="000000"/>
              </a:buClr>
              <a:buSzPts val="4400"/>
              <a:buFont typeface="Arial"/>
              <a:buNone/>
            </a:pPr>
            <a:r>
              <a:rPr b="1" i="0" lang="es-ES" sz="4400" u="none" cap="none" strike="noStrike">
                <a:solidFill>
                  <a:srgbClr val="D1052D"/>
                </a:solidFill>
                <a:latin typeface="Arial"/>
                <a:ea typeface="Arial"/>
                <a:cs typeface="Arial"/>
                <a:sym typeface="Arial"/>
              </a:rPr>
              <a:t>TEMA :</a:t>
            </a:r>
            <a:endParaRPr/>
          </a:p>
          <a:p>
            <a:pPr indent="0" lvl="0" marL="12700" marR="0" rtl="0" algn="just">
              <a:lnSpc>
                <a:spcPct val="100000"/>
              </a:lnSpc>
              <a:spcBef>
                <a:spcPts val="0"/>
              </a:spcBef>
              <a:spcAft>
                <a:spcPts val="0"/>
              </a:spcAft>
              <a:buClr>
                <a:srgbClr val="000000"/>
              </a:buClr>
              <a:buSzPts val="4400"/>
              <a:buFont typeface="Arial"/>
              <a:buNone/>
            </a:pPr>
            <a:r>
              <a:t/>
            </a:r>
            <a:endParaRPr b="1" i="0" sz="4400" u="none" cap="none" strike="noStrike">
              <a:solidFill>
                <a:srgbClr val="D1052D"/>
              </a:solidFill>
              <a:latin typeface="Arial"/>
              <a:ea typeface="Arial"/>
              <a:cs typeface="Arial"/>
              <a:sym typeface="Arial"/>
            </a:endParaRPr>
          </a:p>
          <a:p>
            <a:pPr indent="-685800" lvl="0" marL="698500" marR="0" rtl="0" algn="just">
              <a:lnSpc>
                <a:spcPct val="100000"/>
              </a:lnSpc>
              <a:spcBef>
                <a:spcPts val="100"/>
              </a:spcBef>
              <a:spcAft>
                <a:spcPts val="0"/>
              </a:spcAft>
              <a:buClr>
                <a:srgbClr val="000000"/>
              </a:buClr>
              <a:buSzPts val="4400"/>
              <a:buFont typeface="Arial"/>
              <a:buChar char="•"/>
            </a:pPr>
            <a:r>
              <a:rPr b="0" i="0" lang="es-ES" sz="4400" u="none" cap="none" strike="noStrike">
                <a:solidFill>
                  <a:srgbClr val="000000"/>
                </a:solidFill>
                <a:latin typeface="Arial"/>
                <a:ea typeface="Arial"/>
                <a:cs typeface="Arial"/>
                <a:sym typeface="Arial"/>
              </a:rPr>
              <a:t>Introducción a principios de diseño. </a:t>
            </a:r>
            <a:endParaRPr/>
          </a:p>
          <a:p>
            <a:pPr indent="-685800" lvl="0" marL="698500" marR="0" rtl="0" algn="just">
              <a:lnSpc>
                <a:spcPct val="100000"/>
              </a:lnSpc>
              <a:spcBef>
                <a:spcPts val="100"/>
              </a:spcBef>
              <a:spcAft>
                <a:spcPts val="0"/>
              </a:spcAft>
              <a:buClr>
                <a:srgbClr val="000000"/>
              </a:buClr>
              <a:buSzPts val="4400"/>
              <a:buFont typeface="Arial"/>
              <a:buChar char="•"/>
            </a:pPr>
            <a:r>
              <a:rPr b="0" i="0" lang="es-ES" sz="4400" u="none" cap="none" strike="noStrike">
                <a:solidFill>
                  <a:srgbClr val="000000"/>
                </a:solidFill>
                <a:latin typeface="Arial"/>
                <a:ea typeface="Arial"/>
                <a:cs typeface="Arial"/>
                <a:sym typeface="Arial"/>
              </a:rPr>
              <a:t>Introducción a principios SOLID. </a:t>
            </a:r>
            <a:endParaRPr/>
          </a:p>
          <a:p>
            <a:pPr indent="-685800" lvl="0" marL="698500" marR="0" rtl="0" algn="just">
              <a:lnSpc>
                <a:spcPct val="100000"/>
              </a:lnSpc>
              <a:spcBef>
                <a:spcPts val="100"/>
              </a:spcBef>
              <a:spcAft>
                <a:spcPts val="0"/>
              </a:spcAft>
              <a:buClr>
                <a:srgbClr val="000000"/>
              </a:buClr>
              <a:buSzPts val="4400"/>
              <a:buFont typeface="Arial"/>
              <a:buChar char="•"/>
            </a:pPr>
            <a:r>
              <a:rPr b="0" i="0" lang="es-ES" sz="4400" u="none" cap="none" strike="noStrike">
                <a:solidFill>
                  <a:srgbClr val="000000"/>
                </a:solidFill>
                <a:latin typeface="Arial"/>
                <a:ea typeface="Arial"/>
                <a:cs typeface="Arial"/>
                <a:sym typeface="Arial"/>
              </a:rPr>
              <a:t>Principio de Responsabilidad Única</a:t>
            </a:r>
            <a:endParaRPr b="0" i="0" sz="4400" u="none" cap="none" strike="noStrike">
              <a:solidFill>
                <a:schemeClr val="dk1"/>
              </a:solidFill>
              <a:latin typeface="Arial"/>
              <a:ea typeface="Arial"/>
              <a:cs typeface="Arial"/>
              <a:sym typeface="Arial"/>
            </a:endParaRPr>
          </a:p>
        </p:txBody>
      </p:sp>
      <p:pic>
        <p:nvPicPr>
          <p:cNvPr id="102" name="Google Shape;102;g2efdfaee476_0_0"/>
          <p:cNvPicPr preferRelativeResize="0"/>
          <p:nvPr/>
        </p:nvPicPr>
        <p:blipFill rotWithShape="1">
          <a:blip r:embed="rId3">
            <a:alphaModFix/>
          </a:blip>
          <a:srcRect b="0" l="0" r="0" t="0"/>
          <a:stretch/>
        </p:blipFill>
        <p:spPr>
          <a:xfrm>
            <a:off x="9154597" y="332656"/>
            <a:ext cx="2483508" cy="5539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08" name="Google Shape;108;p8"/>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09" name="Google Shape;109;p8"/>
          <p:cNvSpPr txBox="1"/>
          <p:nvPr/>
        </p:nvSpPr>
        <p:spPr>
          <a:xfrm>
            <a:off x="336804" y="1283173"/>
            <a:ext cx="818235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10" name="Google Shape;110;p8"/>
          <p:cNvSpPr txBox="1"/>
          <p:nvPr/>
        </p:nvSpPr>
        <p:spPr>
          <a:xfrm>
            <a:off x="445007" y="2026302"/>
            <a:ext cx="11148581" cy="4508927"/>
          </a:xfrm>
          <a:prstGeom prst="rect">
            <a:avLst/>
          </a:prstGeom>
          <a:noFill/>
          <a:ln>
            <a:noFill/>
          </a:ln>
        </p:spPr>
        <p:txBody>
          <a:bodyPr anchorCtr="0" anchor="t" bIns="45700" lIns="91425" spcFirstLastPara="1" rIns="91425" wrap="square" tIns="45700">
            <a:spAutoFit/>
          </a:bodyPr>
          <a:lstStyle/>
          <a:p>
            <a:pPr indent="0" lvl="0" marL="12700" marR="5080" rtl="0" algn="just">
              <a:lnSpc>
                <a:spcPct val="150000"/>
              </a:lnSpc>
              <a:spcBef>
                <a:spcPts val="0"/>
              </a:spcBef>
              <a:spcAft>
                <a:spcPts val="0"/>
              </a:spcAft>
              <a:buNone/>
            </a:pPr>
            <a:r>
              <a:rPr b="0" i="0" lang="es-ES" sz="2200" u="none" cap="none" strike="noStrike">
                <a:solidFill>
                  <a:srgbClr val="000000"/>
                </a:solidFill>
                <a:latin typeface="Arial"/>
                <a:ea typeface="Arial"/>
                <a:cs typeface="Arial"/>
                <a:sym typeface="Arial"/>
              </a:rPr>
              <a:t>Son fundamentos clave que guían la creación de software robusto, flexible y mantenible. Estos principios ayudan a los desarrolladores a evitar problemas comunes y a mejorar la calidad del código. A continuación, vemos los principios más importantes:</a:t>
            </a:r>
            <a:endParaRPr/>
          </a:p>
          <a:p>
            <a:pPr indent="0" lvl="0" marL="12700" marR="5080" rtl="0" algn="just">
              <a:lnSpc>
                <a:spcPct val="150000"/>
              </a:lnSpc>
              <a:spcBef>
                <a:spcPts val="100"/>
              </a:spcBef>
              <a:spcAft>
                <a:spcPts val="0"/>
              </a:spcAft>
              <a:buNone/>
            </a:pPr>
            <a:r>
              <a:t/>
            </a:r>
            <a:endParaRPr b="0" i="0" sz="1200" u="none" cap="none" strike="noStrike">
              <a:solidFill>
                <a:srgbClr val="000000"/>
              </a:solidFill>
              <a:latin typeface="Arial"/>
              <a:ea typeface="Arial"/>
              <a:cs typeface="Arial"/>
              <a:sym typeface="Arial"/>
            </a:endParaRPr>
          </a:p>
          <a:p>
            <a:pPr indent="-457200" lvl="0" marL="469900" marR="5080" rtl="0" algn="just">
              <a:lnSpc>
                <a:spcPct val="150000"/>
              </a:lnSpc>
              <a:spcBef>
                <a:spcPts val="100"/>
              </a:spcBef>
              <a:spcAft>
                <a:spcPts val="0"/>
              </a:spcAft>
              <a:buClr>
                <a:srgbClr val="000000"/>
              </a:buClr>
              <a:buSzPts val="2200"/>
              <a:buFont typeface="Arial"/>
              <a:buAutoNum type="arabicPeriod"/>
            </a:pPr>
            <a:r>
              <a:rPr b="0" i="0" lang="es-ES" sz="2200" u="none" cap="none" strike="noStrike">
                <a:solidFill>
                  <a:srgbClr val="000000"/>
                </a:solidFill>
                <a:latin typeface="Arial"/>
                <a:ea typeface="Arial"/>
                <a:cs typeface="Arial"/>
                <a:sym typeface="Arial"/>
              </a:rPr>
              <a:t>Responsabilidad Única (Single Responsibility Principle - SRP)</a:t>
            </a:r>
            <a:endParaRPr/>
          </a:p>
          <a:p>
            <a:pPr indent="-457200" lvl="0" marL="469900" marR="5080" rtl="0" algn="just">
              <a:lnSpc>
                <a:spcPct val="150000"/>
              </a:lnSpc>
              <a:spcBef>
                <a:spcPts val="100"/>
              </a:spcBef>
              <a:spcAft>
                <a:spcPts val="0"/>
              </a:spcAft>
              <a:buClr>
                <a:srgbClr val="000000"/>
              </a:buClr>
              <a:buSzPts val="2200"/>
              <a:buFont typeface="Arial"/>
              <a:buAutoNum type="arabicPeriod"/>
            </a:pPr>
            <a:r>
              <a:rPr b="0" i="0" lang="es-ES" sz="2200" u="none" cap="none" strike="noStrike">
                <a:solidFill>
                  <a:srgbClr val="000000"/>
                </a:solidFill>
                <a:latin typeface="Arial"/>
                <a:ea typeface="Arial"/>
                <a:cs typeface="Arial"/>
                <a:sym typeface="Arial"/>
              </a:rPr>
              <a:t>Abierto/Cerrado (Open/Closed Principle - OCP)</a:t>
            </a:r>
            <a:endParaRPr/>
          </a:p>
          <a:p>
            <a:pPr indent="-457200" lvl="0" marL="469900" marR="5080" rtl="0" algn="just">
              <a:lnSpc>
                <a:spcPct val="150000"/>
              </a:lnSpc>
              <a:spcBef>
                <a:spcPts val="100"/>
              </a:spcBef>
              <a:spcAft>
                <a:spcPts val="0"/>
              </a:spcAft>
              <a:buClr>
                <a:srgbClr val="000000"/>
              </a:buClr>
              <a:buSzPts val="2200"/>
              <a:buFont typeface="Arial"/>
              <a:buAutoNum type="arabicPeriod"/>
            </a:pPr>
            <a:r>
              <a:rPr b="0" i="0" lang="es-ES" sz="2200" u="none" cap="none" strike="noStrike">
                <a:solidFill>
                  <a:srgbClr val="000000"/>
                </a:solidFill>
                <a:latin typeface="Arial"/>
                <a:ea typeface="Arial"/>
                <a:cs typeface="Arial"/>
                <a:sym typeface="Arial"/>
              </a:rPr>
              <a:t>Sustitución de Liskov (Liskov Substitution Principle - LSP)</a:t>
            </a:r>
            <a:endParaRPr/>
          </a:p>
          <a:p>
            <a:pPr indent="-457200" lvl="0" marL="469900" marR="5080" rtl="0" algn="just">
              <a:lnSpc>
                <a:spcPct val="150000"/>
              </a:lnSpc>
              <a:spcBef>
                <a:spcPts val="100"/>
              </a:spcBef>
              <a:spcAft>
                <a:spcPts val="0"/>
              </a:spcAft>
              <a:buClr>
                <a:srgbClr val="000000"/>
              </a:buClr>
              <a:buSzPts val="2200"/>
              <a:buFont typeface="Arial"/>
              <a:buAutoNum type="arabicPeriod"/>
            </a:pPr>
            <a:r>
              <a:rPr b="0" i="0" lang="es-ES" sz="2200" u="none" cap="none" strike="noStrike">
                <a:solidFill>
                  <a:srgbClr val="000000"/>
                </a:solidFill>
                <a:latin typeface="Arial"/>
                <a:ea typeface="Arial"/>
                <a:cs typeface="Arial"/>
                <a:sym typeface="Arial"/>
              </a:rPr>
              <a:t>Segregación de Interfaces (Interface Segregation Principle - ISP)</a:t>
            </a:r>
            <a:endParaRPr/>
          </a:p>
          <a:p>
            <a:pPr indent="-457200" lvl="0" marL="469900" marR="5080" rtl="0" algn="just">
              <a:lnSpc>
                <a:spcPct val="150000"/>
              </a:lnSpc>
              <a:spcBef>
                <a:spcPts val="100"/>
              </a:spcBef>
              <a:spcAft>
                <a:spcPts val="0"/>
              </a:spcAft>
              <a:buClr>
                <a:srgbClr val="000000"/>
              </a:buClr>
              <a:buSzPts val="2200"/>
              <a:buFont typeface="Arial"/>
              <a:buAutoNum type="arabicPeriod"/>
            </a:pPr>
            <a:r>
              <a:rPr b="0" i="0" lang="es-ES" sz="2200" u="none" cap="none" strike="noStrike">
                <a:solidFill>
                  <a:srgbClr val="000000"/>
                </a:solidFill>
                <a:latin typeface="Arial"/>
                <a:ea typeface="Arial"/>
                <a:cs typeface="Arial"/>
                <a:sym typeface="Arial"/>
              </a:rPr>
              <a:t>Inversión de Dependencia (Dependency Inversion Principle - DIP)</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16" name="Google Shape;116;p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17" name="Google Shape;117;p7"/>
          <p:cNvSpPr txBox="1"/>
          <p:nvPr/>
        </p:nvSpPr>
        <p:spPr>
          <a:xfrm>
            <a:off x="336804" y="996626"/>
            <a:ext cx="818235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18" name="Google Shape;118;p7"/>
          <p:cNvSpPr txBox="1"/>
          <p:nvPr/>
        </p:nvSpPr>
        <p:spPr>
          <a:xfrm>
            <a:off x="445005" y="1810464"/>
            <a:ext cx="11148581" cy="39703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Los principios de diseño en programación orientada a objetos se enfocan en crear sistemas que sean fáciles de mantener y expandir. Algunos de los principios de diseño más importantes incluyen:</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Encapsulamiento</a:t>
            </a:r>
            <a:r>
              <a:rPr b="0" i="0" lang="es-ES" sz="2800" u="none" cap="none" strike="noStrike">
                <a:solidFill>
                  <a:srgbClr val="000000"/>
                </a:solidFill>
                <a:latin typeface="Arial"/>
                <a:ea typeface="Arial"/>
                <a:cs typeface="Arial"/>
                <a:sym typeface="Arial"/>
              </a:rPr>
              <a:t>: Ocultar los detalles internos de los objetos y exponer solo lo necesario.</a:t>
            </a:r>
            <a:endParaRPr/>
          </a:p>
          <a:p>
            <a:pPr indent="-165100" lvl="0" marL="3429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Modularidad</a:t>
            </a:r>
            <a:r>
              <a:rPr b="0" i="0" lang="es-ES" sz="2800" u="none" cap="none" strike="noStrike">
                <a:solidFill>
                  <a:srgbClr val="000000"/>
                </a:solidFill>
                <a:latin typeface="Arial"/>
                <a:ea typeface="Arial"/>
                <a:cs typeface="Arial"/>
                <a:sym typeface="Arial"/>
              </a:rPr>
              <a:t>: Dividir un sistema en módulos independientes que puedan desarrollarse y probarse de manera aislada.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3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24" name="Google Shape;124;p36"/>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25" name="Google Shape;125;p36"/>
          <p:cNvSpPr txBox="1"/>
          <p:nvPr/>
        </p:nvSpPr>
        <p:spPr>
          <a:xfrm>
            <a:off x="336804" y="996626"/>
            <a:ext cx="818235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26" name="Google Shape;126;p36"/>
          <p:cNvSpPr txBox="1"/>
          <p:nvPr/>
        </p:nvSpPr>
        <p:spPr>
          <a:xfrm>
            <a:off x="445005" y="1810464"/>
            <a:ext cx="11148581" cy="440120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Abstracción</a:t>
            </a:r>
            <a:r>
              <a:rPr b="0" i="0" lang="es-ES" sz="2800" u="none" cap="none" strike="noStrike">
                <a:solidFill>
                  <a:srgbClr val="000000"/>
                </a:solidFill>
                <a:latin typeface="Arial"/>
                <a:ea typeface="Arial"/>
                <a:cs typeface="Arial"/>
                <a:sym typeface="Arial"/>
              </a:rPr>
              <a:t>: Simplificar la complejidad ocultando detalles innecesarios y exponiendo solo las funcionalidades esenciales.</a:t>
            </a:r>
            <a:endParaRPr/>
          </a:p>
          <a:p>
            <a:pPr indent="-165100" lvl="0" marL="3429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Herencia</a:t>
            </a:r>
            <a:r>
              <a:rPr b="0" i="0" lang="es-ES" sz="2800" u="none" cap="none" strike="noStrike">
                <a:solidFill>
                  <a:srgbClr val="000000"/>
                </a:solidFill>
                <a:latin typeface="Arial"/>
                <a:ea typeface="Arial"/>
                <a:cs typeface="Arial"/>
                <a:sym typeface="Arial"/>
              </a:rPr>
              <a:t>: Permitir que nuevas clases hereden propiedades y métodos de clases existentes, promoviendo la reutilización de código.</a:t>
            </a:r>
            <a:endParaRPr/>
          </a:p>
          <a:p>
            <a:pPr indent="-165100" lvl="0" marL="3429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Polimorfismo</a:t>
            </a:r>
            <a:r>
              <a:rPr b="0" i="0" lang="es-ES" sz="2800" u="none" cap="none" strike="noStrike">
                <a:solidFill>
                  <a:srgbClr val="000000"/>
                </a:solidFill>
                <a:latin typeface="Arial"/>
                <a:ea typeface="Arial"/>
                <a:cs typeface="Arial"/>
                <a:sym typeface="Arial"/>
              </a:rPr>
              <a:t>: Permitir que una interfaz se comporte de diferentes maneras dependiendo del contexto.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3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32" name="Google Shape;132;p3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33" name="Google Shape;133;p37"/>
          <p:cNvSpPr txBox="1"/>
          <p:nvPr/>
        </p:nvSpPr>
        <p:spPr>
          <a:xfrm>
            <a:off x="336804" y="1283173"/>
            <a:ext cx="818235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34" name="Google Shape;134;p37"/>
          <p:cNvSpPr txBox="1"/>
          <p:nvPr/>
        </p:nvSpPr>
        <p:spPr>
          <a:xfrm>
            <a:off x="582168" y="2483502"/>
            <a:ext cx="10421112" cy="267765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Arial"/>
              <a:buAutoNum type="arabicPeriod"/>
            </a:pPr>
            <a:r>
              <a:rPr b="1" i="0" lang="es-ES" sz="2800" u="none" cap="none" strike="noStrike">
                <a:solidFill>
                  <a:srgbClr val="000000"/>
                </a:solidFill>
                <a:latin typeface="Arial"/>
                <a:ea typeface="Arial"/>
                <a:cs typeface="Arial"/>
                <a:sym typeface="Arial"/>
              </a:rPr>
              <a:t>Principio de Responsabilidad Única (Single Responsibility Principle - SRP)</a:t>
            </a:r>
            <a:endParaRPr/>
          </a:p>
          <a:p>
            <a:pPr indent="-279400" lvl="0" marL="457200" marR="0" rtl="0" algn="just">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Arial"/>
              <a:ea typeface="Arial"/>
              <a:cs typeface="Arial"/>
              <a:sym typeface="Arial"/>
            </a:endParaRPr>
          </a:p>
          <a:p>
            <a:pPr indent="0" lvl="8" marL="365125"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Una clase debe tener una única responsabilidad, es decir, una única razón para cambiar. Esto ayuda a mantener el código más modular y fácil de mantener.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3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0" name="Google Shape;140;p38"/>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41" name="Google Shape;141;p38"/>
          <p:cNvSpPr txBox="1"/>
          <p:nvPr/>
        </p:nvSpPr>
        <p:spPr>
          <a:xfrm>
            <a:off x="336804" y="1283173"/>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42" name="Google Shape;142;p38"/>
          <p:cNvSpPr txBox="1"/>
          <p:nvPr/>
        </p:nvSpPr>
        <p:spPr>
          <a:xfrm>
            <a:off x="637553" y="2361582"/>
            <a:ext cx="11093196" cy="353943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Arial"/>
              <a:buAutoNum type="arabicPeriod"/>
            </a:pPr>
            <a:r>
              <a:rPr b="1" i="0" lang="es-ES" sz="2800" u="none" cap="none" strike="noStrike">
                <a:solidFill>
                  <a:srgbClr val="000000"/>
                </a:solidFill>
                <a:latin typeface="Arial"/>
                <a:ea typeface="Arial"/>
                <a:cs typeface="Arial"/>
                <a:sym typeface="Arial"/>
              </a:rPr>
              <a:t>Principio de Responsabilidad Única (Single Responsibility Principle - SRP)</a:t>
            </a:r>
            <a:endParaRPr/>
          </a:p>
          <a:p>
            <a:pPr indent="0" lvl="0" marL="0" marR="0" rtl="0" algn="just">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3" marL="365125"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Supongamos que estamos desarrollando una aplicación para gestionar una biblioteca. Inicialmente, podríamos tener una clase Libro que almacena los detalles del libro y también maneja el préstamo. Sin embargo, esto viola el SRP</a:t>
            </a:r>
            <a:endParaRPr b="1" i="0" sz="2800" u="none" cap="none" strike="noStrike">
              <a:solidFill>
                <a:srgbClr val="000000"/>
              </a:solidFill>
              <a:latin typeface="Arial"/>
              <a:ea typeface="Arial"/>
              <a:cs typeface="Arial"/>
              <a:sym typeface="Arial"/>
            </a:endParaRPr>
          </a:p>
          <a:p>
            <a:pPr indent="-279400" lvl="0" marL="457200" marR="0" rtl="0" algn="just">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3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8" name="Google Shape;148;p39"/>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49" name="Google Shape;149;p39"/>
          <p:cNvSpPr txBox="1"/>
          <p:nvPr/>
        </p:nvSpPr>
        <p:spPr>
          <a:xfrm>
            <a:off x="336804" y="978373"/>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50" name="Google Shape;150;p39"/>
          <p:cNvSpPr txBox="1"/>
          <p:nvPr/>
        </p:nvSpPr>
        <p:spPr>
          <a:xfrm>
            <a:off x="156730" y="1873283"/>
            <a:ext cx="4765789" cy="563231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Libro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private String titulo;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private String autor;</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Libro(String titulo, String autor) {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this.titulo = titulo;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this.autor = autor;</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prestar()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prestar el libro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devolver()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devolver el libro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51" name="Google Shape;151;p39"/>
          <p:cNvSpPr txBox="1"/>
          <p:nvPr/>
        </p:nvSpPr>
        <p:spPr>
          <a:xfrm>
            <a:off x="6050866" y="2254284"/>
            <a:ext cx="5261089" cy="34778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Corrección: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Libro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private String titulo;</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private String autor;</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Libro(String titulo, String autor) {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this.titulo = titulo;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this.autor = autor;</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p:txBody>
      </p:sp>
      <p:cxnSp>
        <p:nvCxnSpPr>
          <p:cNvPr id="152" name="Google Shape;152;p39"/>
          <p:cNvCxnSpPr/>
          <p:nvPr/>
        </p:nvCxnSpPr>
        <p:spPr>
          <a:xfrm>
            <a:off x="5090159" y="2483502"/>
            <a:ext cx="0" cy="417576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4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58" name="Google Shape;158;p40"/>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59" name="Google Shape;159;p40"/>
          <p:cNvSpPr txBox="1"/>
          <p:nvPr/>
        </p:nvSpPr>
        <p:spPr>
          <a:xfrm>
            <a:off x="336804" y="978373"/>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60" name="Google Shape;160;p40"/>
          <p:cNvSpPr txBox="1"/>
          <p:nvPr/>
        </p:nvSpPr>
        <p:spPr>
          <a:xfrm>
            <a:off x="156730" y="1873283"/>
            <a:ext cx="4765789" cy="50167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Ejercicio: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Usuario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private String nombre;</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Usuario(String nombre) {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this.nombre = nombre;</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registrarUsuario()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registrar usuario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prestarLibro(Libro libro)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prestar libro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61" name="Google Shape;161;p40"/>
          <p:cNvSpPr txBox="1"/>
          <p:nvPr/>
        </p:nvSpPr>
        <p:spPr>
          <a:xfrm>
            <a:off x="6050866" y="2254284"/>
            <a:ext cx="5261089" cy="34778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¿Qué problemas encuentras en la clase Usuario respecto al SRP?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 Respuesta: </a:t>
            </a:r>
            <a:endParaRPr/>
          </a:p>
          <a:p>
            <a:pPr indent="0" lvl="0" marL="0" marR="0" rtl="0" algn="just">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La clase Usuario está manejando tanto el registro de usuarios como la lógica de préstamo de libros, lo que viola el SRP.</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Es recomendable separar estas responsabilidades en clases diferentes.</a:t>
            </a:r>
            <a:endParaRPr b="1" i="0" sz="2000" u="none" cap="none" strike="noStrike">
              <a:solidFill>
                <a:srgbClr val="000000"/>
              </a:solidFill>
              <a:latin typeface="Arial"/>
              <a:ea typeface="Arial"/>
              <a:cs typeface="Arial"/>
              <a:sym typeface="Arial"/>
            </a:endParaRPr>
          </a:p>
        </p:txBody>
      </p:sp>
      <p:cxnSp>
        <p:nvCxnSpPr>
          <p:cNvPr id="162" name="Google Shape;162;p40"/>
          <p:cNvCxnSpPr/>
          <p:nvPr/>
        </p:nvCxnSpPr>
        <p:spPr>
          <a:xfrm>
            <a:off x="5090159" y="2483502"/>
            <a:ext cx="0" cy="417576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4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68" name="Google Shape;168;p41"/>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69" name="Google Shape;169;p41"/>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a:t>
            </a:r>
            <a:endParaRPr b="1" i="0" sz="3600" u="none" cap="none" strike="noStrike">
              <a:solidFill>
                <a:srgbClr val="244061"/>
              </a:solidFill>
              <a:latin typeface="Arial"/>
              <a:ea typeface="Arial"/>
              <a:cs typeface="Arial"/>
              <a:sym typeface="Arial"/>
            </a:endParaRPr>
          </a:p>
        </p:txBody>
      </p:sp>
      <p:sp>
        <p:nvSpPr>
          <p:cNvPr id="170" name="Google Shape;170;p41"/>
          <p:cNvSpPr txBox="1"/>
          <p:nvPr/>
        </p:nvSpPr>
        <p:spPr>
          <a:xfrm>
            <a:off x="246767" y="2101883"/>
            <a:ext cx="11303750" cy="2677656"/>
          </a:xfrm>
          <a:prstGeom prst="rect">
            <a:avLst/>
          </a:prstGeom>
          <a:noFill/>
          <a:ln>
            <a:noFill/>
          </a:ln>
        </p:spPr>
        <p:txBody>
          <a:bodyPr anchorCtr="0" anchor="t" bIns="45700" lIns="91425" spcFirstLastPara="1" rIns="91425" wrap="square" tIns="45700">
            <a:spAutoFit/>
          </a:bodyPr>
          <a:lstStyle/>
          <a:p>
            <a:pPr indent="-514350" lvl="1" marL="514350" marR="0" rtl="0" algn="l">
              <a:lnSpc>
                <a:spcPct val="100000"/>
              </a:lnSpc>
              <a:spcBef>
                <a:spcPts val="0"/>
              </a:spcBef>
              <a:spcAft>
                <a:spcPts val="0"/>
              </a:spcAft>
              <a:buClr>
                <a:srgbClr val="000000"/>
              </a:buClr>
              <a:buSzPts val="2800"/>
              <a:buFont typeface="Arial"/>
              <a:buAutoNum type="arabicPeriod" startAt="2"/>
            </a:pPr>
            <a:r>
              <a:rPr b="1" i="0" lang="es-ES" sz="2800" u="none" cap="none" strike="noStrike">
                <a:solidFill>
                  <a:srgbClr val="000000"/>
                </a:solidFill>
                <a:latin typeface="Arial"/>
                <a:ea typeface="Arial"/>
                <a:cs typeface="Arial"/>
                <a:sym typeface="Arial"/>
              </a:rPr>
              <a:t>Principio de Abierto/Cerrado (Open/Closed Principle - OCP)</a:t>
            </a:r>
            <a:endParaRPr/>
          </a:p>
          <a:p>
            <a:pPr indent="-336550" lvl="1" marL="51435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2" marL="441325"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Las entidades de software deben estar abiertas para su extensión, pero cerradas para modificación. Esto significa que el comportamiento de una entidad puede ser extendido sin modificar su código fuente.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4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76" name="Google Shape;176;p42"/>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77" name="Google Shape;177;p42"/>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b="1" i="0" sz="3600" u="none" cap="none" strike="noStrike">
              <a:solidFill>
                <a:srgbClr val="244061"/>
              </a:solidFill>
              <a:latin typeface="Arial"/>
              <a:ea typeface="Arial"/>
              <a:cs typeface="Arial"/>
              <a:sym typeface="Arial"/>
            </a:endParaRPr>
          </a:p>
        </p:txBody>
      </p:sp>
      <p:sp>
        <p:nvSpPr>
          <p:cNvPr id="178" name="Google Shape;178;p42"/>
          <p:cNvSpPr txBox="1"/>
          <p:nvPr/>
        </p:nvSpPr>
        <p:spPr>
          <a:xfrm>
            <a:off x="246767" y="2101883"/>
            <a:ext cx="11303750" cy="2246769"/>
          </a:xfrm>
          <a:prstGeom prst="rect">
            <a:avLst/>
          </a:prstGeom>
          <a:noFill/>
          <a:ln>
            <a:noFill/>
          </a:ln>
        </p:spPr>
        <p:txBody>
          <a:bodyPr anchorCtr="0" anchor="t" bIns="45700" lIns="91425" spcFirstLastPara="1" rIns="91425" wrap="square" tIns="45700">
            <a:spAutoFit/>
          </a:bodyPr>
          <a:lstStyle/>
          <a:p>
            <a:pPr indent="-514350" lvl="1" marL="514350" marR="0" rtl="0" algn="l">
              <a:lnSpc>
                <a:spcPct val="100000"/>
              </a:lnSpc>
              <a:spcBef>
                <a:spcPts val="0"/>
              </a:spcBef>
              <a:spcAft>
                <a:spcPts val="0"/>
              </a:spcAft>
              <a:buClr>
                <a:srgbClr val="000000"/>
              </a:buClr>
              <a:buSzPts val="2800"/>
              <a:buFont typeface="Arial"/>
              <a:buAutoNum type="arabicPeriod" startAt="2"/>
            </a:pPr>
            <a:r>
              <a:rPr b="1" i="0" lang="es-ES" sz="2800" u="none" cap="none" strike="noStrike">
                <a:solidFill>
                  <a:srgbClr val="000000"/>
                </a:solidFill>
                <a:latin typeface="Arial"/>
                <a:ea typeface="Arial"/>
                <a:cs typeface="Arial"/>
                <a:sym typeface="Arial"/>
              </a:rPr>
              <a:t>Principio de Abierto/Cerrado (Open/Closed Principle - OCP)</a:t>
            </a:r>
            <a:endParaRPr/>
          </a:p>
          <a:p>
            <a:pPr indent="-336550" lvl="1" marL="51435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2" marL="441325"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Un sistema de pago en línea que inicialmente implementa el pago con tarjeta de crédito. Más tarde, queremos añadir la opción de pago con PayPal sin modificar el código existente..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4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84" name="Google Shape;184;p43"/>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85" name="Google Shape;185;p43"/>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86" name="Google Shape;186;p43"/>
          <p:cNvSpPr txBox="1"/>
          <p:nvPr/>
        </p:nvSpPr>
        <p:spPr>
          <a:xfrm>
            <a:off x="5585460" y="2060904"/>
            <a:ext cx="5600700" cy="50167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Ejercicio:</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PagoConCriptomoneda extends Pago {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public void realizarPago()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de pago con criptomonedas</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¿Cómo se aplica el OCP en esta situación?</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r>
              <a:rPr b="1" i="0" lang="es-ES" sz="2000" u="none" cap="none" strike="noStrike">
                <a:solidFill>
                  <a:srgbClr val="000000"/>
                </a:solidFill>
                <a:latin typeface="Arial"/>
                <a:ea typeface="Arial"/>
                <a:cs typeface="Arial"/>
                <a:sym typeface="Arial"/>
              </a:rPr>
              <a:t>// Respuesta: </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El OCP se aplica al permitir la extensión del comportamiento de la clase Pago sin modificar las clases existentes. Solo se añade una nueva clase PagoConCriptomoneda que implementa la lógica de pago con criptomonedas.</a:t>
            </a:r>
            <a:endParaRPr/>
          </a:p>
        </p:txBody>
      </p:sp>
      <p:cxnSp>
        <p:nvCxnSpPr>
          <p:cNvPr id="187" name="Google Shape;187;p43"/>
          <p:cNvCxnSpPr/>
          <p:nvPr/>
        </p:nvCxnSpPr>
        <p:spPr>
          <a:xfrm>
            <a:off x="5090159" y="2483502"/>
            <a:ext cx="0" cy="417576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188" name="Google Shape;188;p43"/>
          <p:cNvSpPr/>
          <p:nvPr/>
        </p:nvSpPr>
        <p:spPr>
          <a:xfrm>
            <a:off x="336804" y="1691022"/>
            <a:ext cx="5393436" cy="53245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abstract class Pago {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abstract void realizarPago();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PagoConTarjeta extends Pago {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realizarPago()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de pago con tarjeta</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PagoConPayPal extends Pago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public void realizarPago() {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de pago con PayPal</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4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94" name="Google Shape;194;p44"/>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95" name="Google Shape;195;p44"/>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a:t>
            </a:r>
            <a:endParaRPr b="1" i="0" sz="3600" u="none" cap="none" strike="noStrike">
              <a:solidFill>
                <a:srgbClr val="244061"/>
              </a:solidFill>
              <a:latin typeface="Arial"/>
              <a:ea typeface="Arial"/>
              <a:cs typeface="Arial"/>
              <a:sym typeface="Arial"/>
            </a:endParaRPr>
          </a:p>
        </p:txBody>
      </p:sp>
      <p:sp>
        <p:nvSpPr>
          <p:cNvPr id="196" name="Google Shape;196;p44"/>
          <p:cNvSpPr txBox="1"/>
          <p:nvPr/>
        </p:nvSpPr>
        <p:spPr>
          <a:xfrm>
            <a:off x="246767" y="2101883"/>
            <a:ext cx="11303750" cy="35394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3. Principio de Sustitución de Liskov (Liskov Substitution Principle - LSP)</a:t>
            </a:r>
            <a:endParaRPr/>
          </a:p>
          <a:p>
            <a:pPr indent="0" lvl="0" marL="0" marR="0" rtl="0" algn="just">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Los objetos de una clase derivada deben ser reemplazables por objetos de la clase base sin alterar el funcionamiento correcto del programa. Esto garantiza que las clases derivadas extienden la funcionalidad de la clase base sin cambiar su comportamiento esencial.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4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02" name="Google Shape;202;p45"/>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03" name="Google Shape;203;p45"/>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b="1" i="0" sz="3600" u="none" cap="none" strike="noStrike">
              <a:solidFill>
                <a:srgbClr val="244061"/>
              </a:solidFill>
              <a:latin typeface="Arial"/>
              <a:ea typeface="Arial"/>
              <a:cs typeface="Arial"/>
              <a:sym typeface="Arial"/>
            </a:endParaRPr>
          </a:p>
        </p:txBody>
      </p:sp>
      <p:sp>
        <p:nvSpPr>
          <p:cNvPr id="204" name="Google Shape;204;p45"/>
          <p:cNvSpPr txBox="1"/>
          <p:nvPr/>
        </p:nvSpPr>
        <p:spPr>
          <a:xfrm>
            <a:off x="246767" y="2101883"/>
            <a:ext cx="11303750" cy="26776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3. Principio de Sustitución de Liskov (Liskov Substitution Principle - LSP)</a:t>
            </a:r>
            <a:endParaRPr/>
          </a:p>
          <a:p>
            <a:pPr indent="0" lvl="0" marL="0" marR="0" rtl="0" algn="just">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Si tenemos una clase base Animal y una clase derivada Perro, cualquier instancia de Perro debería poder reemplazar a una instancia de Animal sin problemas.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4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10" name="Google Shape;210;p46"/>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11" name="Google Shape;211;p46"/>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212" name="Google Shape;212;p46"/>
          <p:cNvSpPr txBox="1"/>
          <p:nvPr/>
        </p:nvSpPr>
        <p:spPr>
          <a:xfrm>
            <a:off x="5585460" y="1817064"/>
            <a:ext cx="6286500" cy="470898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Ejercicio:</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Pez extends Animal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hacerSonido()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throw new UnsupportedOperationException("Los peces no hacen sonido");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a:t>
            </a:r>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¿Viola Pez el LSP?</a:t>
            </a:r>
            <a:endParaRPr/>
          </a:p>
          <a:p>
            <a:pPr indent="0" lvl="0" marL="0" marR="0" rtl="0" algn="just">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 // Respuesta:</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Sí, la clase Pez viola el LSP porque no puede sustituir a la clase base Animal sin alterar el comportamiento esperado, ya que los peces no pueden hacer sonido.</a:t>
            </a:r>
            <a:endParaRPr/>
          </a:p>
        </p:txBody>
      </p:sp>
      <p:cxnSp>
        <p:nvCxnSpPr>
          <p:cNvPr id="213" name="Google Shape;213;p46"/>
          <p:cNvCxnSpPr/>
          <p:nvPr/>
        </p:nvCxnSpPr>
        <p:spPr>
          <a:xfrm>
            <a:off x="5242559" y="2224243"/>
            <a:ext cx="0" cy="417576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214" name="Google Shape;214;p46"/>
          <p:cNvSpPr/>
          <p:nvPr/>
        </p:nvSpPr>
        <p:spPr>
          <a:xfrm>
            <a:off x="336804" y="1691022"/>
            <a:ext cx="5393436"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abstract class Animal {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abstract void hacerSonido();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Perro extends Animal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hacerSonido() {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System.out.println("Ladrido");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Gato extends Animal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hacerSonido() {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System.out.println("Maullido");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4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20" name="Google Shape;220;p4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21" name="Google Shape;221;p47"/>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b="1" i="0" sz="3600" u="none" cap="none" strike="noStrike">
              <a:solidFill>
                <a:srgbClr val="244061"/>
              </a:solidFill>
              <a:latin typeface="Arial"/>
              <a:ea typeface="Arial"/>
              <a:cs typeface="Arial"/>
              <a:sym typeface="Arial"/>
            </a:endParaRPr>
          </a:p>
        </p:txBody>
      </p:sp>
      <p:sp>
        <p:nvSpPr>
          <p:cNvPr id="222" name="Google Shape;222;p47"/>
          <p:cNvSpPr txBox="1"/>
          <p:nvPr/>
        </p:nvSpPr>
        <p:spPr>
          <a:xfrm>
            <a:off x="246767" y="2101883"/>
            <a:ext cx="11303750" cy="26776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4. Principio de Segregación de Interfaces (Interface Segregation Principle - ISP)</a:t>
            </a:r>
            <a:endParaRPr/>
          </a:p>
          <a:p>
            <a:pPr indent="0" lvl="0" marL="0" marR="0" rtl="0" algn="just">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Los clientes no deben estar obligados a depender de interfaces que no utilizan. Es preferible tener varias interfaces específicas en lugar de una única interfaz general.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4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28" name="Google Shape;228;p48"/>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29" name="Google Shape;229;p48"/>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b="1" i="0" sz="3600" u="none" cap="none" strike="noStrike">
              <a:solidFill>
                <a:srgbClr val="244061"/>
              </a:solidFill>
              <a:latin typeface="Arial"/>
              <a:ea typeface="Arial"/>
              <a:cs typeface="Arial"/>
              <a:sym typeface="Arial"/>
            </a:endParaRPr>
          </a:p>
        </p:txBody>
      </p:sp>
      <p:sp>
        <p:nvSpPr>
          <p:cNvPr id="230" name="Google Shape;230;p48"/>
          <p:cNvSpPr txBox="1"/>
          <p:nvPr/>
        </p:nvSpPr>
        <p:spPr>
          <a:xfrm>
            <a:off x="246767" y="2101883"/>
            <a:ext cx="11303750" cy="26776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4. Principio de Segregación de Interfaces (Interface Segregation Principle - ISP)</a:t>
            </a:r>
            <a:endParaRPr/>
          </a:p>
          <a:p>
            <a:pPr indent="-336550" lvl="1" marL="51435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2" marL="441325"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Supongamos un sistema de impresión donde tenemos una interfaz Impresora con métodos imprimir, escanear, y faxear. No todos los dispositivos necesitan implementar todos estos métodos.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4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36" name="Google Shape;236;p49"/>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37" name="Google Shape;237;p49"/>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238" name="Google Shape;238;p49"/>
          <p:cNvSpPr txBox="1"/>
          <p:nvPr/>
        </p:nvSpPr>
        <p:spPr>
          <a:xfrm>
            <a:off x="5585460" y="1817064"/>
            <a:ext cx="6286500"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faxear()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No implementado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Ejercicio: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interface Impresora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imprimir();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interface Escaner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escanear();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p:txBody>
      </p:sp>
      <p:cxnSp>
        <p:nvCxnSpPr>
          <p:cNvPr id="239" name="Google Shape;239;p49"/>
          <p:cNvCxnSpPr/>
          <p:nvPr/>
        </p:nvCxnSpPr>
        <p:spPr>
          <a:xfrm>
            <a:off x="5585460" y="2224243"/>
            <a:ext cx="0" cy="417576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240" name="Google Shape;240;p49"/>
          <p:cNvSpPr/>
          <p:nvPr/>
        </p:nvSpPr>
        <p:spPr>
          <a:xfrm>
            <a:off x="192024" y="1658688"/>
            <a:ext cx="5393436" cy="57554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interface Impresora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imprimir();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escanear();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faxear();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ImpresoraSimple implements Impresora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imprimir()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imprimir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escanear()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No implementado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5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46" name="Google Shape;246;p50"/>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47" name="Google Shape;247;p50"/>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248" name="Google Shape;248;p50"/>
          <p:cNvSpPr txBox="1"/>
          <p:nvPr/>
        </p:nvSpPr>
        <p:spPr>
          <a:xfrm>
            <a:off x="5585460" y="1817064"/>
            <a:ext cx="6286500" cy="3477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interface Fax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faxear();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ImpresoraMultifuncional implements Impresora, Escaner, Fax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imprimir()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imprimir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p:txBody>
      </p:sp>
      <p:cxnSp>
        <p:nvCxnSpPr>
          <p:cNvPr id="249" name="Google Shape;249;p50"/>
          <p:cNvCxnSpPr/>
          <p:nvPr/>
        </p:nvCxnSpPr>
        <p:spPr>
          <a:xfrm>
            <a:off x="5585460" y="2224243"/>
            <a:ext cx="0" cy="417576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250" name="Google Shape;250;p50"/>
          <p:cNvSpPr/>
          <p:nvPr/>
        </p:nvSpPr>
        <p:spPr>
          <a:xfrm>
            <a:off x="192024" y="1658688"/>
            <a:ext cx="5393436" cy="57554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interface Impresora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imprimir();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escanear();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faxear();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ImpresoraSimple implements Impresora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imprimir()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imprimir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escanear()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No implementado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5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56" name="Google Shape;256;p51"/>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57" name="Google Shape;257;p51"/>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258" name="Google Shape;258;p51"/>
          <p:cNvSpPr txBox="1"/>
          <p:nvPr/>
        </p:nvSpPr>
        <p:spPr>
          <a:xfrm>
            <a:off x="464820" y="1735944"/>
            <a:ext cx="6286500" cy="5078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faxear()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faxear</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¿Cómo se aplica el ISP en este ejemplo?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 Respuesta: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El ISP se aplica dividiendo una interfaz general en interfaces específicas. De esta manera, las clases implementan solo las interfaces que necesitan, evitando depender de métodos que no usan.</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5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64" name="Google Shape;264;p52"/>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65" name="Google Shape;265;p52"/>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a:t>
            </a:r>
            <a:endParaRPr b="1" i="0" sz="3600" u="none" cap="none" strike="noStrike">
              <a:solidFill>
                <a:srgbClr val="244061"/>
              </a:solidFill>
              <a:latin typeface="Arial"/>
              <a:ea typeface="Arial"/>
              <a:cs typeface="Arial"/>
              <a:sym typeface="Arial"/>
            </a:endParaRPr>
          </a:p>
        </p:txBody>
      </p:sp>
      <p:sp>
        <p:nvSpPr>
          <p:cNvPr id="266" name="Google Shape;266;p52"/>
          <p:cNvSpPr txBox="1"/>
          <p:nvPr/>
        </p:nvSpPr>
        <p:spPr>
          <a:xfrm>
            <a:off x="246767" y="2101883"/>
            <a:ext cx="11303750" cy="3108543"/>
          </a:xfrm>
          <a:prstGeom prst="rect">
            <a:avLst/>
          </a:prstGeom>
          <a:noFill/>
          <a:ln>
            <a:noFill/>
          </a:ln>
        </p:spPr>
        <p:txBody>
          <a:bodyPr anchorCtr="0" anchor="t" bIns="45700" lIns="91425" spcFirstLastPara="1" rIns="91425" wrap="square" tIns="45700">
            <a:spAutoFit/>
          </a:bodyPr>
          <a:lstStyle/>
          <a:p>
            <a:pPr indent="-514350" lvl="0" marL="514350" marR="0" rtl="0" algn="just">
              <a:lnSpc>
                <a:spcPct val="100000"/>
              </a:lnSpc>
              <a:spcBef>
                <a:spcPts val="0"/>
              </a:spcBef>
              <a:spcAft>
                <a:spcPts val="0"/>
              </a:spcAft>
              <a:buClr>
                <a:srgbClr val="000000"/>
              </a:buClr>
              <a:buSzPts val="2800"/>
              <a:buFont typeface="Arial"/>
              <a:buAutoNum type="arabicPeriod" startAt="5"/>
            </a:pPr>
            <a:r>
              <a:rPr b="1" i="0" lang="es-ES" sz="2800" u="none" cap="none" strike="noStrike">
                <a:solidFill>
                  <a:srgbClr val="000000"/>
                </a:solidFill>
                <a:latin typeface="Arial"/>
                <a:ea typeface="Arial"/>
                <a:cs typeface="Arial"/>
                <a:sym typeface="Arial"/>
              </a:rPr>
              <a:t>Principio de Inversión de Dependencia (Dependency Inversion Principle - DIP)</a:t>
            </a:r>
            <a:endParaRPr/>
          </a:p>
          <a:p>
            <a:pPr indent="-336550" lvl="0" marL="514350" marR="0" rtl="0" algn="just">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Arial"/>
              <a:ea typeface="Arial"/>
              <a:cs typeface="Arial"/>
              <a:sym typeface="Arial"/>
            </a:endParaRPr>
          </a:p>
          <a:p>
            <a:pPr indent="0" lvl="1" marL="441325"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Los módulos de alto nivel no deben depender de módulos de bajo nivel. Ambos deben depender de abstracciones. Las abstracciones no deben depender de los detalles, los detalles deben depender de las abstracciones.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72" name="Google Shape;272;p53"/>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73" name="Google Shape;273;p53"/>
          <p:cNvSpPr txBox="1"/>
          <p:nvPr/>
        </p:nvSpPr>
        <p:spPr>
          <a:xfrm>
            <a:off x="336804" y="978373"/>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b="1" i="0" sz="3600" u="none" cap="none" strike="noStrike">
              <a:solidFill>
                <a:srgbClr val="244061"/>
              </a:solidFill>
              <a:latin typeface="Arial"/>
              <a:ea typeface="Arial"/>
              <a:cs typeface="Arial"/>
              <a:sym typeface="Arial"/>
            </a:endParaRPr>
          </a:p>
        </p:txBody>
      </p:sp>
      <p:sp>
        <p:nvSpPr>
          <p:cNvPr id="274" name="Google Shape;274;p53"/>
          <p:cNvSpPr txBox="1"/>
          <p:nvPr/>
        </p:nvSpPr>
        <p:spPr>
          <a:xfrm>
            <a:off x="246767" y="2101883"/>
            <a:ext cx="11303750" cy="2677656"/>
          </a:xfrm>
          <a:prstGeom prst="rect">
            <a:avLst/>
          </a:prstGeom>
          <a:noFill/>
          <a:ln>
            <a:noFill/>
          </a:ln>
        </p:spPr>
        <p:txBody>
          <a:bodyPr anchorCtr="0" anchor="t" bIns="45700" lIns="91425" spcFirstLastPara="1" rIns="91425" wrap="square" tIns="45700">
            <a:spAutoFit/>
          </a:bodyPr>
          <a:lstStyle/>
          <a:p>
            <a:pPr indent="-514350" lvl="0" marL="514350" marR="0" rtl="0" algn="just">
              <a:lnSpc>
                <a:spcPct val="100000"/>
              </a:lnSpc>
              <a:spcBef>
                <a:spcPts val="0"/>
              </a:spcBef>
              <a:spcAft>
                <a:spcPts val="0"/>
              </a:spcAft>
              <a:buClr>
                <a:srgbClr val="000000"/>
              </a:buClr>
              <a:buSzPts val="2800"/>
              <a:buFont typeface="Arial"/>
              <a:buAutoNum type="arabicPeriod" startAt="5"/>
            </a:pPr>
            <a:r>
              <a:rPr b="1" i="0" lang="es-ES" sz="2800" u="none" cap="none" strike="noStrike">
                <a:solidFill>
                  <a:srgbClr val="000000"/>
                </a:solidFill>
                <a:latin typeface="Arial"/>
                <a:ea typeface="Arial"/>
                <a:cs typeface="Arial"/>
                <a:sym typeface="Arial"/>
              </a:rPr>
              <a:t>Principio de Inversión de Dependencia (Dependency Inversion Principle - DIP)</a:t>
            </a:r>
            <a:endParaRPr/>
          </a:p>
          <a:p>
            <a:pPr indent="-336550" lvl="1" marL="51435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2" marL="441325"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En una aplicación de gestión de pedidos, en lugar de que la clase Pedido dependa directamente de una clase concreta BaseDatos, puede depender de una interfaz IBaseDatos.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5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80" name="Google Shape;280;p54"/>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81" name="Google Shape;281;p54"/>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282" name="Google Shape;282;p54"/>
          <p:cNvSpPr txBox="1"/>
          <p:nvPr/>
        </p:nvSpPr>
        <p:spPr>
          <a:xfrm>
            <a:off x="5585460" y="1646952"/>
            <a:ext cx="6286500" cy="46166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procesarPedido()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baseDatos.guardarPedido(this);</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 Ejercicio: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BaseDatosNoSQL implements IBaseDatos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guardarPedido(Pedido pedido)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guardar en NoSQL</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¿Qué ventaja ofrece el DIP en esta situación?</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cxnSp>
        <p:nvCxnSpPr>
          <p:cNvPr id="283" name="Google Shape;283;p54"/>
          <p:cNvCxnSpPr/>
          <p:nvPr/>
        </p:nvCxnSpPr>
        <p:spPr>
          <a:xfrm>
            <a:off x="5585460" y="2224243"/>
            <a:ext cx="0" cy="417576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284" name="Google Shape;284;p54"/>
          <p:cNvSpPr/>
          <p:nvPr/>
        </p:nvSpPr>
        <p:spPr>
          <a:xfrm>
            <a:off x="192024" y="1658688"/>
            <a:ext cx="5393436" cy="52937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interface IBaseDatos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void guardarPedido(Pedido pedido);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BaseDatosSQL implements IBaseDatos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guardarPedido(Pedido pedido)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Lógica para guardar en SQL</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Pedido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private IBaseDatos baseDatos;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Pedido(IBaseDatos baseDatos)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this.baseDatos = baseDatos;</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5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90" name="Google Shape;290;p55"/>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91" name="Google Shape;291;p55"/>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Ejemplo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292" name="Google Shape;292;p55"/>
          <p:cNvSpPr txBox="1"/>
          <p:nvPr/>
        </p:nvSpPr>
        <p:spPr>
          <a:xfrm>
            <a:off x="336804" y="2031660"/>
            <a:ext cx="6286500" cy="31700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 Respuesta: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El DIP permite cambiar la implementación de la base de datos (por ejemplo, de SQL a NoSQL) sin modificar la clase Pedido, ya que esta depende de la abstracción IBaseDatos y no de una implementación concreta.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5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98" name="Google Shape;298;p56"/>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99" name="Google Shape;299;p56"/>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 </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Casos Practicos </a:t>
            </a:r>
            <a:endParaRPr/>
          </a:p>
        </p:txBody>
      </p:sp>
      <p:sp>
        <p:nvSpPr>
          <p:cNvPr id="300" name="Google Shape;300;p56"/>
          <p:cNvSpPr txBox="1"/>
          <p:nvPr/>
        </p:nvSpPr>
        <p:spPr>
          <a:xfrm>
            <a:off x="343662" y="2066880"/>
            <a:ext cx="10842498" cy="4832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Caso Práctico 1: Principio de Responsabilidad Única - SRP</a:t>
            </a:r>
            <a:endParaRPr/>
          </a:p>
          <a:p>
            <a:pPr indent="0" lvl="0" marL="5334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533400" marR="0" rtl="0" algn="l">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Contexto:</a:t>
            </a:r>
            <a:r>
              <a:rPr b="0" i="0" lang="es-ES" sz="2800" u="none" cap="none" strike="noStrike">
                <a:solidFill>
                  <a:srgbClr val="000000"/>
                </a:solidFill>
                <a:latin typeface="Arial"/>
                <a:ea typeface="Arial"/>
                <a:cs typeface="Arial"/>
                <a:sym typeface="Arial"/>
              </a:rPr>
              <a:t> Un sistema de gestión de una biblioteca donde es necesario manejar la información de los libros y gestionar su impresión y almacenamiento en la base de datos.</a:t>
            </a:r>
            <a:endParaRPr/>
          </a:p>
          <a:p>
            <a:pPr indent="0" lvl="0" marL="0"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533400" marR="0" rtl="0" algn="l">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Problema:</a:t>
            </a:r>
            <a:r>
              <a:rPr b="0" i="0" lang="es-ES" sz="2800" u="none" cap="none" strike="noStrike">
                <a:solidFill>
                  <a:srgbClr val="000000"/>
                </a:solidFill>
                <a:latin typeface="Arial"/>
                <a:ea typeface="Arial"/>
                <a:cs typeface="Arial"/>
                <a:sym typeface="Arial"/>
              </a:rPr>
              <a:t> La clase Libro tiene múltiples responsabilidades: almacenar información y gestionar la impresión.</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5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06" name="Google Shape;306;p5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07" name="Google Shape;307;p57"/>
          <p:cNvSpPr txBox="1"/>
          <p:nvPr/>
        </p:nvSpPr>
        <p:spPr>
          <a:xfrm>
            <a:off x="336804" y="831331"/>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de diseño: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Casos Practicos </a:t>
            </a:r>
            <a:endParaRPr/>
          </a:p>
        </p:txBody>
      </p:sp>
      <p:sp>
        <p:nvSpPr>
          <p:cNvPr id="308" name="Google Shape;308;p57"/>
          <p:cNvSpPr txBox="1"/>
          <p:nvPr/>
        </p:nvSpPr>
        <p:spPr>
          <a:xfrm>
            <a:off x="343662" y="2295480"/>
            <a:ext cx="10483596"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Caso Práctico 2: Principio de Responsabilidad Única - SRP</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1" marL="625475" marR="0" rtl="0" algn="l">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Contexto:</a:t>
            </a:r>
            <a:r>
              <a:rPr b="0" i="0" lang="es-ES" sz="2800" u="none" cap="none" strike="noStrike">
                <a:solidFill>
                  <a:srgbClr val="000000"/>
                </a:solidFill>
                <a:latin typeface="Arial"/>
                <a:ea typeface="Arial"/>
                <a:cs typeface="Arial"/>
                <a:sym typeface="Arial"/>
              </a:rPr>
              <a:t> Un sistema de gestión de empleados donde cada empleado tiene que calcular su salario y generar su recibo de pago.</a:t>
            </a:r>
            <a:endParaRPr/>
          </a:p>
          <a:p>
            <a:pPr indent="0" lvl="1" marL="625475"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1" marL="625475" marR="0" rtl="0" algn="l">
              <a:lnSpc>
                <a:spcPct val="100000"/>
              </a:lnSpc>
              <a:spcBef>
                <a:spcPts val="0"/>
              </a:spcBef>
              <a:spcAft>
                <a:spcPts val="0"/>
              </a:spcAft>
              <a:buNone/>
            </a:pPr>
            <a:r>
              <a:rPr b="1" i="0" lang="es-ES" sz="2800" u="none" cap="none" strike="noStrike">
                <a:solidFill>
                  <a:srgbClr val="000000"/>
                </a:solidFill>
                <a:latin typeface="Arial"/>
                <a:ea typeface="Arial"/>
                <a:cs typeface="Arial"/>
                <a:sym typeface="Arial"/>
              </a:rPr>
              <a:t>Problema:</a:t>
            </a:r>
            <a:r>
              <a:rPr b="0" i="0" lang="es-ES" sz="2800" u="none" cap="none" strike="noStrike">
                <a:solidFill>
                  <a:srgbClr val="000000"/>
                </a:solidFill>
                <a:latin typeface="Arial"/>
                <a:ea typeface="Arial"/>
                <a:cs typeface="Arial"/>
                <a:sym typeface="Arial"/>
              </a:rPr>
              <a:t> La clase Empleado realiza tanto el cálculo del salario como la impresión del recibo.</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5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14" name="Google Shape;314;p58"/>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15" name="Google Shape;315;p58"/>
          <p:cNvSpPr txBox="1"/>
          <p:nvPr/>
        </p:nvSpPr>
        <p:spPr>
          <a:xfrm>
            <a:off x="607073" y="1162867"/>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SOLID</a:t>
            </a:r>
            <a:endParaRPr b="1" i="0" sz="3600" u="none" cap="none" strike="noStrike">
              <a:solidFill>
                <a:srgbClr val="244061"/>
              </a:solidFill>
              <a:latin typeface="Arial"/>
              <a:ea typeface="Arial"/>
              <a:cs typeface="Arial"/>
              <a:sym typeface="Arial"/>
            </a:endParaRPr>
          </a:p>
        </p:txBody>
      </p:sp>
      <p:sp>
        <p:nvSpPr>
          <p:cNvPr id="316" name="Google Shape;316;p58"/>
          <p:cNvSpPr txBox="1"/>
          <p:nvPr/>
        </p:nvSpPr>
        <p:spPr>
          <a:xfrm>
            <a:off x="343662" y="1990680"/>
            <a:ext cx="10483596" cy="464742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Los principios SOLID son un subconjunto de principios de diseño orientados a mejorar la robustez y la flexibilidad del software. Son cinco principios específicos:</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3600"/>
              <a:buFont typeface="Arial"/>
              <a:buChar char="•"/>
            </a:pPr>
            <a:r>
              <a:rPr b="1" i="0" lang="es-ES" sz="3600" u="none" cap="none" strike="noStrike">
                <a:solidFill>
                  <a:srgbClr val="FF0000"/>
                </a:solidFill>
                <a:latin typeface="Arial"/>
                <a:ea typeface="Arial"/>
                <a:cs typeface="Arial"/>
                <a:sym typeface="Arial"/>
              </a:rPr>
              <a:t>S</a:t>
            </a:r>
            <a:r>
              <a:rPr b="1" i="0" lang="es-ES" sz="2800" u="none" cap="none" strike="noStrike">
                <a:solidFill>
                  <a:srgbClr val="000000"/>
                </a:solidFill>
                <a:latin typeface="Arial"/>
                <a:ea typeface="Arial"/>
                <a:cs typeface="Arial"/>
                <a:sym typeface="Arial"/>
              </a:rPr>
              <a:t>ingle Responsibility Principle (SRP)</a:t>
            </a:r>
            <a:r>
              <a:rPr b="0" i="0" lang="es-ES" sz="2800" u="none" cap="none" strike="noStrike">
                <a:solidFill>
                  <a:srgbClr val="000000"/>
                </a:solidFill>
                <a:latin typeface="Arial"/>
                <a:ea typeface="Arial"/>
                <a:cs typeface="Arial"/>
                <a:sym typeface="Arial"/>
              </a:rPr>
              <a:t>: Una clase debe tener una sola responsabilidad o motivo para cambiar.</a:t>
            </a:r>
            <a:endParaRPr/>
          </a:p>
          <a:p>
            <a:pPr indent="-279400" lvl="0" marL="4572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3600"/>
              <a:buFont typeface="Arial"/>
              <a:buChar char="•"/>
            </a:pPr>
            <a:r>
              <a:rPr b="1" i="0" lang="es-ES" sz="3600" u="none" cap="none" strike="noStrike">
                <a:solidFill>
                  <a:srgbClr val="FF0000"/>
                </a:solidFill>
                <a:latin typeface="Arial"/>
                <a:ea typeface="Arial"/>
                <a:cs typeface="Arial"/>
                <a:sym typeface="Arial"/>
              </a:rPr>
              <a:t>O</a:t>
            </a:r>
            <a:r>
              <a:rPr b="1" i="0" lang="es-ES" sz="2800" u="none" cap="none" strike="noStrike">
                <a:solidFill>
                  <a:srgbClr val="000000"/>
                </a:solidFill>
                <a:latin typeface="Arial"/>
                <a:ea typeface="Arial"/>
                <a:cs typeface="Arial"/>
                <a:sym typeface="Arial"/>
              </a:rPr>
              <a:t>pen/Closed Principle (OCP)</a:t>
            </a:r>
            <a:r>
              <a:rPr b="0" i="0" lang="es-ES" sz="2800" u="none" cap="none" strike="noStrike">
                <a:solidFill>
                  <a:srgbClr val="000000"/>
                </a:solidFill>
                <a:latin typeface="Arial"/>
                <a:ea typeface="Arial"/>
                <a:cs typeface="Arial"/>
                <a:sym typeface="Arial"/>
              </a:rPr>
              <a:t>: Las entidades de software deben estar abiertas para extensión, pero cerradas para modificación.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5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22" name="Google Shape;322;p59"/>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23" name="Google Shape;323;p59"/>
          <p:cNvSpPr txBox="1"/>
          <p:nvPr/>
        </p:nvSpPr>
        <p:spPr>
          <a:xfrm>
            <a:off x="607073" y="1162867"/>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Introducción a principios SOLID</a:t>
            </a:r>
            <a:endParaRPr b="1" i="0" sz="3600" u="none" cap="none" strike="noStrike">
              <a:solidFill>
                <a:srgbClr val="244061"/>
              </a:solidFill>
              <a:latin typeface="Arial"/>
              <a:ea typeface="Arial"/>
              <a:cs typeface="Arial"/>
              <a:sym typeface="Arial"/>
            </a:endParaRPr>
          </a:p>
        </p:txBody>
      </p:sp>
      <p:sp>
        <p:nvSpPr>
          <p:cNvPr id="324" name="Google Shape;324;p59"/>
          <p:cNvSpPr txBox="1"/>
          <p:nvPr/>
        </p:nvSpPr>
        <p:spPr>
          <a:xfrm>
            <a:off x="343662" y="1990680"/>
            <a:ext cx="10483596" cy="4585871"/>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FF0000"/>
                </a:solidFill>
                <a:latin typeface="Arial"/>
                <a:ea typeface="Arial"/>
                <a:cs typeface="Arial"/>
                <a:sym typeface="Arial"/>
              </a:rPr>
              <a:t>L</a:t>
            </a:r>
            <a:r>
              <a:rPr b="1" i="0" lang="es-ES" sz="2800" u="none" cap="none" strike="noStrike">
                <a:solidFill>
                  <a:srgbClr val="000000"/>
                </a:solidFill>
                <a:latin typeface="Arial"/>
                <a:ea typeface="Arial"/>
                <a:cs typeface="Arial"/>
                <a:sym typeface="Arial"/>
              </a:rPr>
              <a:t>iskov Substitution Principle (LSP)</a:t>
            </a:r>
            <a:r>
              <a:rPr b="0" i="0" lang="es-ES" sz="2800" u="none" cap="none" strike="noStrike">
                <a:solidFill>
                  <a:srgbClr val="000000"/>
                </a:solidFill>
                <a:latin typeface="Arial"/>
                <a:ea typeface="Arial"/>
                <a:cs typeface="Arial"/>
                <a:sym typeface="Arial"/>
              </a:rPr>
              <a:t>: Las clases derivadas deben poder sustituir a sus clases base sin alterar el comportamiento del programa.</a:t>
            </a:r>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FF0000"/>
                </a:solidFill>
                <a:latin typeface="Arial"/>
                <a:ea typeface="Arial"/>
                <a:cs typeface="Arial"/>
                <a:sym typeface="Arial"/>
              </a:rPr>
              <a:t>I</a:t>
            </a:r>
            <a:r>
              <a:rPr b="1" i="0" lang="es-ES" sz="2800" u="none" cap="none" strike="noStrike">
                <a:solidFill>
                  <a:srgbClr val="000000"/>
                </a:solidFill>
                <a:latin typeface="Arial"/>
                <a:ea typeface="Arial"/>
                <a:cs typeface="Arial"/>
                <a:sym typeface="Arial"/>
              </a:rPr>
              <a:t>nterface Segregation Principle (ISP)</a:t>
            </a:r>
            <a:r>
              <a:rPr b="0" i="0" lang="es-ES" sz="2800" u="none" cap="none" strike="noStrike">
                <a:solidFill>
                  <a:srgbClr val="000000"/>
                </a:solidFill>
                <a:latin typeface="Arial"/>
                <a:ea typeface="Arial"/>
                <a:cs typeface="Arial"/>
                <a:sym typeface="Arial"/>
              </a:rPr>
              <a:t>: Los clientes no deben estar obligados a depender de interfaces que no usan.</a:t>
            </a:r>
            <a:endParaRPr/>
          </a:p>
          <a:p>
            <a:pPr indent="-279400" lvl="0" marL="45720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FF0000"/>
                </a:solidFill>
                <a:latin typeface="Arial"/>
                <a:ea typeface="Arial"/>
                <a:cs typeface="Arial"/>
                <a:sym typeface="Arial"/>
              </a:rPr>
              <a:t>D</a:t>
            </a:r>
            <a:r>
              <a:rPr b="1" i="0" lang="es-ES" sz="2800" u="none" cap="none" strike="noStrike">
                <a:solidFill>
                  <a:srgbClr val="000000"/>
                </a:solidFill>
                <a:latin typeface="Arial"/>
                <a:ea typeface="Arial"/>
                <a:cs typeface="Arial"/>
                <a:sym typeface="Arial"/>
              </a:rPr>
              <a:t>ependency Inversion Principle (DIP)</a:t>
            </a:r>
            <a:r>
              <a:rPr b="0" i="0" lang="es-ES" sz="2800" u="none" cap="none" strike="noStrike">
                <a:solidFill>
                  <a:srgbClr val="000000"/>
                </a:solidFill>
                <a:latin typeface="Arial"/>
                <a:ea typeface="Arial"/>
                <a:cs typeface="Arial"/>
                <a:sym typeface="Arial"/>
              </a:rPr>
              <a:t>: Los módulos de alto nivel no deben depender de módulos de bajo nivel; ambos deben depender de abstracciones.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6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30" name="Google Shape;330;p60"/>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31" name="Google Shape;331;p60"/>
          <p:cNvSpPr txBox="1"/>
          <p:nvPr/>
        </p:nvSpPr>
        <p:spPr>
          <a:xfrm>
            <a:off x="607073" y="1162867"/>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Deferencias entre Introducción a principios diseño y Principios SOLID</a:t>
            </a:r>
            <a:endParaRPr b="1" i="0" sz="3600" u="none" cap="none" strike="noStrike">
              <a:solidFill>
                <a:srgbClr val="244061"/>
              </a:solidFill>
              <a:latin typeface="Arial"/>
              <a:ea typeface="Arial"/>
              <a:cs typeface="Arial"/>
              <a:sym typeface="Arial"/>
            </a:endParaRPr>
          </a:p>
        </p:txBody>
      </p:sp>
      <p:sp>
        <p:nvSpPr>
          <p:cNvPr id="332" name="Google Shape;332;p60"/>
          <p:cNvSpPr txBox="1"/>
          <p:nvPr/>
        </p:nvSpPr>
        <p:spPr>
          <a:xfrm>
            <a:off x="724662" y="2600280"/>
            <a:ext cx="10483596"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sng" cap="none" strike="noStrike">
                <a:solidFill>
                  <a:srgbClr val="000000"/>
                </a:solidFill>
                <a:latin typeface="Arial"/>
                <a:ea typeface="Arial"/>
                <a:cs typeface="Arial"/>
                <a:sym typeface="Arial"/>
              </a:rPr>
              <a:t>Alcance y Especificidad</a:t>
            </a:r>
            <a:r>
              <a:rPr b="0" i="0" lang="es-ES" sz="2800" u="sng"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800" u="sng" cap="none" strike="noStrike">
              <a:solidFill>
                <a:srgbClr val="000000"/>
              </a:solidFill>
              <a:latin typeface="Arial"/>
              <a:ea typeface="Arial"/>
              <a:cs typeface="Arial"/>
              <a:sym typeface="Arial"/>
            </a:endParaRPr>
          </a:p>
          <a:p>
            <a:pPr indent="-457200" lvl="1"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Principios de Diseño</a:t>
            </a:r>
            <a:r>
              <a:rPr b="0" i="0" lang="es-ES" sz="2800" u="none" cap="none" strike="noStrike">
                <a:solidFill>
                  <a:srgbClr val="000000"/>
                </a:solidFill>
                <a:latin typeface="Arial"/>
                <a:ea typeface="Arial"/>
                <a:cs typeface="Arial"/>
                <a:sym typeface="Arial"/>
              </a:rPr>
              <a:t>: Son más generales y abarcan una amplia gama de prácticas de diseño orientadas a objetos.</a:t>
            </a:r>
            <a:endParaRPr/>
          </a:p>
          <a:p>
            <a:pPr indent="-279400" lvl="1"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1"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Principios SOLID</a:t>
            </a:r>
            <a:r>
              <a:rPr b="0" i="0" lang="es-ES" sz="2800" u="none" cap="none" strike="noStrike">
                <a:solidFill>
                  <a:srgbClr val="000000"/>
                </a:solidFill>
                <a:latin typeface="Arial"/>
                <a:ea typeface="Arial"/>
                <a:cs typeface="Arial"/>
                <a:sym typeface="Arial"/>
              </a:rPr>
              <a:t>: Son más específicos y se centran en la creación de código más robusto y fácil de mantener.</a:t>
            </a:r>
            <a:endParaRPr/>
          </a:p>
          <a:p>
            <a:pPr indent="0" lvl="1"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6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38" name="Google Shape;338;p61"/>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39" name="Google Shape;339;p61"/>
          <p:cNvSpPr txBox="1"/>
          <p:nvPr/>
        </p:nvSpPr>
        <p:spPr>
          <a:xfrm>
            <a:off x="607073" y="1162867"/>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Deferencias entre Introducción a principios diseño y Principios SOLID</a:t>
            </a:r>
            <a:endParaRPr b="1" i="0" sz="3600" u="none" cap="none" strike="noStrike">
              <a:solidFill>
                <a:srgbClr val="244061"/>
              </a:solidFill>
              <a:latin typeface="Arial"/>
              <a:ea typeface="Arial"/>
              <a:cs typeface="Arial"/>
              <a:sym typeface="Arial"/>
            </a:endParaRPr>
          </a:p>
        </p:txBody>
      </p:sp>
      <p:sp>
        <p:nvSpPr>
          <p:cNvPr id="340" name="Google Shape;340;p61"/>
          <p:cNvSpPr txBox="1"/>
          <p:nvPr/>
        </p:nvSpPr>
        <p:spPr>
          <a:xfrm>
            <a:off x="724662" y="2600280"/>
            <a:ext cx="10483596"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sng" cap="none" strike="noStrike">
                <a:solidFill>
                  <a:srgbClr val="000000"/>
                </a:solidFill>
                <a:latin typeface="Arial"/>
                <a:ea typeface="Arial"/>
                <a:cs typeface="Arial"/>
                <a:sym typeface="Arial"/>
              </a:rPr>
              <a:t>Objetivos</a:t>
            </a:r>
            <a:r>
              <a:rPr b="0" i="0" lang="es-ES" sz="2800" u="sng" cap="none" strike="noStrike">
                <a:solidFill>
                  <a:srgbClr val="000000"/>
                </a:solidFill>
                <a:latin typeface="Arial"/>
                <a:ea typeface="Arial"/>
                <a:cs typeface="Arial"/>
                <a:sym typeface="Arial"/>
              </a:rPr>
              <a:t>:</a:t>
            </a:r>
            <a:endParaRPr/>
          </a:p>
          <a:p>
            <a:pPr indent="0" lvl="1" marL="0"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457200" lvl="1"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Principios de Diseño</a:t>
            </a:r>
            <a:r>
              <a:rPr b="0" i="0" lang="es-ES" sz="2800" u="none" cap="none" strike="noStrike">
                <a:solidFill>
                  <a:srgbClr val="000000"/>
                </a:solidFill>
                <a:latin typeface="Arial"/>
                <a:ea typeface="Arial"/>
                <a:cs typeface="Arial"/>
                <a:sym typeface="Arial"/>
              </a:rPr>
              <a:t>: Promueven buenas prácticas generales de diseño para mejorar la calidad del software.</a:t>
            </a:r>
            <a:endParaRPr/>
          </a:p>
          <a:p>
            <a:pPr indent="-279400" lvl="1"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1"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Principios SOLID</a:t>
            </a:r>
            <a:r>
              <a:rPr b="0" i="0" lang="es-ES" sz="2800" u="none" cap="none" strike="noStrike">
                <a:solidFill>
                  <a:srgbClr val="000000"/>
                </a:solidFill>
                <a:latin typeface="Arial"/>
                <a:ea typeface="Arial"/>
                <a:cs typeface="Arial"/>
                <a:sym typeface="Arial"/>
              </a:rPr>
              <a:t>: Abordan problemas específicos en el diseño de software para mejorar la escalabilidad y la flexibilidad del código.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6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46" name="Google Shape;346;p62"/>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47" name="Google Shape;347;p62"/>
          <p:cNvSpPr txBox="1"/>
          <p:nvPr/>
        </p:nvSpPr>
        <p:spPr>
          <a:xfrm>
            <a:off x="607073" y="1162867"/>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Deferencias entre Introducción a principios diseño y Principios SOLID</a:t>
            </a:r>
            <a:endParaRPr b="1" i="0" sz="3600" u="none" cap="none" strike="noStrike">
              <a:solidFill>
                <a:srgbClr val="244061"/>
              </a:solidFill>
              <a:latin typeface="Arial"/>
              <a:ea typeface="Arial"/>
              <a:cs typeface="Arial"/>
              <a:sym typeface="Arial"/>
            </a:endParaRPr>
          </a:p>
        </p:txBody>
      </p:sp>
      <p:sp>
        <p:nvSpPr>
          <p:cNvPr id="348" name="Google Shape;348;p62"/>
          <p:cNvSpPr txBox="1"/>
          <p:nvPr/>
        </p:nvSpPr>
        <p:spPr>
          <a:xfrm>
            <a:off x="724662" y="2600280"/>
            <a:ext cx="10483596"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sng" cap="none" strike="noStrike">
                <a:solidFill>
                  <a:srgbClr val="000000"/>
                </a:solidFill>
                <a:latin typeface="Arial"/>
                <a:ea typeface="Arial"/>
                <a:cs typeface="Arial"/>
                <a:sym typeface="Arial"/>
              </a:rPr>
              <a:t>Aplicación</a:t>
            </a:r>
            <a:r>
              <a:rPr b="0" i="0" lang="es-ES" sz="2800" u="sng"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57200" lvl="1"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Principios de Diseño</a:t>
            </a:r>
            <a:r>
              <a:rPr b="0" i="0" lang="es-ES" sz="2800" u="none" cap="none" strike="noStrike">
                <a:solidFill>
                  <a:srgbClr val="000000"/>
                </a:solidFill>
                <a:latin typeface="Arial"/>
                <a:ea typeface="Arial"/>
                <a:cs typeface="Arial"/>
                <a:sym typeface="Arial"/>
              </a:rPr>
              <a:t>: Pueden aplicarse a lo largo de todo el ciclo de desarrollo del software.</a:t>
            </a:r>
            <a:endParaRPr/>
          </a:p>
          <a:p>
            <a:pPr indent="-279400" lvl="1" marL="45720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Arial"/>
              <a:ea typeface="Arial"/>
              <a:cs typeface="Arial"/>
              <a:sym typeface="Arial"/>
            </a:endParaRPr>
          </a:p>
          <a:p>
            <a:pPr indent="-457200" lvl="1"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Principios SOLID</a:t>
            </a:r>
            <a:r>
              <a:rPr b="0" i="0" lang="es-ES" sz="2800" u="none" cap="none" strike="noStrike">
                <a:solidFill>
                  <a:srgbClr val="000000"/>
                </a:solidFill>
                <a:latin typeface="Arial"/>
                <a:ea typeface="Arial"/>
                <a:cs typeface="Arial"/>
                <a:sym typeface="Arial"/>
              </a:rPr>
              <a:t>: A menudo se utilizan en etapas específicas del desarrollo para abordar problemas particulares.</a:t>
            </a:r>
            <a:endParaRPr/>
          </a:p>
          <a:p>
            <a:pPr indent="0" lvl="1"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6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54" name="Google Shape;354;p63"/>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55" name="Google Shape;355;p63"/>
          <p:cNvSpPr txBox="1"/>
          <p:nvPr/>
        </p:nvSpPr>
        <p:spPr>
          <a:xfrm>
            <a:off x="607073" y="1162867"/>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Responsabilidad Única (SRP)</a:t>
            </a:r>
            <a:endParaRPr b="1" i="0" sz="3600" u="none" cap="none" strike="noStrike">
              <a:solidFill>
                <a:srgbClr val="244061"/>
              </a:solidFill>
              <a:latin typeface="Arial"/>
              <a:ea typeface="Arial"/>
              <a:cs typeface="Arial"/>
              <a:sym typeface="Arial"/>
            </a:endParaRPr>
          </a:p>
        </p:txBody>
      </p:sp>
      <p:sp>
        <p:nvSpPr>
          <p:cNvPr id="356" name="Google Shape;356;p63"/>
          <p:cNvSpPr txBox="1"/>
          <p:nvPr/>
        </p:nvSpPr>
        <p:spPr>
          <a:xfrm>
            <a:off x="854202" y="2802034"/>
            <a:ext cx="10483596" cy="18158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Establece que una clase debería tener una única responsabilidad o razón para cambiar. En otras palabras, cada clase debe tener una sola tarea o función dentro del software, lo que facilita el mantenimiento y la comprensión del código</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6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62" name="Google Shape;362;p64"/>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63" name="Google Shape;363;p64"/>
          <p:cNvSpPr txBox="1"/>
          <p:nvPr/>
        </p:nvSpPr>
        <p:spPr>
          <a:xfrm>
            <a:off x="594881" y="931588"/>
            <a:ext cx="11123676"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Responsabilidad Única (SRP)</a:t>
            </a:r>
            <a:endParaRPr/>
          </a:p>
          <a:p>
            <a:pPr indent="0" lvl="0" marL="0" marR="0" rtl="0" algn="l">
              <a:lnSpc>
                <a:spcPct val="100000"/>
              </a:lnSpc>
              <a:spcBef>
                <a:spcPts val="0"/>
              </a:spcBef>
              <a:spcAft>
                <a:spcPts val="0"/>
              </a:spcAft>
              <a:buNone/>
            </a:pPr>
            <a:r>
              <a:t/>
            </a:r>
            <a:endParaRPr b="1" i="0" sz="1400" u="none" cap="none" strike="noStrike">
              <a:solidFill>
                <a:srgbClr val="244061"/>
              </a:solidFill>
              <a:latin typeface="Arial"/>
              <a:ea typeface="Arial"/>
              <a:cs typeface="Arial"/>
              <a:sym typeface="Arial"/>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Importancia:</a:t>
            </a:r>
            <a:endParaRPr b="1" i="0" sz="3600" u="none" cap="none" strike="noStrike">
              <a:solidFill>
                <a:srgbClr val="244061"/>
              </a:solidFill>
              <a:latin typeface="Arial"/>
              <a:ea typeface="Arial"/>
              <a:cs typeface="Arial"/>
              <a:sym typeface="Arial"/>
            </a:endParaRPr>
          </a:p>
        </p:txBody>
      </p:sp>
      <p:sp>
        <p:nvSpPr>
          <p:cNvPr id="364" name="Google Shape;364;p64"/>
          <p:cNvSpPr txBox="1"/>
          <p:nvPr/>
        </p:nvSpPr>
        <p:spPr>
          <a:xfrm>
            <a:off x="607073" y="2655811"/>
            <a:ext cx="10802112" cy="3108543"/>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Facilita el Mantenimiento:</a:t>
            </a:r>
            <a:r>
              <a:rPr b="0" i="0" lang="es-ES" sz="2800" u="none" cap="none" strike="noStrike">
                <a:solidFill>
                  <a:srgbClr val="000000"/>
                </a:solidFill>
                <a:latin typeface="Arial"/>
                <a:ea typeface="Arial"/>
                <a:cs typeface="Arial"/>
                <a:sym typeface="Arial"/>
              </a:rPr>
              <a:t> Las clases con una única responsabilidad son más fáciles de entender, mantener y modificar.</a:t>
            </a:r>
            <a:endParaRPr/>
          </a:p>
          <a:p>
            <a:pPr indent="-279400" lvl="0" marL="4572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Mejora la Reutilización: </a:t>
            </a:r>
            <a:r>
              <a:rPr b="0" i="0" lang="es-ES" sz="2800" u="none" cap="none" strike="noStrike">
                <a:solidFill>
                  <a:srgbClr val="000000"/>
                </a:solidFill>
                <a:latin typeface="Arial"/>
                <a:ea typeface="Arial"/>
                <a:cs typeface="Arial"/>
                <a:sym typeface="Arial"/>
              </a:rPr>
              <a:t>Las clases con una sola responsabilidad son más fáciles de reutilizar en diferentes contextos porque no están acopladas a otras funcionalidades.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6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70" name="Google Shape;370;p65"/>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71" name="Google Shape;371;p65"/>
          <p:cNvSpPr txBox="1"/>
          <p:nvPr/>
        </p:nvSpPr>
        <p:spPr>
          <a:xfrm>
            <a:off x="607073" y="931588"/>
            <a:ext cx="1112367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Responsabilidad Única (SRP)</a:t>
            </a:r>
            <a:endParaRPr/>
          </a:p>
          <a:p>
            <a:pPr indent="0" lvl="0" marL="0" marR="0" rtl="0" algn="l">
              <a:lnSpc>
                <a:spcPct val="100000"/>
              </a:lnSpc>
              <a:spcBef>
                <a:spcPts val="0"/>
              </a:spcBef>
              <a:spcAft>
                <a:spcPts val="0"/>
              </a:spcAft>
              <a:buNone/>
            </a:pPr>
            <a:r>
              <a:t/>
            </a:r>
            <a:endParaRPr b="1" i="0" sz="1100" u="none" cap="none" strike="noStrike">
              <a:solidFill>
                <a:srgbClr val="244061"/>
              </a:solidFill>
              <a:latin typeface="Arial"/>
              <a:ea typeface="Arial"/>
              <a:cs typeface="Arial"/>
              <a:sym typeface="Arial"/>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Importancia:</a:t>
            </a:r>
            <a:endParaRPr b="1" i="0" sz="3600" u="none" cap="none" strike="noStrike">
              <a:solidFill>
                <a:srgbClr val="244061"/>
              </a:solidFill>
              <a:latin typeface="Arial"/>
              <a:ea typeface="Arial"/>
              <a:cs typeface="Arial"/>
              <a:sym typeface="Arial"/>
            </a:endParaRPr>
          </a:p>
        </p:txBody>
      </p:sp>
      <p:sp>
        <p:nvSpPr>
          <p:cNvPr id="372" name="Google Shape;372;p65"/>
          <p:cNvSpPr txBox="1"/>
          <p:nvPr/>
        </p:nvSpPr>
        <p:spPr>
          <a:xfrm>
            <a:off x="607073" y="2533891"/>
            <a:ext cx="10802112" cy="397031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Reduce el Acoplamiento: </a:t>
            </a:r>
            <a:r>
              <a:rPr b="0" i="0" lang="es-ES" sz="2800" u="none" cap="none" strike="noStrike">
                <a:solidFill>
                  <a:srgbClr val="000000"/>
                </a:solidFill>
                <a:latin typeface="Arial"/>
                <a:ea typeface="Arial"/>
                <a:cs typeface="Arial"/>
                <a:sym typeface="Arial"/>
              </a:rPr>
              <a:t>Al tener clases con responsabilidades bien definidas, se reduce la dependencia entre ellas, lo que facilita el aislamiento y la prueba de componentes individuales.</a:t>
            </a:r>
            <a:endParaRPr/>
          </a:p>
          <a:p>
            <a:pPr indent="-279400" lvl="0" marL="4572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Aumenta la Cohesión:</a:t>
            </a:r>
            <a:r>
              <a:rPr b="0" i="0" lang="es-ES" sz="2800" u="none" cap="none" strike="noStrike">
                <a:solidFill>
                  <a:srgbClr val="000000"/>
                </a:solidFill>
                <a:latin typeface="Arial"/>
                <a:ea typeface="Arial"/>
                <a:cs typeface="Arial"/>
                <a:sym typeface="Arial"/>
              </a:rPr>
              <a:t> Las clases que hacen una sola cosa tienden a tener una alta cohesión, lo que significa que los métodos y atributos de la clase están estrechamente relacionados entre sí.</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id="377" name="Google Shape;377;p6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78" name="Google Shape;378;p66"/>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79" name="Google Shape;379;p66"/>
          <p:cNvSpPr txBox="1"/>
          <p:nvPr/>
        </p:nvSpPr>
        <p:spPr>
          <a:xfrm>
            <a:off x="607073" y="1069694"/>
            <a:ext cx="111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Responsabilidad Única (SRP)</a:t>
            </a:r>
            <a:endParaRPr/>
          </a:p>
        </p:txBody>
      </p:sp>
      <p:sp>
        <p:nvSpPr>
          <p:cNvPr id="380" name="Google Shape;380;p66"/>
          <p:cNvSpPr txBox="1"/>
          <p:nvPr/>
        </p:nvSpPr>
        <p:spPr>
          <a:xfrm>
            <a:off x="607073" y="1987882"/>
            <a:ext cx="10802112" cy="47705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2800" u="none" cap="none" strike="noStrike">
                <a:solidFill>
                  <a:srgbClr val="000000"/>
                </a:solidFill>
                <a:highlight>
                  <a:srgbClr val="F5F5F5"/>
                </a:highlight>
                <a:latin typeface="Verdana"/>
                <a:ea typeface="Verdana"/>
                <a:cs typeface="Verdana"/>
                <a:sym typeface="Verdana"/>
              </a:rPr>
              <a:t>Este principio nos viene a decir que una clase sólo debería tener una única razón para cambiar.</a:t>
            </a:r>
            <a:endParaRPr/>
          </a:p>
          <a:p>
            <a:pPr indent="0" lvl="0" marL="0" marR="0" rtl="0" algn="ctr">
              <a:lnSpc>
                <a:spcPct val="100000"/>
              </a:lnSpc>
              <a:spcBef>
                <a:spcPts val="0"/>
              </a:spcBef>
              <a:spcAft>
                <a:spcPts val="0"/>
              </a:spcAft>
              <a:buNone/>
            </a:pPr>
            <a:r>
              <a:t/>
            </a:r>
            <a:endParaRPr b="0" i="0" sz="1600" u="none" cap="none" strike="noStrike">
              <a:solidFill>
                <a:srgbClr val="000000"/>
              </a:solidFill>
              <a:highlight>
                <a:srgbClr val="F5F5F5"/>
              </a:highlight>
              <a:latin typeface="Verdana"/>
              <a:ea typeface="Verdana"/>
              <a:cs typeface="Verdana"/>
              <a:sym typeface="Verdana"/>
            </a:endParaRPr>
          </a:p>
          <a:p>
            <a:pPr indent="0" lvl="0" marL="0" marR="0" rtl="0" algn="ctr">
              <a:lnSpc>
                <a:spcPct val="100000"/>
              </a:lnSpc>
              <a:spcBef>
                <a:spcPts val="0"/>
              </a:spcBef>
              <a:spcAft>
                <a:spcPts val="0"/>
              </a:spcAft>
              <a:buNone/>
            </a:pPr>
            <a:r>
              <a:rPr b="1" i="0" lang="es-ES" sz="2800" u="none" cap="none" strike="noStrike">
                <a:solidFill>
                  <a:srgbClr val="000000"/>
                </a:solidFill>
                <a:highlight>
                  <a:srgbClr val="F5F5F5"/>
                </a:highlight>
                <a:latin typeface="Verdana"/>
                <a:ea typeface="Verdana"/>
                <a:cs typeface="Verdana"/>
                <a:sym typeface="Verdana"/>
              </a:rPr>
              <a:t>"Una clase debe tener una única razón para cambiar."</a:t>
            </a:r>
            <a:endParaRPr b="0" i="0" sz="2800" u="none" cap="none" strike="noStrike">
              <a:solidFill>
                <a:srgbClr val="000000"/>
              </a:solidFill>
              <a:highlight>
                <a:srgbClr val="F5F5F5"/>
              </a:highlight>
              <a:latin typeface="Verdana"/>
              <a:ea typeface="Verdana"/>
              <a:cs typeface="Verdana"/>
              <a:sym typeface="Verdana"/>
            </a:endParaRPr>
          </a:p>
          <a:p>
            <a:pPr indent="0" lvl="0" marL="0" marR="0" rtl="0" algn="just">
              <a:lnSpc>
                <a:spcPct val="100000"/>
              </a:lnSpc>
              <a:spcBef>
                <a:spcPts val="0"/>
              </a:spcBef>
              <a:spcAft>
                <a:spcPts val="0"/>
              </a:spcAft>
              <a:buNone/>
            </a:pPr>
            <a:r>
              <a:t/>
            </a:r>
            <a:endParaRPr b="0" i="0" sz="1600" u="none" cap="none" strike="noStrike">
              <a:solidFill>
                <a:srgbClr val="000000"/>
              </a:solidFill>
              <a:highlight>
                <a:srgbClr val="F5F5F5"/>
              </a:highlight>
              <a:latin typeface="Verdana"/>
              <a:ea typeface="Verdana"/>
              <a:cs typeface="Verdana"/>
              <a:sym typeface="Verdana"/>
            </a:endParaRPr>
          </a:p>
          <a:p>
            <a:pPr indent="0" lvl="0" marL="0" marR="0" rtl="0" algn="just">
              <a:lnSpc>
                <a:spcPct val="100000"/>
              </a:lnSpc>
              <a:spcBef>
                <a:spcPts val="0"/>
              </a:spcBef>
              <a:spcAft>
                <a:spcPts val="0"/>
              </a:spcAft>
              <a:buNone/>
            </a:pPr>
            <a:r>
              <a:rPr b="0" i="0" lang="es-ES" sz="2800" u="none" cap="none" strike="noStrike">
                <a:solidFill>
                  <a:srgbClr val="000000"/>
                </a:solidFill>
                <a:highlight>
                  <a:srgbClr val="F5F5F5"/>
                </a:highlight>
                <a:latin typeface="Verdana"/>
                <a:ea typeface="Verdana"/>
                <a:cs typeface="Verdana"/>
                <a:sym typeface="Verdana"/>
              </a:rPr>
              <a:t>En términos prácticos, este principio establece que:</a:t>
            </a:r>
            <a:endParaRPr/>
          </a:p>
          <a:p>
            <a:pPr indent="0" lvl="0" marL="0" marR="0" rtl="0" algn="just">
              <a:lnSpc>
                <a:spcPct val="100000"/>
              </a:lnSpc>
              <a:spcBef>
                <a:spcPts val="0"/>
              </a:spcBef>
              <a:spcAft>
                <a:spcPts val="0"/>
              </a:spcAft>
              <a:buNone/>
            </a:pPr>
            <a:r>
              <a:t/>
            </a:r>
            <a:endParaRPr b="0" i="0" sz="1600" u="none" cap="none" strike="noStrike">
              <a:solidFill>
                <a:srgbClr val="000000"/>
              </a:solidFill>
              <a:highlight>
                <a:srgbClr val="F5F5F5"/>
              </a:highlight>
              <a:latin typeface="Verdana"/>
              <a:ea typeface="Verdana"/>
              <a:cs typeface="Verdana"/>
              <a:sym typeface="Verdana"/>
            </a:endParaRPr>
          </a:p>
          <a:p>
            <a:pPr indent="-457200" lvl="0" marL="4572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highlight>
                  <a:srgbClr val="F5F5F5"/>
                </a:highlight>
                <a:latin typeface="Verdana"/>
                <a:ea typeface="Verdana"/>
                <a:cs typeface="Verdana"/>
                <a:sym typeface="Verdana"/>
              </a:rPr>
              <a:t>"Una clase debe tener una y solo una única causa por la cual puede ser modificada."</a:t>
            </a:r>
            <a:endParaRPr b="0" i="0" sz="2800" u="none" cap="none" strike="noStrike">
              <a:solidFill>
                <a:srgbClr val="000000"/>
              </a:solidFill>
              <a:highlight>
                <a:srgbClr val="F5F5F5"/>
              </a:highlight>
              <a:latin typeface="Verdana"/>
              <a:ea typeface="Verdana"/>
              <a:cs typeface="Verdana"/>
              <a:sym typeface="Verdana"/>
            </a:endParaRPr>
          </a:p>
          <a:p>
            <a:pPr indent="-457200" lvl="0" marL="457200" marR="0" rtl="0" algn="just">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highlight>
                  <a:srgbClr val="F5F5F5"/>
                </a:highlight>
                <a:latin typeface="Verdana"/>
                <a:ea typeface="Verdana"/>
                <a:cs typeface="Verdana"/>
                <a:sym typeface="Verdana"/>
              </a:rPr>
              <a:t>"Cada clase debe ser responsable de realizar una actividad del sistema</a:t>
            </a:r>
            <a:endParaRPr b="0" i="0" sz="2800" u="none" cap="none" strike="noStrike">
              <a:solidFill>
                <a:srgbClr val="000000"/>
              </a:solidFill>
              <a:highlight>
                <a:srgbClr val="F5F5F5"/>
              </a:highlight>
              <a:latin typeface="Verdana"/>
              <a:ea typeface="Verdana"/>
              <a:cs typeface="Verdana"/>
              <a:sym typeface="Verdan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6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386" name="Google Shape;386;p6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387" name="Google Shape;387;p67"/>
          <p:cNvSpPr txBox="1"/>
          <p:nvPr/>
        </p:nvSpPr>
        <p:spPr>
          <a:xfrm>
            <a:off x="607073" y="1162867"/>
            <a:ext cx="111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Responsabilidad Única (SRP)</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¿Porque usar ?</a:t>
            </a:r>
            <a:endParaRPr b="1" i="0" sz="3600" u="none" cap="none" strike="noStrike">
              <a:solidFill>
                <a:srgbClr val="244061"/>
              </a:solidFill>
              <a:latin typeface="Arial"/>
              <a:ea typeface="Arial"/>
              <a:cs typeface="Arial"/>
              <a:sym typeface="Arial"/>
            </a:endParaRPr>
          </a:p>
        </p:txBody>
      </p:sp>
      <p:sp>
        <p:nvSpPr>
          <p:cNvPr id="388" name="Google Shape;388;p67"/>
          <p:cNvSpPr txBox="1"/>
          <p:nvPr/>
        </p:nvSpPr>
        <p:spPr>
          <a:xfrm>
            <a:off x="767855" y="3082531"/>
            <a:ext cx="10802112" cy="195149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00000"/>
              </a:buClr>
              <a:buSzPts val="2800"/>
              <a:buFont typeface="Arial"/>
              <a:buChar char="•"/>
            </a:pPr>
            <a:r>
              <a:rPr b="0" i="0" lang="es-ES" sz="2800" u="none" cap="none" strike="noStrike">
                <a:solidFill>
                  <a:srgbClr val="000000"/>
                </a:solidFill>
                <a:latin typeface="Arial"/>
                <a:ea typeface="Arial"/>
                <a:cs typeface="Arial"/>
                <a:sym typeface="Arial"/>
              </a:rPr>
              <a:t>Es más fácil re-utilizar partes del código</a:t>
            </a:r>
            <a:endParaRPr/>
          </a:p>
          <a:p>
            <a:pPr indent="-457200" lvl="0" marL="457200" marR="0" rtl="0" algn="just">
              <a:lnSpc>
                <a:spcPct val="150000"/>
              </a:lnSpc>
              <a:spcBef>
                <a:spcPts val="0"/>
              </a:spcBef>
              <a:spcAft>
                <a:spcPts val="0"/>
              </a:spcAft>
              <a:buClr>
                <a:srgbClr val="000000"/>
              </a:buClr>
              <a:buSzPts val="2800"/>
              <a:buFont typeface="Arial"/>
              <a:buChar char="•"/>
            </a:pPr>
            <a:r>
              <a:rPr b="0" i="0" lang="es-ES" sz="2800" u="none" cap="none" strike="noStrike">
                <a:solidFill>
                  <a:srgbClr val="000000"/>
                </a:solidFill>
                <a:latin typeface="Arial"/>
                <a:ea typeface="Arial"/>
                <a:cs typeface="Arial"/>
                <a:sym typeface="Arial"/>
              </a:rPr>
              <a:t>Las clases grandes son mas difíciles de leer y cambiar.</a:t>
            </a:r>
            <a:endParaRPr/>
          </a:p>
          <a:p>
            <a:pPr indent="-457200" lvl="0" marL="457200" marR="0" rtl="0" algn="just">
              <a:lnSpc>
                <a:spcPct val="150000"/>
              </a:lnSpc>
              <a:spcBef>
                <a:spcPts val="0"/>
              </a:spcBef>
              <a:spcAft>
                <a:spcPts val="0"/>
              </a:spcAft>
              <a:buClr>
                <a:srgbClr val="000000"/>
              </a:buClr>
              <a:buSzPts val="2800"/>
              <a:buFont typeface="Arial"/>
              <a:buChar char="•"/>
            </a:pPr>
            <a:r>
              <a:rPr b="0" i="0" lang="es-ES" sz="2800" u="none" cap="none" strike="noStrike">
                <a:solidFill>
                  <a:srgbClr val="000000"/>
                </a:solidFill>
                <a:latin typeface="Arial"/>
                <a:ea typeface="Arial"/>
                <a:cs typeface="Arial"/>
                <a:sym typeface="Arial"/>
              </a:rPr>
              <a:t>Solucionamos el dilema del nombre de la clase</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grpSp>
        <p:nvGrpSpPr>
          <p:cNvPr id="393" name="Google Shape;393;p68"/>
          <p:cNvGrpSpPr/>
          <p:nvPr/>
        </p:nvGrpSpPr>
        <p:grpSpPr>
          <a:xfrm>
            <a:off x="268944" y="2465481"/>
            <a:ext cx="8132130" cy="3625763"/>
            <a:chOff x="-545443" y="-184416"/>
            <a:chExt cx="3747180" cy="1432372"/>
          </a:xfrm>
        </p:grpSpPr>
        <p:sp>
          <p:nvSpPr>
            <p:cNvPr id="394" name="Google Shape;394;p68"/>
            <p:cNvSpPr/>
            <p:nvPr/>
          </p:nvSpPr>
          <p:spPr>
            <a:xfrm>
              <a:off x="-545443" y="-184416"/>
              <a:ext cx="3747180" cy="1432372"/>
            </a:xfrm>
            <a:custGeom>
              <a:rect b="b" l="l" r="r" t="t"/>
              <a:pathLst>
                <a:path extrusionOk="0" h="1146351" w="2486406">
                  <a:moveTo>
                    <a:pt x="71889" y="0"/>
                  </a:moveTo>
                  <a:lnTo>
                    <a:pt x="2414517" y="0"/>
                  </a:lnTo>
                  <a:cubicBezTo>
                    <a:pt x="2433583" y="0"/>
                    <a:pt x="2451869" y="7574"/>
                    <a:pt x="2465350" y="21056"/>
                  </a:cubicBezTo>
                  <a:cubicBezTo>
                    <a:pt x="2478832" y="34538"/>
                    <a:pt x="2486406" y="52823"/>
                    <a:pt x="2486406" y="71889"/>
                  </a:cubicBezTo>
                  <a:lnTo>
                    <a:pt x="2486406" y="1074462"/>
                  </a:lnTo>
                  <a:cubicBezTo>
                    <a:pt x="2486406" y="1093528"/>
                    <a:pt x="2478832" y="1111813"/>
                    <a:pt x="2465350" y="1125295"/>
                  </a:cubicBezTo>
                  <a:cubicBezTo>
                    <a:pt x="2451869" y="1138777"/>
                    <a:pt x="2433583" y="1146351"/>
                    <a:pt x="2414517" y="1146351"/>
                  </a:cubicBezTo>
                  <a:lnTo>
                    <a:pt x="71889" y="1146351"/>
                  </a:lnTo>
                  <a:cubicBezTo>
                    <a:pt x="52823" y="1146351"/>
                    <a:pt x="34538" y="1138777"/>
                    <a:pt x="21056" y="1125295"/>
                  </a:cubicBezTo>
                  <a:cubicBezTo>
                    <a:pt x="7574" y="1111813"/>
                    <a:pt x="0" y="1093528"/>
                    <a:pt x="0" y="1074462"/>
                  </a:cubicBezTo>
                  <a:lnTo>
                    <a:pt x="0" y="71889"/>
                  </a:lnTo>
                  <a:cubicBezTo>
                    <a:pt x="0" y="52823"/>
                    <a:pt x="7574" y="34538"/>
                    <a:pt x="21056" y="21056"/>
                  </a:cubicBezTo>
                  <a:cubicBezTo>
                    <a:pt x="34538" y="7574"/>
                    <a:pt x="52823" y="0"/>
                    <a:pt x="71889" y="0"/>
                  </a:cubicBezTo>
                  <a:close/>
                </a:path>
              </a:pathLst>
            </a:custGeom>
            <a:solidFill>
              <a:srgbClr val="000000">
                <a:alpha val="0"/>
              </a:srgbClr>
            </a:solidFill>
            <a:ln cap="rnd" cmpd="sng" w="28575">
              <a:solidFill>
                <a:srgbClr val="000000"/>
              </a:solidFill>
              <a:prstDash val="dash"/>
              <a:round/>
              <a:headEnd len="sm" w="sm" type="none"/>
              <a:tailEnd len="sm" w="sm" type="none"/>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Los principios de diseño proporcionan guías para crear software de alta calidad, mantenible y escalable. </a:t>
              </a:r>
              <a:endParaRPr/>
            </a:p>
            <a:p>
              <a:pPr indent="-342900" lvl="0" marL="342900" marR="0" rtl="0" algn="just">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Los principios SOLID, son cinco reglas fundamentales para el diseño orientado a objetos: </a:t>
              </a:r>
              <a:r>
                <a:rPr b="1" i="0" lang="es-ES" sz="2000" u="none" cap="none" strike="noStrike">
                  <a:solidFill>
                    <a:srgbClr val="000000"/>
                  </a:solidFill>
                  <a:latin typeface="Arial"/>
                  <a:ea typeface="Arial"/>
                  <a:cs typeface="Arial"/>
                  <a:sym typeface="Arial"/>
                </a:rPr>
                <a:t>S</a:t>
              </a:r>
              <a:r>
                <a:rPr b="0" i="0" lang="es-ES" sz="2000" u="none" cap="none" strike="noStrike">
                  <a:solidFill>
                    <a:srgbClr val="000000"/>
                  </a:solidFill>
                  <a:latin typeface="Arial"/>
                  <a:ea typeface="Arial"/>
                  <a:cs typeface="Arial"/>
                  <a:sym typeface="Arial"/>
                </a:rPr>
                <a:t>ingle Responsibility, </a:t>
              </a:r>
              <a:r>
                <a:rPr b="1" i="0" lang="es-ES" sz="2000" u="none" cap="none" strike="noStrike">
                  <a:solidFill>
                    <a:srgbClr val="000000"/>
                  </a:solidFill>
                  <a:latin typeface="Arial"/>
                  <a:ea typeface="Arial"/>
                  <a:cs typeface="Arial"/>
                  <a:sym typeface="Arial"/>
                </a:rPr>
                <a:t>O</a:t>
              </a:r>
              <a:r>
                <a:rPr b="0" i="0" lang="es-ES" sz="2000" u="none" cap="none" strike="noStrike">
                  <a:solidFill>
                    <a:srgbClr val="000000"/>
                  </a:solidFill>
                  <a:latin typeface="Arial"/>
                  <a:ea typeface="Arial"/>
                  <a:cs typeface="Arial"/>
                  <a:sym typeface="Arial"/>
                </a:rPr>
                <a:t>pen/Closed, </a:t>
              </a:r>
              <a:r>
                <a:rPr b="1" i="0" lang="es-ES" sz="2000" u="none" cap="none" strike="noStrike">
                  <a:solidFill>
                    <a:srgbClr val="000000"/>
                  </a:solidFill>
                  <a:latin typeface="Arial"/>
                  <a:ea typeface="Arial"/>
                  <a:cs typeface="Arial"/>
                  <a:sym typeface="Arial"/>
                </a:rPr>
                <a:t>L</a:t>
              </a:r>
              <a:r>
                <a:rPr b="0" i="0" lang="es-ES" sz="2000" u="none" cap="none" strike="noStrike">
                  <a:solidFill>
                    <a:srgbClr val="000000"/>
                  </a:solidFill>
                  <a:latin typeface="Arial"/>
                  <a:ea typeface="Arial"/>
                  <a:cs typeface="Arial"/>
                  <a:sym typeface="Arial"/>
                </a:rPr>
                <a:t>iskov Substitution, </a:t>
              </a:r>
              <a:r>
                <a:rPr b="1" i="0" lang="es-ES" sz="2000" u="none" cap="none" strike="noStrike">
                  <a:solidFill>
                    <a:srgbClr val="000000"/>
                  </a:solidFill>
                  <a:latin typeface="Arial"/>
                  <a:ea typeface="Arial"/>
                  <a:cs typeface="Arial"/>
                  <a:sym typeface="Arial"/>
                </a:rPr>
                <a:t>I</a:t>
              </a:r>
              <a:r>
                <a:rPr b="0" i="0" lang="es-ES" sz="2000" u="none" cap="none" strike="noStrike">
                  <a:solidFill>
                    <a:srgbClr val="000000"/>
                  </a:solidFill>
                  <a:latin typeface="Arial"/>
                  <a:ea typeface="Arial"/>
                  <a:cs typeface="Arial"/>
                  <a:sym typeface="Arial"/>
                </a:rPr>
                <a:t>nterface Segregation, y </a:t>
              </a:r>
              <a:r>
                <a:rPr b="1" i="0" lang="es-ES" sz="2000" u="none" cap="none" strike="noStrike">
                  <a:solidFill>
                    <a:srgbClr val="000000"/>
                  </a:solidFill>
                  <a:latin typeface="Arial"/>
                  <a:ea typeface="Arial"/>
                  <a:cs typeface="Arial"/>
                  <a:sym typeface="Arial"/>
                </a:rPr>
                <a:t>D</a:t>
              </a:r>
              <a:r>
                <a:rPr b="0" i="0" lang="es-ES" sz="2000" u="none" cap="none" strike="noStrike">
                  <a:solidFill>
                    <a:srgbClr val="000000"/>
                  </a:solidFill>
                  <a:latin typeface="Arial"/>
                  <a:ea typeface="Arial"/>
                  <a:cs typeface="Arial"/>
                  <a:sym typeface="Arial"/>
                </a:rPr>
                <a:t>ependency Inversion. </a:t>
              </a:r>
              <a:endParaRPr/>
            </a:p>
            <a:p>
              <a:pPr indent="-342900" lvl="0" marL="342900" marR="0" rtl="0" algn="just">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El Principio de Responsabilidad Única (SRP) establece que una clase debe tener una sola responsabilidad o motivo de cambio, facilitando el mantenimiento y la evolución del software. </a:t>
              </a:r>
              <a:endParaRPr/>
            </a:p>
            <a:p>
              <a:pPr indent="-342900" lvl="0" marL="342900" marR="0" rtl="0" algn="just">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Implementar estos principios mejora la cohesión, reduce el acoplamiento y aumenta la flexibilidad del código.</a:t>
              </a:r>
              <a:endParaRPr b="0" i="0" sz="1600" u="none" cap="none" strike="noStrike">
                <a:solidFill>
                  <a:srgbClr val="0D0D0D"/>
                </a:solidFill>
                <a:latin typeface="Arial"/>
                <a:ea typeface="Arial"/>
                <a:cs typeface="Arial"/>
                <a:sym typeface="Arial"/>
              </a:endParaRPr>
            </a:p>
          </p:txBody>
        </p:sp>
        <p:sp>
          <p:nvSpPr>
            <p:cNvPr id="395" name="Google Shape;395;p68"/>
            <p:cNvSpPr txBox="1"/>
            <p:nvPr/>
          </p:nvSpPr>
          <p:spPr>
            <a:xfrm>
              <a:off x="0" y="-47625"/>
              <a:ext cx="2486406" cy="1193976"/>
            </a:xfrm>
            <a:prstGeom prst="rect">
              <a:avLst/>
            </a:prstGeom>
            <a:noFill/>
            <a:ln>
              <a:noFill/>
            </a:ln>
          </p:spPr>
          <p:txBody>
            <a:bodyPr anchorCtr="0" anchor="ctr" bIns="39575" lIns="39575" spcFirstLastPara="1" rIns="39575" wrap="square" tIns="39575">
              <a:noAutofit/>
            </a:bodyPr>
            <a:lstStyle/>
            <a:p>
              <a:pPr indent="0" lvl="0" marL="0" marR="0" rtl="0" algn="ctr">
                <a:lnSpc>
                  <a:spcPct val="119957"/>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grpSp>
      <p:grpSp>
        <p:nvGrpSpPr>
          <p:cNvPr id="396" name="Google Shape;396;p68"/>
          <p:cNvGrpSpPr/>
          <p:nvPr/>
        </p:nvGrpSpPr>
        <p:grpSpPr>
          <a:xfrm>
            <a:off x="-116008" y="-120549"/>
            <a:ext cx="12424017" cy="253060"/>
            <a:chOff x="0" y="-47625"/>
            <a:chExt cx="4908254" cy="99975"/>
          </a:xfrm>
        </p:grpSpPr>
        <p:sp>
          <p:nvSpPr>
            <p:cNvPr id="397" name="Google Shape;397;p68"/>
            <p:cNvSpPr/>
            <p:nvPr/>
          </p:nvSpPr>
          <p:spPr>
            <a:xfrm>
              <a:off x="0" y="0"/>
              <a:ext cx="4908254" cy="52350"/>
            </a:xfrm>
            <a:custGeom>
              <a:rect b="b" l="l" r="r" t="t"/>
              <a:pathLst>
                <a:path extrusionOk="0" h="52350" w="4908254">
                  <a:moveTo>
                    <a:pt x="0" y="0"/>
                  </a:moveTo>
                  <a:lnTo>
                    <a:pt x="4908254" y="0"/>
                  </a:lnTo>
                  <a:lnTo>
                    <a:pt x="4908254" y="52350"/>
                  </a:lnTo>
                  <a:lnTo>
                    <a:pt x="0" y="52350"/>
                  </a:lnTo>
                  <a:close/>
                </a:path>
              </a:pathLst>
            </a:custGeom>
            <a:solidFill>
              <a:srgbClr val="343434">
                <a:alpha val="7725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98" name="Google Shape;398;p68"/>
            <p:cNvSpPr txBox="1"/>
            <p:nvPr/>
          </p:nvSpPr>
          <p:spPr>
            <a:xfrm>
              <a:off x="0" y="-47625"/>
              <a:ext cx="4908254" cy="99975"/>
            </a:xfrm>
            <a:prstGeom prst="rect">
              <a:avLst/>
            </a:prstGeom>
            <a:noFill/>
            <a:ln>
              <a:noFill/>
            </a:ln>
          </p:spPr>
          <p:txBody>
            <a:bodyPr anchorCtr="0" anchor="ctr" bIns="39575" lIns="39575" spcFirstLastPara="1" rIns="39575" wrap="square" tIns="39575">
              <a:noAutofit/>
            </a:bodyPr>
            <a:lstStyle/>
            <a:p>
              <a:pPr indent="0" lvl="0" marL="0" marR="0" rtl="0" algn="ctr">
                <a:lnSpc>
                  <a:spcPct val="119957"/>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grpSp>
      <p:sp>
        <p:nvSpPr>
          <p:cNvPr id="399" name="Google Shape;399;p68"/>
          <p:cNvSpPr txBox="1"/>
          <p:nvPr/>
        </p:nvSpPr>
        <p:spPr>
          <a:xfrm>
            <a:off x="268950" y="1248143"/>
            <a:ext cx="7981380" cy="897682"/>
          </a:xfrm>
          <a:prstGeom prst="rect">
            <a:avLst/>
          </a:prstGeom>
          <a:noFill/>
          <a:ln>
            <a:noFill/>
          </a:ln>
        </p:spPr>
        <p:txBody>
          <a:bodyPr anchorCtr="0" anchor="t" bIns="0" lIns="0" spcFirstLastPara="1" rIns="0" wrap="square" tIns="0">
            <a:spAutoFit/>
          </a:bodyPr>
          <a:lstStyle/>
          <a:p>
            <a:pPr indent="0" lvl="0" marL="0" marR="0" rtl="0" algn="ctr">
              <a:lnSpc>
                <a:spcPct val="101998"/>
              </a:lnSpc>
              <a:spcBef>
                <a:spcPts val="0"/>
              </a:spcBef>
              <a:spcAft>
                <a:spcPts val="0"/>
              </a:spcAft>
              <a:buNone/>
            </a:pPr>
            <a:r>
              <a:rPr b="1" i="0" lang="es-ES" sz="6856" u="none" cap="none" strike="noStrike">
                <a:solidFill>
                  <a:srgbClr val="000000"/>
                </a:solidFill>
                <a:latin typeface="Arial"/>
                <a:ea typeface="Arial"/>
                <a:cs typeface="Arial"/>
                <a:sym typeface="Arial"/>
              </a:rPr>
              <a:t>CONCLUSIONES</a:t>
            </a:r>
            <a:endParaRPr/>
          </a:p>
        </p:txBody>
      </p:sp>
      <p:pic>
        <p:nvPicPr>
          <p:cNvPr id="400" name="Google Shape;400;p68"/>
          <p:cNvPicPr preferRelativeResize="0"/>
          <p:nvPr/>
        </p:nvPicPr>
        <p:blipFill rotWithShape="1">
          <a:blip r:embed="rId3">
            <a:alphaModFix/>
          </a:blip>
          <a:srcRect b="0" l="0" r="0" t="0"/>
          <a:stretch/>
        </p:blipFill>
        <p:spPr>
          <a:xfrm>
            <a:off x="8786329" y="1761026"/>
            <a:ext cx="2761945" cy="384302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grpSp>
        <p:nvGrpSpPr>
          <p:cNvPr id="405" name="Google Shape;405;p69"/>
          <p:cNvGrpSpPr/>
          <p:nvPr/>
        </p:nvGrpSpPr>
        <p:grpSpPr>
          <a:xfrm>
            <a:off x="1529572" y="2366977"/>
            <a:ext cx="4057060" cy="899493"/>
            <a:chOff x="0" y="-95250"/>
            <a:chExt cx="1602789" cy="355356"/>
          </a:xfrm>
        </p:grpSpPr>
        <p:sp>
          <p:nvSpPr>
            <p:cNvPr id="406" name="Google Shape;406;p69"/>
            <p:cNvSpPr/>
            <p:nvPr/>
          </p:nvSpPr>
          <p:spPr>
            <a:xfrm>
              <a:off x="0" y="0"/>
              <a:ext cx="1602789" cy="260106"/>
            </a:xfrm>
            <a:custGeom>
              <a:rect b="b" l="l" r="r" t="t"/>
              <a:pathLst>
                <a:path extrusionOk="0" h="260106" w="1602789">
                  <a:moveTo>
                    <a:pt x="1399589" y="0"/>
                  </a:moveTo>
                  <a:cubicBezTo>
                    <a:pt x="1511813" y="0"/>
                    <a:pt x="1602789" y="58227"/>
                    <a:pt x="1602789" y="130053"/>
                  </a:cubicBezTo>
                  <a:cubicBezTo>
                    <a:pt x="1602789" y="201879"/>
                    <a:pt x="1511813" y="260106"/>
                    <a:pt x="1399589" y="260106"/>
                  </a:cubicBezTo>
                  <a:lnTo>
                    <a:pt x="203200" y="260106"/>
                  </a:lnTo>
                  <a:cubicBezTo>
                    <a:pt x="90976" y="260106"/>
                    <a:pt x="0" y="201879"/>
                    <a:pt x="0" y="130053"/>
                  </a:cubicBezTo>
                  <a:cubicBezTo>
                    <a:pt x="0" y="58227"/>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07" name="Google Shape;407;p69"/>
            <p:cNvSpPr txBox="1"/>
            <p:nvPr/>
          </p:nvSpPr>
          <p:spPr>
            <a:xfrm>
              <a:off x="0" y="-95250"/>
              <a:ext cx="1602789" cy="355356"/>
            </a:xfrm>
            <a:prstGeom prst="rect">
              <a:avLst/>
            </a:prstGeom>
            <a:noFill/>
            <a:ln>
              <a:noFill/>
            </a:ln>
          </p:spPr>
          <p:txBody>
            <a:bodyPr anchorCtr="0" anchor="ctr" bIns="39575" lIns="39575" spcFirstLastPara="1" rIns="39575" wrap="square" tIns="39575">
              <a:noAutofit/>
            </a:bodyPr>
            <a:lstStyle/>
            <a:p>
              <a:pPr indent="0" lvl="0" marL="0" marR="0" rtl="0" algn="ctr">
                <a:lnSpc>
                  <a:spcPct val="139991"/>
                </a:lnSpc>
                <a:spcBef>
                  <a:spcPts val="0"/>
                </a:spcBef>
                <a:spcAft>
                  <a:spcPts val="0"/>
                </a:spcAft>
                <a:buNone/>
              </a:pPr>
              <a:r>
                <a:rPr b="1" i="0" lang="es-ES" sz="2338" u="none" cap="none" strike="noStrike">
                  <a:solidFill>
                    <a:srgbClr val="FFFFFF"/>
                  </a:solidFill>
                  <a:latin typeface="Arial"/>
                  <a:ea typeface="Arial"/>
                  <a:cs typeface="Arial"/>
                  <a:sym typeface="Arial"/>
                </a:rPr>
                <a:t>¿ QUÉ HE APRENDIDO ?</a:t>
              </a:r>
              <a:endParaRPr/>
            </a:p>
          </p:txBody>
        </p:sp>
      </p:grpSp>
      <p:grpSp>
        <p:nvGrpSpPr>
          <p:cNvPr id="408" name="Google Shape;408;p69"/>
          <p:cNvGrpSpPr/>
          <p:nvPr/>
        </p:nvGrpSpPr>
        <p:grpSpPr>
          <a:xfrm>
            <a:off x="608261" y="2537719"/>
            <a:ext cx="799110" cy="799110"/>
            <a:chOff x="0" y="0"/>
            <a:chExt cx="812800" cy="812800"/>
          </a:xfrm>
        </p:grpSpPr>
        <p:sp>
          <p:nvSpPr>
            <p:cNvPr id="409" name="Google Shape;409;p6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10" name="Google Shape;410;p69"/>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1</a:t>
              </a:r>
              <a:endParaRPr/>
            </a:p>
          </p:txBody>
        </p:sp>
      </p:grpSp>
      <p:grpSp>
        <p:nvGrpSpPr>
          <p:cNvPr id="411" name="Google Shape;411;p69"/>
          <p:cNvGrpSpPr/>
          <p:nvPr/>
        </p:nvGrpSpPr>
        <p:grpSpPr>
          <a:xfrm>
            <a:off x="1126315" y="3413309"/>
            <a:ext cx="806515" cy="806515"/>
            <a:chOff x="0" y="0"/>
            <a:chExt cx="812800" cy="812800"/>
          </a:xfrm>
        </p:grpSpPr>
        <p:sp>
          <p:nvSpPr>
            <p:cNvPr id="412" name="Google Shape;412;p6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13" name="Google Shape;413;p69"/>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2</a:t>
              </a:r>
              <a:endParaRPr/>
            </a:p>
          </p:txBody>
        </p:sp>
      </p:grpSp>
      <p:grpSp>
        <p:nvGrpSpPr>
          <p:cNvPr id="414" name="Google Shape;414;p69"/>
          <p:cNvGrpSpPr/>
          <p:nvPr/>
        </p:nvGrpSpPr>
        <p:grpSpPr>
          <a:xfrm>
            <a:off x="2176486" y="3247229"/>
            <a:ext cx="4797677" cy="897572"/>
            <a:chOff x="0" y="-95250"/>
            <a:chExt cx="1895378" cy="354596"/>
          </a:xfrm>
        </p:grpSpPr>
        <p:sp>
          <p:nvSpPr>
            <p:cNvPr id="415" name="Google Shape;415;p69"/>
            <p:cNvSpPr/>
            <p:nvPr/>
          </p:nvSpPr>
          <p:spPr>
            <a:xfrm>
              <a:off x="0" y="0"/>
              <a:ext cx="1895378" cy="259346"/>
            </a:xfrm>
            <a:custGeom>
              <a:rect b="b" l="l" r="r" t="t"/>
              <a:pathLst>
                <a:path extrusionOk="0" h="259346" w="1895378">
                  <a:moveTo>
                    <a:pt x="1692178" y="0"/>
                  </a:moveTo>
                  <a:cubicBezTo>
                    <a:pt x="1804402" y="0"/>
                    <a:pt x="1895378" y="58057"/>
                    <a:pt x="1895378" y="129673"/>
                  </a:cubicBezTo>
                  <a:cubicBezTo>
                    <a:pt x="1895378" y="201290"/>
                    <a:pt x="1804402" y="259346"/>
                    <a:pt x="1692178" y="259346"/>
                  </a:cubicBezTo>
                  <a:lnTo>
                    <a:pt x="203200" y="259346"/>
                  </a:lnTo>
                  <a:cubicBezTo>
                    <a:pt x="90976" y="259346"/>
                    <a:pt x="0" y="201290"/>
                    <a:pt x="0" y="129673"/>
                  </a:cubicBezTo>
                  <a:cubicBezTo>
                    <a:pt x="0" y="58057"/>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16" name="Google Shape;416;p69"/>
            <p:cNvSpPr txBox="1"/>
            <p:nvPr/>
          </p:nvSpPr>
          <p:spPr>
            <a:xfrm>
              <a:off x="0" y="-95250"/>
              <a:ext cx="1895377" cy="354596"/>
            </a:xfrm>
            <a:prstGeom prst="rect">
              <a:avLst/>
            </a:prstGeom>
            <a:noFill/>
            <a:ln>
              <a:noFill/>
            </a:ln>
          </p:spPr>
          <p:txBody>
            <a:bodyPr anchorCtr="0" anchor="ctr" bIns="39575" lIns="39575" spcFirstLastPara="1" rIns="39575" wrap="square" tIns="39575">
              <a:noAutofit/>
            </a:bodyPr>
            <a:lstStyle/>
            <a:p>
              <a:pPr indent="0" lvl="0" marL="0" marR="0" rtl="0" algn="ctr">
                <a:lnSpc>
                  <a:spcPct val="139991"/>
                </a:lnSpc>
                <a:spcBef>
                  <a:spcPts val="0"/>
                </a:spcBef>
                <a:spcAft>
                  <a:spcPts val="0"/>
                </a:spcAft>
                <a:buNone/>
              </a:pPr>
              <a:r>
                <a:rPr b="1" i="0" lang="es-ES" sz="2338" u="none" cap="none" strike="noStrike">
                  <a:solidFill>
                    <a:srgbClr val="FFFFFF"/>
                  </a:solidFill>
                  <a:latin typeface="Arial"/>
                  <a:ea typeface="Arial"/>
                  <a:cs typeface="Arial"/>
                  <a:sym typeface="Arial"/>
                </a:rPr>
                <a:t>¿ CÓMO LO HE APRENDIDO ?</a:t>
              </a:r>
              <a:endParaRPr/>
            </a:p>
          </p:txBody>
        </p:sp>
      </p:grpSp>
      <p:grpSp>
        <p:nvGrpSpPr>
          <p:cNvPr id="417" name="Google Shape;417;p69"/>
          <p:cNvGrpSpPr/>
          <p:nvPr/>
        </p:nvGrpSpPr>
        <p:grpSpPr>
          <a:xfrm>
            <a:off x="2766055" y="4101965"/>
            <a:ext cx="4811666" cy="1006804"/>
            <a:chOff x="0" y="-76200"/>
            <a:chExt cx="1900905" cy="397749"/>
          </a:xfrm>
        </p:grpSpPr>
        <p:sp>
          <p:nvSpPr>
            <p:cNvPr id="418" name="Google Shape;418;p69"/>
            <p:cNvSpPr/>
            <p:nvPr/>
          </p:nvSpPr>
          <p:spPr>
            <a:xfrm>
              <a:off x="0" y="0"/>
              <a:ext cx="1900905" cy="321549"/>
            </a:xfrm>
            <a:custGeom>
              <a:rect b="b" l="l" r="r" t="t"/>
              <a:pathLst>
                <a:path extrusionOk="0" h="321549" w="1900905">
                  <a:moveTo>
                    <a:pt x="1697705" y="0"/>
                  </a:moveTo>
                  <a:cubicBezTo>
                    <a:pt x="1809930" y="0"/>
                    <a:pt x="1900905" y="71981"/>
                    <a:pt x="1900905" y="160775"/>
                  </a:cubicBezTo>
                  <a:cubicBezTo>
                    <a:pt x="1900905" y="249568"/>
                    <a:pt x="1809930" y="321549"/>
                    <a:pt x="1697705" y="321549"/>
                  </a:cubicBezTo>
                  <a:lnTo>
                    <a:pt x="203200" y="321549"/>
                  </a:lnTo>
                  <a:cubicBezTo>
                    <a:pt x="90976" y="321549"/>
                    <a:pt x="0" y="249568"/>
                    <a:pt x="0" y="160775"/>
                  </a:cubicBezTo>
                  <a:cubicBezTo>
                    <a:pt x="0" y="71981"/>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19" name="Google Shape;419;p69"/>
            <p:cNvSpPr txBox="1"/>
            <p:nvPr/>
          </p:nvSpPr>
          <p:spPr>
            <a:xfrm>
              <a:off x="0" y="-76200"/>
              <a:ext cx="1900905" cy="397749"/>
            </a:xfrm>
            <a:prstGeom prst="rect">
              <a:avLst/>
            </a:prstGeom>
            <a:noFill/>
            <a:ln>
              <a:noFill/>
            </a:ln>
          </p:spPr>
          <p:txBody>
            <a:bodyPr anchorCtr="0" anchor="ctr" bIns="39575" lIns="39575" spcFirstLastPara="1" rIns="39575" wrap="square" tIns="39575">
              <a:noAutofit/>
            </a:bodyPr>
            <a:lstStyle/>
            <a:p>
              <a:pPr indent="0" lvl="0" marL="0" marR="0" rtl="0" algn="ctr">
                <a:lnSpc>
                  <a:spcPct val="139980"/>
                </a:lnSpc>
                <a:spcBef>
                  <a:spcPts val="0"/>
                </a:spcBef>
                <a:spcAft>
                  <a:spcPts val="0"/>
                </a:spcAft>
                <a:buNone/>
              </a:pPr>
              <a:r>
                <a:rPr b="1" i="0" lang="es-ES" sz="2026" u="none" cap="none" strike="noStrike">
                  <a:solidFill>
                    <a:srgbClr val="FFFFFF"/>
                  </a:solidFill>
                  <a:latin typeface="Arial"/>
                  <a:ea typeface="Arial"/>
                  <a:cs typeface="Arial"/>
                  <a:sym typeface="Arial"/>
                </a:rPr>
                <a:t>¿ QUÉ HA RESULTADO MÁS FÁCIL, MÁS DIFICIL O MÁS NOVEDOSO ?</a:t>
              </a:r>
              <a:endParaRPr/>
            </a:p>
          </p:txBody>
        </p:sp>
      </p:grpSp>
      <p:grpSp>
        <p:nvGrpSpPr>
          <p:cNvPr id="420" name="Google Shape;420;p69"/>
          <p:cNvGrpSpPr/>
          <p:nvPr/>
        </p:nvGrpSpPr>
        <p:grpSpPr>
          <a:xfrm>
            <a:off x="1769525" y="4294045"/>
            <a:ext cx="813922" cy="813922"/>
            <a:chOff x="0" y="0"/>
            <a:chExt cx="812800" cy="812800"/>
          </a:xfrm>
        </p:grpSpPr>
        <p:sp>
          <p:nvSpPr>
            <p:cNvPr id="421" name="Google Shape;421;p6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22" name="Google Shape;422;p69"/>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3</a:t>
              </a:r>
              <a:endParaRPr/>
            </a:p>
          </p:txBody>
        </p:sp>
      </p:grpSp>
      <p:grpSp>
        <p:nvGrpSpPr>
          <p:cNvPr id="423" name="Google Shape;423;p69"/>
          <p:cNvGrpSpPr/>
          <p:nvPr/>
        </p:nvGrpSpPr>
        <p:grpSpPr>
          <a:xfrm>
            <a:off x="2359094" y="5257210"/>
            <a:ext cx="813922" cy="813922"/>
            <a:chOff x="0" y="0"/>
            <a:chExt cx="812800" cy="812800"/>
          </a:xfrm>
        </p:grpSpPr>
        <p:sp>
          <p:nvSpPr>
            <p:cNvPr id="424" name="Google Shape;424;p6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25" name="Google Shape;425;p69"/>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4</a:t>
              </a:r>
              <a:endParaRPr/>
            </a:p>
          </p:txBody>
        </p:sp>
      </p:grpSp>
      <p:grpSp>
        <p:nvGrpSpPr>
          <p:cNvPr id="426" name="Google Shape;426;p69"/>
          <p:cNvGrpSpPr/>
          <p:nvPr/>
        </p:nvGrpSpPr>
        <p:grpSpPr>
          <a:xfrm>
            <a:off x="3314364" y="5064328"/>
            <a:ext cx="4500609" cy="1006804"/>
            <a:chOff x="0" y="-76200"/>
            <a:chExt cx="1778018" cy="397749"/>
          </a:xfrm>
        </p:grpSpPr>
        <p:sp>
          <p:nvSpPr>
            <p:cNvPr id="427" name="Google Shape;427;p69"/>
            <p:cNvSpPr/>
            <p:nvPr/>
          </p:nvSpPr>
          <p:spPr>
            <a:xfrm>
              <a:off x="0" y="0"/>
              <a:ext cx="1778018" cy="321549"/>
            </a:xfrm>
            <a:custGeom>
              <a:rect b="b" l="l" r="r" t="t"/>
              <a:pathLst>
                <a:path extrusionOk="0" h="321549" w="1778018">
                  <a:moveTo>
                    <a:pt x="1574818" y="0"/>
                  </a:moveTo>
                  <a:cubicBezTo>
                    <a:pt x="1687042" y="0"/>
                    <a:pt x="1778018" y="71981"/>
                    <a:pt x="1778018" y="160775"/>
                  </a:cubicBezTo>
                  <a:cubicBezTo>
                    <a:pt x="1778018" y="249568"/>
                    <a:pt x="1687042" y="321549"/>
                    <a:pt x="1574818" y="321549"/>
                  </a:cubicBezTo>
                  <a:lnTo>
                    <a:pt x="203200" y="321549"/>
                  </a:lnTo>
                  <a:cubicBezTo>
                    <a:pt x="90976" y="321549"/>
                    <a:pt x="0" y="249568"/>
                    <a:pt x="0" y="160775"/>
                  </a:cubicBezTo>
                  <a:cubicBezTo>
                    <a:pt x="0" y="71981"/>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28" name="Google Shape;428;p69"/>
            <p:cNvSpPr txBox="1"/>
            <p:nvPr/>
          </p:nvSpPr>
          <p:spPr>
            <a:xfrm>
              <a:off x="0" y="-76200"/>
              <a:ext cx="1778018" cy="397749"/>
            </a:xfrm>
            <a:prstGeom prst="rect">
              <a:avLst/>
            </a:prstGeom>
            <a:noFill/>
            <a:ln>
              <a:noFill/>
            </a:ln>
          </p:spPr>
          <p:txBody>
            <a:bodyPr anchorCtr="0" anchor="ctr" bIns="39575" lIns="39575" spcFirstLastPara="1" rIns="39575" wrap="square" tIns="39575">
              <a:noAutofit/>
            </a:bodyPr>
            <a:lstStyle/>
            <a:p>
              <a:pPr indent="0" lvl="0" marL="0" marR="0" rtl="0" algn="ctr">
                <a:lnSpc>
                  <a:spcPct val="139980"/>
                </a:lnSpc>
                <a:spcBef>
                  <a:spcPts val="0"/>
                </a:spcBef>
                <a:spcAft>
                  <a:spcPts val="0"/>
                </a:spcAft>
                <a:buNone/>
              </a:pPr>
              <a:r>
                <a:rPr b="1" i="0" lang="es-ES" sz="2026" u="none" cap="none" strike="noStrike">
                  <a:solidFill>
                    <a:srgbClr val="FFFFFF"/>
                  </a:solidFill>
                  <a:latin typeface="Arial"/>
                  <a:ea typeface="Arial"/>
                  <a:cs typeface="Arial"/>
                  <a:sym typeface="Arial"/>
                </a:rPr>
                <a:t>¿ CÓMO LO PUEDO MEJORAR?</a:t>
              </a:r>
              <a:endParaRPr/>
            </a:p>
            <a:p>
              <a:pPr indent="0" lvl="0" marL="0" marR="0" rtl="0" algn="ctr">
                <a:lnSpc>
                  <a:spcPct val="139980"/>
                </a:lnSpc>
                <a:spcBef>
                  <a:spcPts val="0"/>
                </a:spcBef>
                <a:spcAft>
                  <a:spcPts val="0"/>
                </a:spcAft>
                <a:buNone/>
              </a:pPr>
              <a:r>
                <a:rPr b="1" i="0" lang="es-ES" sz="2026" u="none" cap="none" strike="noStrike">
                  <a:solidFill>
                    <a:srgbClr val="FFFFFF"/>
                  </a:solidFill>
                  <a:latin typeface="Arial"/>
                  <a:ea typeface="Arial"/>
                  <a:cs typeface="Arial"/>
                  <a:sym typeface="Arial"/>
                </a:rPr>
                <a:t>¿PARA QUÉ ME HA SERVIDO?</a:t>
              </a:r>
              <a:endParaRPr/>
            </a:p>
          </p:txBody>
        </p:sp>
      </p:grpSp>
      <p:sp>
        <p:nvSpPr>
          <p:cNvPr id="429" name="Google Shape;429;p69"/>
          <p:cNvSpPr/>
          <p:nvPr/>
        </p:nvSpPr>
        <p:spPr>
          <a:xfrm>
            <a:off x="8167290" y="2488590"/>
            <a:ext cx="3223061" cy="3389452"/>
          </a:xfrm>
          <a:custGeom>
            <a:rect b="b" l="l" r="r" t="t"/>
            <a:pathLst>
              <a:path extrusionOk="0" h="4349797" w="4136262">
                <a:moveTo>
                  <a:pt x="0" y="0"/>
                </a:moveTo>
                <a:lnTo>
                  <a:pt x="4136261" y="0"/>
                </a:lnTo>
                <a:lnTo>
                  <a:pt x="4136261" y="4349797"/>
                </a:lnTo>
                <a:lnTo>
                  <a:pt x="0" y="434979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30" name="Google Shape;430;p69"/>
          <p:cNvSpPr txBox="1"/>
          <p:nvPr/>
        </p:nvSpPr>
        <p:spPr>
          <a:xfrm>
            <a:off x="131499" y="1286050"/>
            <a:ext cx="8768700" cy="1175100"/>
          </a:xfrm>
          <a:prstGeom prst="rect">
            <a:avLst/>
          </a:prstGeom>
          <a:noFill/>
          <a:ln>
            <a:noFill/>
          </a:ln>
        </p:spPr>
        <p:txBody>
          <a:bodyPr anchorCtr="0" anchor="t" bIns="0" lIns="0" spcFirstLastPara="1" rIns="0" wrap="square" tIns="0">
            <a:spAutoFit/>
          </a:bodyPr>
          <a:lstStyle/>
          <a:p>
            <a:pPr indent="0" lvl="0" marL="0" marR="0" rtl="0" algn="ctr">
              <a:lnSpc>
                <a:spcPct val="102003"/>
              </a:lnSpc>
              <a:spcBef>
                <a:spcPts val="0"/>
              </a:spcBef>
              <a:spcAft>
                <a:spcPts val="0"/>
              </a:spcAft>
              <a:buNone/>
            </a:pPr>
            <a:r>
              <a:rPr b="1" i="0" lang="es-ES" sz="7635" u="none" cap="none" strike="noStrike">
                <a:solidFill>
                  <a:srgbClr val="000000"/>
                </a:solidFill>
                <a:latin typeface="Arial"/>
                <a:ea typeface="Arial"/>
                <a:cs typeface="Arial"/>
                <a:sym typeface="Arial"/>
              </a:rPr>
              <a:t>METACOGNICIÓN</a:t>
            </a:r>
            <a:endParaRPr/>
          </a:p>
        </p:txBody>
      </p:sp>
      <p:grpSp>
        <p:nvGrpSpPr>
          <p:cNvPr id="431" name="Google Shape;431;p69"/>
          <p:cNvGrpSpPr/>
          <p:nvPr/>
        </p:nvGrpSpPr>
        <p:grpSpPr>
          <a:xfrm>
            <a:off x="-116008" y="-120549"/>
            <a:ext cx="12424017" cy="253060"/>
            <a:chOff x="0" y="-47625"/>
            <a:chExt cx="4908254" cy="99975"/>
          </a:xfrm>
        </p:grpSpPr>
        <p:sp>
          <p:nvSpPr>
            <p:cNvPr id="432" name="Google Shape;432;p69"/>
            <p:cNvSpPr/>
            <p:nvPr/>
          </p:nvSpPr>
          <p:spPr>
            <a:xfrm>
              <a:off x="0" y="0"/>
              <a:ext cx="4908254" cy="52350"/>
            </a:xfrm>
            <a:custGeom>
              <a:rect b="b" l="l" r="r" t="t"/>
              <a:pathLst>
                <a:path extrusionOk="0" h="52350" w="4908254">
                  <a:moveTo>
                    <a:pt x="0" y="0"/>
                  </a:moveTo>
                  <a:lnTo>
                    <a:pt x="4908254" y="0"/>
                  </a:lnTo>
                  <a:lnTo>
                    <a:pt x="4908254" y="52350"/>
                  </a:lnTo>
                  <a:lnTo>
                    <a:pt x="0" y="52350"/>
                  </a:lnTo>
                  <a:close/>
                </a:path>
              </a:pathLst>
            </a:custGeom>
            <a:solidFill>
              <a:srgbClr val="343434">
                <a:alpha val="7725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33" name="Google Shape;433;p69"/>
            <p:cNvSpPr txBox="1"/>
            <p:nvPr/>
          </p:nvSpPr>
          <p:spPr>
            <a:xfrm>
              <a:off x="0" y="-47625"/>
              <a:ext cx="4908254" cy="99975"/>
            </a:xfrm>
            <a:prstGeom prst="rect">
              <a:avLst/>
            </a:prstGeom>
            <a:noFill/>
            <a:ln>
              <a:noFill/>
            </a:ln>
          </p:spPr>
          <p:txBody>
            <a:bodyPr anchorCtr="0" anchor="ctr" bIns="39575" lIns="39575" spcFirstLastPara="1" rIns="39575" wrap="square" tIns="39575">
              <a:noAutofit/>
            </a:bodyPr>
            <a:lstStyle/>
            <a:p>
              <a:pPr indent="0" lvl="0" marL="0" marR="0" rtl="0" algn="ctr">
                <a:lnSpc>
                  <a:spcPct val="119957"/>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grpSp>
      <p:sp>
        <p:nvSpPr>
          <p:cNvPr id="434" name="Google Shape;434;p69"/>
          <p:cNvSpPr txBox="1"/>
          <p:nvPr/>
        </p:nvSpPr>
        <p:spPr>
          <a:xfrm>
            <a:off x="1126315" y="5570422"/>
            <a:ext cx="1168168" cy="233334"/>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1" i="0" lang="es-ES" sz="1403" u="none" cap="none" strike="noStrike">
                <a:solidFill>
                  <a:srgbClr val="000000"/>
                </a:solidFill>
                <a:latin typeface="Arial"/>
                <a:ea typeface="Arial"/>
                <a:cs typeface="Arial"/>
                <a:sym typeface="Arial"/>
              </a:rPr>
              <a:t>PLANIFICAR</a:t>
            </a:r>
            <a:endParaRPr/>
          </a:p>
        </p:txBody>
      </p:sp>
      <p:sp>
        <p:nvSpPr>
          <p:cNvPr id="435" name="Google Shape;435;p69"/>
          <p:cNvSpPr txBox="1"/>
          <p:nvPr/>
        </p:nvSpPr>
        <p:spPr>
          <a:xfrm>
            <a:off x="136625" y="3087448"/>
            <a:ext cx="1197471" cy="489814"/>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1" i="0" lang="es-ES" sz="1403" u="none" cap="none" strike="noStrike">
                <a:solidFill>
                  <a:srgbClr val="000000"/>
                </a:solidFill>
                <a:latin typeface="Arial"/>
                <a:ea typeface="Arial"/>
                <a:cs typeface="Arial"/>
                <a:sym typeface="Arial"/>
              </a:rPr>
              <a:t>SER CONSCIENTE</a:t>
            </a:r>
            <a:endParaRPr/>
          </a:p>
        </p:txBody>
      </p:sp>
      <p:sp>
        <p:nvSpPr>
          <p:cNvPr id="436" name="Google Shape;436;p69"/>
          <p:cNvSpPr txBox="1"/>
          <p:nvPr/>
        </p:nvSpPr>
        <p:spPr>
          <a:xfrm>
            <a:off x="136625" y="4115113"/>
            <a:ext cx="1197471" cy="245132"/>
          </a:xfrm>
          <a:prstGeom prst="rect">
            <a:avLst/>
          </a:prstGeom>
          <a:noFill/>
          <a:ln>
            <a:noFill/>
          </a:ln>
        </p:spPr>
        <p:txBody>
          <a:bodyPr anchorCtr="0" anchor="t" bIns="0" lIns="0" spcFirstLastPara="1" rIns="0" wrap="square" tIns="0">
            <a:spAutoFit/>
          </a:bodyPr>
          <a:lstStyle/>
          <a:p>
            <a:pPr indent="0" lvl="0" marL="0" marR="0" rtl="0" algn="ctr">
              <a:lnSpc>
                <a:spcPct val="140067"/>
              </a:lnSpc>
              <a:spcBef>
                <a:spcPts val="0"/>
              </a:spcBef>
              <a:spcAft>
                <a:spcPts val="0"/>
              </a:spcAft>
              <a:buNone/>
            </a:pPr>
            <a:r>
              <a:rPr b="1" i="0" lang="es-ES" sz="1480" u="none" cap="none" strike="noStrike">
                <a:solidFill>
                  <a:srgbClr val="000000"/>
                </a:solidFill>
                <a:latin typeface="Arial"/>
                <a:ea typeface="Arial"/>
                <a:cs typeface="Arial"/>
                <a:sym typeface="Arial"/>
              </a:rPr>
              <a:t>DESCRIBIR</a:t>
            </a:r>
            <a:endParaRPr/>
          </a:p>
        </p:txBody>
      </p:sp>
      <p:sp>
        <p:nvSpPr>
          <p:cNvPr id="437" name="Google Shape;437;p69"/>
          <p:cNvSpPr txBox="1"/>
          <p:nvPr/>
        </p:nvSpPr>
        <p:spPr>
          <a:xfrm>
            <a:off x="572055" y="4856913"/>
            <a:ext cx="1197471" cy="245132"/>
          </a:xfrm>
          <a:prstGeom prst="rect">
            <a:avLst/>
          </a:prstGeom>
          <a:noFill/>
          <a:ln>
            <a:noFill/>
          </a:ln>
        </p:spPr>
        <p:txBody>
          <a:bodyPr anchorCtr="0" anchor="t" bIns="0" lIns="0" spcFirstLastPara="1" rIns="0" wrap="square" tIns="0">
            <a:spAutoFit/>
          </a:bodyPr>
          <a:lstStyle/>
          <a:p>
            <a:pPr indent="0" lvl="0" marL="0" marR="0" rtl="0" algn="ctr">
              <a:lnSpc>
                <a:spcPct val="140067"/>
              </a:lnSpc>
              <a:spcBef>
                <a:spcPts val="0"/>
              </a:spcBef>
              <a:spcAft>
                <a:spcPts val="0"/>
              </a:spcAft>
              <a:buNone/>
            </a:pPr>
            <a:r>
              <a:rPr b="1" i="0" lang="es-ES" sz="1480" u="none" cap="none" strike="noStrike">
                <a:solidFill>
                  <a:srgbClr val="000000"/>
                </a:solidFill>
                <a:latin typeface="Arial"/>
                <a:ea typeface="Arial"/>
                <a:cs typeface="Arial"/>
                <a:sym typeface="Arial"/>
              </a:rPr>
              <a:t>EVALUAR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70"/>
          <p:cNvSpPr txBox="1"/>
          <p:nvPr/>
        </p:nvSpPr>
        <p:spPr>
          <a:xfrm>
            <a:off x="734042" y="2187071"/>
            <a:ext cx="10723917" cy="2146998"/>
          </a:xfrm>
          <a:prstGeom prst="rect">
            <a:avLst/>
          </a:prstGeom>
          <a:noFill/>
          <a:ln>
            <a:noFill/>
          </a:ln>
        </p:spPr>
        <p:txBody>
          <a:bodyPr anchorCtr="0" anchor="t" bIns="0" lIns="0" spcFirstLastPara="1" rIns="0" wrap="square" tIns="0">
            <a:spAutoFit/>
          </a:bodyPr>
          <a:lstStyle/>
          <a:p>
            <a:pPr indent="0" lvl="0" marL="0" marR="0" rtl="0" algn="ctr">
              <a:lnSpc>
                <a:spcPct val="122709"/>
              </a:lnSpc>
              <a:spcBef>
                <a:spcPts val="0"/>
              </a:spcBef>
              <a:spcAft>
                <a:spcPts val="0"/>
              </a:spcAft>
              <a:buNone/>
            </a:pPr>
            <a:r>
              <a:rPr b="1" i="0" lang="es-ES" sz="14571" u="none" cap="none" strike="noStrike">
                <a:solidFill>
                  <a:srgbClr val="000000"/>
                </a:solidFill>
                <a:latin typeface="Arial"/>
                <a:ea typeface="Arial"/>
                <a:cs typeface="Arial"/>
                <a:sym typeface="Arial"/>
              </a:rPr>
              <a:t>¡GRACIAS!</a:t>
            </a:r>
            <a:endParaRPr/>
          </a:p>
        </p:txBody>
      </p:sp>
      <p:grpSp>
        <p:nvGrpSpPr>
          <p:cNvPr id="443" name="Google Shape;443;p70"/>
          <p:cNvGrpSpPr/>
          <p:nvPr/>
        </p:nvGrpSpPr>
        <p:grpSpPr>
          <a:xfrm>
            <a:off x="3985931" y="4272738"/>
            <a:ext cx="4529942" cy="664964"/>
            <a:chOff x="0" y="-47625"/>
            <a:chExt cx="1789607" cy="262702"/>
          </a:xfrm>
        </p:grpSpPr>
        <p:sp>
          <p:nvSpPr>
            <p:cNvPr id="444" name="Google Shape;444;p70"/>
            <p:cNvSpPr/>
            <p:nvPr/>
          </p:nvSpPr>
          <p:spPr>
            <a:xfrm>
              <a:off x="0" y="0"/>
              <a:ext cx="1789607" cy="215077"/>
            </a:xfrm>
            <a:custGeom>
              <a:rect b="b" l="l" r="r" t="t"/>
              <a:pathLst>
                <a:path extrusionOk="0" h="215077" w="1789607">
                  <a:moveTo>
                    <a:pt x="0" y="0"/>
                  </a:moveTo>
                  <a:lnTo>
                    <a:pt x="1789607" y="0"/>
                  </a:lnTo>
                  <a:lnTo>
                    <a:pt x="1789607" y="215077"/>
                  </a:lnTo>
                  <a:lnTo>
                    <a:pt x="0" y="215077"/>
                  </a:lnTo>
                  <a:close/>
                </a:path>
              </a:pathLst>
            </a:custGeom>
            <a:solidFill>
              <a:srgbClr val="21161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445" name="Google Shape;445;p70"/>
            <p:cNvSpPr txBox="1"/>
            <p:nvPr/>
          </p:nvSpPr>
          <p:spPr>
            <a:xfrm>
              <a:off x="0" y="-47625"/>
              <a:ext cx="1789607" cy="262702"/>
            </a:xfrm>
            <a:prstGeom prst="rect">
              <a:avLst/>
            </a:prstGeom>
            <a:noFill/>
            <a:ln>
              <a:noFill/>
            </a:ln>
          </p:spPr>
          <p:txBody>
            <a:bodyPr anchorCtr="0" anchor="ctr" bIns="39575" lIns="39575" spcFirstLastPara="1" rIns="39575" wrap="square" tIns="39575">
              <a:noAutofit/>
            </a:bodyPr>
            <a:lstStyle/>
            <a:p>
              <a:pPr indent="0" lvl="0" marL="0" marR="0" rtl="0" algn="ctr">
                <a:lnSpc>
                  <a:spcPct val="139972"/>
                </a:lnSpc>
                <a:spcBef>
                  <a:spcPts val="0"/>
                </a:spcBef>
                <a:spcAft>
                  <a:spcPts val="0"/>
                </a:spcAft>
                <a:buNone/>
              </a:pPr>
              <a:r>
                <a:rPr b="1" i="0" lang="es-ES" sz="1436" u="none" cap="none" strike="noStrike">
                  <a:solidFill>
                    <a:srgbClr val="FFFFFF"/>
                  </a:solidFill>
                  <a:latin typeface="Arial"/>
                  <a:ea typeface="Arial"/>
                  <a:cs typeface="Arial"/>
                  <a:sym typeface="Arial"/>
                </a:rPr>
                <a:t>EN LA UTP SABEMOS QUE TODO ES POSIBLE</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