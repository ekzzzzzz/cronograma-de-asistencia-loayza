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6858000" cx="12192000"/>
  <p:notesSz cx="12192000" cy="6858000"/>
  <p:embeddedFontLst>
    <p:embeddedFont>
      <p:font typeface="Roboto Medium"/>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9" roundtripDataSignature="AMtx7mjYju/Y7JID5QDbA9fxjxS2F1YP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Medium-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Medium-italic.fntdata"/><Relationship Id="rId14" Type="http://schemas.openxmlformats.org/officeDocument/2006/relationships/slide" Target="slides/slide9.xml"/><Relationship Id="rId36" Type="http://schemas.openxmlformats.org/officeDocument/2006/relationships/font" Target="fonts/RobotoMedium-bold.fntdata"/><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font" Target="fonts/RobotoMedium-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5283200" cy="3444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6905625" y="0"/>
            <a:ext cx="5283200" cy="3444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5283200" cy="3444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 name="Google Shape;62;p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 name="Google Shape;69;p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3: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 name="Google Shape;78;p3:notes"/>
          <p:cNvSpPr txBox="1"/>
          <p:nvPr>
            <p:ph idx="12" type="sldNum"/>
          </p:nvPr>
        </p:nvSpPr>
        <p:spPr>
          <a:xfrm>
            <a:off x="6905625" y="6513513"/>
            <a:ext cx="5283200" cy="3444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 name="Google Shape;85;p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6: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efdfaee476_0_0:notes"/>
          <p:cNvSpPr txBox="1"/>
          <p:nvPr>
            <p:ph idx="1" type="body"/>
          </p:nvPr>
        </p:nvSpPr>
        <p:spPr>
          <a:xfrm>
            <a:off x="1219200" y="3300413"/>
            <a:ext cx="9753600" cy="2700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g2efdfaee476_0_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 name="Google Shape;105;p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6: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3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7: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p3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8: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 name="Google Shape;137;p3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39: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3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0: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4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1: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p4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42: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4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43: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p4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44: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4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45: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4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46: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p4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47: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p47: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48: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48: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49: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p49: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50: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 name="Google Shape;243;p50: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51: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51: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52: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5" name="Google Shape;265;p52: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53:notes"/>
          <p:cNvSpPr txBox="1"/>
          <p:nvPr>
            <p:ph idx="1" type="body"/>
          </p:nvPr>
        </p:nvSpPr>
        <p:spPr>
          <a:xfrm>
            <a:off x="1219200" y="3300413"/>
            <a:ext cx="9753600" cy="270033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3" name="Google Shape;273;p53: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54: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54: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55: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55: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56:notes"/>
          <p:cNvSpPr txBox="1"/>
          <p:nvPr>
            <p:ph idx="1" type="body"/>
          </p:nvPr>
        </p:nvSpPr>
        <p:spPr>
          <a:xfrm>
            <a:off x="1219200" y="3300413"/>
            <a:ext cx="9753600" cy="2700337"/>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56:notes"/>
          <p:cNvSpPr/>
          <p:nvPr>
            <p:ph idx="2" type="sldImg"/>
          </p:nvPr>
        </p:nvSpPr>
        <p:spPr>
          <a:xfrm>
            <a:off x="4038600" y="857250"/>
            <a:ext cx="4114800" cy="2314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15" name="Shape 15"/>
        <p:cNvGrpSpPr/>
        <p:nvPr/>
      </p:nvGrpSpPr>
      <p:grpSpPr>
        <a:xfrm>
          <a:off x="0" y="0"/>
          <a:ext cx="0" cy="0"/>
          <a:chOff x="0" y="0"/>
          <a:chExt cx="0" cy="0"/>
        </a:xfrm>
      </p:grpSpPr>
      <p:sp>
        <p:nvSpPr>
          <p:cNvPr id="16" name="Google Shape;16;p28"/>
          <p:cNvSpPr txBox="1"/>
          <p:nvPr>
            <p:ph type="ctrTitle"/>
          </p:nvPr>
        </p:nvSpPr>
        <p:spPr>
          <a:xfrm>
            <a:off x="1734820" y="1015746"/>
            <a:ext cx="8722359" cy="176339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600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8"/>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8"/>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8"/>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1" name="Shape 21"/>
        <p:cNvGrpSpPr/>
        <p:nvPr/>
      </p:nvGrpSpPr>
      <p:grpSpPr>
        <a:xfrm>
          <a:off x="0" y="0"/>
          <a:ext cx="0" cy="0"/>
          <a:chOff x="0" y="0"/>
          <a:chExt cx="0" cy="0"/>
        </a:xfrm>
      </p:grpSpPr>
      <p:sp>
        <p:nvSpPr>
          <p:cNvPr id="22" name="Google Shape;22;p3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5" name="Shape 25"/>
        <p:cNvGrpSpPr/>
        <p:nvPr/>
      </p:nvGrpSpPr>
      <p:grpSpPr>
        <a:xfrm>
          <a:off x="0" y="0"/>
          <a:ext cx="0" cy="0"/>
          <a:chOff x="0" y="0"/>
          <a:chExt cx="0" cy="0"/>
        </a:xfrm>
      </p:grpSpPr>
      <p:sp>
        <p:nvSpPr>
          <p:cNvPr id="26" name="Google Shape;26;p34"/>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440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4"/>
          <p:cNvSpPr txBox="1"/>
          <p:nvPr>
            <p:ph idx="1" type="body"/>
          </p:nvPr>
        </p:nvSpPr>
        <p:spPr>
          <a:xfrm>
            <a:off x="916939" y="1784350"/>
            <a:ext cx="4892675" cy="402653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8" name="Google Shape;28;p34"/>
          <p:cNvSpPr txBox="1"/>
          <p:nvPr>
            <p:ph idx="2" type="body"/>
          </p:nvPr>
        </p:nvSpPr>
        <p:spPr>
          <a:xfrm>
            <a:off x="7660005" y="1784350"/>
            <a:ext cx="3527425" cy="4026535"/>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0" i="0" sz="3200">
                <a:solidFill>
                  <a:schemeClr val="dk1"/>
                </a:solidFill>
                <a:latin typeface="Calibri"/>
                <a:ea typeface="Calibri"/>
                <a:cs typeface="Calibri"/>
                <a:sym typeface="Calibri"/>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9" name="Google Shape;29;p3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p:cSld name="1_Blank">
    <p:bg>
      <p:bgPr>
        <a:solidFill>
          <a:schemeClr val="lt1"/>
        </a:solidFill>
      </p:bgPr>
    </p:bg>
    <p:spTree>
      <p:nvGrpSpPr>
        <p:cNvPr id="32" name="Shape 32"/>
        <p:cNvGrpSpPr/>
        <p:nvPr/>
      </p:nvGrpSpPr>
      <p:grpSpPr>
        <a:xfrm>
          <a:off x="0" y="0"/>
          <a:ext cx="0" cy="0"/>
          <a:chOff x="0" y="0"/>
          <a:chExt cx="0" cy="0"/>
        </a:xfrm>
      </p:grpSpPr>
      <p:sp>
        <p:nvSpPr>
          <p:cNvPr id="33" name="Google Shape;33;p3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lnSpc>
                <a:spcPct val="100000"/>
              </a:lnSpc>
              <a:spcBef>
                <a:spcPts val="0"/>
              </a:spcBef>
              <a:spcAft>
                <a:spcPts val="0"/>
              </a:spcAft>
              <a:buSzPts val="1800"/>
              <a:buNone/>
              <a:defRPr>
                <a:solidFill>
                  <a:srgbClr val="888888"/>
                </a:solidFill>
              </a:defRPr>
            </a:lvl1pPr>
            <a:lvl2pPr indent="0" lvl="1" marL="0" algn="r">
              <a:lnSpc>
                <a:spcPct val="100000"/>
              </a:lnSpc>
              <a:spcBef>
                <a:spcPts val="0"/>
              </a:spcBef>
              <a:spcAft>
                <a:spcPts val="0"/>
              </a:spcAft>
              <a:buSzPts val="1800"/>
              <a:buNone/>
              <a:defRPr>
                <a:solidFill>
                  <a:srgbClr val="888888"/>
                </a:solidFill>
              </a:defRPr>
            </a:lvl2pPr>
            <a:lvl3pPr indent="0" lvl="2" marL="0" algn="r">
              <a:lnSpc>
                <a:spcPct val="100000"/>
              </a:lnSpc>
              <a:spcBef>
                <a:spcPts val="0"/>
              </a:spcBef>
              <a:spcAft>
                <a:spcPts val="0"/>
              </a:spcAft>
              <a:buSzPts val="1800"/>
              <a:buNone/>
              <a:defRPr>
                <a:solidFill>
                  <a:srgbClr val="888888"/>
                </a:solidFill>
              </a:defRPr>
            </a:lvl3pPr>
            <a:lvl4pPr indent="0" lvl="3" marL="0" algn="r">
              <a:lnSpc>
                <a:spcPct val="100000"/>
              </a:lnSpc>
              <a:spcBef>
                <a:spcPts val="0"/>
              </a:spcBef>
              <a:spcAft>
                <a:spcPts val="0"/>
              </a:spcAft>
              <a:buSzPts val="1800"/>
              <a:buNone/>
              <a:defRPr>
                <a:solidFill>
                  <a:srgbClr val="888888"/>
                </a:solidFill>
              </a:defRPr>
            </a:lvl4pPr>
            <a:lvl5pPr indent="0" lvl="4" marL="0" algn="r">
              <a:lnSpc>
                <a:spcPct val="100000"/>
              </a:lnSpc>
              <a:spcBef>
                <a:spcPts val="0"/>
              </a:spcBef>
              <a:spcAft>
                <a:spcPts val="0"/>
              </a:spcAft>
              <a:buSzPts val="1800"/>
              <a:buNone/>
              <a:defRPr>
                <a:solidFill>
                  <a:srgbClr val="888888"/>
                </a:solidFill>
              </a:defRPr>
            </a:lvl5pPr>
            <a:lvl6pPr indent="0" lvl="5" marL="0" algn="r">
              <a:lnSpc>
                <a:spcPct val="100000"/>
              </a:lnSpc>
              <a:spcBef>
                <a:spcPts val="0"/>
              </a:spcBef>
              <a:spcAft>
                <a:spcPts val="0"/>
              </a:spcAft>
              <a:buSzPts val="1800"/>
              <a:buNone/>
              <a:defRPr>
                <a:solidFill>
                  <a:srgbClr val="888888"/>
                </a:solidFill>
              </a:defRPr>
            </a:lvl6pPr>
            <a:lvl7pPr indent="0" lvl="6" marL="0" algn="r">
              <a:lnSpc>
                <a:spcPct val="100000"/>
              </a:lnSpc>
              <a:spcBef>
                <a:spcPts val="0"/>
              </a:spcBef>
              <a:spcAft>
                <a:spcPts val="0"/>
              </a:spcAft>
              <a:buSzPts val="1800"/>
              <a:buNone/>
              <a:defRPr>
                <a:solidFill>
                  <a:srgbClr val="888888"/>
                </a:solidFill>
              </a:defRPr>
            </a:lvl7pPr>
            <a:lvl8pPr indent="0" lvl="7" marL="0" algn="r">
              <a:lnSpc>
                <a:spcPct val="100000"/>
              </a:lnSpc>
              <a:spcBef>
                <a:spcPts val="0"/>
              </a:spcBef>
              <a:spcAft>
                <a:spcPts val="0"/>
              </a:spcAft>
              <a:buSzPts val="1800"/>
              <a:buNone/>
              <a:defRPr>
                <a:solidFill>
                  <a:srgbClr val="888888"/>
                </a:solidFill>
              </a:defRPr>
            </a:lvl8pPr>
            <a:lvl9pPr indent="0" lvl="8" marL="0" algn="r">
              <a:lnSpc>
                <a:spcPct val="100000"/>
              </a:lnSpc>
              <a:spcBef>
                <a:spcPts val="0"/>
              </a:spcBef>
              <a:spcAft>
                <a:spcPts val="0"/>
              </a:spcAft>
              <a:buSzPts val="1800"/>
              <a:buNone/>
              <a:defRPr>
                <a:solidFill>
                  <a:srgbClr val="888888"/>
                </a:solidFill>
              </a:defRPr>
            </a:lvl9pPr>
          </a:lstStyle>
          <a:p>
            <a:pPr indent="0" lvl="0" marL="0" rtl="0" algn="r">
              <a:spcBef>
                <a:spcPts val="0"/>
              </a:spcBef>
              <a:spcAft>
                <a:spcPts val="0"/>
              </a:spcAft>
              <a:buNone/>
            </a:pPr>
            <a:fld id="{00000000-1234-1234-1234-123412341234}" type="slidenum">
              <a:rPr lang="es-ES"/>
              <a:t>‹#›</a:t>
            </a:fld>
            <a:endParaRPr b="0" i="0" sz="1800" u="none" cap="none" strike="noStrike">
              <a:latin typeface="Calibri"/>
              <a:ea typeface="Calibri"/>
              <a:cs typeface="Calibri"/>
              <a:sym typeface="Calibri"/>
            </a:endParaRPr>
          </a:p>
        </p:txBody>
      </p:sp>
      <p:sp>
        <p:nvSpPr>
          <p:cNvPr id="36" name="Google Shape;36;p35"/>
          <p:cNvSpPr/>
          <p:nvPr/>
        </p:nvSpPr>
        <p:spPr>
          <a:xfrm>
            <a:off x="376313" y="348595"/>
            <a:ext cx="3205083" cy="818999"/>
          </a:xfrm>
          <a:custGeom>
            <a:rect b="b" l="l" r="r" t="t"/>
            <a:pathLst>
              <a:path extrusionOk="0" h="1165910" w="4305684">
                <a:moveTo>
                  <a:pt x="0" y="0"/>
                </a:moveTo>
                <a:lnTo>
                  <a:pt x="4305684" y="0"/>
                </a:lnTo>
                <a:lnTo>
                  <a:pt x="4305684" y="1165910"/>
                </a:lnTo>
                <a:lnTo>
                  <a:pt x="0" y="1165910"/>
                </a:lnTo>
                <a:lnTo>
                  <a:pt x="0" y="0"/>
                </a:lnTo>
                <a:close/>
              </a:path>
            </a:pathLst>
          </a:cu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37" name="Google Shape;37;p35"/>
          <p:cNvGrpSpPr/>
          <p:nvPr/>
        </p:nvGrpSpPr>
        <p:grpSpPr>
          <a:xfrm>
            <a:off x="-9143" y="6005473"/>
            <a:ext cx="12201144" cy="818999"/>
            <a:chOff x="0" y="-47625"/>
            <a:chExt cx="4908254" cy="252121"/>
          </a:xfrm>
        </p:grpSpPr>
        <p:sp>
          <p:nvSpPr>
            <p:cNvPr id="38" name="Google Shape;38;p35"/>
            <p:cNvSpPr/>
            <p:nvPr/>
          </p:nvSpPr>
          <p:spPr>
            <a:xfrm>
              <a:off x="0" y="0"/>
              <a:ext cx="4908254" cy="204496"/>
            </a:xfrm>
            <a:custGeom>
              <a:rect b="b" l="l" r="r" t="t"/>
              <a:pathLst>
                <a:path extrusionOk="0" h="204496" w="4908254">
                  <a:moveTo>
                    <a:pt x="0" y="0"/>
                  </a:moveTo>
                  <a:lnTo>
                    <a:pt x="4908254" y="0"/>
                  </a:lnTo>
                  <a:lnTo>
                    <a:pt x="4908254" y="204496"/>
                  </a:lnTo>
                  <a:lnTo>
                    <a:pt x="0" y="204496"/>
                  </a:lnTo>
                  <a:close/>
                </a:path>
              </a:pathLst>
            </a:custGeom>
            <a:solidFill>
              <a:srgbClr val="343434">
                <a:alpha val="7725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 name="Google Shape;39;p35"/>
            <p:cNvSpPr txBox="1"/>
            <p:nvPr/>
          </p:nvSpPr>
          <p:spPr>
            <a:xfrm>
              <a:off x="0" y="-47625"/>
              <a:ext cx="4908254" cy="252121"/>
            </a:xfrm>
            <a:prstGeom prst="rect">
              <a:avLst/>
            </a:prstGeom>
            <a:noFill/>
            <a:ln>
              <a:noFill/>
            </a:ln>
          </p:spPr>
          <p:txBody>
            <a:bodyPr anchorCtr="0" anchor="ctr" bIns="50800" lIns="50800" spcFirstLastPara="1" rIns="50800" wrap="square" tIns="50800">
              <a:noAutofit/>
            </a:bodyPr>
            <a:lstStyle/>
            <a:p>
              <a:pPr indent="0" lvl="0" marL="0" marR="0" rtl="0" algn="ctr">
                <a:lnSpc>
                  <a:spcPct val="154285"/>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cxnSp>
        <p:nvCxnSpPr>
          <p:cNvPr id="40" name="Google Shape;40;p35"/>
          <p:cNvCxnSpPr/>
          <p:nvPr/>
        </p:nvCxnSpPr>
        <p:spPr>
          <a:xfrm>
            <a:off x="9829800" y="450317"/>
            <a:ext cx="0" cy="591187"/>
          </a:xfrm>
          <a:prstGeom prst="straightConnector1">
            <a:avLst/>
          </a:prstGeom>
          <a:noFill/>
          <a:ln cap="flat" cmpd="sng" w="19050">
            <a:solidFill>
              <a:srgbClr val="000000"/>
            </a:solidFill>
            <a:prstDash val="solid"/>
            <a:round/>
            <a:headEnd len="sm" w="sm" type="none"/>
            <a:tailEnd len="sm" w="sm" type="none"/>
          </a:ln>
        </p:spPr>
      </p:cxnSp>
      <p:sp>
        <p:nvSpPr>
          <p:cNvPr id="41" name="Google Shape;41;p35"/>
          <p:cNvSpPr txBox="1"/>
          <p:nvPr/>
        </p:nvSpPr>
        <p:spPr>
          <a:xfrm>
            <a:off x="9982200" y="450317"/>
            <a:ext cx="1854823" cy="591187"/>
          </a:xfrm>
          <a:prstGeom prst="rect">
            <a:avLst/>
          </a:prstGeom>
          <a:noFill/>
          <a:ln>
            <a:noFill/>
          </a:ln>
        </p:spPr>
        <p:txBody>
          <a:bodyPr anchorCtr="0" anchor="t" bIns="0" lIns="0" spcFirstLastPara="1" rIns="0" wrap="square" tIns="0">
            <a:spAutoFit/>
          </a:bodyPr>
          <a:lstStyle/>
          <a:p>
            <a:pPr indent="0" lvl="0" marL="0" marR="0" rtl="0" algn="just">
              <a:lnSpc>
                <a:spcPct val="133611"/>
              </a:lnSpc>
              <a:spcBef>
                <a:spcPts val="0"/>
              </a:spcBef>
              <a:spcAft>
                <a:spcPts val="0"/>
              </a:spcAft>
              <a:buNone/>
            </a:pPr>
            <a:r>
              <a:rPr b="0" i="0" lang="es-ES" sz="1800" u="none" cap="none" strike="noStrike">
                <a:solidFill>
                  <a:srgbClr val="343434"/>
                </a:solidFill>
                <a:latin typeface="Arial"/>
                <a:ea typeface="Arial"/>
                <a:cs typeface="Arial"/>
                <a:sym typeface="Arial"/>
              </a:rPr>
              <a:t>FACULTADAD DE INGENIERÍA</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p:cSld name="제목 및 내용">
    <p:bg>
      <p:bgPr>
        <a:solidFill>
          <a:schemeClr val="lt1"/>
        </a:solidFill>
      </p:bgPr>
    </p:bg>
    <p:spTree>
      <p:nvGrpSpPr>
        <p:cNvPr id="42" name="Shape 42"/>
        <p:cNvGrpSpPr/>
        <p:nvPr/>
      </p:nvGrpSpPr>
      <p:grpSpPr>
        <a:xfrm>
          <a:off x="0" y="0"/>
          <a:ext cx="0" cy="0"/>
          <a:chOff x="0" y="0"/>
          <a:chExt cx="0" cy="0"/>
        </a:xfrm>
      </p:grpSpPr>
      <p:pic>
        <p:nvPicPr>
          <p:cNvPr id="43" name="Google Shape;43;p2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4" name="Google Shape;44;p29"/>
          <p:cNvSpPr txBox="1"/>
          <p:nvPr>
            <p:ph idx="10" type="dt"/>
          </p:nvPr>
        </p:nvSpPr>
        <p:spPr>
          <a:xfrm>
            <a:off x="609600" y="6500835"/>
            <a:ext cx="2844800" cy="22064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9"/>
          <p:cNvSpPr txBox="1"/>
          <p:nvPr>
            <p:ph idx="11" type="ftr"/>
          </p:nvPr>
        </p:nvSpPr>
        <p:spPr>
          <a:xfrm>
            <a:off x="4165600" y="6500835"/>
            <a:ext cx="3860800" cy="220641"/>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9"/>
          <p:cNvSpPr txBox="1"/>
          <p:nvPr>
            <p:ph idx="12" type="sldNum"/>
          </p:nvPr>
        </p:nvSpPr>
        <p:spPr>
          <a:xfrm>
            <a:off x="8737600" y="6500835"/>
            <a:ext cx="2844800" cy="220641"/>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
        <p:nvSpPr>
          <p:cNvPr id="47" name="Google Shape;47;p29"/>
          <p:cNvSpPr txBox="1"/>
          <p:nvPr>
            <p:ph idx="1" type="body"/>
          </p:nvPr>
        </p:nvSpPr>
        <p:spPr>
          <a:xfrm>
            <a:off x="527382" y="1268760"/>
            <a:ext cx="11203367" cy="4881686"/>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rgbClr val="595959"/>
              </a:buClr>
              <a:buSzPts val="1600"/>
              <a:buFont typeface="Calibri"/>
              <a:buNone/>
              <a:defRPr i="1" sz="1600">
                <a:solidFill>
                  <a:srgbClr val="595959"/>
                </a:solidFill>
                <a:latin typeface="Calibri"/>
                <a:ea typeface="Calibri"/>
                <a:cs typeface="Calibri"/>
                <a:sym typeface="Calibri"/>
              </a:defRPr>
            </a:lvl1pPr>
            <a:lvl2pPr indent="-228600" lvl="1" marL="914400" algn="l">
              <a:lnSpc>
                <a:spcPct val="100000"/>
              </a:lnSpc>
              <a:spcBef>
                <a:spcPts val="0"/>
              </a:spcBef>
              <a:spcAft>
                <a:spcPts val="0"/>
              </a:spcAft>
              <a:buClr>
                <a:srgbClr val="595959"/>
              </a:buClr>
              <a:buSzPts val="1600"/>
              <a:buFont typeface="Calibri"/>
              <a:buNone/>
              <a:defRPr i="1" sz="1600">
                <a:solidFill>
                  <a:srgbClr val="595959"/>
                </a:solidFill>
                <a:latin typeface="Calibri"/>
                <a:ea typeface="Calibri"/>
                <a:cs typeface="Calibri"/>
                <a:sym typeface="Calibri"/>
              </a:defRPr>
            </a:lvl2pPr>
            <a:lvl3pPr indent="-228600" lvl="2" marL="1371600" algn="l">
              <a:lnSpc>
                <a:spcPct val="100000"/>
              </a:lnSpc>
              <a:spcBef>
                <a:spcPts val="0"/>
              </a:spcBef>
              <a:spcAft>
                <a:spcPts val="0"/>
              </a:spcAft>
              <a:buClr>
                <a:srgbClr val="595959"/>
              </a:buClr>
              <a:buSzPts val="1600"/>
              <a:buFont typeface="Calibri"/>
              <a:buNone/>
              <a:defRPr i="1" sz="1600">
                <a:solidFill>
                  <a:srgbClr val="595959"/>
                </a:solidFill>
                <a:latin typeface="Calibri"/>
                <a:ea typeface="Calibri"/>
                <a:cs typeface="Calibri"/>
                <a:sym typeface="Calibri"/>
              </a:defRPr>
            </a:lvl3pPr>
            <a:lvl4pPr indent="-228600" lvl="3" marL="1828800" algn="l">
              <a:lnSpc>
                <a:spcPct val="100000"/>
              </a:lnSpc>
              <a:spcBef>
                <a:spcPts val="0"/>
              </a:spcBef>
              <a:spcAft>
                <a:spcPts val="0"/>
              </a:spcAft>
              <a:buClr>
                <a:srgbClr val="595959"/>
              </a:buClr>
              <a:buSzPts val="1600"/>
              <a:buFont typeface="Calibri"/>
              <a:buNone/>
              <a:defRPr i="1" sz="1600">
                <a:solidFill>
                  <a:srgbClr val="595959"/>
                </a:solidFill>
                <a:latin typeface="Calibri"/>
                <a:ea typeface="Calibri"/>
                <a:cs typeface="Calibri"/>
                <a:sym typeface="Calibri"/>
              </a:defRPr>
            </a:lvl4pPr>
            <a:lvl5pPr indent="-228600" lvl="4" marL="2286000" algn="l">
              <a:lnSpc>
                <a:spcPct val="100000"/>
              </a:lnSpc>
              <a:spcBef>
                <a:spcPts val="0"/>
              </a:spcBef>
              <a:spcAft>
                <a:spcPts val="0"/>
              </a:spcAft>
              <a:buClr>
                <a:srgbClr val="595959"/>
              </a:buClr>
              <a:buSzPts val="1600"/>
              <a:buFont typeface="Calibri"/>
              <a:buNone/>
              <a:defRPr i="1" sz="1600">
                <a:solidFill>
                  <a:srgbClr val="595959"/>
                </a:solidFill>
                <a:latin typeface="Calibri"/>
                <a:ea typeface="Calibri"/>
                <a:cs typeface="Calibri"/>
                <a:sym typeface="Calibri"/>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8" name="Google Shape;48;p29"/>
          <p:cNvSpPr txBox="1"/>
          <p:nvPr>
            <p:ph type="title"/>
          </p:nvPr>
        </p:nvSpPr>
        <p:spPr>
          <a:xfrm>
            <a:off x="527381" y="116632"/>
            <a:ext cx="10214928" cy="796908"/>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595959"/>
              </a:buClr>
              <a:buSzPts val="2500"/>
              <a:buFont typeface="Calibri"/>
              <a:buNone/>
              <a:defRPr b="1" sz="2500">
                <a:solidFill>
                  <a:srgbClr val="59595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bg>
      <p:bgPr>
        <a:solidFill>
          <a:schemeClr val="lt1"/>
        </a:solidFill>
      </p:bgPr>
    </p:bg>
    <p:spTree>
      <p:nvGrpSpPr>
        <p:cNvPr id="49" name="Shape 49"/>
        <p:cNvGrpSpPr/>
        <p:nvPr/>
      </p:nvGrpSpPr>
      <p:grpSpPr>
        <a:xfrm>
          <a:off x="0" y="0"/>
          <a:ext cx="0" cy="0"/>
          <a:chOff x="0" y="0"/>
          <a:chExt cx="0" cy="0"/>
        </a:xfrm>
      </p:grpSpPr>
      <p:pic>
        <p:nvPicPr>
          <p:cNvPr id="50" name="Google Shape;50;p3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1" name="Google Shape;51;p3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p:cSld name="구역 머리글">
    <p:bg>
      <p:bgPr>
        <a:solidFill>
          <a:schemeClr val="lt1"/>
        </a:solidFill>
      </p:bgPr>
    </p:bg>
    <p:spTree>
      <p:nvGrpSpPr>
        <p:cNvPr id="54" name="Shape 54"/>
        <p:cNvGrpSpPr/>
        <p:nvPr/>
      </p:nvGrpSpPr>
      <p:grpSpPr>
        <a:xfrm>
          <a:off x="0" y="0"/>
          <a:ext cx="0" cy="0"/>
          <a:chOff x="0" y="0"/>
          <a:chExt cx="0" cy="0"/>
        </a:xfrm>
      </p:grpSpPr>
      <p:sp>
        <p:nvSpPr>
          <p:cNvPr id="55" name="Google Shape;55;p31"/>
          <p:cNvSpPr txBox="1"/>
          <p:nvPr>
            <p:ph type="title"/>
          </p:nvPr>
        </p:nvSpPr>
        <p:spPr>
          <a:xfrm>
            <a:off x="911424" y="2636913"/>
            <a:ext cx="10363200" cy="1362075"/>
          </a:xfrm>
          <a:prstGeom prst="rect">
            <a:avLst/>
          </a:prstGeom>
          <a:noFill/>
          <a:ln>
            <a:noFill/>
          </a:ln>
        </p:spPr>
        <p:txBody>
          <a:bodyPr anchorCtr="0" anchor="ctr" bIns="0" lIns="0" spcFirstLastPara="1" rIns="0" wrap="square" tIns="0">
            <a:spAutoFit/>
          </a:bodyPr>
          <a:lstStyle>
            <a:lvl1pPr lvl="0" algn="ctr">
              <a:lnSpc>
                <a:spcPct val="100000"/>
              </a:lnSpc>
              <a:spcBef>
                <a:spcPts val="0"/>
              </a:spcBef>
              <a:spcAft>
                <a:spcPts val="0"/>
              </a:spcAft>
              <a:buSzPts val="1400"/>
              <a:buNone/>
              <a:defRPr b="0" sz="4000" cap="none">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pic>
        <p:nvPicPr>
          <p:cNvPr id="59" name="Google Shape;59;p31"/>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916939" y="609676"/>
            <a:ext cx="10358120" cy="69723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7"/>
          <p:cNvSpPr txBox="1"/>
          <p:nvPr>
            <p:ph idx="1" type="body"/>
          </p:nvPr>
        </p:nvSpPr>
        <p:spPr>
          <a:xfrm>
            <a:off x="916939" y="1793493"/>
            <a:ext cx="10358120" cy="185864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2" name="Google Shape;12;p27"/>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7"/>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7"/>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3" name="Shape 63"/>
        <p:cNvGrpSpPr/>
        <p:nvPr/>
      </p:nvGrpSpPr>
      <p:grpSpPr>
        <a:xfrm>
          <a:off x="0" y="0"/>
          <a:ext cx="0" cy="0"/>
          <a:chOff x="0" y="0"/>
          <a:chExt cx="0" cy="0"/>
        </a:xfrm>
      </p:grpSpPr>
      <p:sp>
        <p:nvSpPr>
          <p:cNvPr id="64" name="Google Shape;64;p1"/>
          <p:cNvSpPr txBox="1"/>
          <p:nvPr>
            <p:ph type="ctrTitle"/>
          </p:nvPr>
        </p:nvSpPr>
        <p:spPr>
          <a:xfrm>
            <a:off x="1734819" y="2965741"/>
            <a:ext cx="8722359" cy="1114531"/>
          </a:xfrm>
          <a:prstGeom prst="rect">
            <a:avLst/>
          </a:prstGeom>
          <a:noFill/>
          <a:ln>
            <a:noFill/>
          </a:ln>
        </p:spPr>
        <p:txBody>
          <a:bodyPr anchorCtr="0" anchor="t" bIns="0" lIns="0" spcFirstLastPara="1" rIns="0" wrap="square" tIns="116200">
            <a:spAutoFit/>
          </a:bodyPr>
          <a:lstStyle/>
          <a:p>
            <a:pPr indent="-3253104" lvl="0" marL="3268979" marR="5080" rtl="0" algn="ctr">
              <a:lnSpc>
                <a:spcPct val="108000"/>
              </a:lnSpc>
              <a:spcBef>
                <a:spcPts val="0"/>
              </a:spcBef>
              <a:spcAft>
                <a:spcPts val="0"/>
              </a:spcAft>
              <a:buSzPts val="1400"/>
              <a:buNone/>
            </a:pPr>
            <a:r>
              <a:rPr lang="es-ES">
                <a:latin typeface="Arial"/>
                <a:ea typeface="Arial"/>
                <a:cs typeface="Arial"/>
                <a:sym typeface="Arial"/>
              </a:rPr>
              <a:t>DISEÑO DE PATRONES</a:t>
            </a:r>
            <a:endParaRPr>
              <a:latin typeface="Arial"/>
              <a:ea typeface="Arial"/>
              <a:cs typeface="Arial"/>
              <a:sym typeface="Arial"/>
            </a:endParaRPr>
          </a:p>
        </p:txBody>
      </p:sp>
      <p:pic>
        <p:nvPicPr>
          <p:cNvPr id="65" name="Google Shape;65;p1"/>
          <p:cNvPicPr preferRelativeResize="0"/>
          <p:nvPr/>
        </p:nvPicPr>
        <p:blipFill rotWithShape="1">
          <a:blip r:embed="rId3">
            <a:alphaModFix/>
          </a:blip>
          <a:srcRect b="0" l="0" r="0" t="0"/>
          <a:stretch/>
        </p:blipFill>
        <p:spPr>
          <a:xfrm>
            <a:off x="3681788" y="370720"/>
            <a:ext cx="4828423" cy="1077080"/>
          </a:xfrm>
          <a:prstGeom prst="rect">
            <a:avLst/>
          </a:prstGeom>
          <a:noFill/>
          <a:ln>
            <a:noFill/>
          </a:ln>
        </p:spPr>
      </p:pic>
      <p:sp>
        <p:nvSpPr>
          <p:cNvPr id="66" name="Google Shape;66;p1"/>
          <p:cNvSpPr txBox="1"/>
          <p:nvPr/>
        </p:nvSpPr>
        <p:spPr>
          <a:xfrm>
            <a:off x="6486144" y="5897381"/>
            <a:ext cx="6096000" cy="659155"/>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Clr>
                <a:srgbClr val="000000"/>
              </a:buClr>
              <a:buSzPts val="1800"/>
              <a:buFont typeface="Arial"/>
              <a:buNone/>
            </a:pPr>
            <a:r>
              <a:rPr b="1" i="0" lang="es-ES" sz="1800" u="none" cap="none" strike="noStrike">
                <a:solidFill>
                  <a:srgbClr val="D1052D"/>
                </a:solidFill>
                <a:latin typeface="Arial"/>
                <a:ea typeface="Arial"/>
                <a:cs typeface="Arial"/>
                <a:sym typeface="Arial"/>
              </a:rPr>
              <a:t>DOCENTE:</a:t>
            </a:r>
            <a:endParaRPr b="1" i="0" sz="1800" u="none" cap="none" strike="noStrike">
              <a:solidFill>
                <a:srgbClr val="D1052D"/>
              </a:solidFill>
              <a:latin typeface="Arial"/>
              <a:ea typeface="Arial"/>
              <a:cs typeface="Arial"/>
              <a:sym typeface="Arial"/>
            </a:endParaRPr>
          </a:p>
          <a:p>
            <a:pPr indent="0" lvl="0" marL="12700" marR="0" rtl="0" algn="ctr">
              <a:lnSpc>
                <a:spcPct val="100000"/>
              </a:lnSpc>
              <a:spcBef>
                <a:spcPts val="10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Dr. Jose Adrian Nuñez Huerta</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txBox="1"/>
          <p:nvPr/>
        </p:nvSpPr>
        <p:spPr>
          <a:xfrm>
            <a:off x="699506" y="646344"/>
            <a:ext cx="358140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s-ES" sz="3200" u="none" cap="none" strike="noStrike">
                <a:solidFill>
                  <a:schemeClr val="dk1"/>
                </a:solidFill>
                <a:latin typeface="Roboto Medium"/>
                <a:ea typeface="Roboto Medium"/>
                <a:cs typeface="Roboto Medium"/>
                <a:sym typeface="Roboto Medium"/>
              </a:rPr>
              <a:t>MOTIVACIÓN</a:t>
            </a:r>
            <a:endParaRPr b="0" i="0" sz="1400" u="none" cap="none" strike="noStrike">
              <a:solidFill>
                <a:srgbClr val="000000"/>
              </a:solidFill>
              <a:latin typeface="Arial"/>
              <a:ea typeface="Arial"/>
              <a:cs typeface="Arial"/>
              <a:sym typeface="Arial"/>
            </a:endParaRPr>
          </a:p>
        </p:txBody>
      </p:sp>
      <p:pic>
        <p:nvPicPr>
          <p:cNvPr id="72" name="Google Shape;72;p2"/>
          <p:cNvPicPr preferRelativeResize="0"/>
          <p:nvPr/>
        </p:nvPicPr>
        <p:blipFill rotWithShape="1">
          <a:blip r:embed="rId3">
            <a:alphaModFix/>
          </a:blip>
          <a:srcRect b="0" l="0" r="0" t="0"/>
          <a:stretch/>
        </p:blipFill>
        <p:spPr>
          <a:xfrm>
            <a:off x="9247241" y="238087"/>
            <a:ext cx="2483508" cy="553998"/>
          </a:xfrm>
          <a:prstGeom prst="rect">
            <a:avLst/>
          </a:prstGeom>
          <a:noFill/>
          <a:ln>
            <a:noFill/>
          </a:ln>
        </p:spPr>
      </p:pic>
      <p:sp>
        <p:nvSpPr>
          <p:cNvPr id="73" name="Google Shape;73;p2"/>
          <p:cNvSpPr txBox="1"/>
          <p:nvPr/>
        </p:nvSpPr>
        <p:spPr>
          <a:xfrm>
            <a:off x="841248" y="1866665"/>
            <a:ext cx="10619232" cy="4216539"/>
          </a:xfrm>
          <a:prstGeom prst="rect">
            <a:avLst/>
          </a:prstGeom>
          <a:noFill/>
          <a:ln>
            <a:noFill/>
          </a:ln>
        </p:spPr>
        <p:txBody>
          <a:bodyPr anchorCtr="0" anchor="t" bIns="45700" lIns="91425" spcFirstLastPara="1" rIns="91425" wrap="square" tIns="45700">
            <a:spAutoFit/>
          </a:bodyPr>
          <a:lstStyle/>
          <a:p>
            <a:pPr indent="-250825" lvl="0" marL="263525" marR="0" rtl="0" algn="l">
              <a:lnSpc>
                <a:spcPct val="100000"/>
              </a:lnSpc>
              <a:spcBef>
                <a:spcPts val="0"/>
              </a:spcBef>
              <a:spcAft>
                <a:spcPts val="0"/>
              </a:spcAft>
              <a:buClr>
                <a:srgbClr val="000000"/>
              </a:buClr>
              <a:buSzPts val="2400"/>
              <a:buFont typeface="Arial"/>
              <a:buChar char="•"/>
            </a:pPr>
            <a:r>
              <a:rPr b="0" i="0" lang="es-ES" sz="2400" u="none" cap="none" strike="noStrike">
                <a:solidFill>
                  <a:srgbClr val="000000"/>
                </a:solidFill>
                <a:latin typeface="Arial"/>
                <a:ea typeface="Arial"/>
                <a:cs typeface="Arial"/>
                <a:sym typeface="Arial"/>
              </a:rPr>
              <a:t>Hagan grupos de 4 o 5 personas</a:t>
            </a:r>
            <a:endParaRPr b="0" i="0" sz="2400" u="none" cap="none" strike="noStrike">
              <a:solidFill>
                <a:srgbClr val="000000"/>
              </a:solidFill>
              <a:latin typeface="Arial"/>
              <a:ea typeface="Arial"/>
              <a:cs typeface="Arial"/>
              <a:sym typeface="Arial"/>
            </a:endParaRPr>
          </a:p>
          <a:p>
            <a:pPr indent="-252094" lvl="0" marL="264160" marR="5080" rtl="0" algn="l">
              <a:lnSpc>
                <a:spcPct val="150000"/>
              </a:lnSpc>
              <a:spcBef>
                <a:spcPts val="0"/>
              </a:spcBef>
              <a:spcAft>
                <a:spcPts val="0"/>
              </a:spcAft>
              <a:buClr>
                <a:srgbClr val="000000"/>
              </a:buClr>
              <a:buSzPts val="2400"/>
              <a:buFont typeface="Arial"/>
              <a:buChar char="•"/>
            </a:pPr>
            <a:r>
              <a:rPr b="0" i="0" lang="es-ES" sz="2400" u="none" cap="none" strike="noStrike">
                <a:solidFill>
                  <a:srgbClr val="000000"/>
                </a:solidFill>
                <a:latin typeface="Arial"/>
                <a:ea typeface="Arial"/>
                <a:cs typeface="Arial"/>
                <a:sym typeface="Arial"/>
              </a:rPr>
              <a:t>Piensen en 3 palabras que describan sus intereses o preferencias (Ejm: música, deportes, viajar)</a:t>
            </a:r>
            <a:endParaRPr b="0" i="0" sz="2400" u="none" cap="none" strike="noStrike">
              <a:solidFill>
                <a:srgbClr val="000000"/>
              </a:solidFill>
              <a:latin typeface="Arial"/>
              <a:ea typeface="Arial"/>
              <a:cs typeface="Arial"/>
              <a:sym typeface="Arial"/>
            </a:endParaRPr>
          </a:p>
          <a:p>
            <a:pPr indent="-252094" lvl="0" marL="264160" marR="906144" rtl="0" algn="l">
              <a:lnSpc>
                <a:spcPct val="150000"/>
              </a:lnSpc>
              <a:spcBef>
                <a:spcPts val="0"/>
              </a:spcBef>
              <a:spcAft>
                <a:spcPts val="0"/>
              </a:spcAft>
              <a:buClr>
                <a:srgbClr val="000000"/>
              </a:buClr>
              <a:buSzPts val="2400"/>
              <a:buFont typeface="Arial"/>
              <a:buChar char="•"/>
            </a:pPr>
            <a:r>
              <a:rPr b="0" i="0" lang="es-ES" sz="2400" u="none" cap="none" strike="noStrike">
                <a:solidFill>
                  <a:srgbClr val="000000"/>
                </a:solidFill>
                <a:latin typeface="Arial"/>
                <a:ea typeface="Arial"/>
                <a:cs typeface="Arial"/>
                <a:sym typeface="Arial"/>
              </a:rPr>
              <a:t>Compartan sus palabras con su equipo y expliquen por qué las eligieron.</a:t>
            </a:r>
            <a:endParaRPr b="0" i="0" sz="2400" u="none" cap="none" strike="noStrike">
              <a:solidFill>
                <a:srgbClr val="000000"/>
              </a:solidFill>
              <a:latin typeface="Arial"/>
              <a:ea typeface="Arial"/>
              <a:cs typeface="Arial"/>
              <a:sym typeface="Arial"/>
            </a:endParaRPr>
          </a:p>
          <a:p>
            <a:pPr indent="-252094" lvl="0" marL="264160" marR="854710" rtl="0" algn="l">
              <a:lnSpc>
                <a:spcPct val="150000"/>
              </a:lnSpc>
              <a:spcBef>
                <a:spcPts val="0"/>
              </a:spcBef>
              <a:spcAft>
                <a:spcPts val="0"/>
              </a:spcAft>
              <a:buClr>
                <a:srgbClr val="000000"/>
              </a:buClr>
              <a:buSzPts val="2400"/>
              <a:buFont typeface="Arial"/>
              <a:buChar char="•"/>
            </a:pPr>
            <a:r>
              <a:rPr b="0" i="0" lang="es-ES" sz="2400" u="none" cap="none" strike="noStrike">
                <a:solidFill>
                  <a:srgbClr val="000000"/>
                </a:solidFill>
                <a:latin typeface="Arial"/>
                <a:ea typeface="Arial"/>
                <a:cs typeface="Arial"/>
                <a:sym typeface="Arial"/>
              </a:rPr>
              <a:t>¿Cuáles son las similitudes o diferencias que encontraron entre ustedes?</a:t>
            </a:r>
            <a:endParaRPr b="0" i="0" sz="2400" u="none" cap="none" strike="noStrike">
              <a:solidFill>
                <a:srgbClr val="000000"/>
              </a:solidFill>
              <a:latin typeface="Arial"/>
              <a:ea typeface="Arial"/>
              <a:cs typeface="Arial"/>
              <a:sym typeface="Arial"/>
            </a:endParaRPr>
          </a:p>
          <a:p>
            <a:pPr indent="0" lvl="0" marL="4446905" marR="0" rtl="0" algn="l">
              <a:lnSpc>
                <a:spcPct val="100000"/>
              </a:lnSpc>
              <a:spcBef>
                <a:spcPts val="1185"/>
              </a:spcBef>
              <a:spcAft>
                <a:spcPts val="0"/>
              </a:spcAft>
              <a:buNone/>
            </a:pPr>
            <a:r>
              <a:rPr b="1" i="0" lang="es-ES" sz="1800" u="none" cap="none" strike="noStrike">
                <a:solidFill>
                  <a:srgbClr val="000000"/>
                </a:solidFill>
                <a:latin typeface="Arial"/>
                <a:ea typeface="Arial"/>
                <a:cs typeface="Arial"/>
                <a:sym typeface="Arial"/>
              </a:rPr>
              <a:t>5 minutos</a:t>
            </a:r>
            <a:endParaRPr b="0" i="0" sz="1800" u="none" cap="none" strike="noStrike">
              <a:solidFill>
                <a:srgbClr val="000000"/>
              </a:solidFill>
              <a:latin typeface="Arial"/>
              <a:ea typeface="Arial"/>
              <a:cs typeface="Arial"/>
              <a:sym typeface="Arial"/>
            </a:endParaRPr>
          </a:p>
        </p:txBody>
      </p:sp>
      <p:pic>
        <p:nvPicPr>
          <p:cNvPr id="74" name="Google Shape;74;p2"/>
          <p:cNvPicPr preferRelativeResize="0"/>
          <p:nvPr/>
        </p:nvPicPr>
        <p:blipFill rotWithShape="1">
          <a:blip r:embed="rId4">
            <a:alphaModFix/>
          </a:blip>
          <a:srcRect b="0" l="0" r="0" t="0"/>
          <a:stretch/>
        </p:blipFill>
        <p:spPr>
          <a:xfrm>
            <a:off x="4833915" y="5599094"/>
            <a:ext cx="445171" cy="44517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3"/>
          <p:cNvSpPr txBox="1"/>
          <p:nvPr/>
        </p:nvSpPr>
        <p:spPr>
          <a:xfrm>
            <a:off x="0" y="1498287"/>
            <a:ext cx="4305321" cy="1200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s-ES" sz="3600" u="none" cap="none" strike="noStrike">
                <a:solidFill>
                  <a:schemeClr val="dk1"/>
                </a:solidFill>
                <a:latin typeface="Calibri"/>
                <a:ea typeface="Calibri"/>
                <a:cs typeface="Calibri"/>
                <a:sym typeface="Calibri"/>
              </a:rPr>
              <a:t>CONOCIMIENTOS PREVIOS</a:t>
            </a:r>
            <a:endParaRPr b="0" i="0" sz="1100" u="none" cap="none" strike="noStrike">
              <a:solidFill>
                <a:schemeClr val="dk1"/>
              </a:solidFill>
              <a:latin typeface="Arial"/>
              <a:ea typeface="Arial"/>
              <a:cs typeface="Arial"/>
              <a:sym typeface="Arial"/>
            </a:endParaRPr>
          </a:p>
        </p:txBody>
      </p:sp>
      <p:pic>
        <p:nvPicPr>
          <p:cNvPr id="81" name="Google Shape;81;p3"/>
          <p:cNvPicPr preferRelativeResize="0"/>
          <p:nvPr/>
        </p:nvPicPr>
        <p:blipFill rotWithShape="1">
          <a:blip r:embed="rId3">
            <a:alphaModFix/>
          </a:blip>
          <a:srcRect b="0" l="0" r="0" t="0"/>
          <a:stretch/>
        </p:blipFill>
        <p:spPr>
          <a:xfrm>
            <a:off x="350519" y="155037"/>
            <a:ext cx="2483508" cy="553998"/>
          </a:xfrm>
          <a:prstGeom prst="rect">
            <a:avLst/>
          </a:prstGeom>
          <a:noFill/>
          <a:ln>
            <a:noFill/>
          </a:ln>
        </p:spPr>
      </p:pic>
      <p:sp>
        <p:nvSpPr>
          <p:cNvPr id="82" name="Google Shape;82;p3"/>
          <p:cNvSpPr txBox="1"/>
          <p:nvPr/>
        </p:nvSpPr>
        <p:spPr>
          <a:xfrm>
            <a:off x="1360624" y="3429000"/>
            <a:ext cx="9782863" cy="212361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4400"/>
              <a:buFont typeface="Arial"/>
              <a:buNone/>
            </a:pPr>
            <a:r>
              <a:rPr b="1" i="0" lang="es-ES" sz="4400" u="none" cap="none" strike="noStrike">
                <a:solidFill>
                  <a:srgbClr val="262626"/>
                </a:solidFill>
                <a:latin typeface="Calibri"/>
                <a:ea typeface="Calibri"/>
                <a:cs typeface="Calibri"/>
                <a:sym typeface="Calibri"/>
              </a:rPr>
              <a:t>¿Qué entiendes por principios de sustitución de Liskov?</a:t>
            </a:r>
            <a:endParaRPr/>
          </a:p>
          <a:p>
            <a:pPr indent="0" lvl="0" marL="0" marR="0" rtl="0" algn="just">
              <a:lnSpc>
                <a:spcPct val="100000"/>
              </a:lnSpc>
              <a:spcBef>
                <a:spcPts val="0"/>
              </a:spcBef>
              <a:spcAft>
                <a:spcPts val="0"/>
              </a:spcAft>
              <a:buClr>
                <a:srgbClr val="000000"/>
              </a:buClr>
              <a:buSzPts val="4400"/>
              <a:buFont typeface="Arial"/>
              <a:buNone/>
            </a:pPr>
            <a:r>
              <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5"/>
          <p:cNvPicPr preferRelativeResize="0"/>
          <p:nvPr/>
        </p:nvPicPr>
        <p:blipFill rotWithShape="1">
          <a:blip r:embed="rId3">
            <a:alphaModFix/>
          </a:blip>
          <a:srcRect b="0" l="0" r="0" t="0"/>
          <a:stretch/>
        </p:blipFill>
        <p:spPr>
          <a:xfrm>
            <a:off x="2838022" y="332656"/>
            <a:ext cx="2483508" cy="553998"/>
          </a:xfrm>
          <a:prstGeom prst="rect">
            <a:avLst/>
          </a:prstGeom>
          <a:noFill/>
          <a:ln>
            <a:noFill/>
          </a:ln>
        </p:spPr>
      </p:pic>
      <p:sp>
        <p:nvSpPr>
          <p:cNvPr id="88" name="Google Shape;88;p5"/>
          <p:cNvSpPr txBox="1"/>
          <p:nvPr>
            <p:ph idx="4294967295" type="title"/>
          </p:nvPr>
        </p:nvSpPr>
        <p:spPr>
          <a:xfrm rot="625">
            <a:off x="548640" y="1560077"/>
            <a:ext cx="3384550" cy="1425575"/>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400"/>
              <a:buNone/>
            </a:pPr>
            <a:r>
              <a:rPr lang="es-ES">
                <a:latin typeface="Roboto Medium"/>
                <a:ea typeface="Roboto Medium"/>
                <a:cs typeface="Roboto Medium"/>
                <a:sym typeface="Roboto Medium"/>
              </a:rPr>
              <a:t>LOGRO DE LA SESIÓN</a:t>
            </a:r>
            <a:endParaRPr/>
          </a:p>
        </p:txBody>
      </p:sp>
      <p:sp>
        <p:nvSpPr>
          <p:cNvPr id="89" name="Google Shape;89;p5"/>
          <p:cNvSpPr txBox="1"/>
          <p:nvPr/>
        </p:nvSpPr>
        <p:spPr>
          <a:xfrm>
            <a:off x="5103258" y="2362200"/>
            <a:ext cx="6098344" cy="286228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3600" u="none" cap="none" strike="noStrike">
                <a:solidFill>
                  <a:srgbClr val="000000"/>
                </a:solidFill>
                <a:latin typeface="Arial"/>
                <a:ea typeface="Arial"/>
                <a:cs typeface="Arial"/>
                <a:sym typeface="Arial"/>
              </a:rPr>
              <a:t>Al finalizar la unidad el participante identifica los principios de diseño de los patrones de software para la solución de problemas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88"/>
                                        </p:tgtEl>
                                        <p:attrNameLst>
                                          <p:attrName>style.visibility</p:attrName>
                                        </p:attrNameLst>
                                      </p:cBhvr>
                                      <p:to>
                                        <p:strVal val="visible"/>
                                      </p:to>
                                    </p:set>
                                    <p:anim calcmode="lin" valueType="num">
                                      <p:cBhvr additive="base">
                                        <p:cTn dur="800"/>
                                        <p:tgtEl>
                                          <p:spTgt spid="88"/>
                                        </p:tgtEl>
                                        <p:attrNameLst>
                                          <p:attrName>ppt_w</p:attrName>
                                        </p:attrNameLst>
                                      </p:cBhvr>
                                      <p:tavLst>
                                        <p:tav fmla="" tm="0">
                                          <p:val>
                                            <p:strVal val="0"/>
                                          </p:val>
                                        </p:tav>
                                        <p:tav fmla="" tm="100000">
                                          <p:val>
                                            <p:strVal val="#ppt_w"/>
                                          </p:val>
                                        </p:tav>
                                      </p:tavLst>
                                    </p:anim>
                                    <p:anim calcmode="lin" valueType="num">
                                      <p:cBhvr additive="base">
                                        <p:cTn dur="800"/>
                                        <p:tgtEl>
                                          <p:spTgt spid="8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6"/>
          <p:cNvPicPr preferRelativeResize="0"/>
          <p:nvPr/>
        </p:nvPicPr>
        <p:blipFill rotWithShape="1">
          <a:blip r:embed="rId3">
            <a:alphaModFix/>
          </a:blip>
          <a:srcRect b="0" l="0" r="0" t="0"/>
          <a:stretch/>
        </p:blipFill>
        <p:spPr>
          <a:xfrm>
            <a:off x="2838022" y="332656"/>
            <a:ext cx="2483508" cy="553998"/>
          </a:xfrm>
          <a:prstGeom prst="rect">
            <a:avLst/>
          </a:prstGeom>
          <a:noFill/>
          <a:ln>
            <a:noFill/>
          </a:ln>
        </p:spPr>
      </p:pic>
      <p:sp>
        <p:nvSpPr>
          <p:cNvPr id="95" name="Google Shape;95;p6"/>
          <p:cNvSpPr txBox="1"/>
          <p:nvPr>
            <p:ph idx="4294967295" type="title"/>
          </p:nvPr>
        </p:nvSpPr>
        <p:spPr>
          <a:xfrm rot="625">
            <a:off x="234584" y="1925918"/>
            <a:ext cx="5105439" cy="1425575"/>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400"/>
              <a:buNone/>
            </a:pPr>
            <a:r>
              <a:rPr lang="es-ES">
                <a:latin typeface="Roboto Medium"/>
                <a:ea typeface="Roboto Medium"/>
                <a:cs typeface="Roboto Medium"/>
                <a:sym typeface="Roboto Medium"/>
              </a:rPr>
              <a:t>IMPORTANCIA DE LA SESIÓN</a:t>
            </a:r>
            <a:endParaRPr/>
          </a:p>
        </p:txBody>
      </p:sp>
      <p:sp>
        <p:nvSpPr>
          <p:cNvPr id="96" name="Google Shape;96;p6"/>
          <p:cNvSpPr txBox="1"/>
          <p:nvPr/>
        </p:nvSpPr>
        <p:spPr>
          <a:xfrm>
            <a:off x="6324600" y="2178576"/>
            <a:ext cx="5349240" cy="286228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3600" u="none" cap="none" strike="noStrike">
                <a:solidFill>
                  <a:srgbClr val="000000"/>
                </a:solidFill>
                <a:latin typeface="Arial"/>
                <a:ea typeface="Arial"/>
                <a:cs typeface="Arial"/>
                <a:sym typeface="Arial"/>
              </a:rPr>
              <a:t>La aplicación de los patrones de software a permitirá solucionar los problemas habituales de software planteados.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95"/>
                                        </p:tgtEl>
                                        <p:attrNameLst>
                                          <p:attrName>style.visibility</p:attrName>
                                        </p:attrNameLst>
                                      </p:cBhvr>
                                      <p:to>
                                        <p:strVal val="visible"/>
                                      </p:to>
                                    </p:set>
                                    <p:anim calcmode="lin" valueType="num">
                                      <p:cBhvr additive="base">
                                        <p:cTn dur="800"/>
                                        <p:tgtEl>
                                          <p:spTgt spid="95"/>
                                        </p:tgtEl>
                                        <p:attrNameLst>
                                          <p:attrName>ppt_w</p:attrName>
                                        </p:attrNameLst>
                                      </p:cBhvr>
                                      <p:tavLst>
                                        <p:tav fmla="" tm="0">
                                          <p:val>
                                            <p:strVal val="0"/>
                                          </p:val>
                                        </p:tav>
                                        <p:tav fmla="" tm="100000">
                                          <p:val>
                                            <p:strVal val="#ppt_w"/>
                                          </p:val>
                                        </p:tav>
                                      </p:tavLst>
                                    </p:anim>
                                    <p:anim calcmode="lin" valueType="num">
                                      <p:cBhvr additive="base">
                                        <p:cTn dur="800"/>
                                        <p:tgtEl>
                                          <p:spTgt spid="9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0" name="Shape 100"/>
        <p:cNvGrpSpPr/>
        <p:nvPr/>
      </p:nvGrpSpPr>
      <p:grpSpPr>
        <a:xfrm>
          <a:off x="0" y="0"/>
          <a:ext cx="0" cy="0"/>
          <a:chOff x="0" y="0"/>
          <a:chExt cx="0" cy="0"/>
        </a:xfrm>
      </p:grpSpPr>
      <p:sp>
        <p:nvSpPr>
          <p:cNvPr id="101" name="Google Shape;101;g2efdfaee476_0_0"/>
          <p:cNvSpPr txBox="1"/>
          <p:nvPr/>
        </p:nvSpPr>
        <p:spPr>
          <a:xfrm>
            <a:off x="694944" y="1868551"/>
            <a:ext cx="9729216" cy="2813550"/>
          </a:xfrm>
          <a:prstGeom prst="rect">
            <a:avLst/>
          </a:prstGeom>
          <a:noFill/>
          <a:ln>
            <a:noFill/>
          </a:ln>
        </p:spPr>
        <p:txBody>
          <a:bodyPr anchorCtr="0" anchor="t" bIns="45700" lIns="91425" spcFirstLastPara="1" rIns="91425" wrap="square" tIns="45700">
            <a:spAutoFit/>
          </a:bodyPr>
          <a:lstStyle/>
          <a:p>
            <a:pPr indent="0" lvl="0" marL="12700" marR="0" rtl="0" algn="just">
              <a:lnSpc>
                <a:spcPct val="100000"/>
              </a:lnSpc>
              <a:spcBef>
                <a:spcPts val="0"/>
              </a:spcBef>
              <a:spcAft>
                <a:spcPts val="0"/>
              </a:spcAft>
              <a:buClr>
                <a:srgbClr val="000000"/>
              </a:buClr>
              <a:buSzPts val="4400"/>
              <a:buFont typeface="Arial"/>
              <a:buNone/>
            </a:pPr>
            <a:r>
              <a:rPr b="1" i="0" lang="es-ES" sz="4400" u="none" cap="none" strike="noStrike">
                <a:solidFill>
                  <a:srgbClr val="D1052D"/>
                </a:solidFill>
                <a:latin typeface="Arial"/>
                <a:ea typeface="Arial"/>
                <a:cs typeface="Arial"/>
                <a:sym typeface="Arial"/>
              </a:rPr>
              <a:t>TEMA :</a:t>
            </a:r>
            <a:endParaRPr/>
          </a:p>
          <a:p>
            <a:pPr indent="0" lvl="0" marL="12700" marR="0" rtl="0" algn="just">
              <a:lnSpc>
                <a:spcPct val="100000"/>
              </a:lnSpc>
              <a:spcBef>
                <a:spcPts val="0"/>
              </a:spcBef>
              <a:spcAft>
                <a:spcPts val="0"/>
              </a:spcAft>
              <a:buClr>
                <a:srgbClr val="000000"/>
              </a:buClr>
              <a:buSzPts val="4400"/>
              <a:buFont typeface="Arial"/>
              <a:buNone/>
            </a:pPr>
            <a:r>
              <a:t/>
            </a:r>
            <a:endParaRPr b="1" i="0" sz="4400" u="none" cap="none" strike="noStrike">
              <a:solidFill>
                <a:srgbClr val="D1052D"/>
              </a:solidFill>
              <a:latin typeface="Arial"/>
              <a:ea typeface="Arial"/>
              <a:cs typeface="Arial"/>
              <a:sym typeface="Arial"/>
            </a:endParaRPr>
          </a:p>
          <a:p>
            <a:pPr indent="-685800" lvl="0" marL="698500" marR="0" rtl="0" algn="just">
              <a:lnSpc>
                <a:spcPct val="100000"/>
              </a:lnSpc>
              <a:spcBef>
                <a:spcPts val="100"/>
              </a:spcBef>
              <a:spcAft>
                <a:spcPts val="0"/>
              </a:spcAft>
              <a:buClr>
                <a:srgbClr val="000000"/>
              </a:buClr>
              <a:buSzPts val="4400"/>
              <a:buFont typeface="Arial"/>
              <a:buChar char="•"/>
            </a:pPr>
            <a:r>
              <a:rPr b="0" i="0" lang="es-ES" sz="4400" u="none" cap="none" strike="noStrike">
                <a:solidFill>
                  <a:srgbClr val="000000"/>
                </a:solidFill>
                <a:latin typeface="Arial"/>
                <a:ea typeface="Arial"/>
                <a:cs typeface="Arial"/>
                <a:sym typeface="Arial"/>
              </a:rPr>
              <a:t>Principio de sustitución de Liskov.</a:t>
            </a:r>
            <a:endParaRPr/>
          </a:p>
          <a:p>
            <a:pPr indent="-685800" lvl="0" marL="698500" marR="0" rtl="0" algn="just">
              <a:lnSpc>
                <a:spcPct val="100000"/>
              </a:lnSpc>
              <a:spcBef>
                <a:spcPts val="100"/>
              </a:spcBef>
              <a:spcAft>
                <a:spcPts val="0"/>
              </a:spcAft>
              <a:buClr>
                <a:srgbClr val="000000"/>
              </a:buClr>
              <a:buSzPts val="4400"/>
              <a:buFont typeface="Arial"/>
              <a:buChar char="•"/>
            </a:pPr>
            <a:r>
              <a:rPr b="0" i="0" lang="es-ES" sz="4400" u="none" cap="none" strike="noStrike">
                <a:solidFill>
                  <a:srgbClr val="000000"/>
                </a:solidFill>
                <a:latin typeface="Arial"/>
                <a:ea typeface="Arial"/>
                <a:cs typeface="Arial"/>
                <a:sym typeface="Arial"/>
              </a:rPr>
              <a:t>Principio Abierto/Cerrado.</a:t>
            </a:r>
            <a:endParaRPr b="0" i="0" sz="3600" u="none" cap="none" strike="noStrike">
              <a:solidFill>
                <a:schemeClr val="dk1"/>
              </a:solidFill>
              <a:latin typeface="Arial"/>
              <a:ea typeface="Arial"/>
              <a:cs typeface="Arial"/>
              <a:sym typeface="Arial"/>
            </a:endParaRPr>
          </a:p>
        </p:txBody>
      </p:sp>
      <p:pic>
        <p:nvPicPr>
          <p:cNvPr id="102" name="Google Shape;102;g2efdfaee476_0_0"/>
          <p:cNvPicPr preferRelativeResize="0"/>
          <p:nvPr/>
        </p:nvPicPr>
        <p:blipFill rotWithShape="1">
          <a:blip r:embed="rId3">
            <a:alphaModFix/>
          </a:blip>
          <a:srcRect b="0" l="0" r="0" t="0"/>
          <a:stretch/>
        </p:blipFill>
        <p:spPr>
          <a:xfrm>
            <a:off x="9154597" y="332656"/>
            <a:ext cx="2483508" cy="5539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8"/>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08" name="Google Shape;108;p8"/>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09" name="Google Shape;109;p8"/>
          <p:cNvSpPr txBox="1"/>
          <p:nvPr/>
        </p:nvSpPr>
        <p:spPr>
          <a:xfrm>
            <a:off x="336804" y="1283173"/>
            <a:ext cx="9941052"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de sustitución de Liskov (LSP)</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 </a:t>
            </a:r>
            <a:endParaRPr/>
          </a:p>
        </p:txBody>
      </p:sp>
      <p:sp>
        <p:nvSpPr>
          <p:cNvPr id="110" name="Google Shape;110;p8"/>
          <p:cNvSpPr txBox="1"/>
          <p:nvPr/>
        </p:nvSpPr>
        <p:spPr>
          <a:xfrm>
            <a:off x="521709" y="2196990"/>
            <a:ext cx="11148581" cy="50956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2700" u="none" cap="none" strike="noStrike">
                <a:solidFill>
                  <a:srgbClr val="000000"/>
                </a:solidFill>
                <a:latin typeface="Arial"/>
                <a:ea typeface="Arial"/>
                <a:cs typeface="Arial"/>
                <a:sym typeface="Arial"/>
              </a:rPr>
              <a:t>Es el tercer principios SOLID en la programación orientada a objetos. Este principio fue formulado por Barbara Liskov y establece que:</a:t>
            </a:r>
            <a:endParaRPr/>
          </a:p>
          <a:p>
            <a:pPr indent="0" lvl="0" marL="0" marR="0" rtl="0" algn="l">
              <a:lnSpc>
                <a:spcPct val="100000"/>
              </a:lnSpc>
              <a:spcBef>
                <a:spcPts val="0"/>
              </a:spcBef>
              <a:spcAft>
                <a:spcPts val="0"/>
              </a:spcAft>
              <a:buNone/>
            </a:pPr>
            <a:r>
              <a:t/>
            </a:r>
            <a:endParaRPr b="0" i="0" sz="27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s-ES" sz="2700" u="none" cap="none" strike="noStrike">
                <a:solidFill>
                  <a:srgbClr val="000000"/>
                </a:solidFill>
                <a:latin typeface="Arial"/>
                <a:ea typeface="Arial"/>
                <a:cs typeface="Arial"/>
                <a:sym typeface="Arial"/>
              </a:rPr>
              <a:t>"Los objetos de una clase derivada deben ser reemplazables por objetos de la clase base sin alterar el funcionamiento del programa.“</a:t>
            </a:r>
            <a:endParaRPr/>
          </a:p>
          <a:p>
            <a:pPr indent="0" lvl="0" marL="0" marR="0" rtl="0" algn="l">
              <a:lnSpc>
                <a:spcPct val="100000"/>
              </a:lnSpc>
              <a:spcBef>
                <a:spcPts val="0"/>
              </a:spcBef>
              <a:spcAft>
                <a:spcPts val="0"/>
              </a:spcAft>
              <a:buNone/>
            </a:pPr>
            <a:r>
              <a:t/>
            </a:r>
            <a:endParaRPr b="1" i="0" sz="27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700" u="none" cap="none" strike="noStrike">
                <a:solidFill>
                  <a:srgbClr val="000000"/>
                </a:solidFill>
                <a:latin typeface="Arial"/>
                <a:ea typeface="Arial"/>
                <a:cs typeface="Arial"/>
                <a:sym typeface="Arial"/>
              </a:rPr>
              <a:t>En otras palabras, si una clase S es una subclase de T, entonces los objetos de T deben poder ser sustituidos por objetos de S sin que el comportamiento del programa se vea afectado.</a:t>
            </a:r>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12700" marR="5080" rtl="0" algn="just">
              <a:lnSpc>
                <a:spcPct val="150000"/>
              </a:lnSpc>
              <a:spcBef>
                <a:spcPts val="100"/>
              </a:spcBef>
              <a:spcAft>
                <a:spcPts val="0"/>
              </a:spcAft>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7"/>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16" name="Google Shape;116;p7"/>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17" name="Google Shape;117;p7"/>
          <p:cNvSpPr txBox="1"/>
          <p:nvPr/>
        </p:nvSpPr>
        <p:spPr>
          <a:xfrm>
            <a:off x="336804" y="1283173"/>
            <a:ext cx="9941052"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de sustitución de Liskov (LSP)</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 </a:t>
            </a:r>
            <a:endParaRPr/>
          </a:p>
        </p:txBody>
      </p:sp>
      <p:sp>
        <p:nvSpPr>
          <p:cNvPr id="118" name="Google Shape;118;p7"/>
          <p:cNvSpPr txBox="1"/>
          <p:nvPr/>
        </p:nvSpPr>
        <p:spPr>
          <a:xfrm>
            <a:off x="336804" y="1977534"/>
            <a:ext cx="11148581" cy="55345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Importancia</a:t>
            </a:r>
            <a:endParaRPr/>
          </a:p>
          <a:p>
            <a:pPr indent="0" lvl="0" marL="0" marR="0" rtl="0" algn="l">
              <a:lnSpc>
                <a:spcPct val="100000"/>
              </a:lnSpc>
              <a:spcBef>
                <a:spcPts val="0"/>
              </a:spcBef>
              <a:spcAft>
                <a:spcPts val="0"/>
              </a:spcAft>
              <a:buNone/>
            </a:pPr>
            <a:r>
              <a:t/>
            </a:r>
            <a:endParaRPr b="1" i="0" sz="28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latin typeface="Arial"/>
                <a:ea typeface="Arial"/>
                <a:cs typeface="Arial"/>
                <a:sym typeface="Arial"/>
              </a:rPr>
              <a:t>Mejora la mantenibilidad del código</a:t>
            </a:r>
            <a:r>
              <a:rPr b="0" i="0" lang="es-ES" sz="2800" u="none" cap="none" strike="noStrike">
                <a:solidFill>
                  <a:srgbClr val="000000"/>
                </a:solidFill>
                <a:latin typeface="Arial"/>
                <a:ea typeface="Arial"/>
                <a:cs typeface="Arial"/>
                <a:sym typeface="Arial"/>
              </a:rPr>
              <a:t>: Facilita la extensión y modificación del software sin introducir errores.</a:t>
            </a:r>
            <a:endParaRPr/>
          </a:p>
          <a:p>
            <a:pPr indent="-27940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latin typeface="Arial"/>
                <a:ea typeface="Arial"/>
                <a:cs typeface="Arial"/>
                <a:sym typeface="Arial"/>
              </a:rPr>
              <a:t>Promueve la reutilización del código</a:t>
            </a:r>
            <a:r>
              <a:rPr b="0" i="0" lang="es-ES" sz="2800" u="none" cap="none" strike="noStrike">
                <a:solidFill>
                  <a:srgbClr val="000000"/>
                </a:solidFill>
                <a:latin typeface="Arial"/>
                <a:ea typeface="Arial"/>
                <a:cs typeface="Arial"/>
                <a:sym typeface="Arial"/>
              </a:rPr>
              <a:t>: Las subclases pueden usarse en cualquier lugar donde se use la clase base.</a:t>
            </a:r>
            <a:endParaRPr/>
          </a:p>
          <a:p>
            <a:pPr indent="-27940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800"/>
              <a:buFont typeface="Arial"/>
              <a:buChar char="•"/>
            </a:pPr>
            <a:r>
              <a:rPr b="1" i="0" lang="es-ES" sz="2800" u="none" cap="none" strike="noStrike">
                <a:solidFill>
                  <a:srgbClr val="000000"/>
                </a:solidFill>
                <a:latin typeface="Arial"/>
                <a:ea typeface="Arial"/>
                <a:cs typeface="Arial"/>
                <a:sym typeface="Arial"/>
              </a:rPr>
              <a:t>Aumenta la robustez del software</a:t>
            </a:r>
            <a:r>
              <a:rPr b="0" i="0" lang="es-ES" sz="2800" u="none" cap="none" strike="noStrike">
                <a:solidFill>
                  <a:srgbClr val="000000"/>
                </a:solidFill>
                <a:latin typeface="Arial"/>
                <a:ea typeface="Arial"/>
                <a:cs typeface="Arial"/>
                <a:sym typeface="Arial"/>
              </a:rPr>
              <a:t>: Ayuda a crear sistemas más fiables y menos propensos a fallos.</a:t>
            </a:r>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12700" marR="5080" rtl="0" algn="just">
              <a:lnSpc>
                <a:spcPct val="150000"/>
              </a:lnSpc>
              <a:spcBef>
                <a:spcPts val="100"/>
              </a:spcBef>
              <a:spcAft>
                <a:spcPts val="0"/>
              </a:spcAft>
              <a:buNone/>
            </a:pPr>
            <a:r>
              <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36"/>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24" name="Google Shape;124;p36"/>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25" name="Google Shape;125;p36"/>
          <p:cNvSpPr txBox="1"/>
          <p:nvPr/>
        </p:nvSpPr>
        <p:spPr>
          <a:xfrm>
            <a:off x="336804" y="1283173"/>
            <a:ext cx="9941052"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de sustitución de Liskov (LSP)</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 </a:t>
            </a:r>
            <a:endParaRPr/>
          </a:p>
        </p:txBody>
      </p:sp>
      <p:sp>
        <p:nvSpPr>
          <p:cNvPr id="126" name="Google Shape;126;p36"/>
          <p:cNvSpPr txBox="1"/>
          <p:nvPr/>
        </p:nvSpPr>
        <p:spPr>
          <a:xfrm>
            <a:off x="336804" y="1977534"/>
            <a:ext cx="11148581" cy="51651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Ventajas</a:t>
            </a:r>
            <a:endParaRPr/>
          </a:p>
          <a:p>
            <a:pPr indent="0" lvl="0" marL="0" marR="0" rtl="0" algn="l">
              <a:lnSpc>
                <a:spcPct val="100000"/>
              </a:lnSpc>
              <a:spcBef>
                <a:spcPts val="0"/>
              </a:spcBef>
              <a:spcAft>
                <a:spcPts val="0"/>
              </a:spcAft>
              <a:buNone/>
            </a:pPr>
            <a:r>
              <a:t/>
            </a:r>
            <a:endParaRPr b="1" i="0" sz="3600" u="none" cap="none" strike="noStrike">
              <a:solidFill>
                <a:srgbClr val="000000"/>
              </a:solidFill>
              <a:latin typeface="Arial"/>
              <a:ea typeface="Arial"/>
              <a:cs typeface="Arial"/>
              <a:sym typeface="Arial"/>
            </a:endParaRPr>
          </a:p>
          <a:p>
            <a:pPr indent="-571500" lvl="0" marL="571500" marR="0" rtl="0" algn="l">
              <a:lnSpc>
                <a:spcPct val="100000"/>
              </a:lnSpc>
              <a:spcBef>
                <a:spcPts val="0"/>
              </a:spcBef>
              <a:spcAft>
                <a:spcPts val="0"/>
              </a:spcAft>
              <a:buClr>
                <a:srgbClr val="000000"/>
              </a:buClr>
              <a:buSzPts val="3200"/>
              <a:buFont typeface="Arial"/>
              <a:buChar char="•"/>
            </a:pPr>
            <a:r>
              <a:rPr b="1" i="0" lang="es-ES" sz="3200" u="none" cap="none" strike="noStrike">
                <a:solidFill>
                  <a:srgbClr val="000000"/>
                </a:solidFill>
                <a:latin typeface="Arial"/>
                <a:ea typeface="Arial"/>
                <a:cs typeface="Arial"/>
                <a:sym typeface="Arial"/>
              </a:rPr>
              <a:t>Flexibilidad y Extensibilidad</a:t>
            </a:r>
            <a:r>
              <a:rPr b="0" i="0" lang="es-ES" sz="3200" u="none" cap="none" strike="noStrike">
                <a:solidFill>
                  <a:srgbClr val="000000"/>
                </a:solidFill>
                <a:latin typeface="Arial"/>
                <a:ea typeface="Arial"/>
                <a:cs typeface="Arial"/>
                <a:sym typeface="Arial"/>
              </a:rPr>
              <a:t>: Permite añadir nuevas funcionalidades sin modificar el código existente.</a:t>
            </a:r>
            <a:endParaRPr/>
          </a:p>
          <a:p>
            <a:pPr indent="-368300" lvl="0" marL="571500" marR="0" rtl="0" algn="l">
              <a:lnSpc>
                <a:spcPct val="100000"/>
              </a:lnSpc>
              <a:spcBef>
                <a:spcPts val="0"/>
              </a:spcBef>
              <a:spcAft>
                <a:spcPts val="0"/>
              </a:spcAft>
              <a:buClr>
                <a:srgbClr val="000000"/>
              </a:buClr>
              <a:buSzPts val="3200"/>
              <a:buFont typeface="Arial"/>
              <a:buNone/>
            </a:pPr>
            <a:r>
              <a:t/>
            </a:r>
            <a:endParaRPr b="0" i="0" sz="3200" u="none" cap="none" strike="noStrike">
              <a:solidFill>
                <a:srgbClr val="000000"/>
              </a:solidFill>
              <a:latin typeface="Arial"/>
              <a:ea typeface="Arial"/>
              <a:cs typeface="Arial"/>
              <a:sym typeface="Arial"/>
            </a:endParaRPr>
          </a:p>
          <a:p>
            <a:pPr indent="-571500" lvl="0" marL="571500" marR="0" rtl="0" algn="l">
              <a:lnSpc>
                <a:spcPct val="100000"/>
              </a:lnSpc>
              <a:spcBef>
                <a:spcPts val="0"/>
              </a:spcBef>
              <a:spcAft>
                <a:spcPts val="0"/>
              </a:spcAft>
              <a:buClr>
                <a:srgbClr val="000000"/>
              </a:buClr>
              <a:buSzPts val="3200"/>
              <a:buFont typeface="Arial"/>
              <a:buChar char="•"/>
            </a:pPr>
            <a:r>
              <a:rPr b="1" i="0" lang="es-ES" sz="3200" u="none" cap="none" strike="noStrike">
                <a:solidFill>
                  <a:srgbClr val="000000"/>
                </a:solidFill>
                <a:latin typeface="Arial"/>
                <a:ea typeface="Arial"/>
                <a:cs typeface="Arial"/>
                <a:sym typeface="Arial"/>
              </a:rPr>
              <a:t>Reducción de Errores</a:t>
            </a:r>
            <a:r>
              <a:rPr b="0" i="0" lang="es-ES" sz="3200" u="none" cap="none" strike="noStrike">
                <a:solidFill>
                  <a:srgbClr val="000000"/>
                </a:solidFill>
                <a:latin typeface="Arial"/>
                <a:ea typeface="Arial"/>
                <a:cs typeface="Arial"/>
                <a:sym typeface="Arial"/>
              </a:rPr>
              <a:t>: Al cumplir con LSP, se reducen las probabilidades de errores al sustituir subclases por clases base.</a:t>
            </a:r>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12700" marR="5080" rtl="0" algn="just">
              <a:lnSpc>
                <a:spcPct val="150000"/>
              </a:lnSpc>
              <a:spcBef>
                <a:spcPts val="100"/>
              </a:spcBef>
              <a:spcAft>
                <a:spcPts val="0"/>
              </a:spcAft>
              <a:buNone/>
            </a:pPr>
            <a:r>
              <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37"/>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32" name="Google Shape;132;p37"/>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33" name="Google Shape;133;p37"/>
          <p:cNvSpPr txBox="1"/>
          <p:nvPr/>
        </p:nvSpPr>
        <p:spPr>
          <a:xfrm>
            <a:off x="336804" y="1283173"/>
            <a:ext cx="9941052"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de sustitución de Liskov (LSP)</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 </a:t>
            </a:r>
            <a:endParaRPr/>
          </a:p>
        </p:txBody>
      </p:sp>
      <p:sp>
        <p:nvSpPr>
          <p:cNvPr id="134" name="Google Shape;134;p37"/>
          <p:cNvSpPr txBox="1"/>
          <p:nvPr/>
        </p:nvSpPr>
        <p:spPr>
          <a:xfrm>
            <a:off x="336804" y="1977534"/>
            <a:ext cx="11148581" cy="42418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Desventajas</a:t>
            </a:r>
            <a:endParaRPr/>
          </a:p>
          <a:p>
            <a:pPr indent="0" lvl="0" marL="0" marR="0" rtl="0" algn="l">
              <a:lnSpc>
                <a:spcPct val="100000"/>
              </a:lnSpc>
              <a:spcBef>
                <a:spcPts val="0"/>
              </a:spcBef>
              <a:spcAft>
                <a:spcPts val="0"/>
              </a:spcAft>
              <a:buNone/>
            </a:pPr>
            <a:r>
              <a:t/>
            </a:r>
            <a:endParaRPr b="1" i="0" sz="3600" u="none" cap="none" strike="noStrike">
              <a:solidFill>
                <a:srgbClr val="000000"/>
              </a:solidFill>
              <a:latin typeface="Arial"/>
              <a:ea typeface="Arial"/>
              <a:cs typeface="Arial"/>
              <a:sym typeface="Arial"/>
            </a:endParaRPr>
          </a:p>
          <a:p>
            <a:pPr indent="-571500" lvl="0" marL="571500" marR="0" rtl="0" algn="l">
              <a:lnSpc>
                <a:spcPct val="100000"/>
              </a:lnSpc>
              <a:spcBef>
                <a:spcPts val="0"/>
              </a:spcBef>
              <a:spcAft>
                <a:spcPts val="0"/>
              </a:spcAft>
              <a:buClr>
                <a:srgbClr val="000000"/>
              </a:buClr>
              <a:buSzPts val="3200"/>
              <a:buFont typeface="Arial"/>
              <a:buChar char="•"/>
            </a:pPr>
            <a:r>
              <a:rPr b="1" i="0" lang="es-ES" sz="3200" u="none" cap="none" strike="noStrike">
                <a:solidFill>
                  <a:srgbClr val="000000"/>
                </a:solidFill>
                <a:latin typeface="Arial"/>
                <a:ea typeface="Arial"/>
                <a:cs typeface="Arial"/>
                <a:sym typeface="Arial"/>
              </a:rPr>
              <a:t>Mayor Complejidad Inicial</a:t>
            </a:r>
            <a:r>
              <a:rPr b="0" i="0" lang="es-ES" sz="3200" u="none" cap="none" strike="noStrike">
                <a:solidFill>
                  <a:srgbClr val="000000"/>
                </a:solidFill>
                <a:latin typeface="Arial"/>
                <a:ea typeface="Arial"/>
                <a:cs typeface="Arial"/>
                <a:sym typeface="Arial"/>
              </a:rPr>
              <a:t>: Requiere una planificación cuidadosa del diseño de clases.</a:t>
            </a:r>
            <a:endParaRPr/>
          </a:p>
          <a:p>
            <a:pPr indent="-368300" lvl="0" marL="571500" marR="0" rtl="0" algn="l">
              <a:lnSpc>
                <a:spcPct val="100000"/>
              </a:lnSpc>
              <a:spcBef>
                <a:spcPts val="0"/>
              </a:spcBef>
              <a:spcAft>
                <a:spcPts val="0"/>
              </a:spcAft>
              <a:buClr>
                <a:srgbClr val="000000"/>
              </a:buClr>
              <a:buSzPts val="3200"/>
              <a:buFont typeface="Arial"/>
              <a:buNone/>
            </a:pPr>
            <a:r>
              <a:t/>
            </a:r>
            <a:endParaRPr b="1" i="0" sz="3200" u="none" cap="none" strike="noStrike">
              <a:solidFill>
                <a:srgbClr val="000000"/>
              </a:solidFill>
              <a:latin typeface="Arial"/>
              <a:ea typeface="Arial"/>
              <a:cs typeface="Arial"/>
              <a:sym typeface="Arial"/>
            </a:endParaRPr>
          </a:p>
          <a:p>
            <a:pPr indent="-571500" lvl="0" marL="571500" marR="0" rtl="0" algn="l">
              <a:lnSpc>
                <a:spcPct val="100000"/>
              </a:lnSpc>
              <a:spcBef>
                <a:spcPts val="0"/>
              </a:spcBef>
              <a:spcAft>
                <a:spcPts val="0"/>
              </a:spcAft>
              <a:buClr>
                <a:srgbClr val="000000"/>
              </a:buClr>
              <a:buSzPts val="3200"/>
              <a:buFont typeface="Arial"/>
              <a:buChar char="•"/>
            </a:pPr>
            <a:r>
              <a:rPr b="1" i="0" lang="es-ES" sz="3200" u="none" cap="none" strike="noStrike">
                <a:solidFill>
                  <a:srgbClr val="000000"/>
                </a:solidFill>
                <a:latin typeface="Arial"/>
                <a:ea typeface="Arial"/>
                <a:cs typeface="Arial"/>
                <a:sym typeface="Arial"/>
              </a:rPr>
              <a:t>Sobrecarga de Diseño: </a:t>
            </a:r>
            <a:r>
              <a:rPr b="0" i="0" lang="es-ES" sz="3200" u="none" cap="none" strike="noStrike">
                <a:solidFill>
                  <a:srgbClr val="000000"/>
                </a:solidFill>
                <a:latin typeface="Arial"/>
                <a:ea typeface="Arial"/>
                <a:cs typeface="Arial"/>
                <a:sym typeface="Arial"/>
              </a:rPr>
              <a:t>En algunos casos, puede ser excesivo para aplicaciones simples.</a:t>
            </a:r>
            <a:endParaRPr b="0" i="0" sz="2800" u="none" cap="none" strike="noStrike">
              <a:solidFill>
                <a:srgbClr val="000000"/>
              </a:solidFill>
              <a:latin typeface="Arial"/>
              <a:ea typeface="Arial"/>
              <a:cs typeface="Arial"/>
              <a:sym typeface="Arial"/>
            </a:endParaRPr>
          </a:p>
          <a:p>
            <a:pPr indent="0" lvl="0" marL="12700" marR="5080" rtl="0" algn="just">
              <a:lnSpc>
                <a:spcPct val="150000"/>
              </a:lnSpc>
              <a:spcBef>
                <a:spcPts val="100"/>
              </a:spcBef>
              <a:spcAft>
                <a:spcPts val="0"/>
              </a:spcAft>
              <a:buNone/>
            </a:pPr>
            <a:r>
              <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38"/>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40" name="Google Shape;140;p38"/>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41" name="Google Shape;141;p38"/>
          <p:cNvSpPr txBox="1"/>
          <p:nvPr/>
        </p:nvSpPr>
        <p:spPr>
          <a:xfrm>
            <a:off x="336804" y="994785"/>
            <a:ext cx="994105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de sustitución de Liskov (LSP)</a:t>
            </a:r>
            <a:endParaRPr/>
          </a:p>
        </p:txBody>
      </p:sp>
      <p:sp>
        <p:nvSpPr>
          <p:cNvPr id="142" name="Google Shape;142;p38"/>
          <p:cNvSpPr txBox="1"/>
          <p:nvPr/>
        </p:nvSpPr>
        <p:spPr>
          <a:xfrm>
            <a:off x="336804" y="1656475"/>
            <a:ext cx="11148581" cy="56938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800" u="none" cap="none" strike="noStrike">
                <a:solidFill>
                  <a:srgbClr val="244061"/>
                </a:solidFill>
                <a:latin typeface="Arial"/>
                <a:ea typeface="Arial"/>
                <a:cs typeface="Arial"/>
                <a:sym typeface="Arial"/>
              </a:rPr>
              <a:t>Ejemplo: </a:t>
            </a:r>
            <a:r>
              <a:rPr b="0" i="0" lang="es-ES" sz="2800" u="none" cap="none" strike="noStrike">
                <a:solidFill>
                  <a:srgbClr val="000000"/>
                </a:solidFill>
                <a:latin typeface="Arial"/>
                <a:ea typeface="Arial"/>
                <a:cs typeface="Arial"/>
                <a:sym typeface="Arial"/>
              </a:rPr>
              <a:t>Imaginemos una jerarquía de clases relacionada con aves:</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300" u="none" cap="none" strike="noStrike">
                <a:solidFill>
                  <a:srgbClr val="000000"/>
                </a:solidFill>
                <a:latin typeface="Arial"/>
                <a:ea typeface="Arial"/>
                <a:cs typeface="Arial"/>
                <a:sym typeface="Arial"/>
              </a:rPr>
              <a:t>class </a:t>
            </a:r>
            <a:r>
              <a:rPr b="0" i="0" lang="es-ES" sz="2300" u="none" cap="none" strike="noStrike">
                <a:solidFill>
                  <a:srgbClr val="FF0000"/>
                </a:solidFill>
                <a:latin typeface="Arial"/>
                <a:ea typeface="Arial"/>
                <a:cs typeface="Arial"/>
                <a:sym typeface="Arial"/>
              </a:rPr>
              <a:t>Ave</a:t>
            </a:r>
            <a:r>
              <a:rPr b="0" i="0" lang="es-ES" sz="23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300" u="none" cap="none" strike="noStrike">
                <a:solidFill>
                  <a:srgbClr val="000000"/>
                </a:solidFill>
                <a:latin typeface="Arial"/>
                <a:ea typeface="Arial"/>
                <a:cs typeface="Arial"/>
                <a:sym typeface="Arial"/>
              </a:rPr>
              <a:t>    public void volar() {</a:t>
            </a:r>
            <a:endParaRPr/>
          </a:p>
          <a:p>
            <a:pPr indent="0" lvl="0" marL="0" marR="0" rtl="0" algn="l">
              <a:lnSpc>
                <a:spcPct val="100000"/>
              </a:lnSpc>
              <a:spcBef>
                <a:spcPts val="0"/>
              </a:spcBef>
              <a:spcAft>
                <a:spcPts val="0"/>
              </a:spcAft>
              <a:buNone/>
            </a:pPr>
            <a:r>
              <a:rPr b="0" i="0" lang="es-ES" sz="2300" u="none" cap="none" strike="noStrike">
                <a:solidFill>
                  <a:srgbClr val="000000"/>
                </a:solidFill>
                <a:latin typeface="Arial"/>
                <a:ea typeface="Arial"/>
                <a:cs typeface="Arial"/>
                <a:sym typeface="Arial"/>
              </a:rPr>
              <a:t>        System.out.println("El ave está volando");</a:t>
            </a:r>
            <a:endParaRPr/>
          </a:p>
          <a:p>
            <a:pPr indent="0" lvl="0" marL="0" marR="0" rtl="0" algn="l">
              <a:lnSpc>
                <a:spcPct val="100000"/>
              </a:lnSpc>
              <a:spcBef>
                <a:spcPts val="0"/>
              </a:spcBef>
              <a:spcAft>
                <a:spcPts val="0"/>
              </a:spcAft>
              <a:buNone/>
            </a:pPr>
            <a:r>
              <a:rPr b="0" i="0" lang="es-ES" sz="23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3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3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300" u="none" cap="none" strike="noStrike">
                <a:solidFill>
                  <a:srgbClr val="000000"/>
                </a:solidFill>
                <a:latin typeface="Arial"/>
                <a:ea typeface="Arial"/>
                <a:cs typeface="Arial"/>
                <a:sym typeface="Arial"/>
              </a:rPr>
              <a:t>class </a:t>
            </a:r>
            <a:r>
              <a:rPr b="0" i="0" lang="es-ES" sz="2300" u="none" cap="none" strike="noStrike">
                <a:solidFill>
                  <a:srgbClr val="FF0000"/>
                </a:solidFill>
                <a:latin typeface="Arial"/>
                <a:ea typeface="Arial"/>
                <a:cs typeface="Arial"/>
                <a:sym typeface="Arial"/>
              </a:rPr>
              <a:t>Pinguino</a:t>
            </a:r>
            <a:r>
              <a:rPr b="0" i="0" lang="es-ES" sz="2300" u="none" cap="none" strike="noStrike">
                <a:solidFill>
                  <a:srgbClr val="000000"/>
                </a:solidFill>
                <a:latin typeface="Arial"/>
                <a:ea typeface="Arial"/>
                <a:cs typeface="Arial"/>
                <a:sym typeface="Arial"/>
              </a:rPr>
              <a:t> extends Ave {</a:t>
            </a:r>
            <a:endParaRPr/>
          </a:p>
          <a:p>
            <a:pPr indent="0" lvl="0" marL="0" marR="0" rtl="0" algn="l">
              <a:lnSpc>
                <a:spcPct val="100000"/>
              </a:lnSpc>
              <a:spcBef>
                <a:spcPts val="0"/>
              </a:spcBef>
              <a:spcAft>
                <a:spcPts val="0"/>
              </a:spcAft>
              <a:buNone/>
            </a:pPr>
            <a:r>
              <a:rPr b="0" i="0" lang="es-ES" sz="2300" u="none" cap="none" strike="noStrike">
                <a:solidFill>
                  <a:srgbClr val="000000"/>
                </a:solidFill>
                <a:latin typeface="Arial"/>
                <a:ea typeface="Arial"/>
                <a:cs typeface="Arial"/>
                <a:sym typeface="Arial"/>
              </a:rPr>
              <a:t>    @Override</a:t>
            </a:r>
            <a:endParaRPr/>
          </a:p>
          <a:p>
            <a:pPr indent="0" lvl="0" marL="0" marR="0" rtl="0" algn="l">
              <a:lnSpc>
                <a:spcPct val="100000"/>
              </a:lnSpc>
              <a:spcBef>
                <a:spcPts val="0"/>
              </a:spcBef>
              <a:spcAft>
                <a:spcPts val="0"/>
              </a:spcAft>
              <a:buNone/>
            </a:pPr>
            <a:r>
              <a:rPr b="0" i="0" lang="es-ES" sz="2300" u="none" cap="none" strike="noStrike">
                <a:solidFill>
                  <a:srgbClr val="000000"/>
                </a:solidFill>
                <a:latin typeface="Arial"/>
                <a:ea typeface="Arial"/>
                <a:cs typeface="Arial"/>
                <a:sym typeface="Arial"/>
              </a:rPr>
              <a:t>    public void volar() {</a:t>
            </a:r>
            <a:endParaRPr/>
          </a:p>
          <a:p>
            <a:pPr indent="0" lvl="0" marL="0" marR="0" rtl="0" algn="l">
              <a:lnSpc>
                <a:spcPct val="100000"/>
              </a:lnSpc>
              <a:spcBef>
                <a:spcPts val="0"/>
              </a:spcBef>
              <a:spcAft>
                <a:spcPts val="0"/>
              </a:spcAft>
              <a:buNone/>
            </a:pPr>
            <a:r>
              <a:rPr b="0" i="0" lang="es-ES" sz="2300" u="none" cap="none" strike="noStrike">
                <a:solidFill>
                  <a:srgbClr val="000000"/>
                </a:solidFill>
                <a:latin typeface="Arial"/>
                <a:ea typeface="Arial"/>
                <a:cs typeface="Arial"/>
                <a:sym typeface="Arial"/>
              </a:rPr>
              <a:t>        throw new UnsupportedOperationException("Los pingüinos no pueden volar");</a:t>
            </a:r>
            <a:endParaRPr/>
          </a:p>
          <a:p>
            <a:pPr indent="0" lvl="0" marL="0" marR="0" rtl="0" algn="l">
              <a:lnSpc>
                <a:spcPct val="100000"/>
              </a:lnSpc>
              <a:spcBef>
                <a:spcPts val="0"/>
              </a:spcBef>
              <a:spcAft>
                <a:spcPts val="0"/>
              </a:spcAft>
              <a:buNone/>
            </a:pPr>
            <a:r>
              <a:rPr b="0" i="0" lang="es-ES" sz="23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3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143" name="Google Shape;143;p38"/>
          <p:cNvSpPr/>
          <p:nvPr/>
        </p:nvSpPr>
        <p:spPr>
          <a:xfrm>
            <a:off x="7583424" y="3194304"/>
            <a:ext cx="3535680" cy="1048512"/>
          </a:xfrm>
          <a:prstGeom prst="roundRect">
            <a:avLst>
              <a:gd fmla="val 16667" name="adj"/>
            </a:avLst>
          </a:prstGeom>
          <a:solidFill>
            <a:srgbClr val="A5A5A5"/>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ES" sz="2800" u="none" cap="none" strike="noStrike">
                <a:solidFill>
                  <a:schemeClr val="dk1"/>
                </a:solidFill>
                <a:latin typeface="Arial"/>
                <a:ea typeface="Arial"/>
                <a:cs typeface="Arial"/>
                <a:sym typeface="Arial"/>
              </a:rPr>
              <a:t>Como se aplicaría el Principio de LSP</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39"/>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49" name="Google Shape;149;p39"/>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50" name="Google Shape;150;p39"/>
          <p:cNvSpPr txBox="1"/>
          <p:nvPr/>
        </p:nvSpPr>
        <p:spPr>
          <a:xfrm>
            <a:off x="336804" y="994785"/>
            <a:ext cx="994105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de sustitución de Liskov (LSP)</a:t>
            </a:r>
            <a:endParaRPr/>
          </a:p>
        </p:txBody>
      </p:sp>
      <p:sp>
        <p:nvSpPr>
          <p:cNvPr id="151" name="Google Shape;151;p39"/>
          <p:cNvSpPr txBox="1"/>
          <p:nvPr/>
        </p:nvSpPr>
        <p:spPr>
          <a:xfrm>
            <a:off x="336804" y="1656475"/>
            <a:ext cx="11148581" cy="458587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800" u="none" cap="none" strike="noStrike">
                <a:solidFill>
                  <a:srgbClr val="244061"/>
                </a:solidFill>
                <a:latin typeface="Arial"/>
                <a:ea typeface="Arial"/>
                <a:cs typeface="Arial"/>
                <a:sym typeface="Arial"/>
              </a:rPr>
              <a:t>Ejemplo: </a:t>
            </a:r>
            <a:r>
              <a:rPr b="0" i="0" lang="es-ES" sz="2800" u="none" cap="none" strike="noStrike">
                <a:solidFill>
                  <a:srgbClr val="000000"/>
                </a:solidFill>
                <a:latin typeface="Arial"/>
                <a:ea typeface="Arial"/>
                <a:cs typeface="Arial"/>
                <a:sym typeface="Arial"/>
              </a:rPr>
              <a:t>Imaginemos una jerarquía de clases relacionada con aves:</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Aquí, tenemos una clase base Ave y una subclase Pinguino. </a:t>
            </a:r>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Según el principio LSP, un Pinguino debería poder sustituir a un Ave sin problemas. </a:t>
            </a:r>
            <a:endParaRPr/>
          </a:p>
          <a:p>
            <a:pPr indent="0" lvl="0" marL="0" marR="0" rtl="0" algn="just">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Sin embargo, en este caso, si intentamos llamar al método volar() en un objeto Pinguino, obtendremos una excepción, lo cual rompe el principio LSP.</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40"/>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57" name="Google Shape;157;p40"/>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58" name="Google Shape;158;p40"/>
          <p:cNvSpPr txBox="1"/>
          <p:nvPr/>
        </p:nvSpPr>
        <p:spPr>
          <a:xfrm>
            <a:off x="336804" y="903991"/>
            <a:ext cx="994105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de sustitución de Liskov (LSP)</a:t>
            </a:r>
            <a:endParaRPr/>
          </a:p>
        </p:txBody>
      </p:sp>
      <p:sp>
        <p:nvSpPr>
          <p:cNvPr id="159" name="Google Shape;159;p40"/>
          <p:cNvSpPr txBox="1"/>
          <p:nvPr/>
        </p:nvSpPr>
        <p:spPr>
          <a:xfrm>
            <a:off x="336804" y="1536493"/>
            <a:ext cx="11148581" cy="58169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800" u="none" cap="none" strike="noStrike">
                <a:solidFill>
                  <a:srgbClr val="244061"/>
                </a:solidFill>
                <a:latin typeface="Arial"/>
                <a:ea typeface="Arial"/>
                <a:cs typeface="Arial"/>
                <a:sym typeface="Arial"/>
              </a:rPr>
              <a:t>Solución: </a:t>
            </a:r>
            <a:r>
              <a:rPr b="0" i="0" lang="es-ES" sz="2400" u="none" cap="none" strike="noStrike">
                <a:solidFill>
                  <a:srgbClr val="000000"/>
                </a:solidFill>
                <a:latin typeface="Arial"/>
                <a:ea typeface="Arial"/>
                <a:cs typeface="Arial"/>
                <a:sym typeface="Arial"/>
              </a:rPr>
              <a:t>Para cumplir con el LSP, podemos reestructurar nuestras clases de la siguiente manera:</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a:t>
            </a:r>
            <a:r>
              <a:rPr b="0" i="0" lang="es-ES" sz="2000" u="none" cap="none" strike="noStrike">
                <a:solidFill>
                  <a:srgbClr val="FF0000"/>
                </a:solidFill>
                <a:latin typeface="Arial"/>
                <a:ea typeface="Arial"/>
                <a:cs typeface="Arial"/>
                <a:sym typeface="Arial"/>
              </a:rPr>
              <a:t>Ave</a:t>
            </a: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Métodos comunes para todas las aves</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a:t>
            </a:r>
            <a:r>
              <a:rPr b="0" i="0" lang="es-ES" sz="2000" u="none" cap="none" strike="noStrike">
                <a:solidFill>
                  <a:srgbClr val="FF0000"/>
                </a:solidFill>
                <a:latin typeface="Arial"/>
                <a:ea typeface="Arial"/>
                <a:cs typeface="Arial"/>
                <a:sym typeface="Arial"/>
              </a:rPr>
              <a:t>AveVoladora </a:t>
            </a:r>
            <a:r>
              <a:rPr b="0" i="0" lang="es-ES" sz="2000" u="none" cap="none" strike="noStrike">
                <a:solidFill>
                  <a:srgbClr val="000000"/>
                </a:solidFill>
                <a:latin typeface="Arial"/>
                <a:ea typeface="Arial"/>
                <a:cs typeface="Arial"/>
                <a:sym typeface="Arial"/>
              </a:rPr>
              <a:t>extends Ave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void volar()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System.out.println("El ave está volando");</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a:t>
            </a:r>
            <a:r>
              <a:rPr b="0" i="0" lang="es-ES" sz="2000" u="none" cap="none" strike="noStrike">
                <a:solidFill>
                  <a:srgbClr val="FF0000"/>
                </a:solidFill>
                <a:latin typeface="Arial"/>
                <a:ea typeface="Arial"/>
                <a:cs typeface="Arial"/>
                <a:sym typeface="Arial"/>
              </a:rPr>
              <a:t>Pinguino</a:t>
            </a:r>
            <a:r>
              <a:rPr b="0" i="0" lang="es-ES" sz="2000" u="none" cap="none" strike="noStrike">
                <a:solidFill>
                  <a:srgbClr val="000000"/>
                </a:solidFill>
                <a:latin typeface="Arial"/>
                <a:ea typeface="Arial"/>
                <a:cs typeface="Arial"/>
                <a:sym typeface="Arial"/>
              </a:rPr>
              <a:t> extends Ave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Métodos específicos para el pingüino</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sp>
        <p:nvSpPr>
          <p:cNvPr id="160" name="Google Shape;160;p40"/>
          <p:cNvSpPr/>
          <p:nvPr/>
        </p:nvSpPr>
        <p:spPr>
          <a:xfrm>
            <a:off x="7583424" y="3194304"/>
            <a:ext cx="3535680" cy="1048512"/>
          </a:xfrm>
          <a:prstGeom prst="roundRect">
            <a:avLst>
              <a:gd fmla="val 16667" name="adj"/>
            </a:avLst>
          </a:prstGeom>
          <a:solidFill>
            <a:srgbClr val="A5A5A5"/>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ES" sz="2800" u="none" cap="none" strike="noStrike">
                <a:solidFill>
                  <a:schemeClr val="dk1"/>
                </a:solidFill>
                <a:latin typeface="Arial"/>
                <a:ea typeface="Arial"/>
                <a:cs typeface="Arial"/>
                <a:sym typeface="Arial"/>
              </a:rPr>
              <a:t>Aplicacion del Principio de LSP</a:t>
            </a:r>
            <a:endParaRPr b="0" i="0" sz="2800" u="none" cap="none" strike="noStrike">
              <a:solidFill>
                <a:schemeClr val="dk1"/>
              </a:solidFill>
              <a:latin typeface="Arial"/>
              <a:ea typeface="Arial"/>
              <a:cs typeface="Arial"/>
              <a:sym typeface="Arial"/>
            </a:endParaRPr>
          </a:p>
        </p:txBody>
      </p:sp>
      <p:sp>
        <p:nvSpPr>
          <p:cNvPr id="161" name="Google Shape;161;p40"/>
          <p:cNvSpPr txBox="1"/>
          <p:nvPr/>
        </p:nvSpPr>
        <p:spPr>
          <a:xfrm>
            <a:off x="6327648" y="5059479"/>
            <a:ext cx="5545334" cy="14773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De esta forma, tenemos una clase Ave que no asume que todas las aves pueden volar, y una subclase AveVoladora que añade el comportamiento de volar. Ahora, Pinguino puede ser sustituido por Ave sin problemas.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41"/>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67" name="Google Shape;167;p41"/>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68" name="Google Shape;168;p41"/>
          <p:cNvSpPr txBox="1"/>
          <p:nvPr/>
        </p:nvSpPr>
        <p:spPr>
          <a:xfrm>
            <a:off x="336804" y="903991"/>
            <a:ext cx="994105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de sustitución de Liskov (LSP)</a:t>
            </a:r>
            <a:endParaRPr/>
          </a:p>
        </p:txBody>
      </p:sp>
      <p:sp>
        <p:nvSpPr>
          <p:cNvPr id="169" name="Google Shape;169;p41"/>
          <p:cNvSpPr txBox="1"/>
          <p:nvPr/>
        </p:nvSpPr>
        <p:spPr>
          <a:xfrm>
            <a:off x="336804" y="1536493"/>
            <a:ext cx="11148581" cy="240065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800" u="none" cap="none" strike="noStrike">
                <a:solidFill>
                  <a:srgbClr val="244061"/>
                </a:solidFill>
                <a:latin typeface="Arial"/>
                <a:ea typeface="Arial"/>
                <a:cs typeface="Arial"/>
                <a:sym typeface="Arial"/>
              </a:rPr>
              <a:t>Ejercicio Practico:</a:t>
            </a:r>
            <a:endParaRPr/>
          </a:p>
          <a:p>
            <a:pPr indent="0" lvl="0" marL="0" marR="0" rtl="0" algn="l">
              <a:lnSpc>
                <a:spcPct val="100000"/>
              </a:lnSpc>
              <a:spcBef>
                <a:spcPts val="0"/>
              </a:spcBef>
              <a:spcAft>
                <a:spcPts val="0"/>
              </a:spcAft>
              <a:buNone/>
            </a:pPr>
            <a:r>
              <a:t/>
            </a:r>
            <a:endParaRPr b="1" i="0" sz="2800" u="none" cap="none" strike="noStrike">
              <a:solidFill>
                <a:srgbClr val="24406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000" u="none" cap="none" strike="noStrike">
              <a:solidFill>
                <a:srgbClr val="244061"/>
              </a:solidFill>
              <a:latin typeface="Arial"/>
              <a:ea typeface="Arial"/>
              <a:cs typeface="Arial"/>
              <a:sym typeface="Arial"/>
            </a:endParaRPr>
          </a:p>
          <a:p>
            <a:pPr indent="0" lvl="0" marL="0" marR="0" rtl="0" algn="l">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Supongamos que tenemos una clase base </a:t>
            </a:r>
            <a:r>
              <a:rPr b="0" i="0" lang="es-ES" sz="2800" u="none" cap="none" strike="noStrike">
                <a:solidFill>
                  <a:srgbClr val="FF0000"/>
                </a:solidFill>
                <a:latin typeface="Arial"/>
                <a:ea typeface="Arial"/>
                <a:cs typeface="Arial"/>
                <a:sym typeface="Arial"/>
              </a:rPr>
              <a:t>Vehiculo</a:t>
            </a:r>
            <a:r>
              <a:rPr b="0" i="0" lang="es-ES" sz="2800" u="none" cap="none" strike="noStrike">
                <a:solidFill>
                  <a:srgbClr val="000000"/>
                </a:solidFill>
                <a:latin typeface="Arial"/>
                <a:ea typeface="Arial"/>
                <a:cs typeface="Arial"/>
                <a:sym typeface="Arial"/>
              </a:rPr>
              <a:t> y dos subclases </a:t>
            </a:r>
            <a:r>
              <a:rPr b="0" i="0" lang="es-ES" sz="2800" u="none" cap="none" strike="noStrike">
                <a:solidFill>
                  <a:srgbClr val="FF0000"/>
                </a:solidFill>
                <a:latin typeface="Arial"/>
                <a:ea typeface="Arial"/>
                <a:cs typeface="Arial"/>
                <a:sym typeface="Arial"/>
              </a:rPr>
              <a:t>Coche y Bicicleta</a:t>
            </a:r>
            <a:r>
              <a:rPr b="0" i="0" lang="es-ES" sz="2800" u="none" cap="none" strike="noStrike">
                <a:solidFill>
                  <a:srgbClr val="000000"/>
                </a:solidFill>
                <a:latin typeface="Arial"/>
                <a:ea typeface="Arial"/>
                <a:cs typeface="Arial"/>
                <a:sym typeface="Arial"/>
              </a:rPr>
              <a:t>. Queremos asegurarnos de que la subclase Bicicleta cumple con el principio LSP.</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42"/>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75" name="Google Shape;175;p42"/>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76" name="Google Shape;176;p42"/>
          <p:cNvSpPr txBox="1"/>
          <p:nvPr/>
        </p:nvSpPr>
        <p:spPr>
          <a:xfrm>
            <a:off x="336804" y="903991"/>
            <a:ext cx="994105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de sustitución de Liskov (LSP)</a:t>
            </a:r>
            <a:endParaRPr/>
          </a:p>
        </p:txBody>
      </p:sp>
      <p:sp>
        <p:nvSpPr>
          <p:cNvPr id="177" name="Google Shape;177;p42"/>
          <p:cNvSpPr txBox="1"/>
          <p:nvPr/>
        </p:nvSpPr>
        <p:spPr>
          <a:xfrm>
            <a:off x="141733" y="1550322"/>
            <a:ext cx="6527288" cy="53860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800" u="none" cap="none" strike="noStrike">
                <a:solidFill>
                  <a:srgbClr val="244061"/>
                </a:solidFill>
                <a:latin typeface="Arial"/>
                <a:ea typeface="Arial"/>
                <a:cs typeface="Arial"/>
                <a:sym typeface="Arial"/>
              </a:rPr>
              <a:t>Ejercicio Practico:</a:t>
            </a:r>
            <a:endParaRPr/>
          </a:p>
          <a:p>
            <a:pPr indent="0" lvl="0" marL="0" marR="0" rtl="0" algn="l">
              <a:lnSpc>
                <a:spcPct val="100000"/>
              </a:lnSpc>
              <a:spcBef>
                <a:spcPts val="0"/>
              </a:spcBef>
              <a:spcAft>
                <a:spcPts val="0"/>
              </a:spcAft>
              <a:buNone/>
            </a:pPr>
            <a:r>
              <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class </a:t>
            </a:r>
            <a:r>
              <a:rPr b="0" i="0" lang="es-ES" sz="2000" u="none" cap="none" strike="noStrike">
                <a:solidFill>
                  <a:srgbClr val="FF0000"/>
                </a:solidFill>
                <a:latin typeface="Arial"/>
                <a:ea typeface="Arial"/>
                <a:cs typeface="Arial"/>
                <a:sym typeface="Arial"/>
              </a:rPr>
              <a:t>Vehiculo</a:t>
            </a:r>
            <a:r>
              <a:rPr b="0" i="0" lang="es-ES" sz="20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    public void arrancar() {</a:t>
            </a:r>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        System.out.println("El vehículo ha arrancado");</a:t>
            </a:r>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    public void detener() {</a:t>
            </a:r>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        System.out.println("El vehículo se ha detenido");</a:t>
            </a:r>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105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class </a:t>
            </a:r>
            <a:r>
              <a:rPr b="0" i="0" lang="es-ES" sz="2000" u="none" cap="none" strike="noStrike">
                <a:solidFill>
                  <a:srgbClr val="FF0000"/>
                </a:solidFill>
                <a:latin typeface="Arial"/>
                <a:ea typeface="Arial"/>
                <a:cs typeface="Arial"/>
                <a:sym typeface="Arial"/>
              </a:rPr>
              <a:t>Coche </a:t>
            </a:r>
            <a:r>
              <a:rPr b="0" i="0" lang="es-ES" sz="2000" u="none" cap="none" strike="noStrike">
                <a:solidFill>
                  <a:schemeClr val="dk1"/>
                </a:solidFill>
                <a:latin typeface="Arial"/>
                <a:ea typeface="Arial"/>
                <a:cs typeface="Arial"/>
                <a:sym typeface="Arial"/>
              </a:rPr>
              <a:t>extends Vehiculo {</a:t>
            </a:r>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    public void abrirPuertas() {</a:t>
            </a:r>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        System.out.println("Las puertas del coche están abiertas");</a:t>
            </a:r>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a:t>
            </a:r>
            <a:endParaRPr/>
          </a:p>
        </p:txBody>
      </p:sp>
      <p:cxnSp>
        <p:nvCxnSpPr>
          <p:cNvPr id="178" name="Google Shape;178;p42"/>
          <p:cNvCxnSpPr/>
          <p:nvPr/>
        </p:nvCxnSpPr>
        <p:spPr>
          <a:xfrm>
            <a:off x="6327649" y="2328671"/>
            <a:ext cx="0" cy="4080728"/>
          </a:xfrm>
          <a:prstGeom prst="straightConnector1">
            <a:avLst/>
          </a:prstGeom>
          <a:noFill/>
          <a:ln cap="flat" cmpd="sng" w="38100">
            <a:solidFill>
              <a:schemeClr val="dk1"/>
            </a:solidFill>
            <a:prstDash val="solid"/>
            <a:round/>
            <a:headEnd len="sm" w="sm" type="none"/>
            <a:tailEnd len="sm" w="sm" type="none"/>
          </a:ln>
          <a:effectLst>
            <a:outerShdw blurRad="40000" rotWithShape="0" dir="5400000" dist="23000">
              <a:srgbClr val="000000">
                <a:alpha val="34901"/>
              </a:srgbClr>
            </a:outerShdw>
          </a:effectLst>
        </p:spPr>
      </p:cxnSp>
      <p:sp>
        <p:nvSpPr>
          <p:cNvPr id="179" name="Google Shape;179;p42"/>
          <p:cNvSpPr txBox="1"/>
          <p:nvPr/>
        </p:nvSpPr>
        <p:spPr>
          <a:xfrm>
            <a:off x="6498337" y="2224085"/>
            <a:ext cx="5462015" cy="45243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class </a:t>
            </a:r>
            <a:r>
              <a:rPr b="0" i="0" lang="es-ES" sz="2000" u="none" cap="none" strike="noStrike">
                <a:solidFill>
                  <a:srgbClr val="FF0000"/>
                </a:solidFill>
                <a:latin typeface="Arial"/>
                <a:ea typeface="Arial"/>
                <a:cs typeface="Arial"/>
                <a:sym typeface="Arial"/>
              </a:rPr>
              <a:t>Bicicleta</a:t>
            </a:r>
            <a:r>
              <a:rPr b="0" i="0" lang="es-ES" sz="2000" u="none" cap="none" strike="noStrike">
                <a:solidFill>
                  <a:schemeClr val="dk1"/>
                </a:solidFill>
                <a:latin typeface="Arial"/>
                <a:ea typeface="Arial"/>
                <a:cs typeface="Arial"/>
                <a:sym typeface="Arial"/>
              </a:rPr>
              <a:t> extends Vehiculo {</a:t>
            </a:r>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    @Override</a:t>
            </a:r>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    public void arrancar() {</a:t>
            </a:r>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        System.out.println("La bicicleta ha comenzado a moverse");</a:t>
            </a:r>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    @Override</a:t>
            </a:r>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    public void detener() {</a:t>
            </a:r>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        System.out.println("La bicicleta se ha detenido");</a:t>
            </a:r>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chemeClr val="dk1"/>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1" i="0" sz="2800" u="none" cap="none" strike="noStrike">
              <a:solidFill>
                <a:srgbClr val="244061"/>
              </a:solidFill>
              <a:latin typeface="Arial"/>
              <a:ea typeface="Arial"/>
              <a:cs typeface="Arial"/>
              <a:sym typeface="Arial"/>
            </a:endParaRPr>
          </a:p>
        </p:txBody>
      </p:sp>
      <p:sp>
        <p:nvSpPr>
          <p:cNvPr id="180" name="Google Shape;180;p42"/>
          <p:cNvSpPr/>
          <p:nvPr/>
        </p:nvSpPr>
        <p:spPr>
          <a:xfrm>
            <a:off x="7091172" y="5821680"/>
            <a:ext cx="4639577" cy="883920"/>
          </a:xfrm>
          <a:prstGeom prst="roundRect">
            <a:avLst>
              <a:gd fmla="val 16667" name="adj"/>
            </a:avLst>
          </a:prstGeom>
          <a:solidFill>
            <a:srgbClr val="A5A5A5"/>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342900" lvl="0" marL="342900" marR="0" rtl="0" algn="just">
              <a:lnSpc>
                <a:spcPct val="100000"/>
              </a:lnSpc>
              <a:spcBef>
                <a:spcPts val="0"/>
              </a:spcBef>
              <a:spcAft>
                <a:spcPts val="0"/>
              </a:spcAft>
              <a:buClr>
                <a:srgbClr val="000000"/>
              </a:buClr>
              <a:buSzPts val="1400"/>
              <a:buFont typeface="Arial"/>
              <a:buAutoNum type="arabicPeriod"/>
            </a:pPr>
            <a:r>
              <a:rPr b="0" i="0" lang="es-ES" sz="1400" u="none" cap="none" strike="noStrike">
                <a:solidFill>
                  <a:schemeClr val="dk1"/>
                </a:solidFill>
                <a:latin typeface="Arial"/>
                <a:ea typeface="Arial"/>
                <a:cs typeface="Arial"/>
                <a:sym typeface="Arial"/>
              </a:rPr>
              <a:t>¿Cumple Bicicleta con el principio LSP?</a:t>
            </a:r>
            <a:endParaRPr/>
          </a:p>
          <a:p>
            <a:pPr indent="-342900" lvl="0" marL="342900" marR="0" rtl="0" algn="just">
              <a:lnSpc>
                <a:spcPct val="100000"/>
              </a:lnSpc>
              <a:spcBef>
                <a:spcPts val="0"/>
              </a:spcBef>
              <a:spcAft>
                <a:spcPts val="0"/>
              </a:spcAft>
              <a:buClr>
                <a:srgbClr val="000000"/>
              </a:buClr>
              <a:buSzPts val="1400"/>
              <a:buFont typeface="Arial"/>
              <a:buAutoNum type="arabicPeriod"/>
            </a:pPr>
            <a:r>
              <a:rPr b="0" i="0" lang="es-ES" sz="1400" u="none" cap="none" strike="noStrike">
                <a:solidFill>
                  <a:schemeClr val="dk1"/>
                </a:solidFill>
                <a:latin typeface="Arial"/>
                <a:ea typeface="Arial"/>
                <a:cs typeface="Arial"/>
                <a:sym typeface="Arial"/>
              </a:rPr>
              <a:t>¿Qué cambios harías para mejorar la estructura de clases y cumplir con LSP?</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43"/>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86" name="Google Shape;186;p43"/>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87" name="Google Shape;187;p43"/>
          <p:cNvSpPr txBox="1"/>
          <p:nvPr/>
        </p:nvSpPr>
        <p:spPr>
          <a:xfrm>
            <a:off x="336804" y="903991"/>
            <a:ext cx="994105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de sustitución de Liskov (LSP)</a:t>
            </a:r>
            <a:endParaRPr/>
          </a:p>
        </p:txBody>
      </p:sp>
      <p:sp>
        <p:nvSpPr>
          <p:cNvPr id="188" name="Google Shape;188;p43"/>
          <p:cNvSpPr txBox="1"/>
          <p:nvPr/>
        </p:nvSpPr>
        <p:spPr>
          <a:xfrm>
            <a:off x="141732" y="1550322"/>
            <a:ext cx="11940539"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800" u="none" cap="none" strike="noStrike">
                <a:solidFill>
                  <a:srgbClr val="244061"/>
                </a:solidFill>
                <a:latin typeface="Arial"/>
                <a:ea typeface="Arial"/>
                <a:cs typeface="Arial"/>
                <a:sym typeface="Arial"/>
              </a:rPr>
              <a:t>Solucion</a:t>
            </a:r>
            <a:endParaRPr b="0" i="0" sz="2000" u="none" cap="none" strike="noStrike">
              <a:solidFill>
                <a:schemeClr val="dk1"/>
              </a:solidFill>
              <a:latin typeface="Arial"/>
              <a:ea typeface="Arial"/>
              <a:cs typeface="Arial"/>
              <a:sym typeface="Arial"/>
            </a:endParaRPr>
          </a:p>
          <a:p>
            <a:pPr indent="-514350" lvl="0" marL="514350" marR="0" rtl="0" algn="l">
              <a:lnSpc>
                <a:spcPct val="100000"/>
              </a:lnSpc>
              <a:spcBef>
                <a:spcPts val="0"/>
              </a:spcBef>
              <a:spcAft>
                <a:spcPts val="0"/>
              </a:spcAft>
              <a:buClr>
                <a:srgbClr val="000000"/>
              </a:buClr>
              <a:buSzPts val="2800"/>
              <a:buFont typeface="Arial"/>
              <a:buAutoNum type="arabicPeriod"/>
            </a:pPr>
            <a:r>
              <a:rPr b="0" i="0" lang="es-ES" sz="2800" u="none" cap="none" strike="noStrike">
                <a:solidFill>
                  <a:schemeClr val="dk1"/>
                </a:solidFill>
                <a:latin typeface="Arial"/>
                <a:ea typeface="Arial"/>
                <a:cs typeface="Arial"/>
                <a:sym typeface="Arial"/>
              </a:rPr>
              <a:t>Sí, </a:t>
            </a:r>
            <a:r>
              <a:rPr b="1" i="0" lang="es-ES" sz="2800" u="none" cap="none" strike="noStrike">
                <a:solidFill>
                  <a:schemeClr val="dk1"/>
                </a:solidFill>
                <a:latin typeface="Arial"/>
                <a:ea typeface="Arial"/>
                <a:cs typeface="Arial"/>
                <a:sym typeface="Arial"/>
              </a:rPr>
              <a:t>Bicicleta</a:t>
            </a:r>
            <a:r>
              <a:rPr b="0" i="0" lang="es-ES" sz="2800" u="none" cap="none" strike="noStrike">
                <a:solidFill>
                  <a:schemeClr val="dk1"/>
                </a:solidFill>
                <a:latin typeface="Arial"/>
                <a:ea typeface="Arial"/>
                <a:cs typeface="Arial"/>
                <a:sym typeface="Arial"/>
              </a:rPr>
              <a:t> cumple con el LSP porque puede sustituir a </a:t>
            </a:r>
            <a:r>
              <a:rPr b="1" i="0" lang="es-ES" sz="2800" u="none" cap="none" strike="noStrike">
                <a:solidFill>
                  <a:schemeClr val="dk1"/>
                </a:solidFill>
                <a:latin typeface="Arial"/>
                <a:ea typeface="Arial"/>
                <a:cs typeface="Arial"/>
                <a:sym typeface="Arial"/>
              </a:rPr>
              <a:t>Vehiculo</a:t>
            </a:r>
            <a:r>
              <a:rPr b="0" i="0" lang="es-ES" sz="2800" u="none" cap="none" strike="noStrike">
                <a:solidFill>
                  <a:schemeClr val="dk1"/>
                </a:solidFill>
                <a:latin typeface="Arial"/>
                <a:ea typeface="Arial"/>
                <a:cs typeface="Arial"/>
                <a:sym typeface="Arial"/>
              </a:rPr>
              <a:t> sin problemas. </a:t>
            </a:r>
            <a:endParaRPr/>
          </a:p>
          <a:p>
            <a:pPr indent="0" lvl="4" marL="450850" marR="0" rtl="0" algn="l">
              <a:lnSpc>
                <a:spcPct val="100000"/>
              </a:lnSpc>
              <a:spcBef>
                <a:spcPts val="0"/>
              </a:spcBef>
              <a:spcAft>
                <a:spcPts val="0"/>
              </a:spcAft>
              <a:buNone/>
            </a:pPr>
            <a:r>
              <a:rPr b="0" i="0" lang="es-ES" sz="2800" u="none" cap="none" strike="noStrike">
                <a:solidFill>
                  <a:schemeClr val="dk1"/>
                </a:solidFill>
                <a:latin typeface="Arial"/>
                <a:ea typeface="Arial"/>
                <a:cs typeface="Arial"/>
                <a:sym typeface="Arial"/>
              </a:rPr>
              <a:t>La clase Bicicleta simplemente redefine el comportamiento de </a:t>
            </a:r>
            <a:r>
              <a:rPr b="1" i="0" lang="es-ES" sz="2800" u="none" cap="none" strike="noStrike">
                <a:solidFill>
                  <a:schemeClr val="dk1"/>
                </a:solidFill>
                <a:latin typeface="Arial"/>
                <a:ea typeface="Arial"/>
                <a:cs typeface="Arial"/>
                <a:sym typeface="Arial"/>
              </a:rPr>
              <a:t>arrancar y detener </a:t>
            </a:r>
            <a:r>
              <a:rPr b="0" i="0" lang="es-ES" sz="2800" u="none" cap="none" strike="noStrike">
                <a:solidFill>
                  <a:schemeClr val="dk1"/>
                </a:solidFill>
                <a:latin typeface="Arial"/>
                <a:ea typeface="Arial"/>
                <a:cs typeface="Arial"/>
                <a:sym typeface="Arial"/>
              </a:rPr>
              <a:t>sin romper la funcionalidad esperada.</a:t>
            </a:r>
            <a:endParaRPr/>
          </a:p>
          <a:p>
            <a:pPr indent="-336550" lvl="0" marL="51435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a:p>
            <a:pPr indent="-514350" lvl="0" marL="514350" marR="0" rtl="0" algn="l">
              <a:lnSpc>
                <a:spcPct val="100000"/>
              </a:lnSpc>
              <a:spcBef>
                <a:spcPts val="0"/>
              </a:spcBef>
              <a:spcAft>
                <a:spcPts val="0"/>
              </a:spcAft>
              <a:buClr>
                <a:srgbClr val="000000"/>
              </a:buClr>
              <a:buSzPts val="2800"/>
              <a:buFont typeface="Arial"/>
              <a:buAutoNum type="arabicPeriod"/>
            </a:pPr>
            <a:r>
              <a:rPr b="0" i="0" lang="es-ES" sz="2800" u="none" cap="none" strike="noStrike">
                <a:solidFill>
                  <a:schemeClr val="dk1"/>
                </a:solidFill>
                <a:latin typeface="Arial"/>
                <a:ea typeface="Arial"/>
                <a:cs typeface="Arial"/>
                <a:sym typeface="Arial"/>
              </a:rPr>
              <a:t>No se requieren cambios para cumplir con LSP, ya que </a:t>
            </a:r>
            <a:r>
              <a:rPr b="1" i="0" lang="es-ES" sz="2800" u="none" cap="none" strike="noStrike">
                <a:solidFill>
                  <a:schemeClr val="dk1"/>
                </a:solidFill>
                <a:latin typeface="Arial"/>
                <a:ea typeface="Arial"/>
                <a:cs typeface="Arial"/>
                <a:sym typeface="Arial"/>
              </a:rPr>
              <a:t>Bicicleta</a:t>
            </a:r>
            <a:r>
              <a:rPr b="0" i="0" lang="es-ES" sz="2800" u="none" cap="none" strike="noStrike">
                <a:solidFill>
                  <a:schemeClr val="dk1"/>
                </a:solidFill>
                <a:latin typeface="Arial"/>
                <a:ea typeface="Arial"/>
                <a:cs typeface="Arial"/>
                <a:sym typeface="Arial"/>
              </a:rPr>
              <a:t> está bien diseñada. Sin embargo, podríamos considerar agregar métodos específicos para </a:t>
            </a:r>
            <a:r>
              <a:rPr b="1" i="0" lang="es-ES" sz="2800" u="none" cap="none" strike="noStrike">
                <a:solidFill>
                  <a:schemeClr val="dk1"/>
                </a:solidFill>
                <a:latin typeface="Arial"/>
                <a:ea typeface="Arial"/>
                <a:cs typeface="Arial"/>
                <a:sym typeface="Arial"/>
              </a:rPr>
              <a:t>Bicicleta y Coche</a:t>
            </a:r>
            <a:r>
              <a:rPr b="0" i="0" lang="es-ES" sz="2800" u="none" cap="none" strike="noStrike">
                <a:solidFill>
                  <a:schemeClr val="dk1"/>
                </a:solidFill>
                <a:latin typeface="Arial"/>
                <a:ea typeface="Arial"/>
                <a:cs typeface="Arial"/>
                <a:sym typeface="Arial"/>
              </a:rPr>
              <a:t> en sus propias clases para reflejar comportamientos únicos.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44"/>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194" name="Google Shape;194;p44"/>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195" name="Google Shape;195;p44"/>
          <p:cNvSpPr txBox="1"/>
          <p:nvPr/>
        </p:nvSpPr>
        <p:spPr>
          <a:xfrm>
            <a:off x="336804" y="903991"/>
            <a:ext cx="994105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Abierto/Cerrado</a:t>
            </a:r>
            <a:endParaRPr b="1" i="0" sz="3600" u="none" cap="none" strike="noStrike">
              <a:solidFill>
                <a:srgbClr val="244061"/>
              </a:solidFill>
              <a:latin typeface="Arial"/>
              <a:ea typeface="Arial"/>
              <a:cs typeface="Arial"/>
              <a:sym typeface="Arial"/>
            </a:endParaRPr>
          </a:p>
        </p:txBody>
      </p:sp>
      <p:sp>
        <p:nvSpPr>
          <p:cNvPr id="196" name="Google Shape;196;p44"/>
          <p:cNvSpPr txBox="1"/>
          <p:nvPr/>
        </p:nvSpPr>
        <p:spPr>
          <a:xfrm>
            <a:off x="125730" y="1646221"/>
            <a:ext cx="11940539" cy="45243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3200" u="none" cap="none" strike="noStrike">
                <a:solidFill>
                  <a:srgbClr val="000000"/>
                </a:solidFill>
                <a:latin typeface="Arial"/>
                <a:ea typeface="Arial"/>
                <a:cs typeface="Arial"/>
                <a:sym typeface="Arial"/>
              </a:rPr>
              <a:t>Es uno de los principios SOLID en la programación orientada a objetos. Fue formulado por Bertrand Meyer y establece que:</a:t>
            </a:r>
            <a:endParaRPr/>
          </a:p>
          <a:p>
            <a:pPr indent="0" lvl="0" marL="0" marR="0" rtl="0" algn="l">
              <a:lnSpc>
                <a:spcPct val="100000"/>
              </a:lnSpc>
              <a:spcBef>
                <a:spcPts val="0"/>
              </a:spcBef>
              <a:spcAft>
                <a:spcPts val="0"/>
              </a:spcAft>
              <a:buNone/>
            </a:pPr>
            <a:r>
              <a:t/>
            </a:r>
            <a:endParaRPr b="1" i="0" sz="3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i="0" lang="es-ES" sz="3200" u="none" cap="none" strike="noStrike">
                <a:solidFill>
                  <a:srgbClr val="000000"/>
                </a:solidFill>
                <a:latin typeface="Arial"/>
                <a:ea typeface="Arial"/>
                <a:cs typeface="Arial"/>
                <a:sym typeface="Arial"/>
              </a:rPr>
              <a:t>"El software debe estar abierto para la extensión, pero cerrado para la modificación.“</a:t>
            </a:r>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3200" u="none" cap="none" strike="noStrike">
                <a:solidFill>
                  <a:srgbClr val="000000"/>
                </a:solidFill>
                <a:latin typeface="Arial"/>
                <a:ea typeface="Arial"/>
                <a:cs typeface="Arial"/>
                <a:sym typeface="Arial"/>
              </a:rPr>
              <a:t>Esto significa que debemos diseñar nuestras clases y módulos de tal manera que puedan ser extendidos con nuevas funcionalidades sin necesidad de modificar el código existente.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45"/>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02" name="Google Shape;202;p45"/>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03" name="Google Shape;203;p45"/>
          <p:cNvSpPr txBox="1"/>
          <p:nvPr/>
        </p:nvSpPr>
        <p:spPr>
          <a:xfrm>
            <a:off x="336804" y="903991"/>
            <a:ext cx="9941052"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Abierto/Cerrado</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Importancia</a:t>
            </a:r>
            <a:endParaRPr b="1" i="0" sz="3600" u="none" cap="none" strike="noStrike">
              <a:solidFill>
                <a:srgbClr val="244061"/>
              </a:solidFill>
              <a:latin typeface="Arial"/>
              <a:ea typeface="Arial"/>
              <a:cs typeface="Arial"/>
              <a:sym typeface="Arial"/>
            </a:endParaRPr>
          </a:p>
        </p:txBody>
      </p:sp>
      <p:sp>
        <p:nvSpPr>
          <p:cNvPr id="204" name="Google Shape;204;p45"/>
          <p:cNvSpPr txBox="1"/>
          <p:nvPr/>
        </p:nvSpPr>
        <p:spPr>
          <a:xfrm>
            <a:off x="436626" y="2301913"/>
            <a:ext cx="11123676" cy="4524315"/>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00"/>
              </a:buClr>
              <a:buSzPts val="3200"/>
              <a:buFont typeface="Arial"/>
              <a:buChar char="•"/>
            </a:pPr>
            <a:r>
              <a:rPr b="1" i="0" lang="es-ES" sz="3200" u="none" cap="none" strike="noStrike">
                <a:solidFill>
                  <a:srgbClr val="000000"/>
                </a:solidFill>
                <a:latin typeface="Arial"/>
                <a:ea typeface="Arial"/>
                <a:cs typeface="Arial"/>
                <a:sym typeface="Arial"/>
              </a:rPr>
              <a:t>Facilita la Mantenibilidad</a:t>
            </a:r>
            <a:r>
              <a:rPr b="0" i="0" lang="es-ES" sz="3200" u="none" cap="none" strike="noStrike">
                <a:solidFill>
                  <a:srgbClr val="000000"/>
                </a:solidFill>
                <a:latin typeface="Arial"/>
                <a:ea typeface="Arial"/>
                <a:cs typeface="Arial"/>
                <a:sym typeface="Arial"/>
              </a:rPr>
              <a:t>: Reduce la necesidad de cambiar el código existente, lo que minimiza la introducción de errores.</a:t>
            </a:r>
            <a:endParaRPr/>
          </a:p>
          <a:p>
            <a:pPr indent="-381000" lvl="0" marL="457200" marR="0" rtl="0" algn="just">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3200"/>
              <a:buFont typeface="Arial"/>
              <a:buChar char="•"/>
            </a:pPr>
            <a:r>
              <a:rPr b="1" i="0" lang="es-ES" sz="3200" u="none" cap="none" strike="noStrike">
                <a:solidFill>
                  <a:srgbClr val="000000"/>
                </a:solidFill>
                <a:latin typeface="Arial"/>
                <a:ea typeface="Arial"/>
                <a:cs typeface="Arial"/>
                <a:sym typeface="Arial"/>
              </a:rPr>
              <a:t>Fomenta la Reutilización</a:t>
            </a:r>
            <a:r>
              <a:rPr b="0" i="0" lang="es-ES" sz="3200" u="none" cap="none" strike="noStrike">
                <a:solidFill>
                  <a:srgbClr val="000000"/>
                </a:solidFill>
                <a:latin typeface="Arial"/>
                <a:ea typeface="Arial"/>
                <a:cs typeface="Arial"/>
                <a:sym typeface="Arial"/>
              </a:rPr>
              <a:t>: Permite añadir nuevas características a los componentes existentes de manera más sencilla.</a:t>
            </a:r>
            <a:endParaRPr/>
          </a:p>
          <a:p>
            <a:pPr indent="-400050" lvl="0" marL="457200" marR="0" rtl="0" algn="just">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3200"/>
              <a:buFont typeface="Arial"/>
              <a:buChar char="•"/>
            </a:pPr>
            <a:r>
              <a:rPr b="1" i="0" lang="es-ES" sz="3200" u="none" cap="none" strike="noStrike">
                <a:solidFill>
                  <a:srgbClr val="000000"/>
                </a:solidFill>
                <a:latin typeface="Arial"/>
                <a:ea typeface="Arial"/>
                <a:cs typeface="Arial"/>
                <a:sym typeface="Arial"/>
              </a:rPr>
              <a:t>Aumenta la Flexibilidad</a:t>
            </a:r>
            <a:r>
              <a:rPr b="0" i="0" lang="es-ES" sz="3200" u="none" cap="none" strike="noStrike">
                <a:solidFill>
                  <a:srgbClr val="000000"/>
                </a:solidFill>
                <a:latin typeface="Arial"/>
                <a:ea typeface="Arial"/>
                <a:cs typeface="Arial"/>
                <a:sym typeface="Arial"/>
              </a:rPr>
              <a:t>: Los sistemas se vuelven más adaptables a los cambios y mejoras.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46"/>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10" name="Google Shape;210;p46"/>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11" name="Google Shape;211;p46"/>
          <p:cNvSpPr txBox="1"/>
          <p:nvPr/>
        </p:nvSpPr>
        <p:spPr>
          <a:xfrm>
            <a:off x="336804" y="903991"/>
            <a:ext cx="9941052"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Abierto/Cerrado</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Ventajas</a:t>
            </a:r>
            <a:endParaRPr b="1" i="0" sz="3600" u="none" cap="none" strike="noStrike">
              <a:solidFill>
                <a:srgbClr val="244061"/>
              </a:solidFill>
              <a:latin typeface="Arial"/>
              <a:ea typeface="Arial"/>
              <a:cs typeface="Arial"/>
              <a:sym typeface="Arial"/>
            </a:endParaRPr>
          </a:p>
        </p:txBody>
      </p:sp>
      <p:sp>
        <p:nvSpPr>
          <p:cNvPr id="212" name="Google Shape;212;p46"/>
          <p:cNvSpPr txBox="1"/>
          <p:nvPr/>
        </p:nvSpPr>
        <p:spPr>
          <a:xfrm>
            <a:off x="336804" y="2414579"/>
            <a:ext cx="11123676" cy="4124206"/>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00"/>
              </a:buClr>
              <a:buSzPts val="3200"/>
              <a:buFont typeface="Arial"/>
              <a:buChar char="•"/>
            </a:pPr>
            <a:r>
              <a:rPr b="1" i="0" lang="es-ES" sz="3200" u="none" cap="none" strike="noStrike">
                <a:solidFill>
                  <a:srgbClr val="000000"/>
                </a:solidFill>
                <a:latin typeface="Arial"/>
                <a:ea typeface="Arial"/>
                <a:cs typeface="Arial"/>
                <a:sym typeface="Arial"/>
              </a:rPr>
              <a:t>Reducción de Errores: </a:t>
            </a:r>
            <a:r>
              <a:rPr b="0" i="0" lang="es-ES" sz="3200" u="none" cap="none" strike="noStrike">
                <a:solidFill>
                  <a:srgbClr val="000000"/>
                </a:solidFill>
                <a:latin typeface="Arial"/>
                <a:ea typeface="Arial"/>
                <a:cs typeface="Arial"/>
                <a:sym typeface="Arial"/>
              </a:rPr>
              <a:t>Minimiza los cambios en el código existente, lo que reduce la posibilidad de introducir nuevos errores.</a:t>
            </a:r>
            <a:endParaRPr/>
          </a:p>
          <a:p>
            <a:pPr indent="-342900" lvl="0" marL="45720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3200"/>
              <a:buFont typeface="Arial"/>
              <a:buChar char="•"/>
            </a:pPr>
            <a:r>
              <a:rPr b="1" i="0" lang="es-ES" sz="3200" u="none" cap="none" strike="noStrike">
                <a:solidFill>
                  <a:srgbClr val="000000"/>
                </a:solidFill>
                <a:latin typeface="Arial"/>
                <a:ea typeface="Arial"/>
                <a:cs typeface="Arial"/>
                <a:sym typeface="Arial"/>
              </a:rPr>
              <a:t>Evolución del Software: </a:t>
            </a:r>
            <a:r>
              <a:rPr b="0" i="0" lang="es-ES" sz="3200" u="none" cap="none" strike="noStrike">
                <a:solidFill>
                  <a:srgbClr val="000000"/>
                </a:solidFill>
                <a:latin typeface="Arial"/>
                <a:ea typeface="Arial"/>
                <a:cs typeface="Arial"/>
                <a:sym typeface="Arial"/>
              </a:rPr>
              <a:t>Permite que el software evolucione de manera más controlada y segura.</a:t>
            </a:r>
            <a:endParaRPr/>
          </a:p>
          <a:p>
            <a:pPr indent="-342900" lvl="0" marL="45720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3200"/>
              <a:buFont typeface="Arial"/>
              <a:buChar char="•"/>
            </a:pPr>
            <a:r>
              <a:rPr b="1" i="0" lang="es-ES" sz="3200" u="none" cap="none" strike="noStrike">
                <a:solidFill>
                  <a:srgbClr val="000000"/>
                </a:solidFill>
                <a:latin typeface="Arial"/>
                <a:ea typeface="Arial"/>
                <a:cs typeface="Arial"/>
                <a:sym typeface="Arial"/>
              </a:rPr>
              <a:t>Adaptabilidad:</a:t>
            </a:r>
            <a:r>
              <a:rPr b="0" i="0" lang="es-ES" sz="3200" u="none" cap="none" strike="noStrike">
                <a:solidFill>
                  <a:srgbClr val="000000"/>
                </a:solidFill>
                <a:latin typeface="Arial"/>
                <a:ea typeface="Arial"/>
                <a:cs typeface="Arial"/>
                <a:sym typeface="Arial"/>
              </a:rPr>
              <a:t> Hace que el sistema sea más fácil de adaptar a nuevos requerimientos.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47"/>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18" name="Google Shape;218;p47"/>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19" name="Google Shape;219;p47"/>
          <p:cNvSpPr txBox="1"/>
          <p:nvPr/>
        </p:nvSpPr>
        <p:spPr>
          <a:xfrm>
            <a:off x="336804" y="903991"/>
            <a:ext cx="9941052"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Abierto/Cerrado</a:t>
            </a:r>
            <a:endParaRPr/>
          </a:p>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Desventajas</a:t>
            </a:r>
            <a:endParaRPr b="1" i="0" sz="3600" u="none" cap="none" strike="noStrike">
              <a:solidFill>
                <a:srgbClr val="244061"/>
              </a:solidFill>
              <a:latin typeface="Arial"/>
              <a:ea typeface="Arial"/>
              <a:cs typeface="Arial"/>
              <a:sym typeface="Arial"/>
            </a:endParaRPr>
          </a:p>
        </p:txBody>
      </p:sp>
      <p:sp>
        <p:nvSpPr>
          <p:cNvPr id="220" name="Google Shape;220;p47"/>
          <p:cNvSpPr txBox="1"/>
          <p:nvPr/>
        </p:nvSpPr>
        <p:spPr>
          <a:xfrm>
            <a:off x="336804" y="2301913"/>
            <a:ext cx="11123676" cy="3354765"/>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rgbClr val="000000"/>
              </a:buClr>
              <a:buSzPts val="3200"/>
              <a:buFont typeface="Arial"/>
              <a:buChar char="•"/>
            </a:pPr>
            <a:r>
              <a:rPr b="1" i="0" lang="es-ES" sz="3200" u="none" cap="none" strike="noStrike">
                <a:solidFill>
                  <a:srgbClr val="000000"/>
                </a:solidFill>
                <a:latin typeface="Arial"/>
                <a:ea typeface="Arial"/>
                <a:cs typeface="Arial"/>
                <a:sym typeface="Arial"/>
              </a:rPr>
              <a:t>Complejidad Inicial: </a:t>
            </a:r>
            <a:r>
              <a:rPr b="0" i="0" lang="es-ES" sz="3200" u="none" cap="none" strike="noStrike">
                <a:solidFill>
                  <a:srgbClr val="000000"/>
                </a:solidFill>
                <a:latin typeface="Arial"/>
                <a:ea typeface="Arial"/>
                <a:cs typeface="Arial"/>
                <a:sym typeface="Arial"/>
              </a:rPr>
              <a:t>Implementar OCP puede requerir una planificación y diseño más cuidadosos desde el inicio.</a:t>
            </a:r>
            <a:endParaRPr/>
          </a:p>
          <a:p>
            <a:pPr indent="-342900" lvl="0" marL="457200" marR="0" rtl="0" algn="just">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457200" lvl="0" marL="457200" marR="0" rtl="0" algn="just">
              <a:lnSpc>
                <a:spcPct val="100000"/>
              </a:lnSpc>
              <a:spcBef>
                <a:spcPts val="0"/>
              </a:spcBef>
              <a:spcAft>
                <a:spcPts val="0"/>
              </a:spcAft>
              <a:buClr>
                <a:srgbClr val="000000"/>
              </a:buClr>
              <a:buSzPts val="3200"/>
              <a:buFont typeface="Arial"/>
              <a:buChar char="•"/>
            </a:pPr>
            <a:r>
              <a:rPr b="1" i="0" lang="es-ES" sz="3200" u="none" cap="none" strike="noStrike">
                <a:solidFill>
                  <a:srgbClr val="000000"/>
                </a:solidFill>
                <a:latin typeface="Arial"/>
                <a:ea typeface="Arial"/>
                <a:cs typeface="Arial"/>
                <a:sym typeface="Arial"/>
              </a:rPr>
              <a:t>Sobrecarga de Código:</a:t>
            </a:r>
            <a:r>
              <a:rPr b="0" i="0" lang="es-ES" sz="3200" u="none" cap="none" strike="noStrike">
                <a:solidFill>
                  <a:srgbClr val="000000"/>
                </a:solidFill>
                <a:latin typeface="Arial"/>
                <a:ea typeface="Arial"/>
                <a:cs typeface="Arial"/>
                <a:sym typeface="Arial"/>
              </a:rPr>
              <a:t> A veces puede llevar a una sobrecarga de clases e interfaces adicionales, aumentando la complejidad del sistema.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48"/>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26" name="Google Shape;226;p48"/>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27" name="Google Shape;227;p48"/>
          <p:cNvSpPr txBox="1"/>
          <p:nvPr/>
        </p:nvSpPr>
        <p:spPr>
          <a:xfrm>
            <a:off x="336804" y="903991"/>
            <a:ext cx="11623548" cy="22159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Abierto/Cerrado</a:t>
            </a:r>
            <a:endParaRPr/>
          </a:p>
          <a:p>
            <a:pPr indent="0" lvl="0" marL="0" marR="0" rtl="0" algn="l">
              <a:lnSpc>
                <a:spcPct val="100000"/>
              </a:lnSpc>
              <a:spcBef>
                <a:spcPts val="0"/>
              </a:spcBef>
              <a:spcAft>
                <a:spcPts val="0"/>
              </a:spcAft>
              <a:buNone/>
            </a:pPr>
            <a:r>
              <a:t/>
            </a:r>
            <a:endParaRPr b="1" i="0" sz="900" u="none" cap="none" strike="noStrike">
              <a:solidFill>
                <a:srgbClr val="244061"/>
              </a:solidFill>
              <a:latin typeface="Arial"/>
              <a:ea typeface="Arial"/>
              <a:cs typeface="Arial"/>
              <a:sym typeface="Arial"/>
            </a:endParaRPr>
          </a:p>
          <a:p>
            <a:pPr indent="0" lvl="0" marL="0" marR="0" rtl="0" algn="l">
              <a:lnSpc>
                <a:spcPct val="100000"/>
              </a:lnSpc>
              <a:spcBef>
                <a:spcPts val="0"/>
              </a:spcBef>
              <a:spcAft>
                <a:spcPts val="0"/>
              </a:spcAft>
              <a:buNone/>
            </a:pPr>
            <a:r>
              <a:rPr b="1" i="0" lang="es-ES" sz="2800" u="none" cap="none" strike="noStrike">
                <a:solidFill>
                  <a:srgbClr val="244061"/>
                </a:solidFill>
                <a:latin typeface="Arial"/>
                <a:ea typeface="Arial"/>
                <a:cs typeface="Arial"/>
                <a:sym typeface="Arial"/>
              </a:rPr>
              <a:t>Ejemplo</a:t>
            </a:r>
            <a:r>
              <a:rPr b="1" i="0" lang="es-ES" sz="1800" u="none" cap="none" strike="noStrike">
                <a:solidFill>
                  <a:srgbClr val="244061"/>
                </a:solidFill>
                <a:latin typeface="Arial"/>
                <a:ea typeface="Arial"/>
                <a:cs typeface="Arial"/>
                <a:sym typeface="Arial"/>
              </a:rPr>
              <a:t>: </a:t>
            </a:r>
            <a:r>
              <a:rPr b="0" i="0" lang="es-ES" sz="2400" u="none" cap="none" strike="noStrike">
                <a:solidFill>
                  <a:srgbClr val="000000"/>
                </a:solidFill>
                <a:latin typeface="Arial"/>
                <a:ea typeface="Arial"/>
                <a:cs typeface="Arial"/>
                <a:sym typeface="Arial"/>
              </a:rPr>
              <a:t>Imaginemos que tenemos un sistema de cálculo de salario para diferentes tipos de empleados.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1" i="0" sz="3600" u="none" cap="none" strike="noStrike">
              <a:solidFill>
                <a:srgbClr val="244061"/>
              </a:solidFill>
              <a:latin typeface="Arial"/>
              <a:ea typeface="Arial"/>
              <a:cs typeface="Arial"/>
              <a:sym typeface="Arial"/>
            </a:endParaRPr>
          </a:p>
        </p:txBody>
      </p:sp>
      <p:sp>
        <p:nvSpPr>
          <p:cNvPr id="228" name="Google Shape;228;p48"/>
          <p:cNvSpPr txBox="1"/>
          <p:nvPr/>
        </p:nvSpPr>
        <p:spPr>
          <a:xfrm>
            <a:off x="463296" y="2505343"/>
            <a:ext cx="5522976" cy="44012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Empleado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double calcularSalario()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 Implementación básica</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return 0;</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EmpleadoTiempoCompleto extends Empleado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@Override</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double calcularSalario()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return 3000;</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p:txBody>
      </p:sp>
      <p:sp>
        <p:nvSpPr>
          <p:cNvPr id="229" name="Google Shape;229;p48"/>
          <p:cNvSpPr txBox="1"/>
          <p:nvPr/>
        </p:nvSpPr>
        <p:spPr>
          <a:xfrm>
            <a:off x="5980176" y="2399190"/>
            <a:ext cx="6096000"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class EmpleadoMedioTiempo extends Empleado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@Override</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public double calcularSalario()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return 1500;</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000" u="none" cap="none" strike="noStrike">
                <a:solidFill>
                  <a:srgbClr val="000000"/>
                </a:solidFill>
                <a:latin typeface="Arial"/>
                <a:ea typeface="Arial"/>
                <a:cs typeface="Arial"/>
                <a:sym typeface="Arial"/>
              </a:rPr>
              <a:t>}</a:t>
            </a:r>
            <a:endParaRPr/>
          </a:p>
        </p:txBody>
      </p:sp>
      <p:cxnSp>
        <p:nvCxnSpPr>
          <p:cNvPr id="230" name="Google Shape;230;p48"/>
          <p:cNvCxnSpPr/>
          <p:nvPr/>
        </p:nvCxnSpPr>
        <p:spPr>
          <a:xfrm>
            <a:off x="5754624" y="2609088"/>
            <a:ext cx="0" cy="3694176"/>
          </a:xfrm>
          <a:prstGeom prst="straightConnector1">
            <a:avLst/>
          </a:prstGeom>
          <a:noFill/>
          <a:ln cap="flat" cmpd="sng" w="38100">
            <a:solidFill>
              <a:schemeClr val="dk1"/>
            </a:solidFill>
            <a:prstDash val="solid"/>
            <a:round/>
            <a:headEnd len="sm" w="sm" type="none"/>
            <a:tailEnd len="sm" w="sm" type="none"/>
          </a:ln>
          <a:effectLst>
            <a:outerShdw blurRad="40000" rotWithShape="0" dir="5400000" dist="23000">
              <a:srgbClr val="000000">
                <a:alpha val="34901"/>
              </a:srgbClr>
            </a:outerShdw>
          </a:effectLst>
        </p:spPr>
      </p:cxnSp>
      <p:sp>
        <p:nvSpPr>
          <p:cNvPr id="231" name="Google Shape;231;p48"/>
          <p:cNvSpPr/>
          <p:nvPr/>
        </p:nvSpPr>
        <p:spPr>
          <a:xfrm>
            <a:off x="6344411" y="4705945"/>
            <a:ext cx="4933189" cy="1048512"/>
          </a:xfrm>
          <a:prstGeom prst="roundRect">
            <a:avLst>
              <a:gd fmla="val 16667" name="adj"/>
            </a:avLst>
          </a:prstGeom>
          <a:solidFill>
            <a:srgbClr val="A5A5A5"/>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ES" sz="2800" u="none" cap="none" strike="noStrike">
                <a:solidFill>
                  <a:schemeClr val="dk1"/>
                </a:solidFill>
                <a:latin typeface="Arial"/>
                <a:ea typeface="Arial"/>
                <a:cs typeface="Arial"/>
                <a:sym typeface="Arial"/>
              </a:rPr>
              <a:t>Como se aplicaría el Principio de Abierto/Cerrado</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49"/>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37" name="Google Shape;237;p49"/>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38" name="Google Shape;238;p49"/>
          <p:cNvSpPr txBox="1"/>
          <p:nvPr/>
        </p:nvSpPr>
        <p:spPr>
          <a:xfrm>
            <a:off x="336804" y="994785"/>
            <a:ext cx="994105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Abierto/Cerrado</a:t>
            </a:r>
            <a:endParaRPr/>
          </a:p>
        </p:txBody>
      </p:sp>
      <p:sp>
        <p:nvSpPr>
          <p:cNvPr id="239" name="Google Shape;239;p49"/>
          <p:cNvSpPr txBox="1"/>
          <p:nvPr/>
        </p:nvSpPr>
        <p:spPr>
          <a:xfrm>
            <a:off x="336804" y="1656475"/>
            <a:ext cx="11148581"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800" u="none" cap="none" strike="noStrike">
                <a:solidFill>
                  <a:srgbClr val="244061"/>
                </a:solidFill>
                <a:latin typeface="Arial"/>
                <a:ea typeface="Arial"/>
                <a:cs typeface="Arial"/>
                <a:sym typeface="Arial"/>
              </a:rPr>
              <a:t>Ejemplo:</a:t>
            </a:r>
            <a:endParaRPr/>
          </a:p>
          <a:p>
            <a:pPr indent="0" lvl="0" marL="0" marR="0" rtl="0" algn="just">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Si queremos añadir un nuevo tipo de empleado, por ejemplo, un contratista, siguiendo el OCP, deberíamos hacerlo sin modificar las clases existentes:</a:t>
            </a:r>
            <a:endParaRPr b="0" i="0" sz="2000" u="none" cap="none" strike="noStrike">
              <a:solidFill>
                <a:srgbClr val="000000"/>
              </a:solidFill>
              <a:latin typeface="Arial"/>
              <a:ea typeface="Arial"/>
              <a:cs typeface="Arial"/>
              <a:sym typeface="Arial"/>
            </a:endParaRPr>
          </a:p>
        </p:txBody>
      </p:sp>
      <p:sp>
        <p:nvSpPr>
          <p:cNvPr id="240" name="Google Shape;240;p49"/>
          <p:cNvSpPr txBox="1"/>
          <p:nvPr/>
        </p:nvSpPr>
        <p:spPr>
          <a:xfrm>
            <a:off x="3048000" y="3749457"/>
            <a:ext cx="6096000" cy="31085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class </a:t>
            </a:r>
            <a:r>
              <a:rPr b="0" i="0" lang="es-ES" sz="2800" u="none" cap="none" strike="noStrike">
                <a:solidFill>
                  <a:srgbClr val="FF0000"/>
                </a:solidFill>
                <a:latin typeface="Arial"/>
                <a:ea typeface="Arial"/>
                <a:cs typeface="Arial"/>
                <a:sym typeface="Arial"/>
              </a:rPr>
              <a:t>EmpleadoContratista</a:t>
            </a:r>
            <a:r>
              <a:rPr b="0" i="0" lang="es-ES" sz="2800" u="none" cap="none" strike="noStrike">
                <a:solidFill>
                  <a:srgbClr val="000000"/>
                </a:solidFill>
                <a:latin typeface="Arial"/>
                <a:ea typeface="Arial"/>
                <a:cs typeface="Arial"/>
                <a:sym typeface="Arial"/>
              </a:rPr>
              <a:t> extends Empleado {</a:t>
            </a:r>
            <a:endParaRPr/>
          </a:p>
          <a:p>
            <a:pPr indent="0" lvl="0" marL="0" marR="0" rtl="0" algn="l">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    @Override</a:t>
            </a:r>
            <a:endParaRPr/>
          </a:p>
          <a:p>
            <a:pPr indent="0" lvl="0" marL="0" marR="0" rtl="0" algn="l">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    public double calcularSalario() {</a:t>
            </a:r>
            <a:endParaRPr/>
          </a:p>
          <a:p>
            <a:pPr indent="0" lvl="0" marL="0" marR="0" rtl="0" algn="l">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        return 2000;</a:t>
            </a:r>
            <a:endParaRPr/>
          </a:p>
          <a:p>
            <a:pPr indent="0" lvl="0" marL="0" marR="0" rtl="0" algn="l">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800" u="none" cap="none" strike="noStrike">
                <a:solidFill>
                  <a:srgbClr val="000000"/>
                </a:solidFill>
                <a:latin typeface="Arial"/>
                <a:ea typeface="Arial"/>
                <a:cs typeface="Arial"/>
                <a:sym typeface="Arial"/>
              </a:rPr>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50"/>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46" name="Google Shape;246;p50"/>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47" name="Google Shape;247;p50"/>
          <p:cNvSpPr txBox="1"/>
          <p:nvPr/>
        </p:nvSpPr>
        <p:spPr>
          <a:xfrm>
            <a:off x="336804" y="836896"/>
            <a:ext cx="994105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Abierto/Cerrado</a:t>
            </a:r>
            <a:endParaRPr/>
          </a:p>
        </p:txBody>
      </p:sp>
      <p:sp>
        <p:nvSpPr>
          <p:cNvPr id="248" name="Google Shape;248;p50"/>
          <p:cNvSpPr txBox="1"/>
          <p:nvPr/>
        </p:nvSpPr>
        <p:spPr>
          <a:xfrm>
            <a:off x="336804" y="1483227"/>
            <a:ext cx="11148581" cy="8925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800" u="none" cap="none" strike="noStrike">
                <a:solidFill>
                  <a:srgbClr val="244061"/>
                </a:solidFill>
                <a:latin typeface="Arial"/>
                <a:ea typeface="Arial"/>
                <a:cs typeface="Arial"/>
                <a:sym typeface="Arial"/>
              </a:rPr>
              <a:t>Solucion: </a:t>
            </a:r>
            <a:r>
              <a:rPr b="0" i="0" lang="es-ES" sz="2400" u="none" cap="none" strike="noStrike">
                <a:solidFill>
                  <a:srgbClr val="000000"/>
                </a:solidFill>
                <a:latin typeface="Arial"/>
                <a:ea typeface="Arial"/>
                <a:cs typeface="Arial"/>
                <a:sym typeface="Arial"/>
              </a:rPr>
              <a:t>Para cumplir mejor con el OCP, podemos usar interfaces o clases abstractas para definir el comportamiento común y permitir la extensión:</a:t>
            </a:r>
            <a:endParaRPr b="0" i="0" sz="2000" u="none" cap="none" strike="noStrike">
              <a:solidFill>
                <a:srgbClr val="000000"/>
              </a:solidFill>
              <a:latin typeface="Arial"/>
              <a:ea typeface="Arial"/>
              <a:cs typeface="Arial"/>
              <a:sym typeface="Arial"/>
            </a:endParaRPr>
          </a:p>
        </p:txBody>
      </p:sp>
      <p:sp>
        <p:nvSpPr>
          <p:cNvPr id="249" name="Google Shape;249;p50"/>
          <p:cNvSpPr txBox="1"/>
          <p:nvPr/>
        </p:nvSpPr>
        <p:spPr>
          <a:xfrm>
            <a:off x="426720" y="2386310"/>
            <a:ext cx="6096000" cy="461664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interface </a:t>
            </a:r>
            <a:r>
              <a:rPr b="0" i="0" lang="es-ES" sz="1800" u="none" cap="none" strike="noStrike">
                <a:solidFill>
                  <a:srgbClr val="FF0000"/>
                </a:solidFill>
                <a:latin typeface="Arial"/>
                <a:ea typeface="Arial"/>
                <a:cs typeface="Arial"/>
                <a:sym typeface="Arial"/>
              </a:rPr>
              <a:t>Empleado</a:t>
            </a:r>
            <a:r>
              <a:rPr b="0" i="0" lang="es-ES" sz="18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    double calcularSalario();</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class </a:t>
            </a:r>
            <a:r>
              <a:rPr b="0" i="0" lang="es-ES" sz="1800" u="none" cap="none" strike="noStrike">
                <a:solidFill>
                  <a:srgbClr val="FF0000"/>
                </a:solidFill>
                <a:latin typeface="Arial"/>
                <a:ea typeface="Arial"/>
                <a:cs typeface="Arial"/>
                <a:sym typeface="Arial"/>
              </a:rPr>
              <a:t>EmpleadoTiempo</a:t>
            </a:r>
            <a:r>
              <a:rPr b="0" i="0" lang="es-ES" sz="1800" u="none" cap="none" strike="noStrike">
                <a:solidFill>
                  <a:srgbClr val="000000"/>
                </a:solidFill>
                <a:latin typeface="Arial"/>
                <a:ea typeface="Arial"/>
                <a:cs typeface="Arial"/>
                <a:sym typeface="Arial"/>
              </a:rPr>
              <a:t>Completo implements Empleado {</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    @Override</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    public double calcularSalario() {</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        return 3000;</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class </a:t>
            </a:r>
            <a:r>
              <a:rPr b="0" i="0" lang="es-ES" sz="1800" u="none" cap="none" strike="noStrike">
                <a:solidFill>
                  <a:srgbClr val="FF0000"/>
                </a:solidFill>
                <a:latin typeface="Arial"/>
                <a:ea typeface="Arial"/>
                <a:cs typeface="Arial"/>
                <a:sym typeface="Arial"/>
              </a:rPr>
              <a:t>EmpleadoMedioTiempo</a:t>
            </a:r>
            <a:r>
              <a:rPr b="0" i="0" lang="es-ES" sz="1800" u="none" cap="none" strike="noStrike">
                <a:solidFill>
                  <a:srgbClr val="000000"/>
                </a:solidFill>
                <a:latin typeface="Arial"/>
                <a:ea typeface="Arial"/>
                <a:cs typeface="Arial"/>
                <a:sym typeface="Arial"/>
              </a:rPr>
              <a:t> implements Empleado {</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    @Override</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    public double calcularSalario() {</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        return 1500;</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a:t>
            </a:r>
            <a:endParaRPr/>
          </a:p>
        </p:txBody>
      </p:sp>
      <p:sp>
        <p:nvSpPr>
          <p:cNvPr id="250" name="Google Shape;250;p50"/>
          <p:cNvSpPr txBox="1"/>
          <p:nvPr/>
        </p:nvSpPr>
        <p:spPr>
          <a:xfrm>
            <a:off x="6522720" y="2609088"/>
            <a:ext cx="6096000"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class </a:t>
            </a:r>
            <a:r>
              <a:rPr b="0" i="0" lang="es-ES" sz="1800" u="none" cap="none" strike="noStrike">
                <a:solidFill>
                  <a:srgbClr val="FF0000"/>
                </a:solidFill>
                <a:latin typeface="Arial"/>
                <a:ea typeface="Arial"/>
                <a:cs typeface="Arial"/>
                <a:sym typeface="Arial"/>
              </a:rPr>
              <a:t>EmpleadoContratista</a:t>
            </a:r>
            <a:r>
              <a:rPr b="0" i="0" lang="es-ES" sz="1800" u="none" cap="none" strike="noStrike">
                <a:solidFill>
                  <a:srgbClr val="000000"/>
                </a:solidFill>
                <a:latin typeface="Arial"/>
                <a:ea typeface="Arial"/>
                <a:cs typeface="Arial"/>
                <a:sym typeface="Arial"/>
              </a:rPr>
              <a:t> implements Empleado {</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    @Override</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    public double calcularSalario() {</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        return 2000;</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a:t>
            </a:r>
            <a:endParaRPr/>
          </a:p>
        </p:txBody>
      </p:sp>
      <p:cxnSp>
        <p:nvCxnSpPr>
          <p:cNvPr id="251" name="Google Shape;251;p50"/>
          <p:cNvCxnSpPr/>
          <p:nvPr/>
        </p:nvCxnSpPr>
        <p:spPr>
          <a:xfrm>
            <a:off x="6400800" y="2609088"/>
            <a:ext cx="0" cy="3657600"/>
          </a:xfrm>
          <a:prstGeom prst="straightConnector1">
            <a:avLst/>
          </a:prstGeom>
          <a:noFill/>
          <a:ln cap="flat" cmpd="sng" w="38100">
            <a:solidFill>
              <a:schemeClr val="dk1"/>
            </a:solidFill>
            <a:prstDash val="solid"/>
            <a:round/>
            <a:headEnd len="sm" w="sm" type="none"/>
            <a:tailEnd len="sm" w="sm" type="none"/>
          </a:ln>
          <a:effectLst>
            <a:outerShdw blurRad="40000" rotWithShape="0" dir="5400000" dist="23000">
              <a:srgbClr val="000000">
                <a:alpha val="34901"/>
              </a:srgbClr>
            </a:outerShdw>
          </a:effectLst>
        </p:spPr>
      </p:cxnSp>
      <p:sp>
        <p:nvSpPr>
          <p:cNvPr id="252" name="Google Shape;252;p50"/>
          <p:cNvSpPr/>
          <p:nvPr/>
        </p:nvSpPr>
        <p:spPr>
          <a:xfrm>
            <a:off x="7174601" y="4768143"/>
            <a:ext cx="4145280" cy="937040"/>
          </a:xfrm>
          <a:prstGeom prst="roundRect">
            <a:avLst>
              <a:gd fmla="val 16667" name="adj"/>
            </a:avLst>
          </a:prstGeom>
          <a:solidFill>
            <a:srgbClr val="A5A5A5"/>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s-ES" sz="1800" u="none" cap="none" strike="noStrike">
                <a:solidFill>
                  <a:srgbClr val="000000"/>
                </a:solidFill>
                <a:latin typeface="Arial"/>
                <a:ea typeface="Arial"/>
                <a:cs typeface="Arial"/>
                <a:sym typeface="Arial"/>
              </a:rPr>
              <a:t>De esta manera, podemos agregar nuevos tipos de empleados sin modificar las clases existentes</a:t>
            </a:r>
            <a:r>
              <a:rPr b="0" i="0" lang="es-ES" sz="1400" u="none" cap="none" strike="noStrike">
                <a:solidFill>
                  <a:schemeClr val="lt1"/>
                </a:solidFill>
                <a:latin typeface="Arial"/>
                <a:ea typeface="Arial"/>
                <a:cs typeface="Arial"/>
                <a:sym typeface="Arial"/>
              </a:rPr>
              <a:t>.</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id="257" name="Google Shape;257;p51"/>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58" name="Google Shape;258;p51"/>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59" name="Google Shape;259;p51"/>
          <p:cNvSpPr txBox="1"/>
          <p:nvPr/>
        </p:nvSpPr>
        <p:spPr>
          <a:xfrm>
            <a:off x="336804" y="777453"/>
            <a:ext cx="994105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Abierto/Cerrado</a:t>
            </a:r>
            <a:endParaRPr/>
          </a:p>
        </p:txBody>
      </p:sp>
      <p:sp>
        <p:nvSpPr>
          <p:cNvPr id="260" name="Google Shape;260;p51"/>
          <p:cNvSpPr txBox="1"/>
          <p:nvPr/>
        </p:nvSpPr>
        <p:spPr>
          <a:xfrm>
            <a:off x="336804" y="1403916"/>
            <a:ext cx="11148581" cy="11387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800" u="none" cap="none" strike="noStrike">
                <a:solidFill>
                  <a:srgbClr val="244061"/>
                </a:solidFill>
                <a:latin typeface="Arial"/>
                <a:ea typeface="Arial"/>
                <a:cs typeface="Arial"/>
                <a:sym typeface="Arial"/>
              </a:rPr>
              <a:t>Ejercicio Practico: </a:t>
            </a:r>
            <a:r>
              <a:rPr b="0" i="0" lang="es-ES" sz="2000" u="none" cap="none" strike="noStrike">
                <a:solidFill>
                  <a:srgbClr val="000000"/>
                </a:solidFill>
                <a:latin typeface="Arial"/>
                <a:ea typeface="Arial"/>
                <a:cs typeface="Arial"/>
                <a:sym typeface="Arial"/>
              </a:rPr>
              <a:t>Supongamos que tenemos un sistema de notificaciones que puede enviar mensajes a través de diferentes canales (email, SMS). Queremos asegurarnos de que el sistema cumple con el OCP.</a:t>
            </a:r>
            <a:endParaRPr b="0" i="0" sz="2000" u="none" cap="none" strike="noStrike">
              <a:solidFill>
                <a:srgbClr val="000000"/>
              </a:solidFill>
              <a:latin typeface="Arial"/>
              <a:ea typeface="Arial"/>
              <a:cs typeface="Arial"/>
              <a:sym typeface="Arial"/>
            </a:endParaRPr>
          </a:p>
        </p:txBody>
      </p:sp>
      <p:sp>
        <p:nvSpPr>
          <p:cNvPr id="261" name="Google Shape;261;p51"/>
          <p:cNvSpPr txBox="1"/>
          <p:nvPr/>
        </p:nvSpPr>
        <p:spPr>
          <a:xfrm>
            <a:off x="336803" y="2686656"/>
            <a:ext cx="11148581" cy="469359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class </a:t>
            </a:r>
            <a:r>
              <a:rPr b="0" i="0" lang="es-ES" sz="2400" u="none" cap="none" strike="noStrike">
                <a:solidFill>
                  <a:srgbClr val="FF0000"/>
                </a:solidFill>
                <a:latin typeface="Arial"/>
                <a:ea typeface="Arial"/>
                <a:cs typeface="Arial"/>
                <a:sym typeface="Arial"/>
              </a:rPr>
              <a:t>Notificador</a:t>
            </a:r>
            <a:r>
              <a:rPr b="0" i="0" lang="es-ES" sz="2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    public void enviarNotificacion(String mensaje) {</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        // Enviar notificación por defecto (por ejemplo, email)</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1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class </a:t>
            </a:r>
            <a:r>
              <a:rPr b="0" i="0" lang="es-ES" sz="2400" u="none" cap="none" strike="noStrike">
                <a:solidFill>
                  <a:srgbClr val="FF0000"/>
                </a:solidFill>
                <a:latin typeface="Arial"/>
                <a:ea typeface="Arial"/>
                <a:cs typeface="Arial"/>
                <a:sym typeface="Arial"/>
              </a:rPr>
              <a:t>NotificadorSMS</a:t>
            </a:r>
            <a:r>
              <a:rPr b="0" i="0" lang="es-ES" sz="2400" u="none" cap="none" strike="noStrike">
                <a:solidFill>
                  <a:srgbClr val="000000"/>
                </a:solidFill>
                <a:latin typeface="Arial"/>
                <a:ea typeface="Arial"/>
                <a:cs typeface="Arial"/>
                <a:sym typeface="Arial"/>
              </a:rPr>
              <a:t> extends Notificador {</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    @Override</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    public void enviarNotificacion(String mensaje) {</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        // Enviar notificación por SMS</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262" name="Google Shape;262;p51"/>
          <p:cNvSpPr/>
          <p:nvPr/>
        </p:nvSpPr>
        <p:spPr>
          <a:xfrm>
            <a:off x="7385043" y="4310520"/>
            <a:ext cx="4639577" cy="883920"/>
          </a:xfrm>
          <a:prstGeom prst="roundRect">
            <a:avLst>
              <a:gd fmla="val 16667" name="adj"/>
            </a:avLst>
          </a:prstGeom>
          <a:solidFill>
            <a:srgbClr val="A5A5A5"/>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342900" lvl="0" marL="342900" marR="0" rtl="0" algn="just">
              <a:lnSpc>
                <a:spcPct val="100000"/>
              </a:lnSpc>
              <a:spcBef>
                <a:spcPts val="0"/>
              </a:spcBef>
              <a:spcAft>
                <a:spcPts val="0"/>
              </a:spcAft>
              <a:buClr>
                <a:srgbClr val="000000"/>
              </a:buClr>
              <a:buSzPts val="1400"/>
              <a:buFont typeface="Arial"/>
              <a:buAutoNum type="arabicPeriod"/>
            </a:pPr>
            <a:r>
              <a:rPr b="0" i="0" lang="es-ES" sz="1400" u="none" cap="none" strike="noStrike">
                <a:solidFill>
                  <a:schemeClr val="dk1"/>
                </a:solidFill>
                <a:latin typeface="Arial"/>
                <a:ea typeface="Arial"/>
                <a:cs typeface="Arial"/>
                <a:sym typeface="Arial"/>
              </a:rPr>
              <a:t>¿Cumple Bicicleta con el principio LSP?</a:t>
            </a:r>
            <a:endParaRPr/>
          </a:p>
          <a:p>
            <a:pPr indent="-342900" lvl="0" marL="342900" marR="0" rtl="0" algn="just">
              <a:lnSpc>
                <a:spcPct val="100000"/>
              </a:lnSpc>
              <a:spcBef>
                <a:spcPts val="0"/>
              </a:spcBef>
              <a:spcAft>
                <a:spcPts val="0"/>
              </a:spcAft>
              <a:buClr>
                <a:srgbClr val="000000"/>
              </a:buClr>
              <a:buSzPts val="1400"/>
              <a:buFont typeface="Arial"/>
              <a:buAutoNum type="arabicPeriod"/>
            </a:pPr>
            <a:r>
              <a:rPr b="0" i="0" lang="es-ES" sz="1400" u="none" cap="none" strike="noStrike">
                <a:solidFill>
                  <a:schemeClr val="dk1"/>
                </a:solidFill>
                <a:latin typeface="Arial"/>
                <a:ea typeface="Arial"/>
                <a:cs typeface="Arial"/>
                <a:sym typeface="Arial"/>
              </a:rPr>
              <a:t>¿Qué cambios harías para mejorar la estructura de clases y cumplir con LSP?</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52"/>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68" name="Google Shape;268;p52"/>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69" name="Google Shape;269;p52"/>
          <p:cNvSpPr txBox="1"/>
          <p:nvPr/>
        </p:nvSpPr>
        <p:spPr>
          <a:xfrm>
            <a:off x="336804" y="777453"/>
            <a:ext cx="994105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Abierto/Cerrado</a:t>
            </a:r>
            <a:endParaRPr/>
          </a:p>
        </p:txBody>
      </p:sp>
      <p:sp>
        <p:nvSpPr>
          <p:cNvPr id="270" name="Google Shape;270;p52"/>
          <p:cNvSpPr txBox="1"/>
          <p:nvPr/>
        </p:nvSpPr>
        <p:spPr>
          <a:xfrm>
            <a:off x="336804" y="1565311"/>
            <a:ext cx="11148581" cy="36625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800" u="none" cap="none" strike="noStrike">
                <a:solidFill>
                  <a:srgbClr val="244061"/>
                </a:solidFill>
                <a:latin typeface="Arial"/>
                <a:ea typeface="Arial"/>
                <a:cs typeface="Arial"/>
                <a:sym typeface="Arial"/>
              </a:rPr>
              <a:t>Solución:</a:t>
            </a:r>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s-ES" sz="2800" u="none" cap="none" strike="noStrike">
                <a:solidFill>
                  <a:schemeClr val="dk1"/>
                </a:solidFill>
                <a:latin typeface="Arial"/>
                <a:ea typeface="Arial"/>
                <a:cs typeface="Arial"/>
                <a:sym typeface="Arial"/>
              </a:rPr>
              <a:t>No, Notificador no cumple completamente con el OCP, ya que cada vez que queramos añadir un nuevo canal de notificación, tendríamos que modificar la clase Notificador.</a:t>
            </a:r>
            <a:endParaRPr/>
          </a:p>
          <a:p>
            <a:pPr indent="0" lvl="0" marL="0" marR="0" rtl="0" algn="l">
              <a:lnSpc>
                <a:spcPct val="100000"/>
              </a:lnSpc>
              <a:spcBef>
                <a:spcPts val="0"/>
              </a:spcBef>
              <a:spcAft>
                <a:spcPts val="0"/>
              </a:spcAft>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s-ES" sz="2800" u="none" cap="none" strike="noStrike">
                <a:solidFill>
                  <a:schemeClr val="dk1"/>
                </a:solidFill>
                <a:latin typeface="Arial"/>
                <a:ea typeface="Arial"/>
                <a:cs typeface="Arial"/>
                <a:sym typeface="Arial"/>
              </a:rPr>
              <a:t>Podemos usar una interfaz para Notificador y crear implementaciones específicas para cada canal de notificación:</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53"/>
          <p:cNvPicPr preferRelativeResize="0"/>
          <p:nvPr/>
        </p:nvPicPr>
        <p:blipFill rotWithShape="1">
          <a:blip r:embed="rId3">
            <a:alphaModFix/>
          </a:blip>
          <a:srcRect b="0" l="0" r="0" t="0"/>
          <a:stretch/>
        </p:blipFill>
        <p:spPr>
          <a:xfrm>
            <a:off x="9247241" y="152400"/>
            <a:ext cx="2483508" cy="553998"/>
          </a:xfrm>
          <a:prstGeom prst="rect">
            <a:avLst/>
          </a:prstGeom>
          <a:noFill/>
          <a:ln>
            <a:noFill/>
          </a:ln>
        </p:spPr>
      </p:pic>
      <p:sp>
        <p:nvSpPr>
          <p:cNvPr id="276" name="Google Shape;276;p53"/>
          <p:cNvSpPr txBox="1"/>
          <p:nvPr/>
        </p:nvSpPr>
        <p:spPr>
          <a:xfrm>
            <a:off x="2651760" y="243840"/>
            <a:ext cx="5867400" cy="55399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DISEÑO DE PATRONES</a:t>
            </a:r>
            <a:endParaRPr/>
          </a:p>
        </p:txBody>
      </p:sp>
      <p:sp>
        <p:nvSpPr>
          <p:cNvPr id="277" name="Google Shape;277;p53"/>
          <p:cNvSpPr txBox="1"/>
          <p:nvPr/>
        </p:nvSpPr>
        <p:spPr>
          <a:xfrm>
            <a:off x="336804" y="777453"/>
            <a:ext cx="994105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3600" u="none" cap="none" strike="noStrike">
                <a:solidFill>
                  <a:srgbClr val="244061"/>
                </a:solidFill>
                <a:latin typeface="Arial"/>
                <a:ea typeface="Arial"/>
                <a:cs typeface="Arial"/>
                <a:sym typeface="Arial"/>
              </a:rPr>
              <a:t>Principio Abierto/Cerrado</a:t>
            </a:r>
            <a:endParaRPr/>
          </a:p>
        </p:txBody>
      </p:sp>
      <p:sp>
        <p:nvSpPr>
          <p:cNvPr id="278" name="Google Shape;278;p53"/>
          <p:cNvSpPr txBox="1"/>
          <p:nvPr/>
        </p:nvSpPr>
        <p:spPr>
          <a:xfrm>
            <a:off x="336804" y="1565311"/>
            <a:ext cx="1114858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2800" u="none" cap="none" strike="noStrike">
                <a:solidFill>
                  <a:srgbClr val="244061"/>
                </a:solidFill>
                <a:latin typeface="Arial"/>
                <a:ea typeface="Arial"/>
                <a:cs typeface="Arial"/>
                <a:sym typeface="Arial"/>
              </a:rPr>
              <a:t>Solución:</a:t>
            </a:r>
            <a:endParaRPr/>
          </a:p>
        </p:txBody>
      </p:sp>
      <p:sp>
        <p:nvSpPr>
          <p:cNvPr id="279" name="Google Shape;279;p53"/>
          <p:cNvSpPr txBox="1"/>
          <p:nvPr/>
        </p:nvSpPr>
        <p:spPr>
          <a:xfrm>
            <a:off x="487680" y="2216788"/>
            <a:ext cx="6096000" cy="52629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interface Notificador {</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    void enviarNotificacion(String mensaje);</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class NotificadorEmail implements Notificador {</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    @Override</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    public void enviarNotificacion(String mensaje) {</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        // Enviar notificación por email</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280" name="Google Shape;280;p53"/>
          <p:cNvSpPr txBox="1"/>
          <p:nvPr/>
        </p:nvSpPr>
        <p:spPr>
          <a:xfrm>
            <a:off x="6711696" y="2088531"/>
            <a:ext cx="6096000" cy="30469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class NotificadorSMS implements Notificador {</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    @Override</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    public void enviarNotificacion(String mensaje) {</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        // Enviar notificación por SMS</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s-ES" sz="2400" u="none" cap="none" strike="noStrike">
                <a:solidFill>
                  <a:srgbClr val="000000"/>
                </a:solidFill>
                <a:latin typeface="Arial"/>
                <a:ea typeface="Arial"/>
                <a:cs typeface="Arial"/>
                <a:sym typeface="Arial"/>
              </a:rPr>
              <a:t>}</a:t>
            </a:r>
            <a:endParaRPr/>
          </a:p>
        </p:txBody>
      </p:sp>
      <p:cxnSp>
        <p:nvCxnSpPr>
          <p:cNvPr id="281" name="Google Shape;281;p53"/>
          <p:cNvCxnSpPr/>
          <p:nvPr/>
        </p:nvCxnSpPr>
        <p:spPr>
          <a:xfrm>
            <a:off x="6449568" y="2088531"/>
            <a:ext cx="0" cy="4263501"/>
          </a:xfrm>
          <a:prstGeom prst="straightConnector1">
            <a:avLst/>
          </a:prstGeom>
          <a:noFill/>
          <a:ln cap="flat" cmpd="sng" w="38100">
            <a:solidFill>
              <a:schemeClr val="dk1"/>
            </a:solidFill>
            <a:prstDash val="solid"/>
            <a:round/>
            <a:headEnd len="sm" w="sm" type="none"/>
            <a:tailEnd len="sm" w="sm" type="none"/>
          </a:ln>
          <a:effectLst>
            <a:outerShdw blurRad="40000" rotWithShape="0" dir="5400000" dist="23000">
              <a:srgbClr val="000000">
                <a:alpha val="34901"/>
              </a:srgbClr>
            </a:outerShdw>
          </a:effectLst>
        </p:spPr>
      </p:cxnSp>
      <p:sp>
        <p:nvSpPr>
          <p:cNvPr id="282" name="Google Shape;282;p53"/>
          <p:cNvSpPr/>
          <p:nvPr/>
        </p:nvSpPr>
        <p:spPr>
          <a:xfrm>
            <a:off x="7083552" y="5327904"/>
            <a:ext cx="4620768" cy="1189748"/>
          </a:xfrm>
          <a:prstGeom prst="roundRect">
            <a:avLst>
              <a:gd fmla="val 16667" name="adj"/>
            </a:avLst>
          </a:prstGeom>
          <a:solidFill>
            <a:srgbClr val="A5A5A5"/>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None/>
            </a:pPr>
            <a:r>
              <a:rPr b="0" i="0" lang="es-ES" sz="1600" u="none" cap="none" strike="noStrike">
                <a:solidFill>
                  <a:schemeClr val="dk1"/>
                </a:solidFill>
                <a:latin typeface="Arial"/>
                <a:ea typeface="Arial"/>
                <a:cs typeface="Arial"/>
                <a:sym typeface="Arial"/>
              </a:rPr>
              <a:t>De esta forma, podemos añadir nuevos canales de notificación creando nuevas clases que implementen la interfaz Notificador, sin modificar las clases existentes</a:t>
            </a:r>
            <a:r>
              <a:rPr b="0" i="0" lang="es-ES" sz="1400" u="none" cap="none" strike="noStrike">
                <a:solidFill>
                  <a:schemeClr val="lt1"/>
                </a:solidFill>
                <a:latin typeface="Arial"/>
                <a:ea typeface="Arial"/>
                <a:cs typeface="Arial"/>
                <a:sym typeface="Arial"/>
              </a:rPr>
              <a:t>.</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grpSp>
        <p:nvGrpSpPr>
          <p:cNvPr id="287" name="Google Shape;287;p54"/>
          <p:cNvGrpSpPr/>
          <p:nvPr/>
        </p:nvGrpSpPr>
        <p:grpSpPr>
          <a:xfrm>
            <a:off x="377954" y="2238660"/>
            <a:ext cx="8302750" cy="3528155"/>
            <a:chOff x="-545443" y="-184416"/>
            <a:chExt cx="3471900" cy="1393839"/>
          </a:xfrm>
        </p:grpSpPr>
        <p:sp>
          <p:nvSpPr>
            <p:cNvPr id="288" name="Google Shape;288;p54"/>
            <p:cNvSpPr/>
            <p:nvPr/>
          </p:nvSpPr>
          <p:spPr>
            <a:xfrm>
              <a:off x="-545443" y="-184416"/>
              <a:ext cx="3471900" cy="1393839"/>
            </a:xfrm>
            <a:custGeom>
              <a:rect b="b" l="l" r="r" t="t"/>
              <a:pathLst>
                <a:path extrusionOk="0" h="1146351" w="2486406">
                  <a:moveTo>
                    <a:pt x="71889" y="0"/>
                  </a:moveTo>
                  <a:lnTo>
                    <a:pt x="2414517" y="0"/>
                  </a:lnTo>
                  <a:cubicBezTo>
                    <a:pt x="2433583" y="0"/>
                    <a:pt x="2451869" y="7574"/>
                    <a:pt x="2465350" y="21056"/>
                  </a:cubicBezTo>
                  <a:cubicBezTo>
                    <a:pt x="2478832" y="34538"/>
                    <a:pt x="2486406" y="52823"/>
                    <a:pt x="2486406" y="71889"/>
                  </a:cubicBezTo>
                  <a:lnTo>
                    <a:pt x="2486406" y="1074462"/>
                  </a:lnTo>
                  <a:cubicBezTo>
                    <a:pt x="2486406" y="1093528"/>
                    <a:pt x="2478832" y="1111813"/>
                    <a:pt x="2465350" y="1125295"/>
                  </a:cubicBezTo>
                  <a:cubicBezTo>
                    <a:pt x="2451869" y="1138777"/>
                    <a:pt x="2433583" y="1146351"/>
                    <a:pt x="2414517" y="1146351"/>
                  </a:cubicBezTo>
                  <a:lnTo>
                    <a:pt x="71889" y="1146351"/>
                  </a:lnTo>
                  <a:cubicBezTo>
                    <a:pt x="52823" y="1146351"/>
                    <a:pt x="34538" y="1138777"/>
                    <a:pt x="21056" y="1125295"/>
                  </a:cubicBezTo>
                  <a:cubicBezTo>
                    <a:pt x="7574" y="1111813"/>
                    <a:pt x="0" y="1093528"/>
                    <a:pt x="0" y="1074462"/>
                  </a:cubicBezTo>
                  <a:lnTo>
                    <a:pt x="0" y="71889"/>
                  </a:lnTo>
                  <a:cubicBezTo>
                    <a:pt x="0" y="52823"/>
                    <a:pt x="7574" y="34538"/>
                    <a:pt x="21056" y="21056"/>
                  </a:cubicBezTo>
                  <a:cubicBezTo>
                    <a:pt x="34538" y="7574"/>
                    <a:pt x="52823" y="0"/>
                    <a:pt x="71889" y="0"/>
                  </a:cubicBezTo>
                  <a:close/>
                </a:path>
              </a:pathLst>
            </a:custGeom>
            <a:solidFill>
              <a:srgbClr val="000000">
                <a:alpha val="0"/>
              </a:srgbClr>
            </a:solidFill>
            <a:ln cap="rnd" cmpd="sng" w="28575">
              <a:solidFill>
                <a:srgbClr val="000000"/>
              </a:solidFill>
              <a:prstDash val="dash"/>
              <a:round/>
              <a:headEnd len="sm" w="sm" type="none"/>
              <a:tailEnd len="sm" w="sm" type="none"/>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1" i="0" lang="es-ES" sz="2200" u="none" cap="none" strike="noStrike">
                  <a:solidFill>
                    <a:srgbClr val="000000"/>
                  </a:solidFill>
                  <a:latin typeface="Arial"/>
                  <a:ea typeface="Arial"/>
                  <a:cs typeface="Arial"/>
                  <a:sym typeface="Arial"/>
                </a:rPr>
                <a:t>Principio de Sustitución de Liskov (LSP)</a:t>
              </a:r>
              <a:r>
                <a:rPr b="0" i="0" lang="es-ES" sz="2200" u="none" cap="none" strike="noStrike">
                  <a:solidFill>
                    <a:srgbClr val="000000"/>
                  </a:solidFill>
                  <a:latin typeface="Arial"/>
                  <a:ea typeface="Arial"/>
                  <a:cs typeface="Arial"/>
                  <a:sym typeface="Arial"/>
                </a:rPr>
                <a:t>: El LSP establece que las subclases deben poder reemplazar a las clases base sin alterar el funcionamiento del programa. Esto asegura la mantenibilidad y reutilización del código, evitando errores al sustituir subclases por clases base.</a:t>
              </a:r>
              <a:endParaRPr/>
            </a:p>
            <a:p>
              <a:pPr indent="0" lvl="0" marL="0" marR="0" rtl="0" algn="just">
                <a:lnSpc>
                  <a:spcPct val="100000"/>
                </a:lnSpc>
                <a:spcBef>
                  <a:spcPts val="0"/>
                </a:spcBef>
                <a:spcAft>
                  <a:spcPts val="0"/>
                </a:spcAft>
                <a:buNone/>
              </a:pPr>
              <a:r>
                <a:rPr b="1" i="0" lang="es-ES" sz="2200" u="none" cap="none" strike="noStrike">
                  <a:solidFill>
                    <a:srgbClr val="000000"/>
                  </a:solidFill>
                  <a:latin typeface="Arial"/>
                  <a:ea typeface="Arial"/>
                  <a:cs typeface="Arial"/>
                  <a:sym typeface="Arial"/>
                </a:rPr>
                <a:t>Principio de Abierto/Cerrado (OCP)</a:t>
              </a:r>
              <a:r>
                <a:rPr b="0" i="0" lang="es-ES" sz="2200" u="none" cap="none" strike="noStrike">
                  <a:solidFill>
                    <a:srgbClr val="000000"/>
                  </a:solidFill>
                  <a:latin typeface="Arial"/>
                  <a:ea typeface="Arial"/>
                  <a:cs typeface="Arial"/>
                  <a:sym typeface="Arial"/>
                </a:rPr>
                <a:t>: El OCP dicta que el software debe estar abierto para la extensión, pero cerrado para la modificación. Esto permite agregar nuevas funcionalidades extendiendo las clases existentes sin modificar su código original, facilitando la evolución y estabilidad del software.</a:t>
              </a:r>
              <a:endParaRPr/>
            </a:p>
          </p:txBody>
        </p:sp>
        <p:sp>
          <p:nvSpPr>
            <p:cNvPr id="289" name="Google Shape;289;p54"/>
            <p:cNvSpPr txBox="1"/>
            <p:nvPr/>
          </p:nvSpPr>
          <p:spPr>
            <a:xfrm>
              <a:off x="0" y="-47625"/>
              <a:ext cx="2486406" cy="1193976"/>
            </a:xfrm>
            <a:prstGeom prst="rect">
              <a:avLst/>
            </a:prstGeom>
            <a:noFill/>
            <a:ln>
              <a:noFill/>
            </a:ln>
          </p:spPr>
          <p:txBody>
            <a:bodyPr anchorCtr="0" anchor="ctr" bIns="39575" lIns="39575" spcFirstLastPara="1" rIns="39575" wrap="square" tIns="39575">
              <a:noAutofit/>
            </a:bodyPr>
            <a:lstStyle/>
            <a:p>
              <a:pPr indent="0" lvl="0" marL="0" marR="0" rtl="0" algn="ctr">
                <a:lnSpc>
                  <a:spcPct val="119957"/>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grpSp>
      <p:grpSp>
        <p:nvGrpSpPr>
          <p:cNvPr id="290" name="Google Shape;290;p54"/>
          <p:cNvGrpSpPr/>
          <p:nvPr/>
        </p:nvGrpSpPr>
        <p:grpSpPr>
          <a:xfrm>
            <a:off x="-116008" y="-120549"/>
            <a:ext cx="12424017" cy="253060"/>
            <a:chOff x="0" y="-47625"/>
            <a:chExt cx="4908254" cy="99975"/>
          </a:xfrm>
        </p:grpSpPr>
        <p:sp>
          <p:nvSpPr>
            <p:cNvPr id="291" name="Google Shape;291;p54"/>
            <p:cNvSpPr/>
            <p:nvPr/>
          </p:nvSpPr>
          <p:spPr>
            <a:xfrm>
              <a:off x="0" y="0"/>
              <a:ext cx="4908254" cy="52350"/>
            </a:xfrm>
            <a:custGeom>
              <a:rect b="b" l="l" r="r" t="t"/>
              <a:pathLst>
                <a:path extrusionOk="0" h="52350" w="4908254">
                  <a:moveTo>
                    <a:pt x="0" y="0"/>
                  </a:moveTo>
                  <a:lnTo>
                    <a:pt x="4908254" y="0"/>
                  </a:lnTo>
                  <a:lnTo>
                    <a:pt x="4908254" y="52350"/>
                  </a:lnTo>
                  <a:lnTo>
                    <a:pt x="0" y="52350"/>
                  </a:lnTo>
                  <a:close/>
                </a:path>
              </a:pathLst>
            </a:custGeom>
            <a:solidFill>
              <a:srgbClr val="343434">
                <a:alpha val="7725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292" name="Google Shape;292;p54"/>
            <p:cNvSpPr txBox="1"/>
            <p:nvPr/>
          </p:nvSpPr>
          <p:spPr>
            <a:xfrm>
              <a:off x="0" y="-47625"/>
              <a:ext cx="4908254" cy="99975"/>
            </a:xfrm>
            <a:prstGeom prst="rect">
              <a:avLst/>
            </a:prstGeom>
            <a:noFill/>
            <a:ln>
              <a:noFill/>
            </a:ln>
          </p:spPr>
          <p:txBody>
            <a:bodyPr anchorCtr="0" anchor="ctr" bIns="39575" lIns="39575" spcFirstLastPara="1" rIns="39575" wrap="square" tIns="39575">
              <a:noAutofit/>
            </a:bodyPr>
            <a:lstStyle/>
            <a:p>
              <a:pPr indent="0" lvl="0" marL="0" marR="0" rtl="0" algn="ctr">
                <a:lnSpc>
                  <a:spcPct val="119957"/>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grpSp>
      <p:sp>
        <p:nvSpPr>
          <p:cNvPr id="293" name="Google Shape;293;p54"/>
          <p:cNvSpPr txBox="1"/>
          <p:nvPr/>
        </p:nvSpPr>
        <p:spPr>
          <a:xfrm>
            <a:off x="268950" y="1248143"/>
            <a:ext cx="7981380" cy="897682"/>
          </a:xfrm>
          <a:prstGeom prst="rect">
            <a:avLst/>
          </a:prstGeom>
          <a:noFill/>
          <a:ln>
            <a:noFill/>
          </a:ln>
        </p:spPr>
        <p:txBody>
          <a:bodyPr anchorCtr="0" anchor="t" bIns="0" lIns="0" spcFirstLastPara="1" rIns="0" wrap="square" tIns="0">
            <a:spAutoFit/>
          </a:bodyPr>
          <a:lstStyle/>
          <a:p>
            <a:pPr indent="0" lvl="0" marL="0" marR="0" rtl="0" algn="ctr">
              <a:lnSpc>
                <a:spcPct val="101998"/>
              </a:lnSpc>
              <a:spcBef>
                <a:spcPts val="0"/>
              </a:spcBef>
              <a:spcAft>
                <a:spcPts val="0"/>
              </a:spcAft>
              <a:buNone/>
            </a:pPr>
            <a:r>
              <a:rPr b="1" i="0" lang="es-ES" sz="6856" u="none" cap="none" strike="noStrike">
                <a:solidFill>
                  <a:srgbClr val="000000"/>
                </a:solidFill>
                <a:latin typeface="Arial"/>
                <a:ea typeface="Arial"/>
                <a:cs typeface="Arial"/>
                <a:sym typeface="Arial"/>
              </a:rPr>
              <a:t>CONCLUSIONES</a:t>
            </a:r>
            <a:endParaRPr/>
          </a:p>
        </p:txBody>
      </p:sp>
      <p:pic>
        <p:nvPicPr>
          <p:cNvPr id="294" name="Google Shape;294;p54"/>
          <p:cNvPicPr preferRelativeResize="0"/>
          <p:nvPr/>
        </p:nvPicPr>
        <p:blipFill rotWithShape="1">
          <a:blip r:embed="rId3">
            <a:alphaModFix/>
          </a:blip>
          <a:srcRect b="0" l="0" r="0" t="0"/>
          <a:stretch/>
        </p:blipFill>
        <p:spPr>
          <a:xfrm>
            <a:off x="8786329" y="1761026"/>
            <a:ext cx="2761945" cy="384302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grpSp>
        <p:nvGrpSpPr>
          <p:cNvPr id="299" name="Google Shape;299;p55"/>
          <p:cNvGrpSpPr/>
          <p:nvPr/>
        </p:nvGrpSpPr>
        <p:grpSpPr>
          <a:xfrm>
            <a:off x="1529572" y="2366977"/>
            <a:ext cx="4057060" cy="899493"/>
            <a:chOff x="0" y="-95250"/>
            <a:chExt cx="1602789" cy="355356"/>
          </a:xfrm>
        </p:grpSpPr>
        <p:sp>
          <p:nvSpPr>
            <p:cNvPr id="300" name="Google Shape;300;p55"/>
            <p:cNvSpPr/>
            <p:nvPr/>
          </p:nvSpPr>
          <p:spPr>
            <a:xfrm>
              <a:off x="0" y="0"/>
              <a:ext cx="1602789" cy="260106"/>
            </a:xfrm>
            <a:custGeom>
              <a:rect b="b" l="l" r="r" t="t"/>
              <a:pathLst>
                <a:path extrusionOk="0" h="260106" w="1602789">
                  <a:moveTo>
                    <a:pt x="1399589" y="0"/>
                  </a:moveTo>
                  <a:cubicBezTo>
                    <a:pt x="1511813" y="0"/>
                    <a:pt x="1602789" y="58227"/>
                    <a:pt x="1602789" y="130053"/>
                  </a:cubicBezTo>
                  <a:cubicBezTo>
                    <a:pt x="1602789" y="201879"/>
                    <a:pt x="1511813" y="260106"/>
                    <a:pt x="1399589" y="260106"/>
                  </a:cubicBezTo>
                  <a:lnTo>
                    <a:pt x="203200" y="260106"/>
                  </a:lnTo>
                  <a:cubicBezTo>
                    <a:pt x="90976" y="260106"/>
                    <a:pt x="0" y="201879"/>
                    <a:pt x="0" y="130053"/>
                  </a:cubicBezTo>
                  <a:cubicBezTo>
                    <a:pt x="0" y="58227"/>
                    <a:pt x="90976" y="0"/>
                    <a:pt x="203200" y="0"/>
                  </a:cubicBezTo>
                  <a:close/>
                </a:path>
              </a:pathLst>
            </a:custGeom>
            <a:gradFill>
              <a:gsLst>
                <a:gs pos="0">
                  <a:srgbClr val="000000"/>
                </a:gs>
                <a:gs pos="100000">
                  <a:srgbClr val="73737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301" name="Google Shape;301;p55"/>
            <p:cNvSpPr txBox="1"/>
            <p:nvPr/>
          </p:nvSpPr>
          <p:spPr>
            <a:xfrm>
              <a:off x="0" y="-95250"/>
              <a:ext cx="1602789" cy="355356"/>
            </a:xfrm>
            <a:prstGeom prst="rect">
              <a:avLst/>
            </a:prstGeom>
            <a:noFill/>
            <a:ln>
              <a:noFill/>
            </a:ln>
          </p:spPr>
          <p:txBody>
            <a:bodyPr anchorCtr="0" anchor="ctr" bIns="39575" lIns="39575" spcFirstLastPara="1" rIns="39575" wrap="square" tIns="39575">
              <a:noAutofit/>
            </a:bodyPr>
            <a:lstStyle/>
            <a:p>
              <a:pPr indent="0" lvl="0" marL="0" marR="0" rtl="0" algn="ctr">
                <a:lnSpc>
                  <a:spcPct val="139991"/>
                </a:lnSpc>
                <a:spcBef>
                  <a:spcPts val="0"/>
                </a:spcBef>
                <a:spcAft>
                  <a:spcPts val="0"/>
                </a:spcAft>
                <a:buNone/>
              </a:pPr>
              <a:r>
                <a:rPr b="1" i="0" lang="es-ES" sz="2338" u="none" cap="none" strike="noStrike">
                  <a:solidFill>
                    <a:srgbClr val="FFFFFF"/>
                  </a:solidFill>
                  <a:latin typeface="Arial"/>
                  <a:ea typeface="Arial"/>
                  <a:cs typeface="Arial"/>
                  <a:sym typeface="Arial"/>
                </a:rPr>
                <a:t>¿ QUÉ HE APRENDIDO ?</a:t>
              </a:r>
              <a:endParaRPr/>
            </a:p>
          </p:txBody>
        </p:sp>
      </p:grpSp>
      <p:grpSp>
        <p:nvGrpSpPr>
          <p:cNvPr id="302" name="Google Shape;302;p55"/>
          <p:cNvGrpSpPr/>
          <p:nvPr/>
        </p:nvGrpSpPr>
        <p:grpSpPr>
          <a:xfrm>
            <a:off x="608261" y="2537719"/>
            <a:ext cx="799110" cy="799110"/>
            <a:chOff x="0" y="0"/>
            <a:chExt cx="812800" cy="812800"/>
          </a:xfrm>
        </p:grpSpPr>
        <p:sp>
          <p:nvSpPr>
            <p:cNvPr id="303" name="Google Shape;303;p55"/>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gradFill>
              <a:gsLst>
                <a:gs pos="0">
                  <a:srgbClr val="000000"/>
                </a:gs>
                <a:gs pos="100000">
                  <a:srgbClr val="73737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304" name="Google Shape;304;p55"/>
            <p:cNvSpPr txBox="1"/>
            <p:nvPr/>
          </p:nvSpPr>
          <p:spPr>
            <a:xfrm>
              <a:off x="152400" y="66675"/>
              <a:ext cx="508000" cy="593725"/>
            </a:xfrm>
            <a:prstGeom prst="rect">
              <a:avLst/>
            </a:prstGeom>
            <a:noFill/>
            <a:ln>
              <a:noFill/>
            </a:ln>
          </p:spPr>
          <p:txBody>
            <a:bodyPr anchorCtr="0" anchor="ctr" bIns="39575" lIns="39575" spcFirstLastPara="1" rIns="39575" wrap="square" tIns="39575">
              <a:noAutofit/>
            </a:bodyPr>
            <a:lstStyle/>
            <a:p>
              <a:pPr indent="0" lvl="0" marL="0" marR="0" rtl="0" algn="ctr">
                <a:lnSpc>
                  <a:spcPct val="140000"/>
                </a:lnSpc>
                <a:spcBef>
                  <a:spcPts val="0"/>
                </a:spcBef>
                <a:spcAft>
                  <a:spcPts val="0"/>
                </a:spcAft>
                <a:buNone/>
              </a:pPr>
              <a:r>
                <a:rPr b="1" i="0" lang="es-ES" sz="2215" u="none" cap="none" strike="noStrike">
                  <a:solidFill>
                    <a:srgbClr val="FFFFFF"/>
                  </a:solidFill>
                  <a:latin typeface="Arial"/>
                  <a:ea typeface="Arial"/>
                  <a:cs typeface="Arial"/>
                  <a:sym typeface="Arial"/>
                </a:rPr>
                <a:t>1</a:t>
              </a:r>
              <a:endParaRPr/>
            </a:p>
          </p:txBody>
        </p:sp>
      </p:grpSp>
      <p:grpSp>
        <p:nvGrpSpPr>
          <p:cNvPr id="305" name="Google Shape;305;p55"/>
          <p:cNvGrpSpPr/>
          <p:nvPr/>
        </p:nvGrpSpPr>
        <p:grpSpPr>
          <a:xfrm>
            <a:off x="1126315" y="3413309"/>
            <a:ext cx="806515" cy="806515"/>
            <a:chOff x="0" y="0"/>
            <a:chExt cx="812800" cy="812800"/>
          </a:xfrm>
        </p:grpSpPr>
        <p:sp>
          <p:nvSpPr>
            <p:cNvPr id="306" name="Google Shape;306;p55"/>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gradFill>
              <a:gsLst>
                <a:gs pos="0">
                  <a:srgbClr val="000000"/>
                </a:gs>
                <a:gs pos="100000">
                  <a:srgbClr val="73737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307" name="Google Shape;307;p55"/>
            <p:cNvSpPr txBox="1"/>
            <p:nvPr/>
          </p:nvSpPr>
          <p:spPr>
            <a:xfrm>
              <a:off x="152400" y="66675"/>
              <a:ext cx="508000" cy="593725"/>
            </a:xfrm>
            <a:prstGeom prst="rect">
              <a:avLst/>
            </a:prstGeom>
            <a:noFill/>
            <a:ln>
              <a:noFill/>
            </a:ln>
          </p:spPr>
          <p:txBody>
            <a:bodyPr anchorCtr="0" anchor="ctr" bIns="39575" lIns="39575" spcFirstLastPara="1" rIns="39575" wrap="square" tIns="39575">
              <a:noAutofit/>
            </a:bodyPr>
            <a:lstStyle/>
            <a:p>
              <a:pPr indent="0" lvl="0" marL="0" marR="0" rtl="0" algn="ctr">
                <a:lnSpc>
                  <a:spcPct val="140000"/>
                </a:lnSpc>
                <a:spcBef>
                  <a:spcPts val="0"/>
                </a:spcBef>
                <a:spcAft>
                  <a:spcPts val="0"/>
                </a:spcAft>
                <a:buNone/>
              </a:pPr>
              <a:r>
                <a:rPr b="1" i="0" lang="es-ES" sz="2215" u="none" cap="none" strike="noStrike">
                  <a:solidFill>
                    <a:srgbClr val="FFFFFF"/>
                  </a:solidFill>
                  <a:latin typeface="Arial"/>
                  <a:ea typeface="Arial"/>
                  <a:cs typeface="Arial"/>
                  <a:sym typeface="Arial"/>
                </a:rPr>
                <a:t>2</a:t>
              </a:r>
              <a:endParaRPr/>
            </a:p>
          </p:txBody>
        </p:sp>
      </p:grpSp>
      <p:grpSp>
        <p:nvGrpSpPr>
          <p:cNvPr id="308" name="Google Shape;308;p55"/>
          <p:cNvGrpSpPr/>
          <p:nvPr/>
        </p:nvGrpSpPr>
        <p:grpSpPr>
          <a:xfrm>
            <a:off x="2176486" y="3247229"/>
            <a:ext cx="4797677" cy="897572"/>
            <a:chOff x="0" y="-95250"/>
            <a:chExt cx="1895378" cy="354596"/>
          </a:xfrm>
        </p:grpSpPr>
        <p:sp>
          <p:nvSpPr>
            <p:cNvPr id="309" name="Google Shape;309;p55"/>
            <p:cNvSpPr/>
            <p:nvPr/>
          </p:nvSpPr>
          <p:spPr>
            <a:xfrm>
              <a:off x="0" y="0"/>
              <a:ext cx="1895378" cy="259346"/>
            </a:xfrm>
            <a:custGeom>
              <a:rect b="b" l="l" r="r" t="t"/>
              <a:pathLst>
                <a:path extrusionOk="0" h="259346" w="1895378">
                  <a:moveTo>
                    <a:pt x="1692178" y="0"/>
                  </a:moveTo>
                  <a:cubicBezTo>
                    <a:pt x="1804402" y="0"/>
                    <a:pt x="1895378" y="58057"/>
                    <a:pt x="1895378" y="129673"/>
                  </a:cubicBezTo>
                  <a:cubicBezTo>
                    <a:pt x="1895378" y="201290"/>
                    <a:pt x="1804402" y="259346"/>
                    <a:pt x="1692178" y="259346"/>
                  </a:cubicBezTo>
                  <a:lnTo>
                    <a:pt x="203200" y="259346"/>
                  </a:lnTo>
                  <a:cubicBezTo>
                    <a:pt x="90976" y="259346"/>
                    <a:pt x="0" y="201290"/>
                    <a:pt x="0" y="129673"/>
                  </a:cubicBezTo>
                  <a:cubicBezTo>
                    <a:pt x="0" y="58057"/>
                    <a:pt x="90976" y="0"/>
                    <a:pt x="203200" y="0"/>
                  </a:cubicBezTo>
                  <a:close/>
                </a:path>
              </a:pathLst>
            </a:custGeom>
            <a:gradFill>
              <a:gsLst>
                <a:gs pos="0">
                  <a:srgbClr val="000000"/>
                </a:gs>
                <a:gs pos="100000">
                  <a:srgbClr val="73737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310" name="Google Shape;310;p55"/>
            <p:cNvSpPr txBox="1"/>
            <p:nvPr/>
          </p:nvSpPr>
          <p:spPr>
            <a:xfrm>
              <a:off x="0" y="-95250"/>
              <a:ext cx="1895377" cy="354596"/>
            </a:xfrm>
            <a:prstGeom prst="rect">
              <a:avLst/>
            </a:prstGeom>
            <a:noFill/>
            <a:ln>
              <a:noFill/>
            </a:ln>
          </p:spPr>
          <p:txBody>
            <a:bodyPr anchorCtr="0" anchor="ctr" bIns="39575" lIns="39575" spcFirstLastPara="1" rIns="39575" wrap="square" tIns="39575">
              <a:noAutofit/>
            </a:bodyPr>
            <a:lstStyle/>
            <a:p>
              <a:pPr indent="0" lvl="0" marL="0" marR="0" rtl="0" algn="ctr">
                <a:lnSpc>
                  <a:spcPct val="139991"/>
                </a:lnSpc>
                <a:spcBef>
                  <a:spcPts val="0"/>
                </a:spcBef>
                <a:spcAft>
                  <a:spcPts val="0"/>
                </a:spcAft>
                <a:buNone/>
              </a:pPr>
              <a:r>
                <a:rPr b="1" i="0" lang="es-ES" sz="2338" u="none" cap="none" strike="noStrike">
                  <a:solidFill>
                    <a:srgbClr val="FFFFFF"/>
                  </a:solidFill>
                  <a:latin typeface="Arial"/>
                  <a:ea typeface="Arial"/>
                  <a:cs typeface="Arial"/>
                  <a:sym typeface="Arial"/>
                </a:rPr>
                <a:t>¿ CÓMO LO HE APRENDIDO ?</a:t>
              </a:r>
              <a:endParaRPr/>
            </a:p>
          </p:txBody>
        </p:sp>
      </p:grpSp>
      <p:grpSp>
        <p:nvGrpSpPr>
          <p:cNvPr id="311" name="Google Shape;311;p55"/>
          <p:cNvGrpSpPr/>
          <p:nvPr/>
        </p:nvGrpSpPr>
        <p:grpSpPr>
          <a:xfrm>
            <a:off x="2766055" y="4101965"/>
            <a:ext cx="4811666" cy="1006804"/>
            <a:chOff x="0" y="-76200"/>
            <a:chExt cx="1900905" cy="397749"/>
          </a:xfrm>
        </p:grpSpPr>
        <p:sp>
          <p:nvSpPr>
            <p:cNvPr id="312" name="Google Shape;312;p55"/>
            <p:cNvSpPr/>
            <p:nvPr/>
          </p:nvSpPr>
          <p:spPr>
            <a:xfrm>
              <a:off x="0" y="0"/>
              <a:ext cx="1900905" cy="321549"/>
            </a:xfrm>
            <a:custGeom>
              <a:rect b="b" l="l" r="r" t="t"/>
              <a:pathLst>
                <a:path extrusionOk="0" h="321549" w="1900905">
                  <a:moveTo>
                    <a:pt x="1697705" y="0"/>
                  </a:moveTo>
                  <a:cubicBezTo>
                    <a:pt x="1809930" y="0"/>
                    <a:pt x="1900905" y="71981"/>
                    <a:pt x="1900905" y="160775"/>
                  </a:cubicBezTo>
                  <a:cubicBezTo>
                    <a:pt x="1900905" y="249568"/>
                    <a:pt x="1809930" y="321549"/>
                    <a:pt x="1697705" y="321549"/>
                  </a:cubicBezTo>
                  <a:lnTo>
                    <a:pt x="203200" y="321549"/>
                  </a:lnTo>
                  <a:cubicBezTo>
                    <a:pt x="90976" y="321549"/>
                    <a:pt x="0" y="249568"/>
                    <a:pt x="0" y="160775"/>
                  </a:cubicBezTo>
                  <a:cubicBezTo>
                    <a:pt x="0" y="71981"/>
                    <a:pt x="90976" y="0"/>
                    <a:pt x="203200" y="0"/>
                  </a:cubicBezTo>
                  <a:close/>
                </a:path>
              </a:pathLst>
            </a:custGeom>
            <a:gradFill>
              <a:gsLst>
                <a:gs pos="0">
                  <a:srgbClr val="000000"/>
                </a:gs>
                <a:gs pos="100000">
                  <a:srgbClr val="73737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313" name="Google Shape;313;p55"/>
            <p:cNvSpPr txBox="1"/>
            <p:nvPr/>
          </p:nvSpPr>
          <p:spPr>
            <a:xfrm>
              <a:off x="0" y="-76200"/>
              <a:ext cx="1900905" cy="397749"/>
            </a:xfrm>
            <a:prstGeom prst="rect">
              <a:avLst/>
            </a:prstGeom>
            <a:noFill/>
            <a:ln>
              <a:noFill/>
            </a:ln>
          </p:spPr>
          <p:txBody>
            <a:bodyPr anchorCtr="0" anchor="ctr" bIns="39575" lIns="39575" spcFirstLastPara="1" rIns="39575" wrap="square" tIns="39575">
              <a:noAutofit/>
            </a:bodyPr>
            <a:lstStyle/>
            <a:p>
              <a:pPr indent="0" lvl="0" marL="0" marR="0" rtl="0" algn="ctr">
                <a:lnSpc>
                  <a:spcPct val="139980"/>
                </a:lnSpc>
                <a:spcBef>
                  <a:spcPts val="0"/>
                </a:spcBef>
                <a:spcAft>
                  <a:spcPts val="0"/>
                </a:spcAft>
                <a:buNone/>
              </a:pPr>
              <a:r>
                <a:rPr b="1" i="0" lang="es-ES" sz="2026" u="none" cap="none" strike="noStrike">
                  <a:solidFill>
                    <a:srgbClr val="FFFFFF"/>
                  </a:solidFill>
                  <a:latin typeface="Arial"/>
                  <a:ea typeface="Arial"/>
                  <a:cs typeface="Arial"/>
                  <a:sym typeface="Arial"/>
                </a:rPr>
                <a:t>¿ QUÉ HA RESULTADO MÁS FÁCIL, MÁS DIFICIL O MÁS NOVEDOSO ?</a:t>
              </a:r>
              <a:endParaRPr/>
            </a:p>
          </p:txBody>
        </p:sp>
      </p:grpSp>
      <p:grpSp>
        <p:nvGrpSpPr>
          <p:cNvPr id="314" name="Google Shape;314;p55"/>
          <p:cNvGrpSpPr/>
          <p:nvPr/>
        </p:nvGrpSpPr>
        <p:grpSpPr>
          <a:xfrm>
            <a:off x="1769525" y="4294045"/>
            <a:ext cx="813922" cy="813922"/>
            <a:chOff x="0" y="0"/>
            <a:chExt cx="812800" cy="812800"/>
          </a:xfrm>
        </p:grpSpPr>
        <p:sp>
          <p:nvSpPr>
            <p:cNvPr id="315" name="Google Shape;315;p55"/>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gradFill>
              <a:gsLst>
                <a:gs pos="0">
                  <a:srgbClr val="000000"/>
                </a:gs>
                <a:gs pos="100000">
                  <a:srgbClr val="73737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316" name="Google Shape;316;p55"/>
            <p:cNvSpPr txBox="1"/>
            <p:nvPr/>
          </p:nvSpPr>
          <p:spPr>
            <a:xfrm>
              <a:off x="152400" y="66675"/>
              <a:ext cx="508000" cy="593725"/>
            </a:xfrm>
            <a:prstGeom prst="rect">
              <a:avLst/>
            </a:prstGeom>
            <a:noFill/>
            <a:ln>
              <a:noFill/>
            </a:ln>
          </p:spPr>
          <p:txBody>
            <a:bodyPr anchorCtr="0" anchor="ctr" bIns="39575" lIns="39575" spcFirstLastPara="1" rIns="39575" wrap="square" tIns="39575">
              <a:noAutofit/>
            </a:bodyPr>
            <a:lstStyle/>
            <a:p>
              <a:pPr indent="0" lvl="0" marL="0" marR="0" rtl="0" algn="ctr">
                <a:lnSpc>
                  <a:spcPct val="140000"/>
                </a:lnSpc>
                <a:spcBef>
                  <a:spcPts val="0"/>
                </a:spcBef>
                <a:spcAft>
                  <a:spcPts val="0"/>
                </a:spcAft>
                <a:buNone/>
              </a:pPr>
              <a:r>
                <a:rPr b="1" i="0" lang="es-ES" sz="2215" u="none" cap="none" strike="noStrike">
                  <a:solidFill>
                    <a:srgbClr val="FFFFFF"/>
                  </a:solidFill>
                  <a:latin typeface="Arial"/>
                  <a:ea typeface="Arial"/>
                  <a:cs typeface="Arial"/>
                  <a:sym typeface="Arial"/>
                </a:rPr>
                <a:t>3</a:t>
              </a:r>
              <a:endParaRPr/>
            </a:p>
          </p:txBody>
        </p:sp>
      </p:grpSp>
      <p:grpSp>
        <p:nvGrpSpPr>
          <p:cNvPr id="317" name="Google Shape;317;p55"/>
          <p:cNvGrpSpPr/>
          <p:nvPr/>
        </p:nvGrpSpPr>
        <p:grpSpPr>
          <a:xfrm>
            <a:off x="2359094" y="5257210"/>
            <a:ext cx="813922" cy="813922"/>
            <a:chOff x="0" y="0"/>
            <a:chExt cx="812800" cy="812800"/>
          </a:xfrm>
        </p:grpSpPr>
        <p:sp>
          <p:nvSpPr>
            <p:cNvPr id="318" name="Google Shape;318;p55"/>
            <p:cNvSpPr/>
            <p:nvPr/>
          </p:nvSpPr>
          <p:spPr>
            <a:xfrm>
              <a:off x="0" y="0"/>
              <a:ext cx="812800" cy="812800"/>
            </a:xfrm>
            <a:custGeom>
              <a:rect b="b" l="l" r="r" t="t"/>
              <a:pathLst>
                <a:path extrusionOk="0"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gradFill>
              <a:gsLst>
                <a:gs pos="0">
                  <a:srgbClr val="000000"/>
                </a:gs>
                <a:gs pos="100000">
                  <a:srgbClr val="73737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319" name="Google Shape;319;p55"/>
            <p:cNvSpPr txBox="1"/>
            <p:nvPr/>
          </p:nvSpPr>
          <p:spPr>
            <a:xfrm>
              <a:off x="152400" y="66675"/>
              <a:ext cx="508000" cy="593725"/>
            </a:xfrm>
            <a:prstGeom prst="rect">
              <a:avLst/>
            </a:prstGeom>
            <a:noFill/>
            <a:ln>
              <a:noFill/>
            </a:ln>
          </p:spPr>
          <p:txBody>
            <a:bodyPr anchorCtr="0" anchor="ctr" bIns="39575" lIns="39575" spcFirstLastPara="1" rIns="39575" wrap="square" tIns="39575">
              <a:noAutofit/>
            </a:bodyPr>
            <a:lstStyle/>
            <a:p>
              <a:pPr indent="0" lvl="0" marL="0" marR="0" rtl="0" algn="ctr">
                <a:lnSpc>
                  <a:spcPct val="140000"/>
                </a:lnSpc>
                <a:spcBef>
                  <a:spcPts val="0"/>
                </a:spcBef>
                <a:spcAft>
                  <a:spcPts val="0"/>
                </a:spcAft>
                <a:buNone/>
              </a:pPr>
              <a:r>
                <a:rPr b="1" i="0" lang="es-ES" sz="2215" u="none" cap="none" strike="noStrike">
                  <a:solidFill>
                    <a:srgbClr val="FFFFFF"/>
                  </a:solidFill>
                  <a:latin typeface="Arial"/>
                  <a:ea typeface="Arial"/>
                  <a:cs typeface="Arial"/>
                  <a:sym typeface="Arial"/>
                </a:rPr>
                <a:t>4</a:t>
              </a:r>
              <a:endParaRPr/>
            </a:p>
          </p:txBody>
        </p:sp>
      </p:grpSp>
      <p:grpSp>
        <p:nvGrpSpPr>
          <p:cNvPr id="320" name="Google Shape;320;p55"/>
          <p:cNvGrpSpPr/>
          <p:nvPr/>
        </p:nvGrpSpPr>
        <p:grpSpPr>
          <a:xfrm>
            <a:off x="3314364" y="5064328"/>
            <a:ext cx="4500609" cy="1006804"/>
            <a:chOff x="0" y="-76200"/>
            <a:chExt cx="1778018" cy="397749"/>
          </a:xfrm>
        </p:grpSpPr>
        <p:sp>
          <p:nvSpPr>
            <p:cNvPr id="321" name="Google Shape;321;p55"/>
            <p:cNvSpPr/>
            <p:nvPr/>
          </p:nvSpPr>
          <p:spPr>
            <a:xfrm>
              <a:off x="0" y="0"/>
              <a:ext cx="1778018" cy="321549"/>
            </a:xfrm>
            <a:custGeom>
              <a:rect b="b" l="l" r="r" t="t"/>
              <a:pathLst>
                <a:path extrusionOk="0" h="321549" w="1778018">
                  <a:moveTo>
                    <a:pt x="1574818" y="0"/>
                  </a:moveTo>
                  <a:cubicBezTo>
                    <a:pt x="1687042" y="0"/>
                    <a:pt x="1778018" y="71981"/>
                    <a:pt x="1778018" y="160775"/>
                  </a:cubicBezTo>
                  <a:cubicBezTo>
                    <a:pt x="1778018" y="249568"/>
                    <a:pt x="1687042" y="321549"/>
                    <a:pt x="1574818" y="321549"/>
                  </a:cubicBezTo>
                  <a:lnTo>
                    <a:pt x="203200" y="321549"/>
                  </a:lnTo>
                  <a:cubicBezTo>
                    <a:pt x="90976" y="321549"/>
                    <a:pt x="0" y="249568"/>
                    <a:pt x="0" y="160775"/>
                  </a:cubicBezTo>
                  <a:cubicBezTo>
                    <a:pt x="0" y="71981"/>
                    <a:pt x="90976" y="0"/>
                    <a:pt x="203200" y="0"/>
                  </a:cubicBezTo>
                  <a:close/>
                </a:path>
              </a:pathLst>
            </a:custGeom>
            <a:gradFill>
              <a:gsLst>
                <a:gs pos="0">
                  <a:srgbClr val="000000"/>
                </a:gs>
                <a:gs pos="100000">
                  <a:srgbClr val="73737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322" name="Google Shape;322;p55"/>
            <p:cNvSpPr txBox="1"/>
            <p:nvPr/>
          </p:nvSpPr>
          <p:spPr>
            <a:xfrm>
              <a:off x="0" y="-76200"/>
              <a:ext cx="1778018" cy="397749"/>
            </a:xfrm>
            <a:prstGeom prst="rect">
              <a:avLst/>
            </a:prstGeom>
            <a:noFill/>
            <a:ln>
              <a:noFill/>
            </a:ln>
          </p:spPr>
          <p:txBody>
            <a:bodyPr anchorCtr="0" anchor="ctr" bIns="39575" lIns="39575" spcFirstLastPara="1" rIns="39575" wrap="square" tIns="39575">
              <a:noAutofit/>
            </a:bodyPr>
            <a:lstStyle/>
            <a:p>
              <a:pPr indent="0" lvl="0" marL="0" marR="0" rtl="0" algn="ctr">
                <a:lnSpc>
                  <a:spcPct val="139980"/>
                </a:lnSpc>
                <a:spcBef>
                  <a:spcPts val="0"/>
                </a:spcBef>
                <a:spcAft>
                  <a:spcPts val="0"/>
                </a:spcAft>
                <a:buNone/>
              </a:pPr>
              <a:r>
                <a:rPr b="1" i="0" lang="es-ES" sz="2026" u="none" cap="none" strike="noStrike">
                  <a:solidFill>
                    <a:srgbClr val="FFFFFF"/>
                  </a:solidFill>
                  <a:latin typeface="Arial"/>
                  <a:ea typeface="Arial"/>
                  <a:cs typeface="Arial"/>
                  <a:sym typeface="Arial"/>
                </a:rPr>
                <a:t>¿ CÓMO LO PUEDO MEJORAR?</a:t>
              </a:r>
              <a:endParaRPr/>
            </a:p>
            <a:p>
              <a:pPr indent="0" lvl="0" marL="0" marR="0" rtl="0" algn="ctr">
                <a:lnSpc>
                  <a:spcPct val="139980"/>
                </a:lnSpc>
                <a:spcBef>
                  <a:spcPts val="0"/>
                </a:spcBef>
                <a:spcAft>
                  <a:spcPts val="0"/>
                </a:spcAft>
                <a:buNone/>
              </a:pPr>
              <a:r>
                <a:rPr b="1" i="0" lang="es-ES" sz="2026" u="none" cap="none" strike="noStrike">
                  <a:solidFill>
                    <a:srgbClr val="FFFFFF"/>
                  </a:solidFill>
                  <a:latin typeface="Arial"/>
                  <a:ea typeface="Arial"/>
                  <a:cs typeface="Arial"/>
                  <a:sym typeface="Arial"/>
                </a:rPr>
                <a:t>¿PARA QUÉ ME HA SERVIDO?</a:t>
              </a:r>
              <a:endParaRPr/>
            </a:p>
          </p:txBody>
        </p:sp>
      </p:grpSp>
      <p:sp>
        <p:nvSpPr>
          <p:cNvPr id="323" name="Google Shape;323;p55"/>
          <p:cNvSpPr/>
          <p:nvPr/>
        </p:nvSpPr>
        <p:spPr>
          <a:xfrm>
            <a:off x="8167290" y="2488590"/>
            <a:ext cx="3223061" cy="3389452"/>
          </a:xfrm>
          <a:custGeom>
            <a:rect b="b" l="l" r="r" t="t"/>
            <a:pathLst>
              <a:path extrusionOk="0" h="4349797" w="4136262">
                <a:moveTo>
                  <a:pt x="0" y="0"/>
                </a:moveTo>
                <a:lnTo>
                  <a:pt x="4136261" y="0"/>
                </a:lnTo>
                <a:lnTo>
                  <a:pt x="4136261" y="4349797"/>
                </a:lnTo>
                <a:lnTo>
                  <a:pt x="0" y="4349797"/>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324" name="Google Shape;324;p55"/>
          <p:cNvSpPr txBox="1"/>
          <p:nvPr/>
        </p:nvSpPr>
        <p:spPr>
          <a:xfrm>
            <a:off x="131506" y="1286041"/>
            <a:ext cx="7981380" cy="1000274"/>
          </a:xfrm>
          <a:prstGeom prst="rect">
            <a:avLst/>
          </a:prstGeom>
          <a:noFill/>
          <a:ln>
            <a:noFill/>
          </a:ln>
        </p:spPr>
        <p:txBody>
          <a:bodyPr anchorCtr="0" anchor="t" bIns="0" lIns="0" spcFirstLastPara="1" rIns="0" wrap="square" tIns="0">
            <a:spAutoFit/>
          </a:bodyPr>
          <a:lstStyle/>
          <a:p>
            <a:pPr indent="0" lvl="0" marL="0" marR="0" rtl="0" algn="ctr">
              <a:lnSpc>
                <a:spcPct val="102003"/>
              </a:lnSpc>
              <a:spcBef>
                <a:spcPts val="0"/>
              </a:spcBef>
              <a:spcAft>
                <a:spcPts val="0"/>
              </a:spcAft>
              <a:buNone/>
            </a:pPr>
            <a:r>
              <a:rPr b="1" i="0" lang="es-ES" sz="7635" u="none" cap="none" strike="noStrike">
                <a:solidFill>
                  <a:srgbClr val="000000"/>
                </a:solidFill>
                <a:latin typeface="Arial"/>
                <a:ea typeface="Arial"/>
                <a:cs typeface="Arial"/>
                <a:sym typeface="Arial"/>
              </a:rPr>
              <a:t>METACOGNICIÓN</a:t>
            </a:r>
            <a:endParaRPr/>
          </a:p>
        </p:txBody>
      </p:sp>
      <p:grpSp>
        <p:nvGrpSpPr>
          <p:cNvPr id="325" name="Google Shape;325;p55"/>
          <p:cNvGrpSpPr/>
          <p:nvPr/>
        </p:nvGrpSpPr>
        <p:grpSpPr>
          <a:xfrm>
            <a:off x="-116008" y="-120549"/>
            <a:ext cx="12424017" cy="253060"/>
            <a:chOff x="0" y="-47625"/>
            <a:chExt cx="4908254" cy="99975"/>
          </a:xfrm>
        </p:grpSpPr>
        <p:sp>
          <p:nvSpPr>
            <p:cNvPr id="326" name="Google Shape;326;p55"/>
            <p:cNvSpPr/>
            <p:nvPr/>
          </p:nvSpPr>
          <p:spPr>
            <a:xfrm>
              <a:off x="0" y="0"/>
              <a:ext cx="4908254" cy="52350"/>
            </a:xfrm>
            <a:custGeom>
              <a:rect b="b" l="l" r="r" t="t"/>
              <a:pathLst>
                <a:path extrusionOk="0" h="52350" w="4908254">
                  <a:moveTo>
                    <a:pt x="0" y="0"/>
                  </a:moveTo>
                  <a:lnTo>
                    <a:pt x="4908254" y="0"/>
                  </a:lnTo>
                  <a:lnTo>
                    <a:pt x="4908254" y="52350"/>
                  </a:lnTo>
                  <a:lnTo>
                    <a:pt x="0" y="52350"/>
                  </a:lnTo>
                  <a:close/>
                </a:path>
              </a:pathLst>
            </a:custGeom>
            <a:solidFill>
              <a:srgbClr val="343434">
                <a:alpha val="77254"/>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327" name="Google Shape;327;p55"/>
            <p:cNvSpPr txBox="1"/>
            <p:nvPr/>
          </p:nvSpPr>
          <p:spPr>
            <a:xfrm>
              <a:off x="0" y="-47625"/>
              <a:ext cx="4908254" cy="99975"/>
            </a:xfrm>
            <a:prstGeom prst="rect">
              <a:avLst/>
            </a:prstGeom>
            <a:noFill/>
            <a:ln>
              <a:noFill/>
            </a:ln>
          </p:spPr>
          <p:txBody>
            <a:bodyPr anchorCtr="0" anchor="ctr" bIns="39575" lIns="39575" spcFirstLastPara="1" rIns="39575" wrap="square" tIns="39575">
              <a:noAutofit/>
            </a:bodyPr>
            <a:lstStyle/>
            <a:p>
              <a:pPr indent="0" lvl="0" marL="0" marR="0" rtl="0" algn="ctr">
                <a:lnSpc>
                  <a:spcPct val="119957"/>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grpSp>
      <p:sp>
        <p:nvSpPr>
          <p:cNvPr id="328" name="Google Shape;328;p55"/>
          <p:cNvSpPr txBox="1"/>
          <p:nvPr/>
        </p:nvSpPr>
        <p:spPr>
          <a:xfrm>
            <a:off x="1126315" y="5570422"/>
            <a:ext cx="1168168" cy="233334"/>
          </a:xfrm>
          <a:prstGeom prst="rect">
            <a:avLst/>
          </a:prstGeom>
          <a:noFill/>
          <a:ln>
            <a:noFill/>
          </a:ln>
        </p:spPr>
        <p:txBody>
          <a:bodyPr anchorCtr="0" anchor="t" bIns="0" lIns="0" spcFirstLastPara="1" rIns="0" wrap="square" tIns="0">
            <a:spAutoFit/>
          </a:bodyPr>
          <a:lstStyle/>
          <a:p>
            <a:pPr indent="0" lvl="0" marL="0" marR="0" rtl="0" algn="ctr">
              <a:lnSpc>
                <a:spcPct val="139985"/>
              </a:lnSpc>
              <a:spcBef>
                <a:spcPts val="0"/>
              </a:spcBef>
              <a:spcAft>
                <a:spcPts val="0"/>
              </a:spcAft>
              <a:buNone/>
            </a:pPr>
            <a:r>
              <a:rPr b="1" i="0" lang="es-ES" sz="1403" u="none" cap="none" strike="noStrike">
                <a:solidFill>
                  <a:srgbClr val="000000"/>
                </a:solidFill>
                <a:latin typeface="Arial"/>
                <a:ea typeface="Arial"/>
                <a:cs typeface="Arial"/>
                <a:sym typeface="Arial"/>
              </a:rPr>
              <a:t>PLANIFICAR</a:t>
            </a:r>
            <a:endParaRPr/>
          </a:p>
        </p:txBody>
      </p:sp>
      <p:sp>
        <p:nvSpPr>
          <p:cNvPr id="329" name="Google Shape;329;p55"/>
          <p:cNvSpPr txBox="1"/>
          <p:nvPr/>
        </p:nvSpPr>
        <p:spPr>
          <a:xfrm>
            <a:off x="136625" y="3087448"/>
            <a:ext cx="1197471" cy="489814"/>
          </a:xfrm>
          <a:prstGeom prst="rect">
            <a:avLst/>
          </a:prstGeom>
          <a:noFill/>
          <a:ln>
            <a:noFill/>
          </a:ln>
        </p:spPr>
        <p:txBody>
          <a:bodyPr anchorCtr="0" anchor="t" bIns="0" lIns="0" spcFirstLastPara="1" rIns="0" wrap="square" tIns="0">
            <a:spAutoFit/>
          </a:bodyPr>
          <a:lstStyle/>
          <a:p>
            <a:pPr indent="0" lvl="0" marL="0" marR="0" rtl="0" algn="l">
              <a:lnSpc>
                <a:spcPct val="139985"/>
              </a:lnSpc>
              <a:spcBef>
                <a:spcPts val="0"/>
              </a:spcBef>
              <a:spcAft>
                <a:spcPts val="0"/>
              </a:spcAft>
              <a:buNone/>
            </a:pPr>
            <a:r>
              <a:rPr b="1" i="0" lang="es-ES" sz="1403" u="none" cap="none" strike="noStrike">
                <a:solidFill>
                  <a:srgbClr val="000000"/>
                </a:solidFill>
                <a:latin typeface="Arial"/>
                <a:ea typeface="Arial"/>
                <a:cs typeface="Arial"/>
                <a:sym typeface="Arial"/>
              </a:rPr>
              <a:t>SER CONSCIENTE</a:t>
            </a:r>
            <a:endParaRPr/>
          </a:p>
        </p:txBody>
      </p:sp>
      <p:sp>
        <p:nvSpPr>
          <p:cNvPr id="330" name="Google Shape;330;p55"/>
          <p:cNvSpPr txBox="1"/>
          <p:nvPr/>
        </p:nvSpPr>
        <p:spPr>
          <a:xfrm>
            <a:off x="136625" y="4115113"/>
            <a:ext cx="1197471" cy="245132"/>
          </a:xfrm>
          <a:prstGeom prst="rect">
            <a:avLst/>
          </a:prstGeom>
          <a:noFill/>
          <a:ln>
            <a:noFill/>
          </a:ln>
        </p:spPr>
        <p:txBody>
          <a:bodyPr anchorCtr="0" anchor="t" bIns="0" lIns="0" spcFirstLastPara="1" rIns="0" wrap="square" tIns="0">
            <a:spAutoFit/>
          </a:bodyPr>
          <a:lstStyle/>
          <a:p>
            <a:pPr indent="0" lvl="0" marL="0" marR="0" rtl="0" algn="ctr">
              <a:lnSpc>
                <a:spcPct val="140067"/>
              </a:lnSpc>
              <a:spcBef>
                <a:spcPts val="0"/>
              </a:spcBef>
              <a:spcAft>
                <a:spcPts val="0"/>
              </a:spcAft>
              <a:buNone/>
            </a:pPr>
            <a:r>
              <a:rPr b="1" i="0" lang="es-ES" sz="1480" u="none" cap="none" strike="noStrike">
                <a:solidFill>
                  <a:srgbClr val="000000"/>
                </a:solidFill>
                <a:latin typeface="Arial"/>
                <a:ea typeface="Arial"/>
                <a:cs typeface="Arial"/>
                <a:sym typeface="Arial"/>
              </a:rPr>
              <a:t>DESCRIBIR</a:t>
            </a:r>
            <a:endParaRPr/>
          </a:p>
        </p:txBody>
      </p:sp>
      <p:sp>
        <p:nvSpPr>
          <p:cNvPr id="331" name="Google Shape;331;p55"/>
          <p:cNvSpPr txBox="1"/>
          <p:nvPr/>
        </p:nvSpPr>
        <p:spPr>
          <a:xfrm>
            <a:off x="572055" y="4856913"/>
            <a:ext cx="1197471" cy="245132"/>
          </a:xfrm>
          <a:prstGeom prst="rect">
            <a:avLst/>
          </a:prstGeom>
          <a:noFill/>
          <a:ln>
            <a:noFill/>
          </a:ln>
        </p:spPr>
        <p:txBody>
          <a:bodyPr anchorCtr="0" anchor="t" bIns="0" lIns="0" spcFirstLastPara="1" rIns="0" wrap="square" tIns="0">
            <a:spAutoFit/>
          </a:bodyPr>
          <a:lstStyle/>
          <a:p>
            <a:pPr indent="0" lvl="0" marL="0" marR="0" rtl="0" algn="ctr">
              <a:lnSpc>
                <a:spcPct val="140067"/>
              </a:lnSpc>
              <a:spcBef>
                <a:spcPts val="0"/>
              </a:spcBef>
              <a:spcAft>
                <a:spcPts val="0"/>
              </a:spcAft>
              <a:buNone/>
            </a:pPr>
            <a:r>
              <a:rPr b="1" i="0" lang="es-ES" sz="1480" u="none" cap="none" strike="noStrike">
                <a:solidFill>
                  <a:srgbClr val="000000"/>
                </a:solidFill>
                <a:latin typeface="Arial"/>
                <a:ea typeface="Arial"/>
                <a:cs typeface="Arial"/>
                <a:sym typeface="Arial"/>
              </a:rPr>
              <a:t>EVALUAR</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56"/>
          <p:cNvSpPr txBox="1"/>
          <p:nvPr/>
        </p:nvSpPr>
        <p:spPr>
          <a:xfrm>
            <a:off x="734042" y="2187071"/>
            <a:ext cx="10723917" cy="2146998"/>
          </a:xfrm>
          <a:prstGeom prst="rect">
            <a:avLst/>
          </a:prstGeom>
          <a:noFill/>
          <a:ln>
            <a:noFill/>
          </a:ln>
        </p:spPr>
        <p:txBody>
          <a:bodyPr anchorCtr="0" anchor="t" bIns="0" lIns="0" spcFirstLastPara="1" rIns="0" wrap="square" tIns="0">
            <a:spAutoFit/>
          </a:bodyPr>
          <a:lstStyle/>
          <a:p>
            <a:pPr indent="0" lvl="0" marL="0" marR="0" rtl="0" algn="ctr">
              <a:lnSpc>
                <a:spcPct val="122709"/>
              </a:lnSpc>
              <a:spcBef>
                <a:spcPts val="0"/>
              </a:spcBef>
              <a:spcAft>
                <a:spcPts val="0"/>
              </a:spcAft>
              <a:buNone/>
            </a:pPr>
            <a:r>
              <a:rPr b="1" i="0" lang="es-ES" sz="14571" u="none" cap="none" strike="noStrike">
                <a:solidFill>
                  <a:srgbClr val="000000"/>
                </a:solidFill>
                <a:latin typeface="Arial"/>
                <a:ea typeface="Arial"/>
                <a:cs typeface="Arial"/>
                <a:sym typeface="Arial"/>
              </a:rPr>
              <a:t>¡GRACIAS!</a:t>
            </a:r>
            <a:endParaRPr/>
          </a:p>
        </p:txBody>
      </p:sp>
      <p:grpSp>
        <p:nvGrpSpPr>
          <p:cNvPr id="337" name="Google Shape;337;p56"/>
          <p:cNvGrpSpPr/>
          <p:nvPr/>
        </p:nvGrpSpPr>
        <p:grpSpPr>
          <a:xfrm>
            <a:off x="3985931" y="4272738"/>
            <a:ext cx="4529942" cy="664964"/>
            <a:chOff x="0" y="-47625"/>
            <a:chExt cx="1789607" cy="262702"/>
          </a:xfrm>
        </p:grpSpPr>
        <p:sp>
          <p:nvSpPr>
            <p:cNvPr id="338" name="Google Shape;338;p56"/>
            <p:cNvSpPr/>
            <p:nvPr/>
          </p:nvSpPr>
          <p:spPr>
            <a:xfrm>
              <a:off x="0" y="0"/>
              <a:ext cx="1789607" cy="215077"/>
            </a:xfrm>
            <a:custGeom>
              <a:rect b="b" l="l" r="r" t="t"/>
              <a:pathLst>
                <a:path extrusionOk="0" h="215077" w="1789607">
                  <a:moveTo>
                    <a:pt x="0" y="0"/>
                  </a:moveTo>
                  <a:lnTo>
                    <a:pt x="1789607" y="0"/>
                  </a:lnTo>
                  <a:lnTo>
                    <a:pt x="1789607" y="215077"/>
                  </a:lnTo>
                  <a:lnTo>
                    <a:pt x="0" y="215077"/>
                  </a:lnTo>
                  <a:close/>
                </a:path>
              </a:pathLst>
            </a:custGeom>
            <a:solidFill>
              <a:srgbClr val="21161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3" u="none" cap="none" strike="noStrike">
                <a:solidFill>
                  <a:srgbClr val="000000"/>
                </a:solidFill>
                <a:latin typeface="Arial"/>
                <a:ea typeface="Arial"/>
                <a:cs typeface="Arial"/>
                <a:sym typeface="Arial"/>
              </a:endParaRPr>
            </a:p>
          </p:txBody>
        </p:sp>
        <p:sp>
          <p:nvSpPr>
            <p:cNvPr id="339" name="Google Shape;339;p56"/>
            <p:cNvSpPr txBox="1"/>
            <p:nvPr/>
          </p:nvSpPr>
          <p:spPr>
            <a:xfrm>
              <a:off x="0" y="-47625"/>
              <a:ext cx="1789607" cy="262702"/>
            </a:xfrm>
            <a:prstGeom prst="rect">
              <a:avLst/>
            </a:prstGeom>
            <a:noFill/>
            <a:ln>
              <a:noFill/>
            </a:ln>
          </p:spPr>
          <p:txBody>
            <a:bodyPr anchorCtr="0" anchor="ctr" bIns="39575" lIns="39575" spcFirstLastPara="1" rIns="39575" wrap="square" tIns="39575">
              <a:noAutofit/>
            </a:bodyPr>
            <a:lstStyle/>
            <a:p>
              <a:pPr indent="0" lvl="0" marL="0" marR="0" rtl="0" algn="ctr">
                <a:lnSpc>
                  <a:spcPct val="139972"/>
                </a:lnSpc>
                <a:spcBef>
                  <a:spcPts val="0"/>
                </a:spcBef>
                <a:spcAft>
                  <a:spcPts val="0"/>
                </a:spcAft>
                <a:buNone/>
              </a:pPr>
              <a:r>
                <a:rPr b="1" i="0" lang="es-ES" sz="1436" u="none" cap="none" strike="noStrike">
                  <a:solidFill>
                    <a:srgbClr val="FFFFFF"/>
                  </a:solidFill>
                  <a:latin typeface="Arial"/>
                  <a:ea typeface="Arial"/>
                  <a:cs typeface="Arial"/>
                  <a:sym typeface="Arial"/>
                </a:rPr>
                <a:t>EN LA UTP SABEMOS QUE TODO ES POSIBLE</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2024-06-11T03:36:57Z</dcterms:created>
  <dc:creator>Julia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2020-06-18T00:00:00Z</vt:filetime>
  </property>
  <property fmtid="{D5CDD505-2E9C-101B-9397-08002B2CF9AE}" pid="3" name="Creator">
    <vt:lpwstr>Microsoft® PowerPoint® para Office 365</vt:lpwstr>
  </property>
  <property fmtid="{D5CDD505-2E9C-101B-9397-08002B2CF9AE}" pid="4" name="LastSaved">
    <vt:filetime>2024-06-11T00:00:00Z</vt:filetime>
  </property>
</Properties>
</file>